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900" r:id="rId2"/>
    <p:sldId id="910" r:id="rId3"/>
    <p:sldId id="911" r:id="rId4"/>
    <p:sldId id="912" r:id="rId5"/>
    <p:sldId id="913" r:id="rId6"/>
    <p:sldId id="914" r:id="rId7"/>
    <p:sldId id="915" r:id="rId8"/>
    <p:sldId id="916" r:id="rId9"/>
    <p:sldId id="929" r:id="rId10"/>
    <p:sldId id="917" r:id="rId11"/>
    <p:sldId id="918" r:id="rId12"/>
    <p:sldId id="920" r:id="rId13"/>
    <p:sldId id="921" r:id="rId14"/>
    <p:sldId id="922" r:id="rId15"/>
    <p:sldId id="923" r:id="rId16"/>
    <p:sldId id="931" r:id="rId17"/>
    <p:sldId id="924" r:id="rId18"/>
    <p:sldId id="930" r:id="rId19"/>
    <p:sldId id="925" r:id="rId20"/>
    <p:sldId id="927" r:id="rId21"/>
    <p:sldId id="928" r:id="rId22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Distribuição Amostral da Média e da Proporção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827959" cy="4505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sz="2100" b="1" dirty="0" err="1"/>
              <a:t>Objetivos</a:t>
            </a:r>
            <a:r>
              <a:rPr sz="2100" b="1" dirty="0"/>
              <a:t> da aula: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Obter</a:t>
            </a:r>
            <a:r>
              <a:rPr sz="2100" dirty="0"/>
              <a:t> a </a:t>
            </a:r>
            <a:r>
              <a:rPr sz="2100" dirty="0" err="1"/>
              <a:t>distribuição</a:t>
            </a:r>
            <a:r>
              <a:rPr sz="2100" dirty="0"/>
              <a:t> </a:t>
            </a:r>
            <a:r>
              <a:rPr sz="2100" dirty="0" err="1"/>
              <a:t>amostral</a:t>
            </a:r>
            <a:r>
              <a:rPr sz="2100" dirty="0"/>
              <a:t> da </a:t>
            </a:r>
            <a:r>
              <a:rPr sz="2100" dirty="0" err="1"/>
              <a:t>média</a:t>
            </a:r>
            <a:r>
              <a:rPr sz="2100" dirty="0"/>
              <a:t> e </a:t>
            </a:r>
            <a:r>
              <a:rPr sz="2100" dirty="0" err="1"/>
              <a:t>calcular</a:t>
            </a:r>
            <a:r>
              <a:rPr sz="2100" dirty="0"/>
              <a:t> </a:t>
            </a:r>
            <a:r>
              <a:rPr sz="2100" dirty="0" err="1"/>
              <a:t>probabilidades</a:t>
            </a:r>
            <a:r>
              <a:rPr sz="2100" dirty="0"/>
              <a:t> com </a:t>
            </a:r>
            <a:r>
              <a:rPr sz="2100" dirty="0" err="1"/>
              <a:t>ela</a:t>
            </a:r>
            <a:r>
              <a:rPr sz="2100" dirty="0"/>
              <a:t>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Entender</a:t>
            </a:r>
            <a:r>
              <a:rPr sz="2100" dirty="0"/>
              <a:t> o </a:t>
            </a:r>
            <a:r>
              <a:rPr sz="2100" dirty="0" err="1"/>
              <a:t>Teorema</a:t>
            </a:r>
            <a:r>
              <a:rPr sz="2100" dirty="0"/>
              <a:t> do </a:t>
            </a:r>
            <a:r>
              <a:rPr sz="2100" dirty="0" err="1"/>
              <a:t>Limite</a:t>
            </a:r>
            <a:r>
              <a:rPr sz="2100" dirty="0"/>
              <a:t> Central (TLC).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Aproximar</a:t>
            </a:r>
            <a:r>
              <a:rPr sz="2100" dirty="0"/>
              <a:t> a </a:t>
            </a:r>
            <a:r>
              <a:rPr sz="2100" dirty="0" err="1"/>
              <a:t>distribuição</a:t>
            </a:r>
            <a:r>
              <a:rPr sz="2100" dirty="0"/>
              <a:t> binomial pela normal.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Obter</a:t>
            </a:r>
            <a:r>
              <a:rPr sz="2100" dirty="0"/>
              <a:t> a </a:t>
            </a:r>
            <a:r>
              <a:rPr sz="2100" dirty="0" err="1"/>
              <a:t>distribuição</a:t>
            </a:r>
            <a:r>
              <a:rPr sz="2100" dirty="0"/>
              <a:t> </a:t>
            </a:r>
            <a:r>
              <a:rPr sz="2100" dirty="0" err="1"/>
              <a:t>amostral</a:t>
            </a:r>
            <a:r>
              <a:rPr sz="2100" dirty="0"/>
              <a:t> da </a:t>
            </a:r>
            <a:r>
              <a:rPr sz="2100" dirty="0" err="1"/>
              <a:t>proporção</a:t>
            </a:r>
            <a:r>
              <a:rPr sz="2100" dirty="0"/>
              <a:t>.</a:t>
            </a:r>
          </a:p>
          <a:p>
            <a:pPr>
              <a:lnSpc>
                <a:spcPct val="125000"/>
              </a:lnSpc>
            </a:pPr>
            <a:r>
              <a:rPr sz="2100" b="1" dirty="0" err="1"/>
              <a:t>Referências</a:t>
            </a:r>
            <a:r>
              <a:rPr sz="2100" b="1" dirty="0"/>
              <a:t>: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Bussab</a:t>
            </a:r>
            <a:r>
              <a:rPr sz="2100" dirty="0"/>
              <a:t>, </a:t>
            </a:r>
            <a:r>
              <a:rPr sz="2100" dirty="0" err="1"/>
              <a:t>Morettin</a:t>
            </a:r>
            <a:r>
              <a:rPr sz="2100" dirty="0"/>
              <a:t>. </a:t>
            </a:r>
            <a:r>
              <a:rPr sz="2100" b="1" dirty="0" err="1"/>
              <a:t>Estatística</a:t>
            </a:r>
            <a:r>
              <a:rPr sz="2100" b="1" dirty="0"/>
              <a:t> </a:t>
            </a:r>
            <a:r>
              <a:rPr sz="2100" b="1" dirty="0" err="1"/>
              <a:t>Básica</a:t>
            </a:r>
            <a:r>
              <a:rPr sz="2100" dirty="0"/>
              <a:t>, 9ª ed. — Cap. 7 (7.5); Cap. 10 (10.7 a 10.9)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/>
              <a:t>Montgomery, </a:t>
            </a:r>
            <a:r>
              <a:rPr sz="2100" dirty="0" err="1"/>
              <a:t>Runger</a:t>
            </a:r>
            <a:r>
              <a:rPr sz="2100" dirty="0"/>
              <a:t>. </a:t>
            </a:r>
            <a:r>
              <a:rPr sz="2100" b="1" dirty="0" err="1"/>
              <a:t>Estatística</a:t>
            </a:r>
            <a:r>
              <a:rPr sz="2100" b="1" dirty="0"/>
              <a:t> </a:t>
            </a:r>
            <a:r>
              <a:rPr sz="2100" b="1" dirty="0" err="1"/>
              <a:t>Aplicada</a:t>
            </a:r>
            <a:r>
              <a:rPr sz="2100" b="1" dirty="0"/>
              <a:t> e </a:t>
            </a:r>
            <a:r>
              <a:rPr sz="2100" b="1" dirty="0" err="1"/>
              <a:t>Probabilidade</a:t>
            </a:r>
            <a:r>
              <a:rPr sz="2100" b="1" dirty="0"/>
              <a:t> para </a:t>
            </a:r>
            <a:r>
              <a:rPr sz="2100" b="1" dirty="0" err="1"/>
              <a:t>Engenheiros</a:t>
            </a:r>
            <a:r>
              <a:rPr sz="2100" dirty="0"/>
              <a:t>, 7ª ed. — Cap. 4 (4.6); Cap. 7 (7.2)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Magalhães</a:t>
            </a:r>
            <a:r>
              <a:rPr sz="2100" dirty="0"/>
              <a:t>, Lima. </a:t>
            </a:r>
            <a:r>
              <a:rPr sz="2100" b="1" dirty="0" err="1"/>
              <a:t>Noções</a:t>
            </a:r>
            <a:r>
              <a:rPr sz="2100" b="1" dirty="0"/>
              <a:t> de </a:t>
            </a:r>
            <a:r>
              <a:rPr sz="2100" b="1" dirty="0" err="1"/>
              <a:t>Probabilidade</a:t>
            </a:r>
            <a:r>
              <a:rPr sz="2100" b="1" dirty="0"/>
              <a:t> e </a:t>
            </a:r>
            <a:r>
              <a:rPr sz="2100" b="1" dirty="0" err="1"/>
              <a:t>Estatística</a:t>
            </a:r>
            <a:r>
              <a:rPr sz="2100" dirty="0"/>
              <a:t>, 5ª ed. — Cap. 6 (6.2); Cap. 7 (7.3)</a:t>
            </a:r>
          </a:p>
          <a:p>
            <a:pPr marL="342900" indent="-342900">
              <a:lnSpc>
                <a:spcPct val="125000"/>
              </a:lnSpc>
              <a:buFont typeface="Arial"/>
              <a:buChar char="•"/>
            </a:pPr>
            <a:r>
              <a:rPr sz="2100" dirty="0" err="1"/>
              <a:t>Morettin</a:t>
            </a:r>
            <a:r>
              <a:rPr sz="2100" dirty="0"/>
              <a:t>. </a:t>
            </a:r>
            <a:r>
              <a:rPr sz="2100" b="1" dirty="0" err="1"/>
              <a:t>Estatística</a:t>
            </a:r>
            <a:r>
              <a:rPr sz="2100" b="1" dirty="0"/>
              <a:t> </a:t>
            </a:r>
            <a:r>
              <a:rPr sz="2100" b="1" dirty="0" err="1"/>
              <a:t>Básica</a:t>
            </a:r>
            <a:r>
              <a:rPr sz="2100" b="1" dirty="0"/>
              <a:t>: </a:t>
            </a:r>
            <a:r>
              <a:rPr sz="2100" b="1" dirty="0" err="1"/>
              <a:t>Probabilidade</a:t>
            </a:r>
            <a:r>
              <a:rPr sz="2100" b="1" dirty="0"/>
              <a:t> e </a:t>
            </a:r>
            <a:r>
              <a:rPr sz="2100" b="1" dirty="0" err="1"/>
              <a:t>Inferência</a:t>
            </a:r>
            <a:r>
              <a:rPr sz="2100" dirty="0"/>
              <a:t> — Cap. 6 (6.2); Cap. 9 (9.1, 9.2)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46051600-8C71-439B-1792-86D66EF44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Cada amostra, uma estimativa</a:t>
            </a:r>
          </a:p>
          <a:p>
            <a:pPr>
              <a:lnSpc>
                <a:spcPct val="150000"/>
              </a:lnSpc>
            </a:pPr>
            <a:r>
              <a:rPr sz="2400"/>
              <a:t>Na Aula 14, o app de entregas sorteou amostras de 5 pedidos: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96000" y="1750000"/>
          <a:ext cx="7600000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Amostra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Tempos de entrega (min)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x̄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1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30, 25, 40, 35, 20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30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22, 38, 31, 27, 37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31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3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?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?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3700000"/>
                <a:ext cx="10733426" cy="2926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Cada </a:t>
                </a:r>
                <a:r>
                  <a:rPr lang="pt-BR" sz="2400" dirty="0" err="1"/>
                  <a:t>amostra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dá</a:t>
                </a:r>
                <a:r>
                  <a:rPr lang="pt-BR" sz="2400" dirty="0"/>
                  <a:t>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estimativa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diferente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As amostras são sorteadas por AAS, ou seja, o valor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 é </a:t>
                </a:r>
                <a:r>
                  <a:rPr lang="pt-BR" sz="2400" b="1" dirty="0" err="1"/>
                  <a:t>aleatório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 partir de cada amostra, temos uma estimativa. Assim, definimos  variável aleatória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 e, </a:t>
                </a:r>
                <a:r>
                  <a:rPr lang="pt-BR" sz="2400" b="0" dirty="0"/>
                  <a:t>como visto anteriormente, po</a:t>
                </a:r>
                <a:r>
                  <a:rPr lang="pt-BR" sz="2400" dirty="0"/>
                  <a:t>demos calcular a distribuição de probabilidade 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  <a:endParaRPr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3700000"/>
                <a:ext cx="10733426" cy="2926057"/>
              </a:xfrm>
              <a:prstGeom prst="rect">
                <a:avLst/>
              </a:prstGeom>
              <a:blipFill>
                <a:blip r:embed="rId2"/>
                <a:stretch>
                  <a:fillRect l="-795" b="-39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99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b="1" dirty="0" err="1"/>
                  <a:t>Definição</a:t>
                </a:r>
                <a:r>
                  <a:rPr sz="2400" b="1" dirty="0"/>
                  <a:t>. </a:t>
                </a:r>
                <a:r>
                  <a:rPr sz="2400" dirty="0"/>
                  <a:t>A </a:t>
                </a:r>
                <a:r>
                  <a:rPr sz="2400" b="1" dirty="0" err="1"/>
                  <a:t>distribuição</a:t>
                </a:r>
                <a:r>
                  <a:rPr sz="2400" b="1" dirty="0"/>
                  <a:t> </a:t>
                </a:r>
                <a:r>
                  <a:rPr sz="2400" b="1" dirty="0" err="1"/>
                  <a:t>amostral</a:t>
                </a:r>
                <a:r>
                  <a:rPr sz="2400" dirty="0"/>
                  <a:t> de </a:t>
                </a:r>
                <a:r>
                  <a:rPr sz="2400" dirty="0" err="1"/>
                  <a:t>uma</a:t>
                </a:r>
                <a:r>
                  <a:rPr sz="2400" dirty="0"/>
                  <a:t> </a:t>
                </a:r>
                <a:r>
                  <a:rPr sz="2400" dirty="0" err="1"/>
                  <a:t>estatística</a:t>
                </a:r>
                <a:r>
                  <a:rPr sz="2400" dirty="0"/>
                  <a:t> é a </a:t>
                </a:r>
                <a:r>
                  <a:rPr sz="2400" dirty="0" err="1"/>
                  <a:t>distribuição</a:t>
                </a:r>
                <a:r>
                  <a:rPr sz="2400" dirty="0"/>
                  <a:t> de </a:t>
                </a:r>
                <a:r>
                  <a:rPr sz="2400" dirty="0" err="1"/>
                  <a:t>probabilidade</a:t>
                </a:r>
                <a:r>
                  <a:rPr sz="2400" dirty="0"/>
                  <a:t> dos </a:t>
                </a:r>
                <a:r>
                  <a:rPr sz="2400" dirty="0" err="1"/>
                  <a:t>valores</a:t>
                </a:r>
                <a:r>
                  <a:rPr sz="2400" dirty="0"/>
                  <a:t> que </a:t>
                </a:r>
                <a:r>
                  <a:rPr sz="2400" dirty="0" err="1"/>
                  <a:t>ela</a:t>
                </a:r>
                <a:r>
                  <a:rPr sz="2400" dirty="0"/>
                  <a:t> assume </a:t>
                </a:r>
                <a:r>
                  <a:rPr sz="2400" dirty="0" err="1"/>
                  <a:t>em</a:t>
                </a:r>
                <a:r>
                  <a:rPr sz="2400" dirty="0"/>
                  <a:t> </a:t>
                </a:r>
                <a:r>
                  <a:rPr sz="2400" dirty="0" err="1"/>
                  <a:t>todas</a:t>
                </a:r>
                <a:r>
                  <a:rPr sz="2400" dirty="0"/>
                  <a:t> as </a:t>
                </a:r>
                <a:r>
                  <a:rPr sz="2400" dirty="0" err="1"/>
                  <a:t>amostras</a:t>
                </a:r>
                <a:r>
                  <a:rPr sz="2400" dirty="0"/>
                  <a:t> </a:t>
                </a:r>
                <a:r>
                  <a:rPr sz="2400" dirty="0" err="1"/>
                  <a:t>possíveis</a:t>
                </a:r>
                <a:r>
                  <a:rPr sz="2400" dirty="0"/>
                  <a:t> de </a:t>
                </a:r>
                <a:r>
                  <a:rPr sz="2400" dirty="0" err="1"/>
                  <a:t>tamanho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retiradas</a:t>
                </a:r>
                <a:r>
                  <a:rPr sz="2400" dirty="0"/>
                  <a:t> </a:t>
                </a:r>
                <a:r>
                  <a:rPr sz="2400" dirty="0" err="1"/>
                  <a:t>segundo</a:t>
                </a:r>
                <a:r>
                  <a:rPr sz="2400" dirty="0"/>
                  <a:t> o </a:t>
                </a:r>
                <a:r>
                  <a:rPr sz="2400" dirty="0" err="1"/>
                  <a:t>mesmo</a:t>
                </a:r>
                <a:r>
                  <a:rPr sz="2400" dirty="0"/>
                  <a:t> plano </a:t>
                </a:r>
                <a:r>
                  <a:rPr sz="2400" dirty="0" err="1"/>
                  <a:t>amostral</a:t>
                </a:r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sz="2400" dirty="0"/>
                  <a:t>Nesta aula</a:t>
                </a:r>
                <a:r>
                  <a:rPr lang="pt-BR" sz="2400" dirty="0"/>
                  <a:t> veremos duas distribuições: </a:t>
                </a:r>
                <a:r>
                  <a:rPr sz="2400" dirty="0"/>
                  <a:t>a </a:t>
                </a:r>
                <a:r>
                  <a:rPr sz="2400" dirty="0" err="1"/>
                  <a:t>distribuição</a:t>
                </a:r>
                <a:r>
                  <a:rPr sz="2400" dirty="0"/>
                  <a:t> </a:t>
                </a:r>
                <a:r>
                  <a:rPr sz="2400" dirty="0" err="1"/>
                  <a:t>amostral</a:t>
                </a:r>
                <a:r>
                  <a:rPr sz="2400" dirty="0"/>
                  <a:t> da </a:t>
                </a:r>
                <a:r>
                  <a:rPr sz="2400" dirty="0" err="1"/>
                  <a:t>média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sz="2400" dirty="0"/>
                  <a:t> e da </a:t>
                </a:r>
                <a:r>
                  <a:rPr sz="2400" dirty="0" err="1"/>
                  <a:t>proporção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994025"/>
              </a:xfrm>
              <a:prstGeom prst="rect">
                <a:avLst/>
              </a:prstGeom>
              <a:blipFill>
                <a:blip r:embed="rId2"/>
                <a:stretch>
                  <a:fillRect l="-909" b="-366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802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Em um app, cada cliente avalia a entrega com uma nota de 1 a 5 estrelas, e cada nota aparece na mesma proporção. A população é {1, 2, 3, 4, 5},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²=2</m:t>
                    </m:r>
                  </m:oMath>
                </a14:m>
                <a:r>
                  <a:rPr lang="pt-BR" sz="2400" dirty="0"/>
                  <a:t>. Sorteamos 2 avaliações com reposição, ou seja, a mesma nota pode sair duas vezes. São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5×5=25</m:t>
                    </m:r>
                  </m:oMath>
                </a14:m>
                <a:r>
                  <a:rPr lang="pt-BR" sz="2400" dirty="0"/>
                  <a:t> amostras possíveis, todas com a mesma chance. A tabela mostra a média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̄ de cada uma: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802627"/>
              </a:xfrm>
              <a:prstGeom prst="rect">
                <a:avLst/>
              </a:prstGeom>
              <a:blipFill>
                <a:blip r:embed="rId2"/>
                <a:stretch>
                  <a:fillRect l="-909" r="-1307" b="-4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644208"/>
              </p:ext>
            </p:extLst>
          </p:nvPr>
        </p:nvGraphicFramePr>
        <p:xfrm>
          <a:off x="1946000" y="3429000"/>
          <a:ext cx="8300000" cy="2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1ª nota \ 2ª nota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1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3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4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5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 dirty="0"/>
                        <a:t>1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3,0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1,5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3,5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3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4,0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4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2,5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4,5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3,5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4,0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/>
                        <a:t>4,5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/>
                        <a:t>5,0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A distribuição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b="1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endParaRPr sz="2400" b="1"/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A distribuição de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9524998"/>
                  </p:ext>
                </p:extLst>
              </p:nvPr>
            </p:nvGraphicFramePr>
            <p:xfrm>
              <a:off x="729287" y="1250000"/>
              <a:ext cx="10610000" cy="8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4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0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1,0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1,5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2,0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2,5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3,0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3,5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4,0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4,5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5,0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̄"/>
                                        <m:ctrlPr>
                                          <a:rPr lang="pt-BR" sz="20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000" b="1" i="1" dirty="0" smtClean="0">
                                            <a:latin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</m:acc>
                                    <m:r>
                                      <a:rPr lang="pt-BR" sz="2000" b="1" i="1" dirty="0" smtClean="0">
                                        <a:latin typeface="Cambria Math" panose="02040503050406030204" pitchFamily="18" charset="0"/>
                                      </a:rPr>
                                      <m:t> = </m:t>
                                    </m:r>
                                    <m:acc>
                                      <m:accPr>
                                        <m:chr m:val="̄"/>
                                        <m:ctrlPr>
                                          <a:rPr lang="pt-BR" sz="20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000" b="1" i="1" dirty="0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oMath>
                            </m:oMathPara>
                          </a14:m>
                          <a:endParaRPr sz="20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1/25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2/25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3/25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4/25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5/25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4/25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3/25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2/25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1/25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9524998"/>
                  </p:ext>
                </p:extLst>
              </p:nvPr>
            </p:nvGraphicFramePr>
            <p:xfrm>
              <a:off x="729287" y="1250000"/>
              <a:ext cx="10610000" cy="8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990000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</a:tblGrid>
                  <a:tr h="4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358" t="-10959" r="-525806" b="-109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1,0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1,5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2,0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2,5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3,0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3,5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4,0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4,5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5,0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358" t="-112500" r="-525806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1/25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2/25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3/25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4/25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5/25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4/25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3/25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2/25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1/25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9287" y="2300000"/>
                <a:ext cx="10733426" cy="3561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pt-BR" sz="2400">
                                  <a:latin typeface="Cambria Math"/>
                                </a:rPr>
                                <m:t>𝑋</m:t>
                              </m:r>
                            </m:e>
                          </m:bar>
                        </m:e>
                      </m:d>
                      <m:r>
                        <a:rPr lang="pt-BR" sz="2400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bar>
                            <m:barPr>
                              <m:pos m:val="top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pt-BR" sz="2400">
                                  <a:latin typeface="Cambria Math"/>
                                </a:rPr>
                                <m:t>𝑥</m:t>
                              </m:r>
                            </m:e>
                          </m:bar>
                          <m:r>
                            <a:rPr lang="pt-BR" sz="2400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ar>
                                <m:barPr>
                                  <m:pos m:val="top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pt-BR" sz="240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</m:bar>
                              <m:r>
                                <a:rPr lang="pt-BR" sz="2400">
                                  <a:latin typeface="Cambria Math"/>
                                </a:rPr>
                                <m:t>=</m:t>
                              </m:r>
                              <m:bar>
                                <m:barPr>
                                  <m:pos m:val="top"/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pt-BR" sz="240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bar>
                            </m:e>
                          </m:d>
                        </m:e>
                      </m:nary>
                      <m:r>
                        <a:rPr lang="pt-BR" sz="240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latin typeface="Cambria Math"/>
                            </a:rPr>
                            <m:t>75</m:t>
                          </m:r>
                        </m:num>
                        <m:den>
                          <m:r>
                            <a:rPr lang="pt-BR" sz="2400">
                              <a:latin typeface="Cambria Math"/>
                            </a:rPr>
                            <m:t>25</m:t>
                          </m:r>
                        </m:den>
                      </m:f>
                      <m:r>
                        <a:rPr lang="pt-BR" sz="2400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pt-BR" dirty="0"/>
              </a:p>
              <a:p>
                <a:pPr algn="ctr"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pos m:val="top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𝑋</m:t>
                                </m:r>
                              </m:e>
                            </m:ba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250</m:t>
                        </m:r>
                      </m:num>
                      <m:den>
                        <m:r>
                          <a:rPr lang="pt-BR" sz="2400">
                            <a:latin typeface="Cambria Math"/>
                          </a:rPr>
                          <m:t>25</m:t>
                        </m:r>
                      </m:den>
                    </m:f>
                    <m:r>
                      <a:rPr lang="pt-BR" sz="2400">
                        <a:latin typeface="Cambria Math"/>
                      </a:rPr>
                      <m:t>=10</m:t>
                    </m:r>
                  </m:oMath>
                </a14:m>
                <a:r>
                  <a:rPr lang="pt-BR" sz="2400" dirty="0"/>
                  <a:t>   ⇒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pt-BR" sz="2400">
                        <a:latin typeface="Cambria Math"/>
                      </a:rPr>
                      <m:t>=10−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=1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  <a:spcBef>
                    <a:spcPts val="1000"/>
                  </a:spcBef>
                </a:pPr>
                <a:r>
                  <a:rPr lang="pt-BR" sz="2400" dirty="0"/>
                  <a:t>Compare com a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: a </a:t>
                </a:r>
                <a:r>
                  <a:rPr lang="pt-BR" sz="2400" dirty="0" err="1"/>
                  <a:t>média</a:t>
                </a:r>
                <a:r>
                  <a:rPr lang="pt-BR" sz="2400" dirty="0"/>
                  <a:t> é a </a:t>
                </a:r>
                <a:r>
                  <a:rPr lang="pt-BR" sz="2400" dirty="0" err="1"/>
                  <a:t>mesma</a:t>
                </a:r>
                <a:r>
                  <a:rPr lang="pt-BR" sz="2400" dirty="0"/>
                  <a:t> (3), e a </a:t>
                </a:r>
                <a:r>
                  <a:rPr lang="pt-BR" sz="2400" dirty="0" err="1"/>
                  <a:t>variância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caiu</a:t>
                </a:r>
                <a:r>
                  <a:rPr lang="pt-BR" sz="2400" dirty="0"/>
                  <a:t> à </a:t>
                </a:r>
                <a:r>
                  <a:rPr lang="pt-BR" sz="2400" dirty="0" err="1"/>
                  <a:t>metade</a:t>
                </a:r>
                <a:r>
                  <a:rPr lang="pt-BR" sz="2400" dirty="0"/>
                  <a:t> (de 2 para 1).</a:t>
                </a:r>
                <a:endParaRPr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2300000"/>
                <a:ext cx="10733426" cy="3561296"/>
              </a:xfrm>
              <a:prstGeom prst="rect">
                <a:avLst/>
              </a:prstGeom>
              <a:blipFill>
                <a:blip r:embed="rId3"/>
                <a:stretch>
                  <a:fillRect l="-909" r="-398" b="-29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86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Média e </a:t>
                </a:r>
                <a:r>
                  <a:rPr lang="pt-BR" sz="2400" b="1" dirty="0" err="1"/>
                  <a:t>variância</a:t>
                </a:r>
                <a:r>
                  <a:rPr lang="pt-BR" sz="2400" b="1" dirty="0"/>
                  <a:t> de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b="1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 b="1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i="1" dirty="0"/>
                  <a:t>O </a:t>
                </a:r>
                <a:r>
                  <a:rPr lang="pt-BR" sz="2400" i="1" dirty="0" err="1"/>
                  <a:t>resultado</a:t>
                </a:r>
                <a:r>
                  <a:rPr lang="pt-BR" sz="2400" i="1" dirty="0"/>
                  <a:t> do </a:t>
                </a:r>
                <a:r>
                  <a:rPr lang="pt-BR" sz="2400" i="1" dirty="0" err="1"/>
                  <a:t>exemplo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não</a:t>
                </a:r>
                <a:r>
                  <a:rPr lang="pt-BR" sz="2400" i="1" dirty="0"/>
                  <a:t> é </a:t>
                </a:r>
                <a:r>
                  <a:rPr lang="pt-BR" sz="2400" i="1" dirty="0" err="1"/>
                  <a:t>coincidência</a:t>
                </a:r>
                <a:r>
                  <a:rPr lang="pt-BR" sz="2400" i="1" dirty="0"/>
                  <a:t>: vale para </a:t>
                </a:r>
                <a:r>
                  <a:rPr lang="pt-BR" sz="2400" i="1" dirty="0" err="1"/>
                  <a:t>qualquer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população</a:t>
                </a:r>
                <a:r>
                  <a:rPr lang="pt-BR" sz="2400" i="1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 err="1"/>
                  <a:t>Proposição</a:t>
                </a:r>
                <a:r>
                  <a:rPr lang="pt-BR" sz="2400" b="1" dirty="0"/>
                  <a:t>. </a:t>
                </a:r>
                <a:r>
                  <a:rPr lang="pt-BR" sz="2400" dirty="0" err="1"/>
                  <a:t>Seja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amostra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aleatória</a:t>
                </a:r>
                <a:r>
                  <a:rPr lang="pt-BR" sz="2400" dirty="0"/>
                  <a:t> simples (com </a:t>
                </a:r>
                <a:r>
                  <a:rPr lang="pt-BR" sz="2400" dirty="0" err="1"/>
                  <a:t>reposição</a:t>
                </a:r>
                <a:r>
                  <a:rPr lang="pt-BR" sz="2400" dirty="0"/>
                  <a:t>, </a:t>
                </a:r>
                <a:r>
                  <a:rPr lang="pt-BR" sz="2400" dirty="0" err="1"/>
                  <a:t>ou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grande</a:t>
                </a:r>
                <a:r>
                  <a:rPr lang="pt-BR" sz="2400" dirty="0"/>
                  <a:t>) de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 com </a:t>
                </a:r>
                <a:r>
                  <a:rPr lang="pt-BR" sz="2400" dirty="0" err="1"/>
                  <a:t>média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lang="pt-BR" sz="2400" dirty="0"/>
                  <a:t> e </a:t>
                </a:r>
                <a:r>
                  <a:rPr lang="pt-BR" sz="2400" dirty="0" err="1"/>
                  <a:t>variância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. </a:t>
                </a:r>
                <a:r>
                  <a:rPr lang="pt-BR" sz="2400" dirty="0" err="1"/>
                  <a:t>Então</a:t>
                </a:r>
                <a:r>
                  <a:rPr lang="pt-BR" sz="2400" dirty="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lang="pt-BR" sz="2400" dirty="0"/>
                  <a:t>          e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pt-BR" sz="240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No </a:t>
                </a:r>
                <a:r>
                  <a:rPr lang="pt-BR" sz="2400" dirty="0" err="1"/>
                  <a:t>exemplo</a:t>
                </a:r>
                <a:r>
                  <a:rPr lang="pt-BR"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pt-BR" sz="2400">
                        <a:latin typeface="Cambria Math"/>
                      </a:rPr>
                      <m:t>=3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/>
                      </a:rPr>
                      <m:t>Var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</m:e>
                    </m:d>
                    <m:r>
                      <a:rPr lang="pt-BR" sz="2400">
                        <a:latin typeface="Cambria Math"/>
                      </a:rPr>
                      <m:t>=2/2=1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b="1" dirty="0"/>
                  <a:t>Se a </a:t>
                </a:r>
                <a:r>
                  <a:rPr lang="pt-BR" sz="2400" b="1" dirty="0" err="1"/>
                  <a:t>população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tem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distribuição</a:t>
                </a:r>
                <a:r>
                  <a:rPr lang="pt-BR" sz="2400" b="1" dirty="0"/>
                  <a:t> normal</a:t>
                </a:r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também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tem</a:t>
                </a:r>
                <a:r>
                  <a:rPr lang="pt-BR" sz="2400" dirty="0"/>
                  <a:t>, </a:t>
                </a:r>
                <a:r>
                  <a:rPr lang="pt-BR" sz="2400" dirty="0" err="1"/>
                  <a:t>exatamente</a:t>
                </a:r>
                <a:r>
                  <a:rPr lang="pt-BR" sz="2400" dirty="0"/>
                  <a:t>, para </a:t>
                </a:r>
                <a:r>
                  <a:rPr lang="pt-BR" sz="2400" dirty="0" err="1"/>
                  <a:t>qualquer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: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>
                            <a:latin typeface="Cambria Math"/>
                          </a:rPr>
                          <m:t>𝜇</m:t>
                        </m:r>
                        <m:r>
                          <a:rPr lang="pt-BR" sz="240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E </a:t>
                </a:r>
                <a:r>
                  <a:rPr lang="pt-BR" sz="2400" dirty="0" err="1"/>
                  <a:t>quando</a:t>
                </a:r>
                <a:r>
                  <a:rPr lang="pt-BR" sz="2400" dirty="0"/>
                  <a:t> a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 </a:t>
                </a:r>
                <a:r>
                  <a:rPr lang="pt-BR" sz="2400" b="1" dirty="0" err="1"/>
                  <a:t>não</a:t>
                </a:r>
                <a:r>
                  <a:rPr lang="pt-BR" sz="2400" dirty="0"/>
                  <a:t> é normal?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986319"/>
              </a:xfrm>
              <a:prstGeom prst="rect">
                <a:avLst/>
              </a:prstGeom>
              <a:blipFill>
                <a:blip r:embed="rId2"/>
                <a:stretch>
                  <a:fillRect l="-909" b="-13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12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Exemplo: o tempo de </a:t>
                </a:r>
                <a:r>
                  <a:rPr lang="pt-BR" sz="2400" b="1" dirty="0" err="1"/>
                  <a:t>resposta</a:t>
                </a:r>
                <a:r>
                  <a:rPr lang="pt-BR" sz="2400" b="1" dirty="0"/>
                  <a:t> da API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 tempo de resposta de um servidor de app (a API) segue uma exponencial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=1/200</m:t>
                    </m:r>
                  </m:oMath>
                </a14:m>
                <a:r>
                  <a:rPr lang="pt-BR" sz="2400" dirty="0"/>
                  <a:t> por </a:t>
                </a:r>
                <a:r>
                  <a:rPr lang="pt-BR" sz="2400" dirty="0" err="1"/>
                  <a:t>ms</a:t>
                </a:r>
                <a:r>
                  <a:rPr lang="pt-BR" sz="2400" dirty="0"/>
                  <a:t> (Aula 12). Logo,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=200 </m:t>
                    </m:r>
                    <m:r>
                      <m:rPr>
                        <m:sty m:val="p"/>
                      </m:rPr>
                      <a:rPr lang="pt-BR" sz="2400" i="1" dirty="0" err="1">
                        <a:latin typeface="Cambria Math" panose="02040503050406030204" pitchFamily="18" charset="0"/>
                      </a:rPr>
                      <m:t>ms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=200 </m:t>
                    </m:r>
                    <m:r>
                      <m:rPr>
                        <m:sty m:val="p"/>
                      </m:rPr>
                      <a:rPr lang="pt-BR" sz="2400" i="1" dirty="0" smtClean="0">
                        <a:latin typeface="Cambria Math" panose="02040503050406030204" pitchFamily="18" charset="0"/>
                      </a:rPr>
                      <m:t>ms</m:t>
                    </m:r>
                  </m:oMath>
                </a14:m>
                <a:r>
                  <a:rPr lang="pt-BR" sz="2400" dirty="0"/>
                  <a:t>. 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A distribuição é bem </a:t>
                </a:r>
                <a:r>
                  <a:rPr lang="pt-BR" sz="2400" b="1" dirty="0"/>
                  <a:t>assimétrica</a:t>
                </a:r>
                <a:r>
                  <a:rPr lang="pt-BR" sz="2400" dirty="0"/>
                  <a:t>: a maioria das respostas é rápida, e algumas demoram muito.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O </a:t>
                </a:r>
                <a:r>
                  <a:rPr lang="pt-BR" sz="2400" dirty="0" err="1"/>
                  <a:t>painel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monitoramento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mostra</a:t>
                </a:r>
                <a:r>
                  <a:rPr lang="pt-BR" sz="2400" dirty="0"/>
                  <a:t> a </a:t>
                </a:r>
                <a:r>
                  <a:rPr lang="pt-BR" sz="2400" b="1" dirty="0" err="1"/>
                  <a:t>média</a:t>
                </a:r>
                <a:r>
                  <a:rPr lang="pt-BR" sz="2400" b="1" dirty="0"/>
                  <a:t> de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respostas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O </a:t>
                </a:r>
                <a:r>
                  <a:rPr lang="pt-BR" sz="2400" dirty="0" err="1"/>
                  <a:t>alarme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dispara</a:t>
                </a:r>
                <a:r>
                  <a:rPr lang="pt-BR" sz="2400" dirty="0"/>
                  <a:t> se </a:t>
                </a:r>
                <a:r>
                  <a:rPr lang="pt-BR" sz="2400" dirty="0" err="1"/>
                  <a:t>essa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média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passar</a:t>
                </a:r>
                <a:r>
                  <a:rPr lang="pt-BR" sz="2400" dirty="0"/>
                  <a:t> de </a:t>
                </a:r>
                <a:r>
                  <a:rPr lang="pt-BR" sz="2400" b="1" dirty="0"/>
                  <a:t>250 </a:t>
                </a:r>
                <a:r>
                  <a:rPr lang="pt-BR" sz="2400" b="1" dirty="0" err="1"/>
                  <a:t>ms</a:t>
                </a:r>
                <a:r>
                  <a:rPr lang="pt-BR" sz="2400" dirty="0" err="1"/>
                  <a:t>.</a:t>
                </a:r>
                <a:endParaRPr lang="pt-BR" sz="24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pt-BR" sz="2400" b="1" dirty="0" err="1"/>
                  <a:t>Pergunta</a:t>
                </a:r>
                <a:r>
                  <a:rPr lang="pt-BR" sz="2400" b="1" dirty="0"/>
                  <a:t> do time: </a:t>
                </a:r>
                <a:r>
                  <a:rPr lang="pt-BR" sz="2400" dirty="0"/>
                  <a:t>com o </a:t>
                </a:r>
                <a:r>
                  <a:rPr lang="pt-BR" sz="2400" dirty="0" err="1"/>
                  <a:t>servidor</a:t>
                </a:r>
                <a:r>
                  <a:rPr lang="pt-BR" sz="2400" dirty="0"/>
                  <a:t> </a:t>
                </a:r>
                <a:r>
                  <a:rPr lang="pt-BR" sz="2400" dirty="0" err="1"/>
                  <a:t>funcionando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normalmente</a:t>
                </a:r>
                <a:r>
                  <a:rPr lang="pt-BR" sz="2400" dirty="0"/>
                  <a:t>, qual é a chance de um </a:t>
                </a:r>
                <a:r>
                  <a:rPr lang="pt-BR" sz="2400" b="1" dirty="0" err="1"/>
                  <a:t>alarme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falso</a:t>
                </a:r>
                <a:r>
                  <a:rPr lang="pt-BR" sz="2400" dirty="0"/>
                  <a:t>?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123647"/>
              </a:xfrm>
              <a:prstGeom prst="rect">
                <a:avLst/>
              </a:prstGeom>
              <a:blipFill>
                <a:blip r:embed="rId2"/>
                <a:stretch>
                  <a:fillRect l="-909" r="-852" b="-17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1697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Usamos o computador para sortear 100.000 amostras de tamanho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de tempos de resposta. Em seguida, calculamos a média de cada amostra e verificamos em que fração delas a média passou de 250 ms. Com isso, obtemos a tabela abaixo: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1697068"/>
              </a:xfrm>
              <a:prstGeom prst="rect">
                <a:avLst/>
              </a:prstGeom>
              <a:blipFill>
                <a:blip r:embed="rId2"/>
                <a:stretch>
                  <a:fillRect l="-909" b="-7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897565"/>
                  </p:ext>
                </p:extLst>
              </p:nvPr>
            </p:nvGraphicFramePr>
            <p:xfrm>
              <a:off x="659618" y="2399659"/>
              <a:ext cx="10700000" cy="355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5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35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6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400" b="1" i="1" dirty="0" smtClean="0">
                                    <a:latin typeface="Cambria Math" panose="02040503050406030204" pitchFamily="18" charset="0"/>
                                  </a:rPr>
                                  <m:t>𝑫𝑷</m:t>
                                </m:r>
                                <m:d>
                                  <m:dPr>
                                    <m:ctrlPr>
                                      <a:rPr lang="pt-BR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̄"/>
                                        <m:ctrlPr>
                                          <a:rPr lang="pt-BR" sz="24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pt-BR" sz="2400" b="1" i="1" dirty="0" smtClean="0">
                                            <a:latin typeface="Cambria Math" panose="02040503050406030204" pitchFamily="18" charset="0"/>
                                          </a:rPr>
                                          <m:t>𝑿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pt-BR" sz="2400" b="1" i="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pt-BR" sz="2400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400" b="1" i="1" dirty="0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pt-BR" sz="2400" b="1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pt-BR" sz="2400" b="1" i="1" dirty="0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̄"/>
                                  <m:ctrlPr>
                                    <a:rPr lang="pt-BR" sz="2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400" b="1" i="1" dirty="0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acc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&gt; </m:t>
                              </m:r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𝟐𝟓𝟎</m:t>
                              </m:r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):</m:t>
                              </m:r>
                            </m:oMath>
                          </a14:m>
                          <a:r>
                            <a:rPr lang="pt-BR" sz="2400" b="1" dirty="0"/>
                            <a:t> simulação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ctrlPr>
                                    <a:rPr lang="pt-BR" sz="2400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̄"/>
                                      <m:ctrlPr>
                                        <a:rPr lang="pt-BR" sz="2400" b="1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pt-BR" sz="2400" b="1" i="1" dirty="0" smtClean="0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acc>
                                  <m:r>
                                    <a:rPr lang="pt-BR" sz="2400" b="1" i="1" dirty="0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a:rPr lang="pt-BR" sz="2400" b="1" i="1" dirty="0" smtClean="0">
                                      <a:latin typeface="Cambria Math" panose="02040503050406030204" pitchFamily="18" charset="0"/>
                                    </a:rPr>
                                    <m:t>𝟐𝟓𝟎</m:t>
                                  </m:r>
                                </m:e>
                              </m:d>
                              <m:r>
                                <a:rPr lang="pt-BR" sz="2400" b="1" i="1" dirty="0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pt-BR" sz="2400" b="1" dirty="0"/>
                            <a:t> pela normal</a:t>
                          </a:r>
                          <a:endParaRPr sz="2400" b="1" dirty="0"/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200,0 </a:t>
                          </a:r>
                          <a:r>
                            <a:rPr lang="pt-BR" sz="2400" dirty="0" err="1"/>
                            <a:t>ms</a:t>
                          </a:r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0,401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141,4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0,362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89,4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63,2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0,201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0,215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9205119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36,5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0,093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0,085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1613161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20,0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0,006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665656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7897565"/>
                  </p:ext>
                </p:extLst>
              </p:nvPr>
            </p:nvGraphicFramePr>
            <p:xfrm>
              <a:off x="659618" y="2399659"/>
              <a:ext cx="10700000" cy="355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7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5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35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915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469" t="-8462" r="-726291" b="-36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48307" t="-8462" r="-249210" b="-36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119455" t="-8462" r="-100727" b="-36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219455" t="-8462" r="-727" b="-36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200,0 </a:t>
                          </a:r>
                          <a:r>
                            <a:rPr lang="pt-BR" sz="2400" dirty="0" err="1"/>
                            <a:t>ms</a:t>
                          </a:r>
                          <a:endParaRPr lang="pt-B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0,401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141,4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0,362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89,4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0,252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0,288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63,2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0,201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0,215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9205119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30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36,5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0,093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0,085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91613161"/>
                      </a:ext>
                    </a:extLst>
                  </a:tr>
                  <a:tr h="46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20,0 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/>
                            <a:t>0,010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2400" dirty="0"/>
                            <a:t>0,006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665656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9619" y="421966"/>
                <a:ext cx="10733426" cy="4513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O que </a:t>
                </a:r>
                <a:r>
                  <a:rPr lang="pt-BR" sz="2400" b="1" dirty="0" err="1"/>
                  <a:t>muda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quando</a:t>
                </a:r>
                <a:r>
                  <a:rPr lang="pt-BR"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1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b="1" dirty="0"/>
                  <a:t> </a:t>
                </a:r>
                <a:r>
                  <a:rPr lang="pt-BR" sz="2400" b="1" dirty="0" err="1"/>
                  <a:t>cresce</a:t>
                </a:r>
                <a:endParaRPr lang="pt-BR" sz="2400" b="1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400" dirty="0"/>
                  <a:t>, a normal erra muito: a população é assimétrica.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pt-BR" sz="2400" dirty="0"/>
                  <a:t>, a normal já fica próxima do que a simulação mostra.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Em n = 100, as duas colunas ficam perto de zero (0,010 e 0,006). A diferença absoluta é pequena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endParaRPr lang="pt-BR" sz="2000" i="1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dirty="0"/>
                  <a:t>A tabela indica que, 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grande</a:t>
                </a:r>
                <a:r>
                  <a:rPr lang="pt-BR" sz="2400" dirty="0"/>
                  <a:t>, a normal </a:t>
                </a:r>
                <a:r>
                  <a:rPr lang="pt-BR" sz="2400" dirty="0" err="1"/>
                  <a:t>descreve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bem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. Como veremos a seguir, isso vale em geral.</a:t>
                </a:r>
                <a:endParaRPr sz="20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19" y="421966"/>
                <a:ext cx="10733426" cy="4513351"/>
              </a:xfrm>
              <a:prstGeom prst="rect">
                <a:avLst/>
              </a:prstGeom>
              <a:blipFill>
                <a:blip r:embed="rId2"/>
                <a:stretch>
                  <a:fillRect l="-852" b="-202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784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91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Teorema do </a:t>
                </a:r>
                <a:r>
                  <a:rPr lang="pt-BR" sz="2400" b="1" dirty="0" err="1"/>
                  <a:t>Limite</a:t>
                </a:r>
                <a:r>
                  <a:rPr lang="pt-BR" sz="2400" b="1" dirty="0"/>
                  <a:t> Central (TLC)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 err="1"/>
                  <a:t>Seja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pt-BR" sz="2400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amostra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aleatória</a:t>
                </a:r>
                <a:r>
                  <a:rPr lang="pt-BR" sz="2400" dirty="0"/>
                  <a:t> simples de </a:t>
                </a:r>
                <a:r>
                  <a:rPr lang="pt-BR" sz="2400" dirty="0" err="1"/>
                  <a:t>uma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 com </a:t>
                </a:r>
                <a:r>
                  <a:rPr lang="pt-BR" sz="2400" dirty="0" err="1"/>
                  <a:t>média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</m:oMath>
                </a14:m>
                <a:r>
                  <a:rPr lang="pt-BR" sz="2400" dirty="0"/>
                  <a:t> e </a:t>
                </a:r>
                <a:r>
                  <a:rPr lang="pt-BR" sz="2400" dirty="0" err="1"/>
                  <a:t>variância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finita</a:t>
                </a:r>
                <a:r>
                  <a:rPr lang="pt-BR" sz="2400" dirty="0"/>
                  <a:t>. </a:t>
                </a:r>
                <a:r>
                  <a:rPr lang="pt-BR" sz="2400" dirty="0" err="1"/>
                  <a:t>Então</a:t>
                </a:r>
                <a:r>
                  <a:rPr lang="pt-BR" sz="2400" dirty="0"/>
                  <a:t>, para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grande</a:t>
                </a:r>
                <a:r>
                  <a:rPr lang="pt-BR" sz="2400" dirty="0"/>
                  <a:t>, a </a:t>
                </a:r>
                <a:r>
                  <a:rPr lang="pt-BR" sz="2400" dirty="0" err="1"/>
                  <a:t>distribuição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amostral</a:t>
                </a:r>
                <a:r>
                  <a:rPr lang="pt-BR" sz="2400" dirty="0"/>
                  <a:t> da </a:t>
                </a:r>
                <a:r>
                  <a:rPr lang="pt-BR" sz="2400" dirty="0" err="1"/>
                  <a:t>média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</m:oMath>
                </a14:m>
                <a:r>
                  <a:rPr lang="pt-BR" sz="2400" dirty="0"/>
                  <a:t> é </a:t>
                </a:r>
                <a:r>
                  <a:rPr lang="pt-BR" sz="2400" dirty="0" err="1"/>
                  <a:t>aproximadamente</a:t>
                </a:r>
                <a:r>
                  <a:rPr lang="pt-BR" sz="2400" dirty="0"/>
                  <a:t> normal: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≈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>
                            <a:latin typeface="Cambria Math"/>
                          </a:rPr>
                          <m:t>𝜇</m:t>
                        </m:r>
                        <m:r>
                          <a:rPr lang="pt-BR" sz="2400">
                            <a:latin typeface="Cambria Math"/>
                          </a:rPr>
                          <m:t>,</m:t>
                        </m:r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pt-BR" sz="240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400" dirty="0"/>
                  <a:t>      </a:t>
                </a:r>
                <a:r>
                  <a:rPr lang="pt-BR" sz="2400" dirty="0" err="1"/>
                  <a:t>ou</a:t>
                </a:r>
                <a:r>
                  <a:rPr lang="pt-BR" sz="2400" dirty="0"/>
                  <a:t>     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𝑍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pos m:val="top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pt-BR" sz="2400">
                                <a:latin typeface="Cambria Math"/>
                              </a:rPr>
                              <m:t>𝑋</m:t>
                            </m:r>
                          </m:e>
                        </m:bar>
                        <m:r>
                          <a:rPr lang="pt-BR" sz="2400">
                            <a:latin typeface="Cambria Math"/>
                          </a:rPr>
                          <m:t>−</m:t>
                        </m:r>
                        <m:r>
                          <a:rPr lang="pt-BR" sz="2400">
                            <a:latin typeface="Cambria Math"/>
                          </a:rPr>
                          <m:t>𝜇</m:t>
                        </m:r>
                      </m:num>
                      <m:den>
                        <m:f>
                          <m:fPr>
                            <m:type m:val="lin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>
                                <a:latin typeface="Cambria Math"/>
                              </a:rPr>
                              <m:t>𝜎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t-BR" sz="24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t-BR" sz="2400">
                                    <a:latin typeface="Cambria Math"/>
                                  </a:rPr>
                                  <m:t>𝑛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a:rPr lang="pt-BR" sz="2400">
                        <a:latin typeface="Cambria Math"/>
                      </a:rPr>
                      <m:t>≈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r>
                      <a:rPr lang="pt-BR" sz="2400">
                        <a:latin typeface="Cambria Math"/>
                      </a:rPr>
                      <m:t>0</m:t>
                    </m:r>
                    <m:r>
                      <a:rPr lang="pt-BR" sz="2400">
                        <a:latin typeface="Cambria Math"/>
                      </a:rPr>
                      <m:t>,</m:t>
                    </m:r>
                    <m:r>
                      <a:rPr lang="pt-BR" sz="2400">
                        <a:latin typeface="Cambria Math"/>
                      </a:rPr>
                      <m:t>1</m:t>
                    </m:r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/>
                  <a:t>Vale </a:t>
                </a:r>
                <a:r>
                  <a:rPr lang="pt-BR" sz="2400" b="1" dirty="0" err="1"/>
                  <a:t>qualquer</a:t>
                </a:r>
                <a:r>
                  <a:rPr lang="pt-BR" sz="2400" b="1" dirty="0"/>
                  <a:t> que </a:t>
                </a:r>
                <a:r>
                  <a:rPr lang="pt-BR" sz="2400" b="1" dirty="0" err="1"/>
                  <a:t>seja</a:t>
                </a:r>
                <a:r>
                  <a:rPr lang="pt-BR" sz="2400" b="1" dirty="0"/>
                  <a:t> o </a:t>
                </a:r>
                <a:r>
                  <a:rPr lang="pt-BR" sz="2400" b="1" dirty="0" err="1"/>
                  <a:t>formato</a:t>
                </a:r>
                <a:r>
                  <a:rPr lang="pt-BR" sz="2400" b="1" dirty="0"/>
                  <a:t> da </a:t>
                </a:r>
                <a:r>
                  <a:rPr lang="pt-BR" sz="2400" b="1" dirty="0" err="1"/>
                  <a:t>população</a:t>
                </a:r>
                <a:r>
                  <a:rPr lang="pt-BR" sz="2400" dirty="0"/>
                  <a:t>.</a:t>
                </a:r>
              </a:p>
              <a:p>
                <a:pPr marL="342900" indent="-342900">
                  <a:lnSpc>
                    <a:spcPct val="150000"/>
                  </a:lnSpc>
                  <a:buFont typeface="Arial"/>
                  <a:buChar char="•"/>
                </a:pPr>
                <a:r>
                  <a:rPr lang="pt-BR" sz="2400" dirty="0" err="1"/>
                  <a:t>Quanto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mais</a:t>
                </a:r>
                <a:r>
                  <a:rPr lang="pt-BR" sz="2400" dirty="0"/>
                  <a:t> a </a:t>
                </a:r>
                <a:r>
                  <a:rPr lang="pt-BR" sz="2400" dirty="0" err="1"/>
                  <a:t>população</a:t>
                </a:r>
                <a:r>
                  <a:rPr lang="pt-BR" sz="2400" dirty="0"/>
                  <a:t> se </a:t>
                </a:r>
                <a:r>
                  <a:rPr lang="pt-BR" sz="2400" dirty="0" err="1"/>
                  <a:t>afasta</a:t>
                </a:r>
                <a:r>
                  <a:rPr lang="pt-BR" sz="2400" dirty="0"/>
                  <a:t> da normal, </a:t>
                </a:r>
                <a:r>
                  <a:rPr lang="pt-BR" sz="2400" dirty="0" err="1"/>
                  <a:t>maior</a:t>
                </a:r>
                <a:r>
                  <a:rPr lang="pt-BR" sz="2400" dirty="0"/>
                  <a:t> o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err="1"/>
                  <a:t>necessário</a:t>
                </a:r>
                <a:r>
                  <a:rPr lang="pt-BR" sz="2400" dirty="0"/>
                  <a:t>. Regra prática: n ≥ 30.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915769"/>
              </a:xfrm>
              <a:prstGeom prst="rect">
                <a:avLst/>
              </a:prstGeom>
              <a:blipFill>
                <a:blip r:embed="rId2"/>
                <a:stretch>
                  <a:fillRect l="-909" b="-27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859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Vamos calcular a chance de alarme falso do slide 7 usando o TLC.</a:t>
                </a:r>
                <a:endParaRPr sz="2400" dirty="0"/>
              </a:p>
              <a:p>
                <a:pPr>
                  <a:lnSpc>
                    <a:spcPct val="150000"/>
                  </a:lnSpc>
                </a:pPr>
                <a:r>
                  <a:rPr sz="2400" dirty="0"/>
                  <a:t>Com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=30</m:t>
                    </m:r>
                  </m:oMath>
                </a14:m>
                <a:r>
                  <a:rPr sz="2400" dirty="0"/>
                  <a:t>, </a:t>
                </a:r>
                <a:r>
                  <a:rPr sz="2400" dirty="0" err="1"/>
                  <a:t>pelo</a:t>
                </a:r>
                <a:r>
                  <a:rPr sz="2400" dirty="0"/>
                  <a:t> TLC: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pt-BR" sz="2400">
                            <a:latin typeface="Cambria Math"/>
                          </a:rPr>
                          <m:t>𝑋</m:t>
                        </m:r>
                      </m:e>
                    </m:bar>
                    <m:r>
                      <a:rPr lang="pt-BR" sz="2400">
                        <a:latin typeface="Cambria Math"/>
                      </a:rPr>
                      <m:t>≈</m:t>
                    </m:r>
                    <m:r>
                      <a:rPr lang="pt-BR" sz="2400">
                        <a:latin typeface="Cambria Math"/>
                      </a:rPr>
                      <m:t>𝑁</m:t>
                    </m:r>
                    <m:r>
                      <a:rPr lang="pt-BR" sz="2400">
                        <a:latin typeface="Cambria Math"/>
                      </a:rPr>
                      <m:t>(200;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36,</m:t>
                    </m:r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)</m:t>
                    </m:r>
                  </m:oMath>
                </a14:m>
                <a:r>
                  <a:rPr sz="2400" dirty="0"/>
                  <a:t>,  pois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400">
                                <a:latin typeface="Cambria Math"/>
                              </a:rPr>
                              <m:t>𝑛</m:t>
                            </m:r>
                          </m:e>
                        </m:rad>
                      </m:den>
                    </m:f>
                    <m:r>
                      <a:rPr lang="pt-BR" sz="240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>
                            <a:latin typeface="Cambria Math"/>
                          </a:rPr>
                          <m:t>200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t-BR" sz="2400">
                                <a:latin typeface="Cambria Math"/>
                              </a:rPr>
                              <m:t>30</m:t>
                            </m:r>
                          </m:e>
                        </m:rad>
                      </m:den>
                    </m:f>
                    <m:r>
                      <a:rPr lang="pt-BR" sz="2400">
                        <a:latin typeface="Cambria Math"/>
                      </a:rPr>
                      <m:t>≈36,5</m:t>
                    </m:r>
                  </m:oMath>
                </a14:m>
                <a:r>
                  <a:rPr sz="2400" dirty="0"/>
                  <a:t> </a:t>
                </a:r>
                <a:r>
                  <a:rPr sz="2400" dirty="0" err="1"/>
                  <a:t>ms</a:t>
                </a:r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bar>
                        <m:barPr>
                          <m:pos m:val="top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pt-BR" sz="2400">
                              <a:latin typeface="Cambria Math"/>
                            </a:rPr>
                            <m:t>𝑋</m:t>
                          </m:r>
                        </m:e>
                      </m:bar>
                      <m:r>
                        <a:rPr lang="pt-BR" sz="2400">
                          <a:latin typeface="Cambria Math"/>
                        </a:rPr>
                        <m:t>&gt;250)=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&gt;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latin typeface="Cambria Math"/>
                            </a:rPr>
                            <m:t>250−200</m:t>
                          </m:r>
                        </m:num>
                        <m:den>
                          <m:r>
                            <a:rPr lang="pt-BR" sz="2400">
                              <a:latin typeface="Cambria Math"/>
                            </a:rPr>
                            <m:t>36,5</m:t>
                          </m:r>
                        </m:den>
                      </m:f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&gt;1,37)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=0,5−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(0≤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≤1,37)=0,5−0,4147=0,0853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800"/>
                  </a:spcBef>
                </a:pPr>
                <a:r>
                  <a:rPr lang="pt-BR" sz="2400" dirty="0"/>
                  <a:t>E</a:t>
                </a:r>
                <a:r>
                  <a:rPr sz="2400" dirty="0"/>
                  <a:t>m </a:t>
                </a:r>
                <a:r>
                  <a:rPr sz="2400" dirty="0" err="1"/>
                  <a:t>cerca</a:t>
                </a:r>
                <a:r>
                  <a:rPr sz="2400" dirty="0"/>
                  <a:t> de 8,5% das </a:t>
                </a:r>
                <a:r>
                  <a:rPr sz="2400" dirty="0" err="1"/>
                  <a:t>atualizações</a:t>
                </a:r>
                <a:r>
                  <a:rPr sz="2400" dirty="0"/>
                  <a:t>, o </a:t>
                </a:r>
                <a:r>
                  <a:rPr sz="2400" dirty="0" err="1"/>
                  <a:t>painel</a:t>
                </a:r>
                <a:r>
                  <a:rPr sz="2400" dirty="0"/>
                  <a:t> </a:t>
                </a:r>
                <a:r>
                  <a:rPr sz="2400" dirty="0" err="1"/>
                  <a:t>dispara</a:t>
                </a:r>
                <a:r>
                  <a:rPr sz="2400" dirty="0"/>
                  <a:t> </a:t>
                </a:r>
                <a:r>
                  <a:rPr sz="2400" dirty="0" err="1"/>
                  <a:t>alarme</a:t>
                </a:r>
                <a:r>
                  <a:rPr sz="2400" dirty="0"/>
                  <a:t> </a:t>
                </a:r>
                <a:r>
                  <a:rPr sz="2400" dirty="0" err="1"/>
                  <a:t>sem</a:t>
                </a:r>
                <a:r>
                  <a:rPr sz="2400" dirty="0"/>
                  <a:t> </a:t>
                </a:r>
                <a:r>
                  <a:rPr sz="2400" dirty="0" err="1"/>
                  <a:t>nenhum</a:t>
                </a:r>
                <a:r>
                  <a:rPr sz="2400" dirty="0"/>
                  <a:t> </a:t>
                </a:r>
                <a:r>
                  <a:rPr sz="2400" dirty="0" err="1"/>
                  <a:t>problema</a:t>
                </a:r>
                <a:r>
                  <a:rPr sz="2400" dirty="0"/>
                  <a:t> no </a:t>
                </a:r>
                <a:r>
                  <a:rPr sz="2400" dirty="0" err="1"/>
                  <a:t>servidor</a:t>
                </a:r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859664"/>
              </a:xfrm>
              <a:prstGeom prst="rect">
                <a:avLst/>
              </a:prstGeom>
              <a:blipFill>
                <a:blip r:embed="rId2"/>
                <a:stretch>
                  <a:fillRect l="-909" b="-1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61280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Aproximação</a:t>
                </a:r>
                <a:r>
                  <a:rPr sz="2400" b="1" dirty="0"/>
                  <a:t> normal à binomial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Até aqui, a estatística era uma média. Agora vamos olhar para uma contagem: o número de sucessos 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 tentativas independentes, cada uma com probabilidade 𝑝 de sucesso.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Pela </a:t>
                </a:r>
                <a:r>
                  <a:rPr lang="pt-BR" sz="2400" dirty="0" err="1"/>
                  <a:t>Aula</a:t>
                </a:r>
                <a:r>
                  <a:rPr lang="pt-BR" sz="2400" dirty="0"/>
                  <a:t> 10: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1" dirty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Quando 𝑛 é grande, calcular uma probabilidade como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exige somar muitos termos da binomial. Para valores grandes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, a distribuição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400" dirty="0"/>
                  <a:t> fica parecida com uma normal. Por isso, usamos uma normal com a mesma média e a mesma variância da binomial: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sz="2400" dirty="0"/>
              </a:p>
              <a:p>
                <a:pPr>
                  <a:lnSpc>
                    <a:spcPct val="150000"/>
                  </a:lnSpc>
                </a:pPr>
                <a:r>
                  <a:rPr sz="2400" b="1" dirty="0" err="1"/>
                  <a:t>Condição</a:t>
                </a:r>
                <a:r>
                  <a:rPr sz="2400" b="1" dirty="0"/>
                  <a:t> </a:t>
                </a:r>
                <a:r>
                  <a:rPr sz="2400" b="1" dirty="0" err="1"/>
                  <a:t>prática</a:t>
                </a:r>
                <a:r>
                  <a:rPr sz="2400" b="1" dirty="0"/>
                  <a:t>: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/>
                      </a:rPr>
                      <m:t>𝑛𝑝</m:t>
                    </m:r>
                    <m:r>
                      <a:rPr lang="pt-BR" sz="2400" i="1" smtClean="0">
                        <a:latin typeface="Cambria Math"/>
                      </a:rPr>
                      <m:t>≥5</m:t>
                    </m:r>
                  </m:oMath>
                </a14:m>
                <a:r>
                  <a:rPr sz="2400" i="1" dirty="0"/>
                  <a:t> </a:t>
                </a:r>
                <a:r>
                  <a:rPr sz="2400" dirty="0"/>
                  <a:t>e </a:t>
                </a:r>
                <a14:m>
                  <m:oMath xmlns:m="http://schemas.openxmlformats.org/officeDocument/2006/math">
                    <m:r>
                      <a:rPr lang="pt-BR" sz="2400" i="1" smtClean="0">
                        <a:latin typeface="Cambria Math"/>
                      </a:rPr>
                      <m:t>𝑛</m:t>
                    </m:r>
                    <m:r>
                      <a:rPr lang="pt-BR" sz="2400" i="1" smtClean="0">
                        <a:latin typeface="Cambria Math"/>
                      </a:rPr>
                      <m:t>(1−</m:t>
                    </m:r>
                    <m:r>
                      <a:rPr lang="pt-BR" sz="2400" i="1" smtClean="0">
                        <a:latin typeface="Cambria Math"/>
                      </a:rPr>
                      <m:t>𝑝</m:t>
                    </m:r>
                    <m:r>
                      <a:rPr lang="pt-BR" sz="2400" i="1" smtClean="0">
                        <a:latin typeface="Cambria Math"/>
                      </a:rPr>
                      <m:t>)≥5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6128088"/>
              </a:xfrm>
              <a:prstGeom prst="rect">
                <a:avLst/>
              </a:prstGeom>
              <a:blipFill>
                <a:blip r:embed="rId2"/>
                <a:stretch>
                  <a:fillRect l="-909" r="-739" b="-13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3913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Correção</a:t>
                </a:r>
                <a:r>
                  <a:rPr sz="2400" b="1" dirty="0"/>
                  <a:t> de </a:t>
                </a:r>
                <a:r>
                  <a:rPr sz="2400" b="1" dirty="0" err="1"/>
                  <a:t>continuidade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Ao trocar a binomial pela normal, aparece um problema: a binomial só assume valores inteiros (0, 1, 2, …), mas a normal é contínua. Na normal, a probabilidade de um valor exato é zero: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)=0 </m:t>
                    </m:r>
                  </m:oMath>
                </a14:m>
                <a:r>
                  <a:rPr lang="pt-BR" sz="2400" dirty="0"/>
                  <a:t>pela normal, mas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)&gt;0 </m:t>
                    </m:r>
                  </m:oMath>
                </a14:m>
                <a:r>
                  <a:rPr lang="pt-BR" sz="2400" dirty="0"/>
                  <a:t>pela binomial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solução é pensar no histograma da binomial: cada valor 𝑘 é uma barra de largura 1, que vai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−0,5 </m:t>
                    </m:r>
                  </m:oMath>
                </a14:m>
                <a:r>
                  <a:rPr lang="pt-BR" sz="2400" dirty="0"/>
                  <a:t>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+0,5</m:t>
                    </m:r>
                  </m:oMath>
                </a14:m>
                <a:r>
                  <a:rPr lang="pt-BR" sz="2400" dirty="0"/>
                  <a:t>. Na normal, usamos a área sobre esse intervalo. Esse ajuste de meia unidade é a correção de continuidade: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3913059"/>
              </a:xfrm>
              <a:prstGeom prst="rect">
                <a:avLst/>
              </a:prstGeom>
              <a:blipFill>
                <a:blip r:embed="rId2"/>
                <a:stretch>
                  <a:fillRect l="-909" r="-1193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767138"/>
                  </p:ext>
                </p:extLst>
              </p:nvPr>
            </p:nvGraphicFramePr>
            <p:xfrm>
              <a:off x="2514011" y="4448888"/>
              <a:ext cx="8000000" cy="2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200" b="1"/>
                            <a:t>Probabilidade binomial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200" b="1"/>
                            <a:t>Use na normal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200" b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− 0,5 &lt;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&lt;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+ 0,5)</m:t>
                                </m:r>
                              </m:oMath>
                            </m:oMathPara>
                          </a14:m>
                          <a:endParaRPr sz="2200" b="0"/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≤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200" b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&lt;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+ 0,5)</m:t>
                                </m:r>
                              </m:oMath>
                            </m:oMathPara>
                          </a14:m>
                          <a:endParaRPr sz="2200" b="0" dirty="0"/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 ≥ 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200" b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 &gt; 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200" b="0" i="1" dirty="0" smtClean="0">
                                    <a:latin typeface="Cambria Math" panose="02040503050406030204" pitchFamily="18" charset="0"/>
                                  </a:rPr>
                                  <m:t> − 0,5)</m:t>
                                </m:r>
                              </m:oMath>
                            </m:oMathPara>
                          </a14:m>
                          <a:endParaRPr sz="2200" b="0" dirty="0"/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4767138"/>
                  </p:ext>
                </p:extLst>
              </p:nvPr>
            </p:nvGraphicFramePr>
            <p:xfrm>
              <a:off x="2514011" y="4448888"/>
              <a:ext cx="8000000" cy="208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200" b="1"/>
                            <a:t>Probabilidade binomial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200" b="1"/>
                            <a:t>Use na normal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174" t="-110465" r="-129443" b="-2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77808" t="-110465" r="-541" b="-2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174" t="-212941" r="-129443" b="-1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77808" t="-212941" r="-541" b="-1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174" t="-309302" r="-129443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3"/>
                          <a:stretch>
                            <a:fillRect l="-77808" t="-309302" r="-541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Exemplo</a:t>
                </a:r>
                <a:r>
                  <a:rPr sz="2400" b="1" dirty="0"/>
                  <a:t>: </a:t>
                </a:r>
                <a:r>
                  <a:rPr sz="2400" b="1" dirty="0" err="1"/>
                  <a:t>pedidos</a:t>
                </a:r>
                <a:r>
                  <a:rPr sz="2400" b="1" dirty="0"/>
                  <a:t> </a:t>
                </a:r>
                <a:r>
                  <a:rPr sz="2400" b="1" dirty="0" err="1"/>
                  <a:t>atrasados</a:t>
                </a:r>
                <a:endParaRPr sz="2400" b="1" dirty="0"/>
              </a:p>
              <a:p>
                <a:pPr>
                  <a:lnSpc>
                    <a:spcPct val="150000"/>
                  </a:lnSpc>
                </a:pPr>
                <a:r>
                  <a:rPr sz="2400" dirty="0"/>
                  <a:t>10% dos </a:t>
                </a:r>
                <a:r>
                  <a:rPr sz="2400" dirty="0" err="1"/>
                  <a:t>pedidos</a:t>
                </a:r>
                <a:r>
                  <a:rPr sz="2400" dirty="0"/>
                  <a:t> do app </a:t>
                </a:r>
                <a:r>
                  <a:rPr sz="2400" dirty="0" err="1"/>
                  <a:t>chegam</a:t>
                </a:r>
                <a:r>
                  <a:rPr sz="2400" dirty="0"/>
                  <a:t> </a:t>
                </a:r>
                <a:r>
                  <a:rPr sz="2400" dirty="0" err="1"/>
                  <a:t>atrasados</a:t>
                </a:r>
                <a:r>
                  <a:rPr sz="2400" dirty="0"/>
                  <a:t>. O time </a:t>
                </a:r>
                <a:r>
                  <a:rPr sz="2400" dirty="0" err="1"/>
                  <a:t>sorteia</a:t>
                </a:r>
                <a:r>
                  <a:rPr sz="2400" dirty="0"/>
                  <a:t> </a:t>
                </a:r>
                <a:r>
                  <a:rPr sz="2400" b="1" dirty="0"/>
                  <a:t>400 </a:t>
                </a:r>
                <a:r>
                  <a:rPr sz="2400" b="1" dirty="0" err="1"/>
                  <a:t>pedidos</a:t>
                </a:r>
                <a:r>
                  <a:rPr sz="2400" dirty="0"/>
                  <a:t>. </a:t>
                </a:r>
                <a:r>
                  <a:rPr sz="2400" dirty="0" err="1"/>
                  <a:t>Seja</a:t>
                </a:r>
                <a:r>
                  <a:rPr sz="2400" dirty="0"/>
                  <a:t>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𝑌</m:t>
                    </m:r>
                  </m:oMath>
                </a14:m>
                <a:r>
                  <a:rPr sz="2400" dirty="0"/>
                  <a:t> o </a:t>
                </a:r>
                <a:r>
                  <a:rPr sz="2400" dirty="0" err="1"/>
                  <a:t>número</a:t>
                </a:r>
                <a:r>
                  <a:rPr sz="2400" dirty="0"/>
                  <a:t> de </a:t>
                </a:r>
                <a:r>
                  <a:rPr sz="2400" dirty="0" err="1"/>
                  <a:t>atrasados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𝑌</m:t>
                    </m:r>
                    <m:r>
                      <a:rPr lang="pt-BR" sz="2400">
                        <a:latin typeface="Cambria Math"/>
                      </a:rPr>
                      <m:t>~</m:t>
                    </m:r>
                    <m:r>
                      <a:rPr lang="pt-BR" sz="2400">
                        <a:latin typeface="Cambria Math"/>
                      </a:rPr>
                      <m:t>𝑏</m:t>
                    </m:r>
                    <m:r>
                      <a:rPr lang="pt-BR" sz="2400">
                        <a:latin typeface="Cambria Math"/>
                      </a:rPr>
                      <m:t>(400;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0,10)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dirty="0"/>
                  <a:t>Qual a chance de </a:t>
                </a:r>
                <a:r>
                  <a:rPr sz="2400" b="1" dirty="0"/>
                  <a:t>50 </a:t>
                </a:r>
                <a:r>
                  <a:rPr sz="2400" b="1" dirty="0" err="1"/>
                  <a:t>ou</a:t>
                </a:r>
                <a:r>
                  <a:rPr sz="2400" b="1" dirty="0"/>
                  <a:t> </a:t>
                </a:r>
                <a:r>
                  <a:rPr sz="2400" b="1" dirty="0" err="1"/>
                  <a:t>mais</a:t>
                </a:r>
                <a:r>
                  <a:rPr sz="2400" dirty="0"/>
                  <a:t> </a:t>
                </a:r>
                <a:r>
                  <a:rPr sz="2400" dirty="0" err="1"/>
                  <a:t>atrasados</a:t>
                </a:r>
                <a:r>
                  <a:rPr sz="2400" dirty="0"/>
                  <a:t>? São 351 </a:t>
                </a:r>
                <a:r>
                  <a:rPr sz="2400" dirty="0" err="1"/>
                  <a:t>termos</a:t>
                </a:r>
                <a:r>
                  <a:rPr sz="2400" dirty="0"/>
                  <a:t>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≥50)=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=50)+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=51)+…+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=400)</m:t>
                      </m:r>
                    </m:oMath>
                  </m:oMathPara>
                </a14:m>
                <a:endParaRPr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 dirty="0"/>
                  <a:t>Pela </a:t>
                </a:r>
                <a:r>
                  <a:rPr sz="2400" dirty="0" err="1"/>
                  <a:t>aproximação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𝜇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𝑛𝑝</m:t>
                    </m:r>
                    <m:r>
                      <a:rPr lang="pt-BR" sz="2400">
                        <a:latin typeface="Cambria Math"/>
                      </a:rPr>
                      <m:t>=40</m:t>
                    </m:r>
                  </m:oMath>
                </a14:m>
                <a:r>
                  <a:rPr sz="24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p>
                        <m:r>
                          <a:rPr lang="pt-BR" sz="240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pt-BR" sz="2400">
                        <a:latin typeface="Cambria Math"/>
                      </a:rPr>
                      <m:t>=</m:t>
                    </m:r>
                    <m:r>
                      <a:rPr lang="pt-BR" sz="2400">
                        <a:latin typeface="Cambria Math"/>
                      </a:rPr>
                      <m:t>𝑛𝑝</m:t>
                    </m:r>
                    <m:r>
                      <a:rPr lang="pt-BR" sz="2400">
                        <a:latin typeface="Cambria Math"/>
                      </a:rPr>
                      <m:t>(1−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)=36</m:t>
                    </m:r>
                  </m:oMath>
                </a14:m>
                <a:r>
                  <a:rPr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 dirty="0" err="1"/>
                  <a:t>Condição</a:t>
                </a:r>
                <a:r>
                  <a:rPr sz="2400" dirty="0"/>
                  <a:t>: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𝑛𝑝</m:t>
                    </m:r>
                    <m:r>
                      <a:rPr lang="pt-BR" sz="2400">
                        <a:latin typeface="Cambria Math"/>
                      </a:rPr>
                      <m:t>=40≥5</m:t>
                    </m:r>
                  </m:oMath>
                </a14:m>
                <a:r>
                  <a:rPr sz="2400" dirty="0"/>
                  <a:t> 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𝑛</m:t>
                    </m:r>
                    <m:r>
                      <a:rPr lang="pt-BR" sz="2400">
                        <a:latin typeface="Cambria Math"/>
                      </a:rPr>
                      <m:t>(1−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)=360≥5</m:t>
                    </m:r>
                  </m:oMath>
                </a14:m>
                <a:r>
                  <a:rPr sz="2400" dirty="0"/>
                  <a:t>.</a:t>
                </a:r>
              </a:p>
            </p:txBody>
          </p:sp>
        </mc:Choice>
        <mc:Fallback xmlns="">
          <p:sp xmlns:a14="http://schemas.microsoft.com/office/drawing/2010/main"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90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/>
                  <a:t>Exemplo: pedidos atrasados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10% dos pedidos do app chegam atrasados. O time sorteia </a:t>
                </a:r>
                <a:r>
                  <a:rPr sz="2400" b="1"/>
                  <a:t>400 pedidos</a:t>
                </a:r>
                <a:r>
                  <a:rPr sz="2400"/>
                  <a:t>. Seja </a:t>
                </a:r>
                <a:r>
                  <a:rPr sz="2400"/>
                  <a:t> o número de atrasados: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Qual a chance de </a:t>
                </a:r>
                <a:r>
                  <a:rPr sz="2400" b="1"/>
                  <a:t>50 ou mais</a:t>
                </a:r>
                <a:r>
                  <a:rPr sz="2400"/>
                  <a:t> atrasados? São 351 termos:</a:t>
                </a:r>
              </a:p>
              <a:p>
                <a:pPr algn="ctr">
                  <a:lnSpc>
                    <a:spcPct val="150000"/>
                  </a:lnSpc>
                </a:p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2400"/>
                  <a:t>Pela aproximação: </a:t>
                </a:r>
                <a:r>
                  <a:rPr sz="2400"/>
                  <a:t> e </a:t>
                </a:r>
                <a:r>
                  <a:rPr sz="240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sz="2400"/>
                  <a:t>Condição: </a:t>
                </a:r>
                <a:r>
                  <a:rPr sz="2400"/>
                  <a:t> e </a:t>
                </a:r>
                <a:r>
                  <a:rPr sz="2400"/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24973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 50 </a:t>
                </a:r>
                <a:r>
                  <a:rPr lang="pt-BR" sz="2400" b="1" dirty="0" err="1"/>
                  <a:t>ou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mais</a:t>
                </a:r>
                <a:r>
                  <a:rPr lang="pt-BR" sz="2400" b="1" dirty="0"/>
                  <a:t> </a:t>
                </a:r>
                <a:r>
                  <a:rPr lang="pt-BR" sz="2400" b="1" dirty="0" err="1"/>
                  <a:t>atrasados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 </a:t>
                </a:r>
                <a:r>
                  <a:rPr lang="pt-BR" sz="2400" dirty="0" err="1"/>
                  <a:t>correção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continuidade</a:t>
                </a:r>
                <a:r>
                  <a:rPr lang="pt-BR" sz="2400" dirty="0"/>
                  <a:t> (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𝜎</m:t>
                    </m:r>
                    <m:r>
                      <a:rPr lang="pt-BR" sz="240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sz="2400">
                            <a:latin typeface="Cambria Math"/>
                          </a:rPr>
                          <m:t>36</m:t>
                        </m:r>
                      </m:e>
                    </m:rad>
                    <m:r>
                      <a:rPr lang="pt-BR" sz="2400">
                        <a:latin typeface="Cambria Math"/>
                      </a:rPr>
                      <m:t>=6</m:t>
                    </m:r>
                  </m:oMath>
                </a14:m>
                <a:r>
                  <a:rPr lang="pt-BR" sz="2400" dirty="0"/>
                  <a:t>):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𝑌</m:t>
                      </m:r>
                      <m:r>
                        <a:rPr lang="pt-BR" sz="2400">
                          <a:latin typeface="Cambria Math"/>
                        </a:rPr>
                        <m:t>≥50)≈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>
                              <a:latin typeface="Cambria Math"/>
                            </a:rPr>
                            <m:t>𝑍</m:t>
                          </m:r>
                          <m:r>
                            <a:rPr lang="pt-BR" sz="2400">
                              <a:latin typeface="Cambria Math"/>
                            </a:rPr>
                            <m:t>&gt;</m:t>
                          </m:r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>
                                  <a:latin typeface="Cambria Math"/>
                                </a:rPr>
                                <m:t>49,5−40</m:t>
                              </m:r>
                            </m:num>
                            <m:den>
                              <m:r>
                                <a:rPr lang="pt-BR" sz="2400"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pt-BR" sz="2400">
                          <a:latin typeface="Cambria Math"/>
                        </a:rPr>
                        <m:t>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&gt;1,58)=0,5−0,4429=0,0571</m:t>
                      </m:r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2497350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96000" y="3000000"/>
          <a:ext cx="7000000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Método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/>
                        <a:t>P(Y ≥ 50)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Binomial exata (computador)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0,0601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Normal com correção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0,0571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Normal sem correção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/>
                        <a:t>0,0475</a:t>
                      </a:r>
                    </a:p>
                  </a:txBody>
                  <a:tcPr marT="30000" marB="30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9287" y="5150000"/>
            <a:ext cx="10733426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/>
              <a:t>A correção de continuidade aproxima o resultado do valor exato.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5726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sz="2400" b="1" dirty="0" err="1"/>
                  <a:t>Distribuição</a:t>
                </a:r>
                <a:r>
                  <a:rPr sz="2400" b="1" dirty="0"/>
                  <a:t> </a:t>
                </a:r>
                <a:r>
                  <a:rPr sz="2400" b="1" dirty="0" err="1"/>
                  <a:t>amostral</a:t>
                </a:r>
                <a:r>
                  <a:rPr sz="2400" b="1" dirty="0"/>
                  <a:t> da </a:t>
                </a:r>
                <a:r>
                  <a:rPr sz="2400" b="1" dirty="0" err="1"/>
                  <a:t>proporção</a:t>
                </a:r>
                <a:endParaRPr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Muitas vezes interessa a proporção, e não a contagem. Por exemplo, a proporção de pedidos atrasados numa amostra. Vamos estudar como se comporta a distribuição amostral da proporção.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Considere uma população em que uma fração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dos elementos tem certa característica. Para cada elemento sorteado, defina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sz="2400" dirty="0"/>
                  <a:t> se ele tem a característica e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𝑋=0 se não tem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Assim, 𝑋 é uma Bernoulli: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572616"/>
              </a:xfrm>
              <a:prstGeom prst="rect">
                <a:avLst/>
              </a:prstGeom>
              <a:blipFill>
                <a:blip r:embed="rId2"/>
                <a:stretch>
                  <a:fillRect l="-909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689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982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Numa amostra de 𝑛 elementos, o número de sucessos é a soma dos 𝑋: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proporção de sucessos na amostra é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Ou seja, a proporção amostral é uma média amostral.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Como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é uma média amostral, valem os resultados que já vimos para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,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i="1" dirty="0">
                    <a:latin typeface="Cambria Math" panose="02040503050406030204" pitchFamily="18" charset="0"/>
                  </a:rPr>
                  <a:t> </a:t>
                </a:r>
                <a:r>
                  <a:rPr lang="pt-BR" sz="2400" dirty="0"/>
                  <a:t>Pelo TLC, para 𝑛 grande: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98291"/>
              </a:xfrm>
              <a:prstGeom prst="rect">
                <a:avLst/>
              </a:prstGeom>
              <a:blipFill>
                <a:blip r:embed="rId2"/>
                <a:stretch>
                  <a:fillRect l="-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4266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Usaremos essa aproximação para: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Também podemos obter um resultado usando a variável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pt-BR" sz="2400" dirty="0"/>
                  <a:t> (que conta o número de sucessos). 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pt-BR" sz="2400" i="1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4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400" dirty="0"/>
                  <a:t> podemos multiplicar por 𝑛 e obter: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acc>
                        <m:accPr>
                          <m:chr m:val="̂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Que é a aproximação normal à binomial que usamos antes.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Agora sabemos por que ela funciona: é o TLC.</a:t>
                </a:r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4266104"/>
              </a:xfrm>
              <a:prstGeom prst="rect">
                <a:avLst/>
              </a:prstGeom>
              <a:blipFill>
                <a:blip r:embed="rId2"/>
                <a:stretch>
                  <a:fillRect l="-909" b="-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730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29287" y="467833"/>
                <a:ext cx="10733426" cy="56929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Qual a chance de 12,5% </a:t>
                </a:r>
                <a:r>
                  <a:rPr lang="pt-BR" sz="2400" dirty="0" err="1"/>
                  <a:t>ou</a:t>
                </a:r>
                <a:r>
                  <a:rPr lang="pt-BR" sz="2400" dirty="0"/>
                  <a:t> </a:t>
                </a:r>
                <a:r>
                  <a:rPr lang="pt-BR" sz="2400" dirty="0" err="1"/>
                  <a:t>mais</a:t>
                </a:r>
                <a:r>
                  <a:rPr lang="pt-BR" sz="2400" dirty="0"/>
                  <a:t> de </a:t>
                </a:r>
                <a:r>
                  <a:rPr lang="pt-BR" sz="2400" dirty="0" err="1"/>
                  <a:t>atrasados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amostra</a:t>
                </a:r>
                <a:r>
                  <a:rPr lang="pt-BR" sz="2400" dirty="0"/>
                  <a:t> de 400 </a:t>
                </a:r>
                <a:r>
                  <a:rPr lang="pt-BR" sz="2400" dirty="0" err="1"/>
                  <a:t>pedidos</a:t>
                </a:r>
                <a:r>
                  <a:rPr lang="pt-BR" sz="2400" dirty="0"/>
                  <a:t>?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  <a:r>
                  <a:rPr lang="pt-BR" sz="2400" dirty="0"/>
                  <a:t> lembre que </a:t>
                </a:r>
                <a14:m>
                  <m:oMath xmlns:m="http://schemas.openxmlformats.org/officeDocument/2006/math">
                    <m:r>
                      <a:rPr lang="pt-BR" sz="2400" smtClean="0">
                        <a:latin typeface="Cambria Math"/>
                      </a:rPr>
                      <m:t>𝑌</m:t>
                    </m:r>
                    <m:r>
                      <a:rPr lang="pt-BR" sz="2400" smtClean="0">
                        <a:latin typeface="Cambria Math"/>
                      </a:rPr>
                      <m:t>~</m:t>
                    </m:r>
                    <m:r>
                      <a:rPr lang="pt-BR" sz="2400" smtClean="0">
                        <a:latin typeface="Cambria Math"/>
                      </a:rPr>
                      <m:t>𝑏</m:t>
                    </m:r>
                    <m:r>
                      <a:rPr lang="pt-BR" sz="2400" smtClean="0">
                        <a:latin typeface="Cambria Math"/>
                      </a:rPr>
                      <m:t>(400;</m:t>
                    </m:r>
                    <m:r>
                      <m:rPr>
                        <m:nor/>
                      </m:rPr>
                      <a:rPr lang="pt-BR" sz="2400">
                        <a:latin typeface="Cambria Math"/>
                      </a:rPr>
                      <m:t> </m:t>
                    </m:r>
                    <m:r>
                      <a:rPr lang="pt-BR" sz="2400">
                        <a:latin typeface="Cambria Math"/>
                      </a:rPr>
                      <m:t>0,10)</m:t>
                    </m:r>
                  </m:oMath>
                </a14:m>
                <a:r>
                  <a:rPr lang="pt-BR" sz="2400" dirty="0"/>
                  <a:t>. Logo,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𝐸</m:t>
                    </m:r>
                    <m:r>
                      <a:rPr lang="pt-BR" sz="2400">
                        <a:latin typeface="Cambria Math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>
                        <a:latin typeface="Cambria Math"/>
                      </a:rPr>
                      <m:t>)=</m:t>
                    </m:r>
                    <m:r>
                      <a:rPr lang="pt-BR" sz="2400">
                        <a:latin typeface="Cambria Math"/>
                      </a:rPr>
                      <m:t>𝑝</m:t>
                    </m:r>
                    <m:r>
                      <a:rPr lang="pt-BR" sz="2400">
                        <a:latin typeface="Cambria Math"/>
                      </a:rPr>
                      <m:t>=0,10</m:t>
                    </m:r>
                  </m:oMath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>
                            <a:latin typeface="Cambria Math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400">
                                <a:latin typeface="Cambria Math"/>
                              </a:rPr>
                              <m:t>𝑝</m:t>
                            </m:r>
                          </m:e>
                        </m:acc>
                      </m:sub>
                    </m:sSub>
                    <m:r>
                      <a:rPr lang="pt-BR" sz="240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num>
                          <m:den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400">
                                <a:latin typeface="Cambria Math"/>
                              </a:rPr>
                              <m:t>0,10·0,90</m:t>
                            </m:r>
                          </m:num>
                          <m:den>
                            <m:r>
                              <a:rPr lang="pt-BR" sz="2400">
                                <a:latin typeface="Cambria Math"/>
                              </a:rPr>
                              <m:t>400</m:t>
                            </m:r>
                          </m:den>
                        </m:f>
                      </m:e>
                    </m:rad>
                    <m:r>
                      <a:rPr lang="pt-BR" sz="2400">
                        <a:latin typeface="Cambria Math"/>
                      </a:rPr>
                      <m:t>=0,015</m:t>
                    </m:r>
                  </m:oMath>
                </a14:m>
                <a:endParaRPr lang="pt-BR" sz="24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Segue que,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40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0,10; 0,015²</m:t>
                        </m:r>
                      </m:e>
                    </m:d>
                  </m:oMath>
                </a14:m>
                <a:endParaRPr lang="pt-BR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>
                              <a:latin typeface="Cambria Math"/>
                            </a:rPr>
                            <m:t>𝑝</m:t>
                          </m:r>
                        </m:e>
                      </m:acc>
                      <m:r>
                        <a:rPr lang="pt-BR" sz="2400">
                          <a:latin typeface="Cambria Math"/>
                        </a:rPr>
                        <m:t>≥0,125)=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≥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>
                              <a:latin typeface="Cambria Math"/>
                            </a:rPr>
                            <m:t>0,125−0,10</m:t>
                          </m:r>
                        </m:num>
                        <m:den>
                          <m:r>
                            <a:rPr lang="pt-BR" sz="2400">
                              <a:latin typeface="Cambria Math"/>
                            </a:rPr>
                            <m:t>0,015</m:t>
                          </m:r>
                        </m:den>
                      </m:f>
                      <m:r>
                        <a:rPr lang="pt-BR" sz="2400">
                          <a:latin typeface="Cambria Math"/>
                        </a:rPr>
                        <m:t>)=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≥1,67)</m:t>
                      </m:r>
                    </m:oMath>
                  </m:oMathPara>
                </a14:m>
                <a:endParaRPr lang="pt-BR" sz="24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>
                          <a:latin typeface="Cambria Math"/>
                        </a:rPr>
                        <m:t>=0,5−</m:t>
                      </m:r>
                      <m:r>
                        <a:rPr lang="pt-BR" sz="2400">
                          <a:latin typeface="Cambria Math"/>
                        </a:rPr>
                        <m:t>𝑃</m:t>
                      </m:r>
                      <m:r>
                        <a:rPr lang="pt-BR" sz="2400">
                          <a:latin typeface="Cambria Math"/>
                        </a:rPr>
                        <m:t>(0≤</m:t>
                      </m:r>
                      <m:r>
                        <a:rPr lang="pt-BR" sz="2400">
                          <a:latin typeface="Cambria Math"/>
                        </a:rPr>
                        <m:t>𝑍</m:t>
                      </m:r>
                      <m:r>
                        <a:rPr lang="pt-BR" sz="2400">
                          <a:latin typeface="Cambria Math"/>
                        </a:rPr>
                        <m:t>≤1,67)=0,5−0,4525=0,0475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pt-BR" sz="2400" dirty="0"/>
                  <a:t>É o </a:t>
                </a:r>
                <a:r>
                  <a:rPr lang="pt-BR" sz="2400" dirty="0" err="1"/>
                  <a:t>mesmo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evento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>
                        <a:latin typeface="Cambria Math"/>
                      </a:rPr>
                      <m:t>𝑌</m:t>
                    </m:r>
                    <m:r>
                      <a:rPr lang="pt-BR" sz="2400">
                        <a:latin typeface="Cambria Math"/>
                      </a:rPr>
                      <m:t>≥50</m:t>
                    </m:r>
                  </m:oMath>
                </a14:m>
                <a:r>
                  <a:rPr lang="pt-BR" sz="2400" dirty="0"/>
                  <a:t> (a normal </a:t>
                </a:r>
                <a:r>
                  <a:rPr lang="pt-BR" sz="2400" dirty="0" err="1"/>
                  <a:t>sem</a:t>
                </a:r>
                <a:r>
                  <a:rPr lang="pt-BR" sz="2400" dirty="0"/>
                  <a:t> </a:t>
                </a:r>
                <a:r>
                  <a:rPr lang="pt-BR" sz="2400" dirty="0" err="1"/>
                  <a:t>correção</a:t>
                </a:r>
                <a:r>
                  <a:rPr lang="pt-BR" sz="2400" dirty="0"/>
                  <a:t> </a:t>
                </a:r>
                <a:r>
                  <a:rPr lang="pt-BR" sz="2400" dirty="0" err="1"/>
                  <a:t>na</a:t>
                </a:r>
                <a:r>
                  <a:rPr lang="pt-BR" sz="2400" dirty="0"/>
                  <a:t> </a:t>
                </a:r>
                <a:r>
                  <a:rPr lang="pt-BR" sz="2400" dirty="0" err="1"/>
                  <a:t>tabela</a:t>
                </a:r>
                <a:r>
                  <a:rPr lang="pt-BR" sz="2400" dirty="0"/>
                  <a:t>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≥ 50)).</m:t>
                    </m:r>
                  </m:oMath>
                </a14:m>
                <a:endParaRPr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87" y="467833"/>
                <a:ext cx="10733426" cy="5692905"/>
              </a:xfrm>
              <a:prstGeom prst="rect">
                <a:avLst/>
              </a:prstGeom>
              <a:blipFill>
                <a:blip r:embed="rId2"/>
                <a:stretch>
                  <a:fillRect l="-909" r="-284" b="-149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1"/>
              <a:t>Resumo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23529"/>
                  </p:ext>
                </p:extLst>
              </p:nvPr>
            </p:nvGraphicFramePr>
            <p:xfrm>
              <a:off x="729287" y="1250000"/>
              <a:ext cx="10700000" cy="36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5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Estatística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Média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Variância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Distribuição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Quando vale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̄"/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²/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normal </a:t>
                          </a:r>
                          <a:r>
                            <a:rPr sz="2000" b="0" dirty="0" err="1"/>
                            <a:t>exata</a:t>
                          </a:r>
                          <a:r>
                            <a:rPr sz="2000" b="0" dirty="0"/>
                            <a:t>, se a </a:t>
                          </a:r>
                          <a:r>
                            <a:rPr sz="2000" b="0" dirty="0" err="1"/>
                            <a:t>população</a:t>
                          </a:r>
                          <a:r>
                            <a:rPr sz="2000" b="0" dirty="0"/>
                            <a:t> é normal; ≈ normal, </a:t>
                          </a:r>
                          <a:r>
                            <a:rPr sz="2000" b="0" dirty="0" err="1"/>
                            <a:t>pelo</a:t>
                          </a:r>
                          <a:r>
                            <a:rPr sz="2000" b="0" dirty="0"/>
                            <a:t> TLC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n ≥ 30 (regra prática)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sz="2000" b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(1 − 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sz="2000" b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≈ normal, com correção de continuidade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np ≥ 5 e n(1 − p) ≥ 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0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pt-BR" sz="20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1 − </m:t>
                                        </m:r>
                                        <m:r>
                                          <a:rPr lang="pt-BR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lang="pt-BR" sz="20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sz="2000" b="0" dirty="0"/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≈ normal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np ≥ 5 e n(1 − p) ≥ 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223529"/>
                  </p:ext>
                </p:extLst>
              </p:nvPr>
            </p:nvGraphicFramePr>
            <p:xfrm>
              <a:off x="729287" y="1250000"/>
              <a:ext cx="10700000" cy="3600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0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70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5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900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Estatística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Média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Variância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Distribuição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1"/>
                            <a:t>Quando vale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358" t="-105405" r="-531183" b="-2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54696" t="-105405" r="-718785" b="-2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65233" t="-105405" r="-366308" b="-200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normal </a:t>
                          </a:r>
                          <a:r>
                            <a:rPr sz="2000" b="0" dirty="0" err="1"/>
                            <a:t>exata</a:t>
                          </a:r>
                          <a:r>
                            <a:rPr sz="2000" b="0" dirty="0"/>
                            <a:t>, se a </a:t>
                          </a:r>
                          <a:r>
                            <a:rPr sz="2000" b="0" dirty="0" err="1"/>
                            <a:t>população</a:t>
                          </a:r>
                          <a:r>
                            <a:rPr sz="2000" b="0" dirty="0"/>
                            <a:t> é normal; ≈ normal, </a:t>
                          </a:r>
                          <a:r>
                            <a:rPr sz="2000" b="0" dirty="0" err="1"/>
                            <a:t>pelo</a:t>
                          </a:r>
                          <a:r>
                            <a:rPr sz="2000" b="0" dirty="0"/>
                            <a:t> TLC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n ≥ 30 (regra prática)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358" t="-206803" r="-531183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54696" t="-206803" r="-718785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65233" t="-206803" r="-366308" b="-1020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≈ normal, com correção de continuidade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np ≥ 5 e n(1 − p) ≥ 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358" t="-304730" r="-531183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54696" t="-304730" r="-718785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T="30000" marB="30000">
                        <a:blipFill>
                          <a:blip r:embed="rId2"/>
                          <a:stretch>
                            <a:fillRect l="-165233" t="-304730" r="-366308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/>
                            <a:t>≈ normal</a:t>
                          </a:r>
                        </a:p>
                      </a:txBody>
                      <a:tcPr marT="30000" marB="3000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2000" b="0" dirty="0"/>
                            <a:t>np ≥ 5 e n(1 − p) ≥ 5</a:t>
                          </a:r>
                        </a:p>
                      </a:txBody>
                      <a:tcPr marT="30000" marB="3000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9287" y="467833"/>
            <a:ext cx="10733426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200" b="1"/>
              <a:t>Atividades referentes à aula</a:t>
            </a:r>
          </a:p>
          <a:p>
            <a:pPr>
              <a:lnSpc>
                <a:spcPct val="130000"/>
              </a:lnSpc>
            </a:pPr>
            <a:r>
              <a:rPr sz="2000" b="1"/>
              <a:t>Leitura recomendada: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Distribuição amostral: Bussab &amp; Morettin 10.7 a 10.9; Montgomery &amp; Runger 7.2; Magalhães &amp; Lima 7.3; Morettin 9.1 e 9.2.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Aproximação normal à binomial: Bussab &amp; Morettin 7.5; Montgomery &amp; Runger 4.6; Magalhães &amp; Lima 6.2; Morettin 6.2.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2000" b="1"/>
              <a:t>Exercícios recomendados: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Bussab &amp; Morettin — Cap. 7: Problemas 22, 23 e 24; Cap. 10: Problemas 4, 5, 6, 7, 8, 9, 10, 11, 12 e 13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Magalhães &amp; Lima — Cap. 7 (7.5 Exercícios): 5, 6, 9, 10, 11, 12, 13 e 14; Cap. 6 (6.3 Exercícios): 31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Montgomery &amp; Runger — 4.6.1, 4.6.3, 4.6.4, 4.6.8 e 4.6.9; 7.2.3, 7.2.4, 7.2.5, 7.2.6 e 7.2.8</a:t>
            </a:r>
          </a:p>
          <a:p>
            <a:pPr marL="342900" indent="-342900">
              <a:lnSpc>
                <a:spcPct val="130000"/>
              </a:lnSpc>
              <a:buFont typeface="Arial"/>
              <a:buChar char="•"/>
            </a:pPr>
            <a:r>
              <a:rPr sz="2000"/>
              <a:t>Morettin — Cap. 6: 4, 5, 6, 7, 8 e 9; Cap. 9: 1, 2, 3, 4 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5340</TotalTime>
  <Words>2460</Words>
  <Application>Microsoft Office PowerPoint</Application>
  <PresentationFormat>Widescreen</PresentationFormat>
  <Paragraphs>265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Distribuição Amostral da Média e da Proporção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223</cp:revision>
  <dcterms:created xsi:type="dcterms:W3CDTF">2020-07-20T19:35:15Z</dcterms:created>
  <dcterms:modified xsi:type="dcterms:W3CDTF">2026-10-20T01:22:15Z</dcterms:modified>
</cp:coreProperties>
</file>