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7" r:id="rId2"/>
    <p:sldId id="268" r:id="rId3"/>
    <p:sldId id="299" r:id="rId4"/>
    <p:sldId id="269" r:id="rId5"/>
    <p:sldId id="277" r:id="rId6"/>
    <p:sldId id="300" r:id="rId7"/>
    <p:sldId id="270" r:id="rId8"/>
    <p:sldId id="279" r:id="rId9"/>
    <p:sldId id="280" r:id="rId10"/>
    <p:sldId id="281" r:id="rId11"/>
    <p:sldId id="271" r:id="rId12"/>
    <p:sldId id="272" r:id="rId13"/>
    <p:sldId id="282" r:id="rId14"/>
    <p:sldId id="284" r:id="rId15"/>
    <p:sldId id="273" r:id="rId16"/>
    <p:sldId id="286" r:id="rId17"/>
    <p:sldId id="287" r:id="rId18"/>
    <p:sldId id="276" r:id="rId19"/>
    <p:sldId id="289" r:id="rId20"/>
    <p:sldId id="290" r:id="rId21"/>
    <p:sldId id="297" r:id="rId22"/>
    <p:sldId id="285" r:id="rId23"/>
    <p:sldId id="301" r:id="rId24"/>
    <p:sldId id="303" r:id="rId25"/>
    <p:sldId id="288" r:id="rId26"/>
    <p:sldId id="266" r:id="rId27"/>
    <p:sldId id="305" r:id="rId28"/>
    <p:sldId id="306" r:id="rId29"/>
    <p:sldId id="307" r:id="rId30"/>
    <p:sldId id="308" r:id="rId31"/>
    <p:sldId id="304" r:id="rId32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96" d="100"/>
          <a:sy n="96" d="100"/>
        </p:scale>
        <p:origin x="2108" y="5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30/07/2026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986225" y="1498668"/>
            <a:ext cx="10067277" cy="45550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Objetivos do aula: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600" dirty="0"/>
              <a:t>Conhecer os tipos de variáveis e algumas representações gráficas.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r>
              <a:rPr lang="pt-BR" sz="2600" dirty="0"/>
              <a:t>Calcular e interpretar as medidas de posição (média, mediana e moda).</a:t>
            </a:r>
          </a:p>
          <a:p>
            <a:pPr marL="285737" indent="-285737">
              <a:buFont typeface="Arial" panose="020B0604020202020204" pitchFamily="34" charset="0"/>
              <a:buChar char="•"/>
            </a:pPr>
            <a:endParaRPr lang="pt-BR" sz="2600" dirty="0"/>
          </a:p>
          <a:p>
            <a:r>
              <a:rPr lang="pt-BR" sz="2800" b="1" dirty="0"/>
              <a:t>Referências: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600" dirty="0"/>
              <a:t>Bussab, Morettin. </a:t>
            </a:r>
            <a:r>
              <a:rPr lang="pt-BR" sz="2600" b="1" dirty="0"/>
              <a:t>Estatística Básica</a:t>
            </a:r>
            <a:r>
              <a:rPr lang="pt-BR" sz="2600" dirty="0"/>
              <a:t>, 9ed — Cap. 2 (2.1 a 2.4) e Cap. 3 (3.1)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600" dirty="0"/>
              <a:t>Montgomery, Runger. </a:t>
            </a:r>
            <a:r>
              <a:rPr lang="pt-BR" sz="2600" b="1" dirty="0"/>
              <a:t>Applied Statistics and Probability for Engineers</a:t>
            </a:r>
            <a:r>
              <a:rPr lang="pt-BR" sz="2600" dirty="0"/>
              <a:t>, 7th ed — Cap. 6 (6.1 a 6.3)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600" dirty="0"/>
              <a:t>Magalhães, Lima. </a:t>
            </a:r>
            <a:r>
              <a:rPr lang="pt-BR" sz="2600" b="1" dirty="0"/>
              <a:t>Noções de Probabilidade e Estatística</a:t>
            </a:r>
            <a:r>
              <a:rPr lang="pt-BR" sz="2600" dirty="0"/>
              <a:t>, 5ed — Cap. 1 (1.2)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Espaço Reservado para Conteúdo 4">
            <a:extLst>
              <a:ext uri="{FF2B5EF4-FFF2-40B4-BE49-F238E27FC236}">
                <a16:creationId xmlns:a16="http://schemas.microsoft.com/office/drawing/2014/main" id="{65AB402D-D1A8-4F31-BA42-34A6F0FC69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Vamos introduzir o conceito de </a:t>
            </a:r>
            <a:r>
              <a:rPr lang="pt-BR" sz="2800" b="1" dirty="0"/>
              <a:t>variável</a:t>
            </a:r>
            <a:r>
              <a:rPr lang="pt-BR" sz="2800" dirty="0"/>
              <a:t> com um exemplo:</a:t>
            </a:r>
          </a:p>
          <a:p>
            <a:endParaRPr lang="pt-BR" sz="2800" b="1" dirty="0"/>
          </a:p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Um pesquisador está interessado em fazer um levantamento sobre alguns aspectos socioeconômicos dos empregados da seção de orçamentos da Companhia MB. Usando informações obtidas do departamento de pessoal, ele elaborou a Tabela 2.1. Essa tabela é</a:t>
            </a:r>
          </a:p>
          <a:p>
            <a:pPr>
              <a:lnSpc>
                <a:spcPct val="150000"/>
              </a:lnSpc>
            </a:pPr>
            <a:r>
              <a:rPr lang="pt-BR" sz="2800" dirty="0"/>
              <a:t>chamada planilha de dados.</a:t>
            </a:r>
          </a:p>
          <a:p>
            <a:pPr algn="ctr"/>
            <a:r>
              <a:rPr lang="pt-BR" sz="2800" dirty="0">
                <a:solidFill>
                  <a:srgbClr val="FF0000"/>
                </a:solidFill>
              </a:rPr>
              <a:t>ver tabela 2.1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188419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da tabela: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5C7CDED8-1FCC-C2A8-5327-7EE87B092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2282" y="2325073"/>
            <a:ext cx="4747436" cy="3308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73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4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Variáveis qualitativas</a:t>
            </a:r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Nominal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Ex.: cor dos olhos, comida preferida, etc.</a:t>
            </a:r>
          </a:p>
          <a:p>
            <a:pPr lvl="1"/>
            <a:r>
              <a:rPr lang="pt-BR" sz="2800" dirty="0"/>
              <a:t>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Ordinal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r>
              <a:rPr lang="pt-BR" sz="2800" dirty="0"/>
              <a:t>Grau de escolaridade, patentes do exército, etc.</a:t>
            </a:r>
          </a:p>
          <a:p>
            <a:pPr marL="914354" lvl="1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Algumas variáveis nominais são dicotômicas, ou seja, só podem ocorrer duas realizações (sucesso e fracasso).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9256740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2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Variáveis quantitativas</a:t>
                </a:r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Discreta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ocorrências possíveis pertencem a um conjunto finito ou enumerável.</a:t>
                </a:r>
              </a:p>
              <a:p>
                <a:pPr lvl="1"/>
                <a:r>
                  <a:rPr lang="pt-BR" sz="2800" dirty="0"/>
                  <a:t> 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Contínua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Quando as ocorrências pertencem a um intervalo em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914354" lvl="1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2"/>
                <a:ext cx="11180365" cy="3970318"/>
              </a:xfrm>
              <a:prstGeom prst="rect">
                <a:avLst/>
              </a:prstGeom>
              <a:blipFill>
                <a:blip r:embed="rId3"/>
                <a:stretch>
                  <a:fillRect l="-1145" t="-13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352713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5597174-0556-70F7-5363-B49C4DEAE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9962" y="1574800"/>
            <a:ext cx="7360920" cy="4185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821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45498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Distribuições de frequências</a:t>
            </a:r>
          </a:p>
          <a:p>
            <a:pPr>
              <a:lnSpc>
                <a:spcPct val="150000"/>
              </a:lnSpc>
            </a:pPr>
            <a:endParaRPr lang="pt-BR" sz="2800" b="1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Ao estudarmos uma variável, é importante saber a frequência que suas realizações acontecem. 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Estudar a distribuição de frequências das realizações nos dará uma ideia do comportamento da variável.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693915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F6B465F3-A2EC-79F8-FF0F-7D4AE95960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457" y="2697843"/>
            <a:ext cx="10083183" cy="30456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1D370DC1-27D7-1A6E-94AF-4984008ACAC3}"/>
                  </a:ext>
                </a:extLst>
              </p:cNvPr>
              <p:cNvSpPr txBox="1"/>
              <p:nvPr/>
            </p:nvSpPr>
            <p:spPr>
              <a:xfrm>
                <a:off x="8077200" y="1727562"/>
                <a:ext cx="3955986" cy="32522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Número de realizações ou frequência</a:t>
                </a:r>
                <a14:m>
                  <m:oMath xmlns:m="http://schemas.openxmlformats.org/officeDocument/2006/math">
                    <m:r>
                      <a:rPr lang="pt-BR" sz="2800" b="0" i="0" dirty="0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𝒏</m:t>
                        </m:r>
                      </m:e>
                      <m:sub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Proporção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1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  <m:t>𝒏</m:t>
                            </m:r>
                          </m:e>
                          <m:sub>
                            <m:r>
                              <a:rPr lang="pt-BR" sz="2800" b="1" i="1" dirty="0" err="1" smtClean="0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num>
                      <m:den>
                        <m:r>
                          <a:rPr lang="pt-BR" sz="2800" b="1" i="1" dirty="0" smtClean="0">
                            <a:latin typeface="Cambria Math" panose="02040503050406030204" pitchFamily="18" charset="0"/>
                          </a:rPr>
                          <m:t>𝒕𝒐𝒕𝒂𝒍</m:t>
                        </m:r>
                      </m:den>
                    </m:f>
                    <m:r>
                      <a:rPr lang="pt-BR" sz="2800" b="1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Porcentagem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𝟏𝟎𝟎</m:t>
                      </m:r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e>
                        <m:sub>
                          <m:r>
                            <a:rPr lang="pt-BR" sz="2800" b="1" i="1" dirty="0" err="1" smtClean="0">
                              <a:latin typeface="Cambria Math" panose="02040503050406030204" pitchFamily="18" charset="0"/>
                            </a:rPr>
                            <m:t>𝒊</m:t>
                          </m:r>
                        </m:sub>
                      </m:sSub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11" name="CaixaDeTexto 10">
                <a:extLst>
                  <a:ext uri="{FF2B5EF4-FFF2-40B4-BE49-F238E27FC236}">
                    <a16:creationId xmlns:a16="http://schemas.microsoft.com/office/drawing/2014/main" id="{1D370DC1-27D7-1A6E-94AF-4984008ACA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77200" y="1727562"/>
                <a:ext cx="3955986" cy="3252237"/>
              </a:xfrm>
              <a:prstGeom prst="rect">
                <a:avLst/>
              </a:prstGeom>
              <a:blipFill>
                <a:blip r:embed="rId4"/>
                <a:stretch>
                  <a:fillRect l="-2773" t="-1685" r="-446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83691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r>
              <a:rPr lang="pt-BR" sz="2800" dirty="0"/>
              <a:t>Uma vantagem em utilizar a proporção para representar distribuições de frequência é comparar dados de tamanhos diferentes.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1E926860-975F-4CF9-BF81-E43DF22041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192" y="3068322"/>
            <a:ext cx="5390319" cy="3119118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39CC1E7B-5FA1-409F-AD45-EAAF6C5E02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25327"/>
            <a:ext cx="5734605" cy="3569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01260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2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Distribuições de frequências</a:t>
            </a:r>
          </a:p>
          <a:p>
            <a:r>
              <a:rPr lang="pt-BR" sz="2800" dirty="0"/>
              <a:t>Exemplo com variáveis contínuas.</a:t>
            </a:r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C4A99848-BF07-4BEB-911B-CBBD2AC2C5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218" y="2600391"/>
            <a:ext cx="4819564" cy="3536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8318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574800"/>
            <a:ext cx="11180365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Gráficos</a:t>
            </a:r>
          </a:p>
          <a:p>
            <a:endParaRPr lang="pt-BR" sz="2800" b="1" dirty="0"/>
          </a:p>
          <a:p>
            <a:r>
              <a:rPr lang="pt-BR" sz="2800" dirty="0"/>
              <a:t>Usamos representações gráficas para melhorar a visualização da  distribuição (ou comportamento) de uma variável. </a:t>
            </a:r>
          </a:p>
          <a:p>
            <a:endParaRPr lang="pt-BR" sz="2800" dirty="0"/>
          </a:p>
          <a:p>
            <a:r>
              <a:rPr lang="pt-BR" sz="2800" dirty="0"/>
              <a:t>A vantagem desse tipo de representação é a possibilidade de uma interpretação mais rápida dos dados.</a:t>
            </a:r>
          </a:p>
          <a:p>
            <a:endParaRPr lang="pt-BR" sz="2800" dirty="0"/>
          </a:p>
          <a:p>
            <a:r>
              <a:rPr lang="pt-BR" sz="2800" dirty="0"/>
              <a:t>A seguir veremos alguns exemplos de gráficos.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532144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737E2D1-A8E0-44E2-9E7B-6D9057BDF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004" y="2431285"/>
            <a:ext cx="5463992" cy="383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250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Setores (ou pizza).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599EAC4B-5CAE-4E6A-AF76-F25CDC198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0868" y="2120335"/>
            <a:ext cx="5386511" cy="4048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49592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Dispersão unidimensional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09B46D0D-BFD1-4AD9-9333-40E26DD158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2585" y="2909216"/>
            <a:ext cx="6906830" cy="3579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29984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3"/>
                <a:ext cx="11180365" cy="46512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Tipos de gráficos</a:t>
                </a:r>
              </a:p>
              <a:p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Histograma</a:t>
                </a:r>
              </a:p>
              <a:p>
                <a:r>
                  <a:rPr lang="pt-BR" sz="2800" dirty="0"/>
                  <a:t>O histograma é um gráfico de barras tal que:</a:t>
                </a:r>
              </a:p>
              <a:p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as bases são proporcionais aos intervalos das classes</a:t>
                </a: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área de cada retângulo é proporcional à respectiva frequência.</a:t>
                </a:r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a base do intervalo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sz="2800" dirty="0"/>
                  <a:t> é denotada por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sz="2800" b="0" i="0" smtClean="0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  <m: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pt-BR" sz="2800" dirty="0"/>
                  <a:t>, então a altura do retângulo correspondente é proporcional a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sz="2800" b="0" i="0" smtClean="0">
                                <a:latin typeface="Cambria Math" panose="02040503050406030204" pitchFamily="18" charset="0"/>
                              </a:rPr>
                              <m:t>Δ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1371577" lvl="2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soma das áreas dos retângulos será igual a 1.</a:t>
                </a:r>
              </a:p>
            </p:txBody>
          </p:sp>
        </mc:Choice>
        <mc:Fallback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3"/>
                <a:ext cx="11180365" cy="4651273"/>
              </a:xfrm>
              <a:prstGeom prst="rect">
                <a:avLst/>
              </a:prstGeom>
              <a:blipFill>
                <a:blip r:embed="rId3"/>
                <a:stretch>
                  <a:fillRect l="-1145" t="-1180" b="-27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55524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Histograma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BD41B8D-381E-4924-8CE7-804EC7C452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6731" y="2102514"/>
            <a:ext cx="6626966" cy="4104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874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Histograma (variáveis discretas)</a:t>
            </a:r>
          </a:p>
          <a:p>
            <a:endParaRPr lang="pt-BR" sz="2800" b="1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1828766" lvl="3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90DB40C6-3975-4853-93F9-8A5086FB10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63193" y="2135051"/>
            <a:ext cx="8051844" cy="3866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6347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Tipos de gráficos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Ramo-e-folhas</a:t>
            </a:r>
          </a:p>
          <a:p>
            <a:endParaRPr lang="pt-BR" sz="2800" b="1" dirty="0"/>
          </a:p>
          <a:p>
            <a:r>
              <a:rPr lang="pt-BR" sz="2800" dirty="0"/>
              <a:t>Um gráfico do tipo ramo-e-folhas é uma tabela  com uma linha vertical separando a primeira coluna das demais. Cada ocorrência da variável é dividida em duas informações:</a:t>
            </a:r>
          </a:p>
          <a:p>
            <a:endParaRPr lang="pt-BR" sz="2800" dirty="0"/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O ramo (primeira coluna).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As folhas (linhas). É o complemento da informação colocada a direita  do ramo.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3133819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315CEFA-DA3D-4F0A-9F38-3E0B3259DD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6174" y="1574800"/>
            <a:ext cx="3238071" cy="4682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3818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8608B7F-0855-4222-9B3C-4D658F07B2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7578" y="2077584"/>
            <a:ext cx="9392961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0446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Ramo-e-folhas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7EA63D76-73E3-490D-B759-366B8EC1F6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5736" y="2142723"/>
            <a:ext cx="6280527" cy="308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776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80205" y="1537601"/>
            <a:ext cx="111803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Como apresentar os dados de uma variável contínua?</a:t>
            </a:r>
            <a:endParaRPr lang="pt-BR" sz="2800" b="1" u="sng" dirty="0"/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Barras</a:t>
            </a:r>
          </a:p>
          <a:p>
            <a:endParaRPr lang="pt-BR" sz="2800" b="1" dirty="0"/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A67A8260-B893-42B9-BAB5-13C4A3AE3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76" y="2801992"/>
            <a:ext cx="3911739" cy="3201223"/>
          </a:xfrm>
          <a:prstGeom prst="rect">
            <a:avLst/>
          </a:prstGeom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A8299D9E-0C7B-44F2-A0C8-3B277030CF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71" y="3000325"/>
            <a:ext cx="4457752" cy="289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16175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Outros gráficos: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69C5906F-9702-04AB-28B0-9D712FB7B5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2107046"/>
            <a:ext cx="4788669" cy="4083416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BFE71FF-439F-C168-9EC8-19AC32DF2D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910" y="1574800"/>
            <a:ext cx="5164657" cy="2402166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47679E74-2F58-EEA6-1E5D-DCD7BC60E50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910" y="4349061"/>
            <a:ext cx="4677847" cy="21396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967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Outros gráficos:</a:t>
            </a:r>
          </a:p>
          <a:p>
            <a:endParaRPr lang="pt-BR" sz="2800" b="1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FD72E0C1-F953-3345-764D-6829C376A3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40" y="2194672"/>
            <a:ext cx="4622800" cy="3908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1346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Leitura complementar</a:t>
            </a:r>
          </a:p>
          <a:p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Exemplos computacionais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Complementos metodológicos</a:t>
            </a:r>
          </a:p>
          <a:p>
            <a:pPr marL="914389" lvl="1" indent="-457200">
              <a:buFont typeface="Arial" panose="020B0604020202020204" pitchFamily="34" charset="0"/>
              <a:buChar char="•"/>
            </a:pPr>
            <a:r>
              <a:rPr lang="pt-BR" sz="2800" dirty="0"/>
              <a:t>Frequências acumuladas.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>
              <a:solidFill>
                <a:srgbClr val="0070C0"/>
              </a:solidFill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8133374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032611" y="2041869"/>
            <a:ext cx="10827959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Leitura recomendada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2.3 Gráficos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2.4 Ramo-e-folhas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2.5 Exemplos computacionais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dirty="0"/>
              <a:t>Exercícios 15, 16 e 17 sobre frequências acumuladas.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r>
              <a:rPr lang="pt-BR" sz="2800" dirty="0"/>
              <a:t>Exercícios recomendados: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>Exercícios 1 ao 8 do capítulo 2.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dirty="0"/>
              <a:t>Exercícios de 9 ao 20 capítulo 2.</a:t>
            </a:r>
          </a:p>
          <a:p>
            <a:endParaRPr lang="pt-BR" sz="28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650240" y="1493523"/>
            <a:ext cx="1118036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b="1" dirty="0"/>
              <a:t>Medidas de posição</a:t>
            </a:r>
          </a:p>
          <a:p>
            <a:r>
              <a:rPr lang="pt-BR" sz="2800" dirty="0"/>
              <a:t>É um número que representa um conjunto de dados.</a:t>
            </a:r>
            <a:endParaRPr lang="pt-BR" sz="2800" b="1" dirty="0"/>
          </a:p>
          <a:p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Moda: </a:t>
            </a:r>
            <a:r>
              <a:rPr lang="pt-BR" sz="2800" dirty="0"/>
              <a:t>é a realização mais frequente do conjunto de valores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Mediana: </a:t>
            </a:r>
            <a:r>
              <a:rPr lang="pt-BR" sz="2800" dirty="0"/>
              <a:t>é a realização que ocupa a posição central da série (ordenada) de observações. </a:t>
            </a:r>
          </a:p>
          <a:p>
            <a:pPr marL="457178" indent="-457178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178" indent="-457178">
              <a:buFont typeface="Arial" panose="020B0604020202020204" pitchFamily="34" charset="0"/>
              <a:buChar char="•"/>
            </a:pPr>
            <a:r>
              <a:rPr lang="pt-BR" sz="2800" b="1" dirty="0"/>
              <a:t>Média (média aritmética): </a:t>
            </a:r>
            <a:r>
              <a:rPr lang="pt-BR" sz="2800" dirty="0"/>
              <a:t>é a soma das observações dividido pelo número delas.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1884198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93523"/>
                <a:ext cx="11180365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</a:t>
                </a:r>
              </a:p>
              <a:p>
                <a:r>
                  <a:rPr lang="pt-BR" sz="2800" b="1" dirty="0"/>
                  <a:t>Exemplo: </a:t>
                </a:r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{4,0,5,1,7,2,3,3,5,1}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Moda: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</a:t>
                </a: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93523"/>
                <a:ext cx="11180365" cy="3970318"/>
              </a:xfrm>
              <a:prstGeom prst="rect">
                <a:avLst/>
              </a:prstGeom>
              <a:blipFill>
                <a:blip r:embed="rId3"/>
                <a:stretch>
                  <a:fillRect l="-1145" t="-1382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3001181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67384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Medidas de posição (fórmulas)</a:t>
                </a:r>
              </a:p>
              <a:p>
                <a:r>
                  <a:rPr lang="pt-BR" sz="2800" dirty="0"/>
                  <a:t>Sejam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um conjunto de dados (distintos ou não).</a:t>
                </a:r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Média: </a:t>
                </a:r>
                <a:endParaRPr lang="pt-BR" sz="2800" b="1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pt-BR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 ⋯</m:t>
                          </m:r>
                          <m:sSub>
                            <m:sSub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sSub>
                            <m:sSub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(</m:t>
                      </m:r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º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𝑑𝑒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𝑟𝑒𝑝𝑒𝑡𝑖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çõ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𝑒𝑠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1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+ ⋯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𝑓𝑟𝑒𝑞𝑢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ê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𝑛𝑐𝑖𝑎</m:t>
                      </m:r>
                      <m:r>
                        <a:rPr lang="pt-BR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673844"/>
              </a:xfrm>
              <a:prstGeom prst="rect">
                <a:avLst/>
              </a:prstGeom>
              <a:blipFill>
                <a:blip r:embed="rId3"/>
                <a:stretch>
                  <a:fillRect l="-1145" t="-117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7830009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50240" y="1458354"/>
                <a:ext cx="11180365" cy="46242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178" indent="-457178">
                  <a:buFont typeface="Arial" panose="020B0604020202020204" pitchFamily="34" charset="0"/>
                  <a:buChar char="•"/>
                </a:pPr>
                <a:r>
                  <a:rPr lang="pt-BR" sz="2800" b="1" dirty="0"/>
                  <a:t>Mediana: </a:t>
                </a:r>
              </a:p>
              <a:p>
                <a:r>
                  <a:rPr lang="pt-BR" sz="2800" dirty="0"/>
                  <a:t>Considere o conjunto de dados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pt-BR" sz="2800" b="0" i="0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, ⋯, </m:t>
                        </m:r>
                        <m:sSub>
                          <m:sSubPr>
                            <m:ctrlPr>
                              <a:rPr lang="pt-B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pt-BR" sz="2800" dirty="0"/>
                  <a:t> e ordene os dados de forma crescente: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b>
                        <m:sSub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d>
                        </m:sub>
                      </m:sSub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≤…≤</m:t>
                      </m:r>
                      <m:sSub>
                        <m:sSub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</m:sSub>
                    </m:oMath>
                  </m:oMathPara>
                </a14:m>
                <a:endParaRPr lang="pt-BR" sz="2800" b="0" dirty="0"/>
              </a:p>
              <a:p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</m:e>
                            </m:d>
                          </m:sub>
                        </m:s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d>
                              <m:d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num>
                                  <m:den>
                                    <m:r>
                                      <a:rPr lang="pt-BR" sz="28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den>
                                </m:f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e>
                            </m:d>
                          </m:sub>
                        </m:sSub>
                      </m:num>
                      <m:den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0" dirty="0">
                  <a:latin typeface="Cambria Math" panose="02040503050406030204" pitchFamily="18" charset="0"/>
                </a:endParaRP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Se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é ímpar,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𝑚𝑑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d>
                          <m:d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sz="28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+1</m:t>
                                </m:r>
                              </m:num>
                              <m:den>
                                <m:r>
                                  <a:rPr lang="pt-BR" sz="2800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</m:e>
                        </m:d>
                      </m:sub>
                    </m:sSub>
                  </m:oMath>
                </a14:m>
                <a:endParaRPr lang="pt-BR" sz="280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240" y="1458354"/>
                <a:ext cx="11180365" cy="4624279"/>
              </a:xfrm>
              <a:prstGeom prst="rect">
                <a:avLst/>
              </a:prstGeom>
              <a:blipFill>
                <a:blip r:embed="rId3"/>
                <a:stretch>
                  <a:fillRect l="-1145" t="-11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2395336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4656569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2"/>
            <a:ext cx="10827959" cy="1641228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Estatística Descritiva I</a:t>
            </a:r>
            <a:endParaRPr lang="pt-BR" dirty="0">
              <a:latin typeface="AlternateGothic2 BT" panose="020B0608020202050204" pitchFamily="34" charset="0"/>
            </a:endParaRPr>
          </a:p>
        </p:txBody>
      </p:sp>
      <p:pic>
        <p:nvPicPr>
          <p:cNvPr id="5" name="Espaço Reservado para Conteúdo 4">
            <a:extLst>
              <a:ext uri="{FF2B5EF4-FFF2-40B4-BE49-F238E27FC236}">
                <a16:creationId xmlns:a16="http://schemas.microsoft.com/office/drawing/2014/main" id="{5A34B6DD-B04E-45E9-94F0-530A0A455BA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5"/>
            <a:ext cx="970464" cy="2027284"/>
          </a:xfr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1125377" y="1780477"/>
            <a:ext cx="10827959" cy="4568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000" dirty="0"/>
              <a:t>Leitura recomendada: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 &amp; Morettin — Cap. 2: 2.1 a 2.4 (tabelas, gráficos, ramo-e-folhas) e Cap. 3: 3.1 (medidas de posição)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Montgomery &amp; Runger — Cap. 6: 6.1 a 6.3</a:t>
            </a:r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Magalhães &amp; Lima — Cap. 1: 1.2</a:t>
            </a:r>
          </a:p>
          <a:p>
            <a:pPr>
              <a:lnSpc>
                <a:spcPct val="150000"/>
              </a:lnSpc>
            </a:pPr>
            <a:r>
              <a:rPr lang="pt-BR" sz="20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Cap. 2: exercícios 1 ao 8 e 9 ao 20 (gráficos); exercícios 15, 16 e 17 (frequências acumuladas)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Cap. 3: exercícios de 1 a 13 (medidas de posição)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2348848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Professor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1342308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1680</TotalTime>
  <Words>1273</Words>
  <Application>Microsoft Office PowerPoint</Application>
  <PresentationFormat>Widescreen</PresentationFormat>
  <Paragraphs>214</Paragraphs>
  <Slides>31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31</vt:i4>
      </vt:variant>
    </vt:vector>
  </HeadingPairs>
  <TitlesOfParts>
    <vt:vector size="37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  <vt:lpstr>CEA055 – Estatística e Probabilidade Estatística Descritiva 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63</cp:revision>
  <dcterms:created xsi:type="dcterms:W3CDTF">2020-07-20T19:35:15Z</dcterms:created>
  <dcterms:modified xsi:type="dcterms:W3CDTF">2026-07-30T13:09:58Z</dcterms:modified>
</cp:coreProperties>
</file>