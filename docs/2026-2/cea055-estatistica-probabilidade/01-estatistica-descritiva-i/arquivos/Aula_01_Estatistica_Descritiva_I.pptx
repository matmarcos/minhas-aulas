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5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311" r:id="rId2"/>
    <p:sldId id="312" r:id="rId3"/>
    <p:sldId id="313" r:id="rId4"/>
    <p:sldId id="314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43" r:id="rId17"/>
    <p:sldId id="351" r:id="rId18"/>
    <p:sldId id="344" r:id="rId19"/>
    <p:sldId id="327" r:id="rId20"/>
    <p:sldId id="328" r:id="rId21"/>
    <p:sldId id="354" r:id="rId22"/>
    <p:sldId id="329" r:id="rId23"/>
    <p:sldId id="330" r:id="rId24"/>
    <p:sldId id="331" r:id="rId25"/>
    <p:sldId id="332" r:id="rId26"/>
    <p:sldId id="333" r:id="rId27"/>
    <p:sldId id="334" r:id="rId28"/>
    <p:sldId id="335" r:id="rId29"/>
    <p:sldId id="336" r:id="rId30"/>
    <p:sldId id="338" r:id="rId31"/>
    <p:sldId id="339" r:id="rId32"/>
    <p:sldId id="340" r:id="rId33"/>
    <p:sldId id="341" r:id="rId34"/>
    <p:sldId id="342" r:id="rId35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96" d="100"/>
          <a:sy n="96" d="100"/>
        </p:scale>
        <p:origin x="2108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00" b="1" i="0" u="none" strike="noStrike" kern="1200" spc="0" baseline="0">
                <a:solidFill>
                  <a:srgbClr val="1F6FA5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Figura 2.2: Gráfico em barras para a variável Y: grau de instrução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00" b="1" i="0" u="none" strike="noStrike" kern="1200" spc="0" baseline="0">
              <a:solidFill>
                <a:srgbClr val="1F6FA5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Planilha1!$B$2</c:f>
              <c:strCache>
                <c:ptCount val="1"/>
                <c:pt idx="0">
                  <c:v>Freq 
ni</c:v>
                </c:pt>
              </c:strCache>
            </c:strRef>
          </c:tx>
          <c:spPr>
            <a:solidFill>
              <a:srgbClr val="7CA6C4"/>
            </a:solidFill>
            <a:ln>
              <a:noFill/>
            </a:ln>
            <a:effectLst/>
          </c:spPr>
          <c:invertIfNegative val="0"/>
          <c:cat>
            <c:strRef>
              <c:f>Planilha1!$A$3:$A$5</c:f>
              <c:strCache>
                <c:ptCount val="3"/>
                <c:pt idx="0">
                  <c:v>Fundamental</c:v>
                </c:pt>
                <c:pt idx="1">
                  <c:v>Médio</c:v>
                </c:pt>
                <c:pt idx="2">
                  <c:v>Superior</c:v>
                </c:pt>
              </c:strCache>
            </c:strRef>
          </c:cat>
          <c:val>
            <c:numRef>
              <c:f>Planilha1!$B$3:$B$5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AA-4F3E-AFD2-1F28BC72D5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48134592"/>
        <c:axId val="48135072"/>
      </c:barChart>
      <c:catAx>
        <c:axId val="48134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8135072"/>
        <c:crosses val="autoZero"/>
        <c:auto val="1"/>
        <c:lblAlgn val="ctr"/>
        <c:lblOffset val="100"/>
        <c:noMultiLvlLbl val="0"/>
      </c:catAx>
      <c:valAx>
        <c:axId val="48135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Freqüência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8134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DCEAF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title>
      <c:tx>
        <c:rich>
          <a:bodyPr/>
          <a:lstStyle/>
          <a:p>
            <a:pPr>
              <a:defRPr sz="1600"/>
            </a:pPr>
            <a:r>
              <a:rPr lang="pt-BR" sz="1600"/>
              <a:t>Gráfico de Barras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Alunos</c:v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Matemática</c:v>
              </c:pt>
              <c:pt idx="1">
                <c:v>Estatística</c:v>
              </c:pt>
              <c:pt idx="2">
                <c:v>Física</c:v>
              </c:pt>
              <c:pt idx="3">
                <c:v>Química</c:v>
              </c:pt>
            </c:strLit>
          </c:cat>
          <c:val>
            <c:numLit>
              <c:formatCode>General</c:formatCode>
              <c:ptCount val="4"/>
              <c:pt idx="0">
                <c:v>18</c:v>
              </c:pt>
              <c:pt idx="1">
                <c:v>25</c:v>
              </c:pt>
              <c:pt idx="2">
                <c:v>12</c:v>
              </c:pt>
              <c:pt idx="3">
                <c:v>15</c:v>
              </c:pt>
            </c:numLit>
          </c:val>
          <c:extLst>
            <c:ext xmlns:c16="http://schemas.microsoft.com/office/drawing/2014/chart" uri="{C3380CC4-5D6E-409C-BE32-E72D297353CC}">
              <c16:uniqueId val="{00000000-808F-4523-A281-E7AAB2EE02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pt-BR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pt-BR"/>
          </a:p>
        </c:txPr>
        <c:crossAx val="11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pt-BR"/>
        </a:p>
      </c:txPr>
    </c:legend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title>
      <c:tx>
        <c:rich>
          <a:bodyPr/>
          <a:lstStyle/>
          <a:p>
            <a:pPr>
              <a:defRPr sz="1600"/>
            </a:pPr>
            <a:r>
              <a:rPr lang="pt-BR" sz="1600"/>
              <a:t>Histograma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Notas</c:v>
          </c:tx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0 - 2</c:v>
              </c:pt>
              <c:pt idx="1">
                <c:v>2 - 4</c:v>
              </c:pt>
              <c:pt idx="2">
                <c:v>4 - 6</c:v>
              </c:pt>
              <c:pt idx="3">
                <c:v>6 - 8</c:v>
              </c:pt>
              <c:pt idx="4">
                <c:v>8 - 10</c:v>
              </c:pt>
            </c:strLit>
          </c:cat>
          <c:val>
            <c:numLit>
              <c:formatCode>0.00</c:formatCode>
              <c:ptCount val="5"/>
              <c:pt idx="0">
                <c:v>0.03</c:v>
              </c:pt>
              <c:pt idx="1">
                <c:v>0.08</c:v>
              </c:pt>
              <c:pt idx="2">
                <c:v>0.2</c:v>
              </c:pt>
              <c:pt idx="3">
                <c:v>0.14000000000000001</c:v>
              </c:pt>
              <c:pt idx="4">
                <c:v>0.05</c:v>
              </c:pt>
            </c:numLit>
          </c:val>
          <c:extLst>
            <c:ext xmlns:c16="http://schemas.microsoft.com/office/drawing/2014/chart" uri="{C3380CC4-5D6E-409C-BE32-E72D297353CC}">
              <c16:uniqueId val="{00000000-2143-46E4-B6AB-E446575816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333"/>
        <c:axId val="444"/>
      </c:barChart>
      <c:catAx>
        <c:axId val="33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pt-BR"/>
          </a:p>
        </c:txPr>
        <c:crossAx val="444"/>
        <c:crosses val="autoZero"/>
        <c:auto val="1"/>
        <c:lblAlgn val="ctr"/>
        <c:lblOffset val="100"/>
        <c:noMultiLvlLbl val="1"/>
      </c:catAx>
      <c:valAx>
        <c:axId val="444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1400"/>
                </a:pPr>
                <a:r>
                  <a:rPr lang="pt-BR" sz="1400"/>
                  <a:t>Densidade de frequência</a:t>
                </a:r>
              </a:p>
            </c:rich>
          </c:tx>
          <c:overlay val="0"/>
        </c:title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pt-BR"/>
          </a:p>
        </c:txPr>
        <c:crossAx val="333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pt-BR"/>
        </a:p>
      </c:txPr>
    </c:legend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Figura 2.7: Histograma da variável S: salários.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7CA6C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strRef>
                  <c:f>Planilha1!$L$3</c:f>
                  <c:strCache>
                    <c:ptCount val="1"/>
                    <c:pt idx="0">
                      <c:v>27,78</c:v>
                    </c:pt>
                  </c:strCache>
                </c:strRef>
              </c:tx>
              <c:numFmt formatCode="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{3189E0D9-F10C-467C-8EBC-3B1762230742}</c15:txfldGUID>
                      <c15:f>Planilha1!$L$3</c15:f>
                      <c15:dlblFieldTableCache>
                        <c:ptCount val="1"/>
                        <c:pt idx="0">
                          <c:v>27,78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0-D48B-4EB3-814A-58FACFFFDEEE}"/>
                </c:ext>
              </c:extLst>
            </c:dLbl>
            <c:dLbl>
              <c:idx val="1"/>
              <c:tx>
                <c:strRef>
                  <c:f>Planilha1!$L$4</c:f>
                  <c:strCache>
                    <c:ptCount val="1"/>
                    <c:pt idx="0">
                      <c:v>33,33</c:v>
                    </c:pt>
                  </c:strCache>
                </c:strRef>
              </c:tx>
              <c:numFmt formatCode="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{51210F2C-8B52-4F7A-84DE-A1284C73A2D9}</c15:txfldGUID>
                      <c15:f>Planilha1!$L$4</c15:f>
                      <c15:dlblFieldTableCache>
                        <c:ptCount val="1"/>
                        <c:pt idx="0">
                          <c:v>33,33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1-D48B-4EB3-814A-58FACFFFDEEE}"/>
                </c:ext>
              </c:extLst>
            </c:dLbl>
            <c:dLbl>
              <c:idx val="2"/>
              <c:tx>
                <c:strRef>
                  <c:f>Planilha1!$L$5</c:f>
                  <c:strCache>
                    <c:ptCount val="1"/>
                    <c:pt idx="0">
                      <c:v>22,22</c:v>
                    </c:pt>
                  </c:strCache>
                </c:strRef>
              </c:tx>
              <c:numFmt formatCode="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{1CA8A19B-1A46-42B2-A8AB-FF6558229062}</c15:txfldGUID>
                      <c15:f>Planilha1!$L$5</c15:f>
                      <c15:dlblFieldTableCache>
                        <c:ptCount val="1"/>
                        <c:pt idx="0">
                          <c:v>22,22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2-D48B-4EB3-814A-58FACFFFDEEE}"/>
                </c:ext>
              </c:extLst>
            </c:dLbl>
            <c:dLbl>
              <c:idx val="3"/>
              <c:tx>
                <c:strRef>
                  <c:f>Planilha1!$L$6</c:f>
                  <c:strCache>
                    <c:ptCount val="1"/>
                    <c:pt idx="0">
                      <c:v>13,89</c:v>
                    </c:pt>
                  </c:strCache>
                </c:strRef>
              </c:tx>
              <c:numFmt formatCode="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{5CC83BDB-1898-463C-B5F6-253E6CA0BFEE}</c15:txfldGUID>
                      <c15:f>Planilha1!$L$6</c15:f>
                      <c15:dlblFieldTableCache>
                        <c:ptCount val="1"/>
                        <c:pt idx="0">
                          <c:v>13,89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3-D48B-4EB3-814A-58FACFFFDEEE}"/>
                </c:ext>
              </c:extLst>
            </c:dLbl>
            <c:dLbl>
              <c:idx val="4"/>
              <c:tx>
                <c:strRef>
                  <c:f>Planilha1!$L$7</c:f>
                  <c:strCache>
                    <c:ptCount val="1"/>
                    <c:pt idx="0">
                      <c:v>2,78</c:v>
                    </c:pt>
                  </c:strCache>
                </c:strRef>
              </c:tx>
              <c:numFmt formatCode="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{2CD63BDD-1A4A-4C5F-9B93-06E7E6F76D24}</c15:txfldGUID>
                      <c15:f>Planilha1!$L$7</c15:f>
                      <c15:dlblFieldTableCache>
                        <c:ptCount val="1"/>
                        <c:pt idx="0">
                          <c:v>2,78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4-D48B-4EB3-814A-58FACFFFDEE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Planilha1!$J$3:$J$7</c:f>
              <c:strCache>
                <c:ptCount val="5"/>
                <c:pt idx="0">
                  <c:v>4,00 ⊢ 8,00</c:v>
                </c:pt>
                <c:pt idx="1">
                  <c:v>8,00 ⊢ 12,00</c:v>
                </c:pt>
                <c:pt idx="2">
                  <c:v>12,00 ⊢ 16,00</c:v>
                </c:pt>
                <c:pt idx="3">
                  <c:v>16,00 ⊢ 20,00</c:v>
                </c:pt>
                <c:pt idx="4">
                  <c:v>20,00 ⊢ 24,00</c:v>
                </c:pt>
              </c:strCache>
            </c:strRef>
          </c:cat>
          <c:val>
            <c:numRef>
              <c:f>Planilha1!$M$3:$M$7</c:f>
              <c:numCache>
                <c:formatCode>General</c:formatCode>
                <c:ptCount val="5"/>
                <c:pt idx="0">
                  <c:v>6.9444444444444448E-2</c:v>
                </c:pt>
                <c:pt idx="1">
                  <c:v>8.3333333333333343E-2</c:v>
                </c:pt>
                <c:pt idx="2">
                  <c:v>5.5555555555555552E-2</c:v>
                </c:pt>
                <c:pt idx="3">
                  <c:v>3.4722222222222224E-2</c:v>
                </c:pt>
                <c:pt idx="4">
                  <c:v>6.9444444444444441E-3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48B-4EB3-814A-58FACFFFDE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27"/>
        <c:axId val="133307296"/>
        <c:axId val="133304896"/>
      </c:barChart>
      <c:catAx>
        <c:axId val="13330729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Salário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33304896"/>
        <c:crosses val="autoZero"/>
        <c:auto val="1"/>
        <c:lblAlgn val="ctr"/>
        <c:lblOffset val="100"/>
        <c:noMultiLvlLbl val="0"/>
      </c:catAx>
      <c:valAx>
        <c:axId val="133304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Densidade de
freqüência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33307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DCEAF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800"/>
      </a:pPr>
      <a:endParaRPr lang="pt-BR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Figura 2.6: Gráfico em barras para a variável S: salários.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7CA6C4"/>
            </a:solidFill>
            <a:ln>
              <a:noFill/>
            </a:ln>
            <a:effectLst/>
          </c:spPr>
          <c:invertIfNegative val="0"/>
          <c:cat>
            <c:numRef>
              <c:f>Planilha1!$AE$3:$AE$7</c:f>
              <c:numCache>
                <c:formatCode>0.00</c:formatCode>
                <c:ptCount val="5"/>
                <c:pt idx="0">
                  <c:v>6</c:v>
                </c:pt>
                <c:pt idx="1">
                  <c:v>10</c:v>
                </c:pt>
                <c:pt idx="2">
                  <c:v>14</c:v>
                </c:pt>
                <c:pt idx="3">
                  <c:v>18</c:v>
                </c:pt>
                <c:pt idx="4">
                  <c:v>22</c:v>
                </c:pt>
              </c:numCache>
            </c:numRef>
          </c:cat>
          <c:val>
            <c:numRef>
              <c:f>Planilha1!$AF$3:$AF$7</c:f>
              <c:numCache>
                <c:formatCode>#,##0</c:formatCode>
                <c:ptCount val="5"/>
                <c:pt idx="0">
                  <c:v>10</c:v>
                </c:pt>
                <c:pt idx="1">
                  <c:v>12</c:v>
                </c:pt>
                <c:pt idx="2">
                  <c:v>8</c:v>
                </c:pt>
                <c:pt idx="3">
                  <c:v>5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E0-4F4A-A7CA-7FB12B1E0F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1460240"/>
        <c:axId val="101460720"/>
      </c:barChart>
      <c:catAx>
        <c:axId val="1014602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Salário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01460720"/>
        <c:crosses val="autoZero"/>
        <c:auto val="1"/>
        <c:lblAlgn val="ctr"/>
        <c:lblOffset val="100"/>
        <c:noMultiLvlLbl val="0"/>
      </c:catAx>
      <c:valAx>
        <c:axId val="1014607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Freqüência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01460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DCEAF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800">
          <a:solidFill>
            <a:schemeClr val="tx1"/>
          </a:solidFill>
        </a:defRPr>
      </a:pPr>
      <a:endParaRPr lang="pt-B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07/08/2026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07/08/2026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07/08/2026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07/08/2026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07/08/2026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07/08/2026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07/08/2026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07/08/2026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07/08/2026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07/08/2026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07/08/2026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07/08/2026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07/08/2026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Estatística Descritiva I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986225" y="1498668"/>
            <a:ext cx="10067277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Objetivos do aula: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Conhecer os tipos de variáveis e algumas representações gráficas.</a:t>
            </a:r>
          </a:p>
          <a:p>
            <a:pPr>
              <a:lnSpc>
                <a:spcPct val="150000"/>
              </a:lnSpc>
            </a:pPr>
            <a:r>
              <a:rPr lang="pt-BR" sz="2400" b="1" dirty="0"/>
              <a:t>Referências: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Bussab, Morettin. </a:t>
            </a:r>
            <a:r>
              <a:rPr lang="pt-BR" sz="2400" b="1" dirty="0"/>
              <a:t>Estatística Básica</a:t>
            </a:r>
            <a:r>
              <a:rPr lang="pt-BR" sz="2400" dirty="0"/>
              <a:t>, 9ed — Cap. 2 (2.1 a 2.4) e Cap. 3 (3.1)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Montgomery, Runger. </a:t>
            </a:r>
            <a:r>
              <a:rPr lang="pt-BR" sz="2400" b="1" dirty="0"/>
              <a:t>Applied Statistics and Probability for Engineers</a:t>
            </a:r>
            <a:r>
              <a:rPr lang="pt-BR" sz="2400" dirty="0"/>
              <a:t>, 7th ed — Cap. 6 (6.1 a 6.3)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Magalhães, Lima. </a:t>
            </a:r>
            <a:r>
              <a:rPr lang="pt-BR" sz="2400" b="1" dirty="0"/>
              <a:t>Noções de Probabilidade e Estatística</a:t>
            </a:r>
            <a:r>
              <a:rPr lang="pt-BR" sz="2400" dirty="0"/>
              <a:t>, 5ed — Cap. 1 (1.2)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3" y="112237"/>
            <a:ext cx="862957" cy="180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720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76136" y="726498"/>
            <a:ext cx="11180365" cy="4118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Vamos introduzir o conceito de </a:t>
            </a:r>
            <a:r>
              <a:rPr lang="pt-BR" sz="2800" b="1" dirty="0"/>
              <a:t>variável</a:t>
            </a:r>
            <a:r>
              <a:rPr lang="pt-BR" sz="2800" dirty="0"/>
              <a:t> com um exemplo:</a:t>
            </a:r>
          </a:p>
          <a:p>
            <a:endParaRPr lang="pt-BR" sz="2800" b="1" dirty="0"/>
          </a:p>
          <a:p>
            <a:pPr>
              <a:lnSpc>
                <a:spcPct val="150000"/>
              </a:lnSpc>
            </a:pPr>
            <a:r>
              <a:rPr lang="pt-BR" sz="2800" b="1" dirty="0"/>
              <a:t>Exemplo: </a:t>
            </a:r>
            <a:r>
              <a:rPr lang="pt-BR" sz="2800" dirty="0"/>
              <a:t>Um pesquisador está interessado em fazer um levantamento sobre alguns aspectos socioeconômicos dos empregados da seção de orçamentos da Companhia MB. Usando informações obtidas do departamento de pessoal, ele elaborou a Tabela 2.1. Essa tabela é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chamada planilha de dados.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61296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81DD7587-A5E3-9E55-6431-F9B7058A69F8}"/>
              </a:ext>
            </a:extLst>
          </p:cNvPr>
          <p:cNvGraphicFramePr>
            <a:graphicFrameLocks noGrp="1"/>
          </p:cNvGraphicFramePr>
          <p:nvPr/>
        </p:nvGraphicFramePr>
        <p:xfrm>
          <a:off x="969916" y="545629"/>
          <a:ext cx="10252168" cy="50836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2687">
                  <a:extLst>
                    <a:ext uri="{9D8B030D-6E8A-4147-A177-3AD203B41FA5}">
                      <a16:colId xmlns:a16="http://schemas.microsoft.com/office/drawing/2014/main" val="2744435141"/>
                    </a:ext>
                  </a:extLst>
                </a:gridCol>
                <a:gridCol w="1461811">
                  <a:extLst>
                    <a:ext uri="{9D8B030D-6E8A-4147-A177-3AD203B41FA5}">
                      <a16:colId xmlns:a16="http://schemas.microsoft.com/office/drawing/2014/main" val="3870299030"/>
                    </a:ext>
                  </a:extLst>
                </a:gridCol>
                <a:gridCol w="2163480">
                  <a:extLst>
                    <a:ext uri="{9D8B030D-6E8A-4147-A177-3AD203B41FA5}">
                      <a16:colId xmlns:a16="http://schemas.microsoft.com/office/drawing/2014/main" val="1732547473"/>
                    </a:ext>
                  </a:extLst>
                </a:gridCol>
                <a:gridCol w="877087">
                  <a:extLst>
                    <a:ext uri="{9D8B030D-6E8A-4147-A177-3AD203B41FA5}">
                      <a16:colId xmlns:a16="http://schemas.microsoft.com/office/drawing/2014/main" val="351069236"/>
                    </a:ext>
                  </a:extLst>
                </a:gridCol>
                <a:gridCol w="1676210">
                  <a:extLst>
                    <a:ext uri="{9D8B030D-6E8A-4147-A177-3AD203B41FA5}">
                      <a16:colId xmlns:a16="http://schemas.microsoft.com/office/drawing/2014/main" val="3348329389"/>
                    </a:ext>
                  </a:extLst>
                </a:gridCol>
                <a:gridCol w="1071995">
                  <a:extLst>
                    <a:ext uri="{9D8B030D-6E8A-4147-A177-3AD203B41FA5}">
                      <a16:colId xmlns:a16="http://schemas.microsoft.com/office/drawing/2014/main" val="2167618309"/>
                    </a:ext>
                  </a:extLst>
                </a:gridCol>
                <a:gridCol w="1071995">
                  <a:extLst>
                    <a:ext uri="{9D8B030D-6E8A-4147-A177-3AD203B41FA5}">
                      <a16:colId xmlns:a16="http://schemas.microsoft.com/office/drawing/2014/main" val="3991783730"/>
                    </a:ext>
                  </a:extLst>
                </a:gridCol>
                <a:gridCol w="1266903">
                  <a:extLst>
                    <a:ext uri="{9D8B030D-6E8A-4147-A177-3AD203B41FA5}">
                      <a16:colId xmlns:a16="http://schemas.microsoft.com/office/drawing/2014/main" val="1571897912"/>
                    </a:ext>
                  </a:extLst>
                </a:gridCol>
              </a:tblGrid>
              <a:tr h="53138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N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 dirty="0">
                          <a:effectLst/>
                        </a:rPr>
                        <a:t>Estado Civil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 dirty="0">
                          <a:effectLst/>
                        </a:rPr>
                        <a:t>Grau de Instrução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 dirty="0">
                          <a:effectLst/>
                        </a:rPr>
                        <a:t>N de Filhos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 dirty="0">
                          <a:effectLst/>
                        </a:rPr>
                        <a:t>Salario (x Sal Min)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 dirty="0">
                          <a:effectLst/>
                        </a:rPr>
                        <a:t>Idade (anos)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 dirty="0">
                          <a:effectLst/>
                        </a:rPr>
                        <a:t>Idade (Meses)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 dirty="0">
                          <a:effectLst/>
                        </a:rPr>
                        <a:t>Região de Procedência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91865370"/>
                  </a:ext>
                </a:extLst>
              </a:tr>
              <a:tr h="37738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1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solteiro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ensino fundamental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 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4,00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26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3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interior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34468379"/>
                  </a:ext>
                </a:extLst>
              </a:tr>
              <a:tr h="37738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2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casado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ensino fundamental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1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4,56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32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10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capital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16163466"/>
                  </a:ext>
                </a:extLst>
              </a:tr>
              <a:tr h="37738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3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casado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ensino fundamental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2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5,25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36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5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capital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0708104"/>
                  </a:ext>
                </a:extLst>
              </a:tr>
              <a:tr h="37738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4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solteiro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ensino médio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 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5,73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20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10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outra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91638762"/>
                  </a:ext>
                </a:extLst>
              </a:tr>
              <a:tr h="37738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5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solteiro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ensino fundamental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 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6,26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40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7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outra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06466005"/>
                  </a:ext>
                </a:extLst>
              </a:tr>
              <a:tr h="37738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6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casado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ensino fundamental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0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6,66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28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0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interior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1251095"/>
                  </a:ext>
                </a:extLst>
              </a:tr>
              <a:tr h="37738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7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solteiro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ensino fundamental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 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6,86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41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0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interior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14033748"/>
                  </a:ext>
                </a:extLst>
              </a:tr>
              <a:tr h="37738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8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solteiro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ensino fundamental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 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7,39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43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4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capital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40607132"/>
                  </a:ext>
                </a:extLst>
              </a:tr>
              <a:tr h="37738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9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casado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ensino médio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1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7,59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34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10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capital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8966347"/>
                  </a:ext>
                </a:extLst>
              </a:tr>
              <a:tr h="37738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10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solteiro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ensino médio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 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7,44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23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6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outra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66629287"/>
                  </a:ext>
                </a:extLst>
              </a:tr>
              <a:tr h="37738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11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casado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ensino médio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2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8,12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33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6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interior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08948273"/>
                  </a:ext>
                </a:extLst>
              </a:tr>
              <a:tr h="37738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12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solteiro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ensino fundamental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 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8,46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27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>
                          <a:effectLst/>
                        </a:rPr>
                        <a:t>11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u="none" strike="noStrike" dirty="0">
                          <a:effectLst/>
                        </a:rPr>
                        <a:t>capital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01082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1361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76744" y="592375"/>
                <a:ext cx="11180365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Variáveis da tabela: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As variáveis podem ser identificadas na primeira linha da tabela.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b="0" i="0" u="none" strike="noStrike" kern="12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Estado Civil, Grau de Instrução, N de Filhos, Salario (x Sal Min), Idade (anos), Idade (Meses), Região de Procedência</a:t>
                </a:r>
              </a:p>
              <a:p>
                <a:pPr rtl="0" eaLnBrk="1" fontAlgn="ctr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pt-BR" sz="28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Os números referentes a cada variável são chamados de realizações.</a:t>
                </a:r>
              </a:p>
              <a:p>
                <a:pPr marL="457200" indent="-457200" rtl="0" eaLnBrk="1" fontAlgn="ctr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pt-BR" sz="2800" dirty="0"/>
                  <a:t>Atribuiremos a cada variável uma letra maiúscula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</m:oMath>
                </a14:m>
                <a:endParaRPr lang="pt-BR" sz="2800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744" y="592375"/>
                <a:ext cx="11180365" cy="3970318"/>
              </a:xfrm>
              <a:prstGeom prst="rect">
                <a:avLst/>
              </a:prstGeom>
              <a:blipFill>
                <a:blip r:embed="rId2"/>
                <a:stretch>
                  <a:fillRect l="-1091" b="-33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329827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36988" y="663251"/>
            <a:ext cx="11180365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dirty="0"/>
              <a:t>As variáveis se dividem em tipos: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38F09C7-ECC3-1D13-BC58-C5A6D2A53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107" y="1653077"/>
            <a:ext cx="7277785" cy="418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651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10483" y="744776"/>
            <a:ext cx="1118036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Variáveis qualitativas</a:t>
            </a:r>
          </a:p>
          <a:p>
            <a:endParaRPr lang="pt-BR" sz="2800" b="1" dirty="0"/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800" b="1" dirty="0"/>
              <a:t>Nominal</a:t>
            </a:r>
          </a:p>
          <a:p>
            <a:pPr marL="914354" lvl="1" indent="-457178">
              <a:buFont typeface="Arial" panose="020B0604020202020204" pitchFamily="34" charset="0"/>
              <a:buChar char="•"/>
            </a:pPr>
            <a:r>
              <a:rPr lang="pt-BR" sz="2800" dirty="0"/>
              <a:t>Ex.: cor dos olhos, comida preferida, etc.</a:t>
            </a:r>
          </a:p>
          <a:p>
            <a:pPr lvl="1"/>
            <a:r>
              <a:rPr lang="pt-BR" sz="2800" dirty="0"/>
              <a:t>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800" b="1" dirty="0"/>
              <a:t>Ordinal</a:t>
            </a:r>
          </a:p>
          <a:p>
            <a:pPr marL="914354" lvl="1" indent="-457178">
              <a:buFont typeface="Arial" panose="020B0604020202020204" pitchFamily="34" charset="0"/>
              <a:buChar char="•"/>
            </a:pPr>
            <a:r>
              <a:rPr lang="pt-BR" sz="2800" dirty="0"/>
              <a:t>Grau de escolaridade, patentes do exército, etc.</a:t>
            </a:r>
          </a:p>
          <a:p>
            <a:pPr marL="914354" lvl="1" indent="-457178">
              <a:buFont typeface="Arial" panose="020B0604020202020204" pitchFamily="34" charset="0"/>
              <a:buChar char="•"/>
            </a:pPr>
            <a:endParaRPr lang="pt-BR" sz="2800" dirty="0"/>
          </a:p>
          <a:p>
            <a:r>
              <a:rPr lang="pt-BR" sz="2800" dirty="0"/>
              <a:t>Algumas variáveis nominais são dicotômicas, ou seja, só podem ocorrer duas realizações (sucesso e fracasso).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261479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89996" y="685139"/>
                <a:ext cx="11180365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Variáveis quantitativas</a:t>
                </a:r>
              </a:p>
              <a:p>
                <a:endParaRPr lang="pt-BR" sz="2800" b="1" dirty="0"/>
              </a:p>
              <a:p>
                <a:pPr marL="457178" indent="-457178"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>Discreta</a:t>
                </a:r>
              </a:p>
              <a:p>
                <a:pPr marL="914354" lvl="1" indent="-457178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Quando as realizações possíveis pertencem a um conjunto finito ou enumerável.</a:t>
                </a:r>
              </a:p>
              <a:p>
                <a:pPr lvl="1"/>
                <a:r>
                  <a:rPr lang="pt-BR" sz="2800" dirty="0"/>
                  <a:t> </a:t>
                </a:r>
              </a:p>
              <a:p>
                <a:pPr marL="457178" indent="-457178"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>Contínua</a:t>
                </a:r>
              </a:p>
              <a:p>
                <a:pPr marL="914354" lvl="1" indent="-457178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Quando as realizações pertencem a um intervalo em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914354" lvl="1" indent="-457178"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96" y="685139"/>
                <a:ext cx="11180365" cy="3970318"/>
              </a:xfrm>
              <a:prstGeom prst="rect">
                <a:avLst/>
              </a:prstGeom>
              <a:blipFill>
                <a:blip r:embed="rId2"/>
                <a:stretch>
                  <a:fillRect l="-1091" t="-138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934439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30361" y="532740"/>
            <a:ext cx="11180365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Distribuições de frequências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Ao estudarmos uma variável, é importante saber a frequência que suas realizações acontecem.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Estudar a distribuição de frequências das realizações nos dará uma ideia do comportamento da variável.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352415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29753" y="698615"/>
                <a:ext cx="11180365" cy="5198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 de tabela de distribuição de frequências</a:t>
                </a:r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Número de realizações ou frequência</a:t>
                </a:r>
                <a14:m>
                  <m:oMath xmlns:m="http://schemas.openxmlformats.org/officeDocument/2006/math">
                    <m:r>
                      <a:rPr lang="pt-BR" sz="2800" b="0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pt-BR" sz="28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Proporção: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28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dirty="0" err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pt-BR" sz="2800" b="0" i="1" dirty="0" err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den>
                    </m:f>
                  </m:oMath>
                </a14:m>
                <a:endParaRPr lang="pt-BR" sz="28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Porcentagem: </a:t>
                </a: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100∗</m:t>
                    </m:r>
                    <m:sSub>
                      <m:sSubPr>
                        <m:ctrlPr>
                          <a:rPr lang="pt-BR" sz="28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dirty="0" err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BR" sz="2800" b="0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pt-BR" sz="2800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753" y="698615"/>
                <a:ext cx="11180365" cy="5198090"/>
              </a:xfrm>
              <a:prstGeom prst="rect">
                <a:avLst/>
              </a:prstGeom>
              <a:blipFill>
                <a:blip r:embed="rId2"/>
                <a:stretch>
                  <a:fillRect l="-1145" t="-1174" b="-246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25FF8E74-348E-6CD5-B3F8-DDF8FFA5AABB}"/>
              </a:ext>
            </a:extLst>
          </p:cNvPr>
          <p:cNvGraphicFramePr>
            <a:graphicFrameLocks noGrp="1"/>
          </p:cNvGraphicFramePr>
          <p:nvPr/>
        </p:nvGraphicFramePr>
        <p:xfrm>
          <a:off x="2490027" y="1574800"/>
          <a:ext cx="6945521" cy="2030760"/>
        </p:xfrm>
        <a:graphic>
          <a:graphicData uri="http://schemas.openxmlformats.org/drawingml/2006/table">
            <a:tbl>
              <a:tblPr/>
              <a:tblGrid>
                <a:gridCol w="1956244">
                  <a:extLst>
                    <a:ext uri="{9D8B030D-6E8A-4147-A177-3AD203B41FA5}">
                      <a16:colId xmlns:a16="http://schemas.microsoft.com/office/drawing/2014/main" val="4199005761"/>
                    </a:ext>
                  </a:extLst>
                </a:gridCol>
                <a:gridCol w="1517420">
                  <a:extLst>
                    <a:ext uri="{9D8B030D-6E8A-4147-A177-3AD203B41FA5}">
                      <a16:colId xmlns:a16="http://schemas.microsoft.com/office/drawing/2014/main" val="807978120"/>
                    </a:ext>
                  </a:extLst>
                </a:gridCol>
                <a:gridCol w="1355002">
                  <a:extLst>
                    <a:ext uri="{9D8B030D-6E8A-4147-A177-3AD203B41FA5}">
                      <a16:colId xmlns:a16="http://schemas.microsoft.com/office/drawing/2014/main" val="1083088269"/>
                    </a:ext>
                  </a:extLst>
                </a:gridCol>
                <a:gridCol w="2116855">
                  <a:extLst>
                    <a:ext uri="{9D8B030D-6E8A-4147-A177-3AD203B41FA5}">
                      <a16:colId xmlns:a16="http://schemas.microsoft.com/office/drawing/2014/main" val="3006889803"/>
                    </a:ext>
                  </a:extLst>
                </a:gridCol>
              </a:tblGrid>
              <a:tr h="406152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Grau de instrução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Frequência ni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Proporção fi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Porcentagem 100 </a:t>
                      </a:r>
                      <a:r>
                        <a:rPr lang="pt-BR" sz="1800" b="1" i="0" u="none" strike="noStrike" dirty="0" err="1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fi</a:t>
                      </a:r>
                      <a:endParaRPr lang="pt-BR" sz="1800" b="1" i="0" u="none" strike="noStrike" dirty="0">
                        <a:solidFill>
                          <a:srgbClr val="1F6FA5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910004"/>
                  </a:ext>
                </a:extLst>
              </a:tr>
              <a:tr h="406152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Fundamental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0,3333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33,33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678031"/>
                  </a:ext>
                </a:extLst>
              </a:tr>
              <a:tr h="406152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Médio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50,00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378296"/>
                  </a:ext>
                </a:extLst>
              </a:tr>
              <a:tr h="406152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Superior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0,1667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16,67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3500223"/>
                  </a:ext>
                </a:extLst>
              </a:tr>
              <a:tr h="406152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100,00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875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011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43005" y="852400"/>
            <a:ext cx="111803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Uma vantagem em utilizar a proporção para representar distribuições de frequência é comparar dados de tamanhos diferentes.</a:t>
            </a:r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ED0862A1-5CF6-D2CF-E595-2EB651F4F6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433930"/>
              </p:ext>
            </p:extLst>
          </p:nvPr>
        </p:nvGraphicFramePr>
        <p:xfrm>
          <a:off x="1197665" y="2167855"/>
          <a:ext cx="10192579" cy="3884618"/>
        </p:xfrm>
        <a:graphic>
          <a:graphicData uri="http://schemas.openxmlformats.org/drawingml/2006/table">
            <a:tbl>
              <a:tblPr/>
              <a:tblGrid>
                <a:gridCol w="1288717">
                  <a:extLst>
                    <a:ext uri="{9D8B030D-6E8A-4147-A177-3AD203B41FA5}">
                      <a16:colId xmlns:a16="http://schemas.microsoft.com/office/drawing/2014/main" val="999704858"/>
                    </a:ext>
                  </a:extLst>
                </a:gridCol>
                <a:gridCol w="1073931">
                  <a:extLst>
                    <a:ext uri="{9D8B030D-6E8A-4147-A177-3AD203B41FA5}">
                      <a16:colId xmlns:a16="http://schemas.microsoft.com/office/drawing/2014/main" val="320084440"/>
                    </a:ext>
                  </a:extLst>
                </a:gridCol>
                <a:gridCol w="1093457">
                  <a:extLst>
                    <a:ext uri="{9D8B030D-6E8A-4147-A177-3AD203B41FA5}">
                      <a16:colId xmlns:a16="http://schemas.microsoft.com/office/drawing/2014/main" val="3141493085"/>
                    </a:ext>
                  </a:extLst>
                </a:gridCol>
                <a:gridCol w="1327769">
                  <a:extLst>
                    <a:ext uri="{9D8B030D-6E8A-4147-A177-3AD203B41FA5}">
                      <a16:colId xmlns:a16="http://schemas.microsoft.com/office/drawing/2014/main" val="2768518551"/>
                    </a:ext>
                  </a:extLst>
                </a:gridCol>
                <a:gridCol w="527202">
                  <a:extLst>
                    <a:ext uri="{9D8B030D-6E8A-4147-A177-3AD203B41FA5}">
                      <a16:colId xmlns:a16="http://schemas.microsoft.com/office/drawing/2014/main" val="2653760714"/>
                    </a:ext>
                  </a:extLst>
                </a:gridCol>
                <a:gridCol w="1952601">
                  <a:extLst>
                    <a:ext uri="{9D8B030D-6E8A-4147-A177-3AD203B41FA5}">
                      <a16:colId xmlns:a16="http://schemas.microsoft.com/office/drawing/2014/main" val="1382902328"/>
                    </a:ext>
                  </a:extLst>
                </a:gridCol>
                <a:gridCol w="1112983">
                  <a:extLst>
                    <a:ext uri="{9D8B030D-6E8A-4147-A177-3AD203B41FA5}">
                      <a16:colId xmlns:a16="http://schemas.microsoft.com/office/drawing/2014/main" val="2931258183"/>
                    </a:ext>
                  </a:extLst>
                </a:gridCol>
                <a:gridCol w="1815919">
                  <a:extLst>
                    <a:ext uri="{9D8B030D-6E8A-4147-A177-3AD203B41FA5}">
                      <a16:colId xmlns:a16="http://schemas.microsoft.com/office/drawing/2014/main" val="1383842189"/>
                    </a:ext>
                  </a:extLst>
                </a:gridCol>
              </a:tblGrid>
              <a:tr h="1050497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1800" b="1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Tabela 2.2: Frequências e porcentagens dos 36 empregados da seção de orçamentos da Companhia MB segundo o grau de instrução.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800" b="1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Tabela 2.3: Frequências e porcentagens dos 2.000 empregados da Companhia MB, segundo o grau de instrução.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609541"/>
                  </a:ext>
                </a:extLst>
              </a:tr>
              <a:tr h="75971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Grau de instrução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 dirty="0" err="1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Freq</a:t>
                      </a:r>
                      <a:r>
                        <a:rPr lang="pt-BR" sz="1800" b="1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br>
                        <a:rPr lang="pt-BR" sz="1800" b="1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pt-BR" sz="1800" b="1" i="0" u="none" strike="noStrike" dirty="0" err="1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ni</a:t>
                      </a:r>
                      <a:endParaRPr lang="pt-BR" sz="1800" b="1" i="0" u="none" strike="noStrike" dirty="0">
                        <a:solidFill>
                          <a:srgbClr val="1F6FA5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Proporção fi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Porcentagem 100 fi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Grau de instrução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Freq ni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Porcentagem 100 fi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916672"/>
                  </a:ext>
                </a:extLst>
              </a:tr>
              <a:tr h="37985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Fundamental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0,3333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33,33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Fundamental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32,50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484804"/>
                  </a:ext>
                </a:extLst>
              </a:tr>
              <a:tr h="37985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Médio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50,00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Médio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51,00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455522"/>
                  </a:ext>
                </a:extLst>
              </a:tr>
              <a:tr h="37985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Superior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0,1667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16,67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Superior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16,50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767561"/>
                  </a:ext>
                </a:extLst>
              </a:tr>
              <a:tr h="37985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100,00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100,00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052182"/>
                  </a:ext>
                </a:extLst>
              </a:tr>
              <a:tr h="379855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800" b="0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Fonte: Tabela 2.1.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Fonte: Dados hipotéticos.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597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7288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577353" y="721360"/>
            <a:ext cx="1103817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Exemplo com variáveis contínuas.</a:t>
            </a:r>
          </a:p>
          <a:p>
            <a:endParaRPr lang="pt-BR" sz="2800" b="1" dirty="0"/>
          </a:p>
          <a:p>
            <a:r>
              <a:rPr lang="pt-BR" sz="2800" dirty="0"/>
              <a:t>Quando queremos avaliar a frequencia de uma variável contínua, precisamos dividir as realizações em classes e contar o número de realizações em cada classe.</a:t>
            </a:r>
          </a:p>
          <a:p>
            <a:endParaRPr lang="pt-BR" sz="2800" dirty="0"/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209CB7E7-BC3A-1499-98C3-B7FA38680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315987"/>
              </p:ext>
            </p:extLst>
          </p:nvPr>
        </p:nvGraphicFramePr>
        <p:xfrm>
          <a:off x="5188999" y="2675137"/>
          <a:ext cx="5211917" cy="3527526"/>
        </p:xfrm>
        <a:graphic>
          <a:graphicData uri="http://schemas.openxmlformats.org/drawingml/2006/table">
            <a:tbl>
              <a:tblPr/>
              <a:tblGrid>
                <a:gridCol w="2260591">
                  <a:extLst>
                    <a:ext uri="{9D8B030D-6E8A-4147-A177-3AD203B41FA5}">
                      <a16:colId xmlns:a16="http://schemas.microsoft.com/office/drawing/2014/main" val="779858147"/>
                    </a:ext>
                  </a:extLst>
                </a:gridCol>
                <a:gridCol w="1507060">
                  <a:extLst>
                    <a:ext uri="{9D8B030D-6E8A-4147-A177-3AD203B41FA5}">
                      <a16:colId xmlns:a16="http://schemas.microsoft.com/office/drawing/2014/main" val="1469200692"/>
                    </a:ext>
                  </a:extLst>
                </a:gridCol>
                <a:gridCol w="1444266">
                  <a:extLst>
                    <a:ext uri="{9D8B030D-6E8A-4147-A177-3AD203B41FA5}">
                      <a16:colId xmlns:a16="http://schemas.microsoft.com/office/drawing/2014/main" val="1788926558"/>
                    </a:ext>
                  </a:extLst>
                </a:gridCol>
              </a:tblGrid>
              <a:tr h="1015071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800" b="1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Tabela 2.4: Frequências e porcentagens dos 36 empregados da seção de orçamentos da Companhia MB por faixa de salário.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954721"/>
                  </a:ext>
                </a:extLst>
              </a:tr>
              <a:tr h="82843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Classe de salários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none" strike="noStrike" dirty="0" err="1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Freqüência</a:t>
                      </a:r>
                      <a:r>
                        <a:rPr lang="pt-BR" sz="1800" b="1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pt-BR" sz="1800" b="1" i="0" u="none" strike="noStrike" dirty="0" err="1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ni</a:t>
                      </a:r>
                      <a:endParaRPr lang="pt-BR" sz="1800" b="1" i="0" u="none" strike="noStrike" dirty="0">
                        <a:solidFill>
                          <a:srgbClr val="1F6FA5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Porcentagem 100 fi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021234"/>
                  </a:ext>
                </a:extLst>
              </a:tr>
              <a:tr h="276145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4,00 ⊢ 8,00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27,78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919028"/>
                  </a:ext>
                </a:extLst>
              </a:tr>
              <a:tr h="276145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8,00 ⊢ 12,00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33,33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973913"/>
                  </a:ext>
                </a:extLst>
              </a:tr>
              <a:tr h="276145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12,00 ⊢ 16,00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22,22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951071"/>
                  </a:ext>
                </a:extLst>
              </a:tr>
              <a:tr h="276145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16,00 ⊢ 20,00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13,89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922434"/>
                  </a:ext>
                </a:extLst>
              </a:tr>
              <a:tr h="276145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20,00 ⊢ 24,00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2,78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783438"/>
                  </a:ext>
                </a:extLst>
              </a:tr>
              <a:tr h="276145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573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0877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23735" y="819426"/>
            <a:ext cx="1118036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Gráficos</a:t>
            </a:r>
          </a:p>
          <a:p>
            <a:endParaRPr lang="pt-BR" sz="2800" b="1" dirty="0"/>
          </a:p>
          <a:p>
            <a:r>
              <a:rPr lang="pt-BR" sz="2800" dirty="0"/>
              <a:t>Usamos representações gráficas para melhorar a visualização da  distribuição (ou comportamento) de uma variável. </a:t>
            </a:r>
          </a:p>
          <a:p>
            <a:endParaRPr lang="pt-BR" sz="2800" dirty="0"/>
          </a:p>
          <a:p>
            <a:r>
              <a:rPr lang="pt-BR" sz="2800" dirty="0"/>
              <a:t>A vantagem desse tipo de representação é a possibilidade de uma interpretação mais rápida dos dados.</a:t>
            </a:r>
          </a:p>
          <a:p>
            <a:endParaRPr lang="pt-BR" sz="2800" dirty="0"/>
          </a:p>
          <a:p>
            <a:r>
              <a:rPr lang="pt-BR" sz="2800" dirty="0"/>
              <a:t>A seguir veremos alguns exemplos de gráficos.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981892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23736" y="857419"/>
            <a:ext cx="1118036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Tipos de gráficos</a:t>
            </a:r>
          </a:p>
          <a:p>
            <a:endParaRPr lang="pt-BR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Barras.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26CFC1AD-527C-8BB3-4904-BA88429F92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9921205"/>
              </p:ext>
            </p:extLst>
          </p:nvPr>
        </p:nvGraphicFramePr>
        <p:xfrm>
          <a:off x="2797174" y="1679574"/>
          <a:ext cx="7440129" cy="43965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0611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23736" y="758027"/>
            <a:ext cx="111803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Setores (ou pizza).</a:t>
            </a:r>
          </a:p>
          <a:p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99EAC4B-5CAE-4E6A-AF76-F25CDC198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521" y="1603500"/>
            <a:ext cx="5386511" cy="404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246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50240" y="804410"/>
            <a:ext cx="111803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Dispersão unidimensional</a:t>
            </a:r>
          </a:p>
          <a:p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5024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9B46D0D-BFD1-4AD9-9333-40E26DD15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007" y="1769528"/>
            <a:ext cx="6906830" cy="357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23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43614" y="764653"/>
            <a:ext cx="11180365" cy="4549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Histograma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O histograma é um gráfico de barras tal que a largura representa um intervalo de classe e a área é proporcional à frequência (</a:t>
            </a:r>
            <a:r>
              <a:rPr lang="pt-BR" sz="2800" b="1" dirty="0"/>
              <a:t>dados quantitativos contínuos)</a:t>
            </a:r>
            <a:r>
              <a:rPr lang="pt-BR" sz="2800" dirty="0"/>
              <a:t>. </a:t>
            </a:r>
          </a:p>
          <a:p>
            <a:pPr>
              <a:lnSpc>
                <a:spcPct val="150000"/>
              </a:lnSpc>
            </a:pPr>
            <a:endParaRPr lang="pt-BR" sz="2800" b="1" dirty="0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</a:pPr>
            <a:r>
              <a:rPr lang="pt-BR" sz="2800" b="1" dirty="0">
                <a:solidFill>
                  <a:schemeClr val="accent1"/>
                </a:solidFill>
              </a:rPr>
              <a:t>Diferença: </a:t>
            </a:r>
            <a:r>
              <a:rPr lang="pt-BR" sz="2800" dirty="0"/>
              <a:t>no gráfico de barras comum, as barras têm largura igual e representam categorias (dados qualitativos); no histograma,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889299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">
            <a:extLst>
              <a:ext uri="{FF2B5EF4-FFF2-40B4-BE49-F238E27FC236}">
                <a16:creationId xmlns:a16="http://schemas.microsoft.com/office/drawing/2014/main" id="{2F95361F-DCBD-4B87-AE24-EEDF52950E43}"/>
              </a:ext>
            </a:extLst>
          </p:cNvPr>
          <p:cNvSpPr txBox="1"/>
          <p:nvPr/>
        </p:nvSpPr>
        <p:spPr>
          <a:xfrm>
            <a:off x="647700" y="762000"/>
            <a:ext cx="11176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pt-BR" sz="2800" b="1" dirty="0"/>
              <a:t>Gráfico de Barras vs. Histograma</a:t>
            </a:r>
          </a:p>
        </p:txBody>
      </p:sp>
      <p:sp>
        <p:nvSpPr>
          <p:cNvPr id="5" name="Caption Left">
            <a:extLst>
              <a:ext uri="{FF2B5EF4-FFF2-40B4-BE49-F238E27FC236}">
                <a16:creationId xmlns:a16="http://schemas.microsoft.com/office/drawing/2014/main" id="{CD5F8520-BEED-4DCB-A9CB-C7CC73C5C8B7}"/>
              </a:ext>
            </a:extLst>
          </p:cNvPr>
          <p:cNvSpPr txBox="1"/>
          <p:nvPr/>
        </p:nvSpPr>
        <p:spPr>
          <a:xfrm>
            <a:off x="647700" y="5397500"/>
            <a:ext cx="5461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pt-BR" sz="1400" i="1" dirty="0"/>
              <a:t>Dados qualitativos (categorias). Barras com largura igual e separadas por espaços.</a:t>
            </a:r>
          </a:p>
        </p:txBody>
      </p:sp>
      <p:sp>
        <p:nvSpPr>
          <p:cNvPr id="6" name="Caption Right">
            <a:extLst>
              <a:ext uri="{FF2B5EF4-FFF2-40B4-BE49-F238E27FC236}">
                <a16:creationId xmlns:a16="http://schemas.microsoft.com/office/drawing/2014/main" id="{CED5BDAE-E350-4A8F-A35C-A5FFEBF18C77}"/>
              </a:ext>
            </a:extLst>
          </p:cNvPr>
          <p:cNvSpPr txBox="1"/>
          <p:nvPr/>
        </p:nvSpPr>
        <p:spPr>
          <a:xfrm>
            <a:off x="6362700" y="5397500"/>
            <a:ext cx="54610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pt-BR" sz="1400" i="1" dirty="0"/>
              <a:t>Dados quantitativos contínuos (intervalos de classe). Altura = densidade de frequência (fi/n dividido pela amplitude); área total dos retângulos = 1.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E85129A9-F5D2-4E7C-98B0-60B9FB73E3CB}"/>
              </a:ext>
            </a:extLst>
          </p:cNvPr>
          <p:cNvSpPr txBox="1"/>
          <p:nvPr/>
        </p:nvSpPr>
        <p:spPr>
          <a:xfrm>
            <a:off x="355600" y="64643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graphicFrame>
        <p:nvGraphicFramePr>
          <p:cNvPr id="101" name="Chart Barras"/>
          <p:cNvGraphicFramePr/>
          <p:nvPr/>
        </p:nvGraphicFramePr>
        <p:xfrm>
          <a:off x="647700" y="1524000"/>
          <a:ext cx="5461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2" name="Chart Histograma"/>
          <p:cNvGraphicFramePr/>
          <p:nvPr/>
        </p:nvGraphicFramePr>
        <p:xfrm>
          <a:off x="6362700" y="1524000"/>
          <a:ext cx="5461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3287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43614" y="764653"/>
                <a:ext cx="11180365" cy="4278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dirty="0"/>
                  <a:t>Cálculos para se fazer o histograma:</a:t>
                </a:r>
              </a:p>
              <a:p>
                <a:pPr marL="1371577" lvl="2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as bases são proporcionais aos intervalos das classes</a:t>
                </a:r>
              </a:p>
              <a:p>
                <a:pPr marL="1371577" lvl="2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a área de cada retângulo é proporcional à respectiva frequência.</a:t>
                </a:r>
              </a:p>
              <a:p>
                <a:pPr marL="1371577" lvl="2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Se a base do intervalo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pt-BR" sz="2800" dirty="0"/>
                  <a:t> é denotada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28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800" dirty="0"/>
                  <a:t>, então a altura do retângulo correspondente é proporcional 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t-BR" sz="2800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 marL="1371577" lvl="2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A soma das áreas dos retângulos será igual a 1.</a:t>
                </a:r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614" y="764653"/>
                <a:ext cx="11180365" cy="4278607"/>
              </a:xfrm>
              <a:prstGeom prst="rect">
                <a:avLst/>
              </a:prstGeom>
              <a:blipFill>
                <a:blip r:embed="rId2"/>
                <a:stretch>
                  <a:fillRect l="-1145" b="-31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322163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03857" y="599001"/>
            <a:ext cx="111803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Tente fazer os cálculos e chegar no seguinte histograma (casa)</a:t>
            </a:r>
          </a:p>
          <a:p>
            <a:endParaRPr lang="pt-BR" sz="2800" b="1" dirty="0"/>
          </a:p>
          <a:p>
            <a:pPr marL="1828766" lvl="3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1828766" lvl="3" indent="-457200"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5A7D429B-AC80-D42E-EAD3-78EA25971D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994411"/>
              </p:ext>
            </p:extLst>
          </p:nvPr>
        </p:nvGraphicFramePr>
        <p:xfrm>
          <a:off x="603857" y="1388026"/>
          <a:ext cx="10368943" cy="4688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73238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10483" y="691767"/>
            <a:ext cx="1118036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Também podemos usar o histograma para variáveis discretas. Basta adaptar as realizações como intervalos de tamanho iguais</a:t>
            </a:r>
            <a:r>
              <a:rPr lang="pt-BR" sz="2800" b="1" dirty="0"/>
              <a:t> </a:t>
            </a:r>
          </a:p>
          <a:p>
            <a:endParaRPr lang="pt-BR" sz="2800" b="1" dirty="0"/>
          </a:p>
          <a:p>
            <a:pPr marL="1828766" lvl="3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1828766" lvl="3" indent="-457200"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0DB40C6-3975-4853-93F9-8A5086FB1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193" y="2135051"/>
            <a:ext cx="8051844" cy="386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56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er">
            <a:extLst>
              <a:ext uri="{FF2B5EF4-FFF2-40B4-BE49-F238E27FC236}">
                <a16:creationId xmlns:a16="http://schemas.microsoft.com/office/drawing/2014/main" id="{B71358BB-E48C-4C37-9FE3-26E9E495C485}"/>
              </a:ext>
            </a:extLst>
          </p:cNvPr>
          <p:cNvSpPr txBox="1"/>
          <p:nvPr/>
        </p:nvSpPr>
        <p:spPr>
          <a:xfrm>
            <a:off x="647700" y="762000"/>
            <a:ext cx="11176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800" b="1"/>
              <a:t>Histograma com Classes de Amplitudes Diferentes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41E73AE-729F-4306-929E-0864DCB58F99}"/>
              </a:ext>
            </a:extLst>
          </p:cNvPr>
          <p:cNvSpPr/>
          <p:nvPr/>
        </p:nvSpPr>
        <p:spPr>
          <a:xfrm>
            <a:off x="2286000" y="4635500"/>
            <a:ext cx="1270000" cy="825500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2BD70F0-0873-45B0-BD73-235BAB1D855E}"/>
              </a:ext>
            </a:extLst>
          </p:cNvPr>
          <p:cNvSpPr/>
          <p:nvPr/>
        </p:nvSpPr>
        <p:spPr>
          <a:xfrm>
            <a:off x="3556000" y="2984500"/>
            <a:ext cx="635000" cy="2476500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CF174D4-AE4E-46F4-BD78-FE74A3B49A8E}"/>
              </a:ext>
            </a:extLst>
          </p:cNvPr>
          <p:cNvSpPr/>
          <p:nvPr/>
        </p:nvSpPr>
        <p:spPr>
          <a:xfrm>
            <a:off x="4191000" y="2362200"/>
            <a:ext cx="1270000" cy="3086100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E0C55A3-6566-4304-97CE-4C1DD7DCA902}"/>
              </a:ext>
            </a:extLst>
          </p:cNvPr>
          <p:cNvSpPr/>
          <p:nvPr/>
        </p:nvSpPr>
        <p:spPr>
          <a:xfrm>
            <a:off x="5461000" y="4216400"/>
            <a:ext cx="1905000" cy="1231900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021668C-0A08-4B5E-AF74-1F414FED496A}"/>
              </a:ext>
            </a:extLst>
          </p:cNvPr>
          <p:cNvSpPr/>
          <p:nvPr/>
        </p:nvSpPr>
        <p:spPr>
          <a:xfrm>
            <a:off x="7366000" y="4838700"/>
            <a:ext cx="2540000" cy="609600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2A49A27-FC0B-4546-A24D-9372560632D3}"/>
              </a:ext>
            </a:extLst>
          </p:cNvPr>
          <p:cNvSpPr/>
          <p:nvPr/>
        </p:nvSpPr>
        <p:spPr>
          <a:xfrm>
            <a:off x="2222500" y="5461000"/>
            <a:ext cx="7747000" cy="25400"/>
          </a:xfrm>
          <a:prstGeom prst="rect">
            <a:avLst/>
          </a:prstGeom>
          <a:solidFill>
            <a:srgbClr val="4040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9C213AE-BDD8-4D17-BF55-6E40E84CC3BF}"/>
              </a:ext>
            </a:extLst>
          </p:cNvPr>
          <p:cNvSpPr/>
          <p:nvPr/>
        </p:nvSpPr>
        <p:spPr>
          <a:xfrm>
            <a:off x="2260600" y="1905000"/>
            <a:ext cx="25400" cy="3581400"/>
          </a:xfrm>
          <a:prstGeom prst="rect">
            <a:avLst/>
          </a:prstGeom>
          <a:solidFill>
            <a:srgbClr val="4040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C317431-9B96-4D2B-AD19-1C263CA3DB93}"/>
              </a:ext>
            </a:extLst>
          </p:cNvPr>
          <p:cNvSpPr txBox="1"/>
          <p:nvPr/>
        </p:nvSpPr>
        <p:spPr>
          <a:xfrm>
            <a:off x="2032000" y="55118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/>
              <a:t>0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7546ACF-62BC-405F-A33B-40448D3B2224}"/>
              </a:ext>
            </a:extLst>
          </p:cNvPr>
          <p:cNvSpPr txBox="1"/>
          <p:nvPr/>
        </p:nvSpPr>
        <p:spPr>
          <a:xfrm>
            <a:off x="3302000" y="55118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/>
              <a:t>10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65C3C48-2D49-4ADC-A685-7F8357E3084D}"/>
              </a:ext>
            </a:extLst>
          </p:cNvPr>
          <p:cNvSpPr txBox="1"/>
          <p:nvPr/>
        </p:nvSpPr>
        <p:spPr>
          <a:xfrm>
            <a:off x="3937000" y="55118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/>
              <a:t>15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5922168-FFB9-4349-AF6C-C7F0FD001F8E}"/>
              </a:ext>
            </a:extLst>
          </p:cNvPr>
          <p:cNvSpPr txBox="1"/>
          <p:nvPr/>
        </p:nvSpPr>
        <p:spPr>
          <a:xfrm>
            <a:off x="5207000" y="55118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/>
              <a:t>25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3A9CCD3-C35B-4441-8B30-D57D4D2D1A4A}"/>
              </a:ext>
            </a:extLst>
          </p:cNvPr>
          <p:cNvSpPr txBox="1"/>
          <p:nvPr/>
        </p:nvSpPr>
        <p:spPr>
          <a:xfrm>
            <a:off x="7112000" y="55118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/>
              <a:t>40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0865E17-F00D-4A2E-BB9E-AEB10D3B9BF0}"/>
              </a:ext>
            </a:extLst>
          </p:cNvPr>
          <p:cNvSpPr txBox="1"/>
          <p:nvPr/>
        </p:nvSpPr>
        <p:spPr>
          <a:xfrm>
            <a:off x="9652000" y="55118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/>
              <a:t>60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CAF023A-C27C-4BD7-AEAE-C8F0955BCFF5}"/>
              </a:ext>
            </a:extLst>
          </p:cNvPr>
          <p:cNvSpPr txBox="1"/>
          <p:nvPr/>
        </p:nvSpPr>
        <p:spPr>
          <a:xfrm>
            <a:off x="1143000" y="5372100"/>
            <a:ext cx="5334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/>
              <a:t>0,00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1A6A898-2326-49E5-A0C8-CD1C6D302C04}"/>
              </a:ext>
            </a:extLst>
          </p:cNvPr>
          <p:cNvSpPr txBox="1"/>
          <p:nvPr/>
        </p:nvSpPr>
        <p:spPr>
          <a:xfrm>
            <a:off x="1143000" y="4546600"/>
            <a:ext cx="5334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/>
              <a:t>0,01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0B788E8-2959-4958-BB36-DC68EECACA2B}"/>
              </a:ext>
            </a:extLst>
          </p:cNvPr>
          <p:cNvSpPr txBox="1"/>
          <p:nvPr/>
        </p:nvSpPr>
        <p:spPr>
          <a:xfrm>
            <a:off x="1143000" y="3721100"/>
            <a:ext cx="5334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/>
              <a:t>0,02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0DA682C-FF24-461C-9A42-EC9B48173802}"/>
              </a:ext>
            </a:extLst>
          </p:cNvPr>
          <p:cNvSpPr txBox="1"/>
          <p:nvPr/>
        </p:nvSpPr>
        <p:spPr>
          <a:xfrm>
            <a:off x="1143000" y="2895600"/>
            <a:ext cx="5334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/>
              <a:t>0,03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A597FE1-C5AF-445D-B898-6610C1ECBCB9}"/>
              </a:ext>
            </a:extLst>
          </p:cNvPr>
          <p:cNvSpPr txBox="1"/>
          <p:nvPr/>
        </p:nvSpPr>
        <p:spPr>
          <a:xfrm>
            <a:off x="1143000" y="2070100"/>
            <a:ext cx="5334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/>
              <a:t>0,04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D09A25C-E304-49FA-98BD-3D991A123BB4}"/>
              </a:ext>
            </a:extLst>
          </p:cNvPr>
          <p:cNvSpPr txBox="1"/>
          <p:nvPr/>
        </p:nvSpPr>
        <p:spPr>
          <a:xfrm>
            <a:off x="2286000" y="4406900"/>
            <a:ext cx="1270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/>
            <a:r>
              <a:rPr lang="pt-BR" sz="1400" b="1" dirty="0"/>
              <a:t>0,0100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670C62C-3232-405A-B8ED-51A6C8BBB1C3}"/>
              </a:ext>
            </a:extLst>
          </p:cNvPr>
          <p:cNvSpPr txBox="1"/>
          <p:nvPr/>
        </p:nvSpPr>
        <p:spPr>
          <a:xfrm>
            <a:off x="3556000" y="2654300"/>
            <a:ext cx="635000" cy="307777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/>
            <a:r>
              <a:rPr lang="pt-BR" sz="1400" b="1" dirty="0"/>
              <a:t>0,030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E01C414-961A-4499-8AE5-77636627B63E}"/>
              </a:ext>
            </a:extLst>
          </p:cNvPr>
          <p:cNvSpPr txBox="1"/>
          <p:nvPr/>
        </p:nvSpPr>
        <p:spPr>
          <a:xfrm>
            <a:off x="4191000" y="2133600"/>
            <a:ext cx="1270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/>
            <a:r>
              <a:rPr lang="pt-BR" sz="1400" b="1" dirty="0"/>
              <a:t>0,0375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8A4F28A6-7BB4-4995-B0EB-C70FC0C5F6D8}"/>
              </a:ext>
            </a:extLst>
          </p:cNvPr>
          <p:cNvSpPr txBox="1"/>
          <p:nvPr/>
        </p:nvSpPr>
        <p:spPr>
          <a:xfrm>
            <a:off x="5461000" y="3987800"/>
            <a:ext cx="1905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/>
            <a:r>
              <a:rPr lang="pt-BR" sz="1400" b="1" dirty="0"/>
              <a:t>0,0150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A8FEBE4-F9A8-4764-A6B5-B042315A58F6}"/>
              </a:ext>
            </a:extLst>
          </p:cNvPr>
          <p:cNvSpPr txBox="1"/>
          <p:nvPr/>
        </p:nvSpPr>
        <p:spPr>
          <a:xfrm>
            <a:off x="7366000" y="4610100"/>
            <a:ext cx="2540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/>
            <a:r>
              <a:rPr lang="pt-BR" sz="1400" b="1" dirty="0"/>
              <a:t>0,0075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4FE7053-5F62-473A-B6CC-5402F249BEFC}"/>
              </a:ext>
            </a:extLst>
          </p:cNvPr>
          <p:cNvSpPr txBox="1"/>
          <p:nvPr/>
        </p:nvSpPr>
        <p:spPr>
          <a:xfrm>
            <a:off x="2286000" y="5740400"/>
            <a:ext cx="762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 i="1"/>
              <a:t>Idade (anos)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CBFB546C-8988-4C23-8D4A-C253F9BB186A}"/>
              </a:ext>
            </a:extLst>
          </p:cNvPr>
          <p:cNvSpPr txBox="1"/>
          <p:nvPr/>
        </p:nvSpPr>
        <p:spPr>
          <a:xfrm>
            <a:off x="762000" y="16256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 i="1"/>
              <a:t>Densidade de frequência</a:t>
            </a:r>
          </a:p>
        </p:txBody>
      </p:sp>
      <p:sp>
        <p:nvSpPr>
          <p:cNvPr id="30" name="Caption">
            <a:extLst>
              <a:ext uri="{FF2B5EF4-FFF2-40B4-BE49-F238E27FC236}">
                <a16:creationId xmlns:a16="http://schemas.microsoft.com/office/drawing/2014/main" id="{8D391858-DFF6-454F-9C4A-B8408A1C7319}"/>
              </a:ext>
            </a:extLst>
          </p:cNvPr>
          <p:cNvSpPr txBox="1"/>
          <p:nvPr/>
        </p:nvSpPr>
        <p:spPr>
          <a:xfrm>
            <a:off x="647700" y="5981700"/>
            <a:ext cx="11176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pt-BR" sz="1400" i="1" dirty="0"/>
              <a:t>Altura = densidade de frequência (fi/n ÷ Δi), não frequência absoluta — larguras maiores podem ter alturas menores.</a:t>
            </a:r>
          </a:p>
        </p:txBody>
      </p:sp>
      <p:sp>
        <p:nvSpPr>
          <p:cNvPr id="31" name="TextBox 2">
            <a:extLst>
              <a:ext uri="{FF2B5EF4-FFF2-40B4-BE49-F238E27FC236}">
                <a16:creationId xmlns:a16="http://schemas.microsoft.com/office/drawing/2014/main" id="{7B474CEE-DF97-4193-9B45-B0670A87DC68}"/>
              </a:ext>
            </a:extLst>
          </p:cNvPr>
          <p:cNvSpPr txBox="1"/>
          <p:nvPr/>
        </p:nvSpPr>
        <p:spPr>
          <a:xfrm>
            <a:off x="355600" y="64643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6720865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23736" y="625505"/>
            <a:ext cx="1118036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Tipos de gráficos</a:t>
            </a:r>
          </a:p>
          <a:p>
            <a:endParaRPr lang="pt-BR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Ramo-e-folhas</a:t>
            </a:r>
          </a:p>
          <a:p>
            <a:endParaRPr lang="pt-BR" sz="2800" b="1" dirty="0"/>
          </a:p>
          <a:p>
            <a:r>
              <a:rPr lang="pt-BR" sz="2800" dirty="0"/>
              <a:t>Um gráfico do tipo ramo-e-folhas é uma tabela  com uma linha vertical separando a primeira coluna das demais. Cada ocorrência da variável é dividida em duas informações:</a:t>
            </a:r>
          </a:p>
          <a:p>
            <a:endParaRPr lang="pt-BR" sz="2800" dirty="0"/>
          </a:p>
          <a:p>
            <a:pPr marL="914389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O ramo (primeira coluna).</a:t>
            </a:r>
          </a:p>
          <a:p>
            <a:pPr marL="914389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As folhas (linhas). É o complemento da informação colocada a direita  do ramo.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923658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505817" y="413817"/>
            <a:ext cx="111803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Ramo-e-folhas</a:t>
            </a:r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B453E770-94CF-196C-8B55-052DDEA79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74464"/>
              </p:ext>
            </p:extLst>
          </p:nvPr>
        </p:nvGraphicFramePr>
        <p:xfrm>
          <a:off x="4437065" y="768902"/>
          <a:ext cx="2672726" cy="5482605"/>
        </p:xfrm>
        <a:graphic>
          <a:graphicData uri="http://schemas.openxmlformats.org/drawingml/2006/table">
            <a:tbl>
              <a:tblPr/>
              <a:tblGrid>
                <a:gridCol w="550267">
                  <a:extLst>
                    <a:ext uri="{9D8B030D-6E8A-4147-A177-3AD203B41FA5}">
                      <a16:colId xmlns:a16="http://schemas.microsoft.com/office/drawing/2014/main" val="1890371596"/>
                    </a:ext>
                  </a:extLst>
                </a:gridCol>
                <a:gridCol w="2122459">
                  <a:extLst>
                    <a:ext uri="{9D8B030D-6E8A-4147-A177-3AD203B41FA5}">
                      <a16:colId xmlns:a16="http://schemas.microsoft.com/office/drawing/2014/main" val="1352035509"/>
                    </a:ext>
                  </a:extLst>
                </a:gridCol>
              </a:tblGrid>
              <a:tr h="46175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Figura 2.9: Ramo-e-folhas para a variável S: salários.</a:t>
                      </a:r>
                    </a:p>
                  </a:txBody>
                  <a:tcPr marL="5625" marR="5625" marT="56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402790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00  56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713641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25  73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503370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26  66  86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287508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39  44  59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569288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12  46  74  95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554531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13  35  77  80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83742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53  76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1958510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06  59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577832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00  79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704933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23  60  85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378266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69  71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686144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655395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22  61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653835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908118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3069021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360318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386088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854961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579651"/>
                  </a:ext>
                </a:extLst>
              </a:tr>
              <a:tr h="23350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</a:t>
                      </a:r>
                    </a:p>
                  </a:txBody>
                  <a:tcPr marL="5625" marR="5625" marT="56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050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0184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577353" y="777906"/>
            <a:ext cx="10839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Exemplo. F</a:t>
            </a:r>
            <a:r>
              <a:rPr lang="pt-BR" sz="2800" dirty="0"/>
              <a:t>aça um gráfico de Ramo-e-folhas dos dados abaixo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46305E4-644A-2FE5-D2CE-18DD0C7863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770380"/>
              </p:ext>
            </p:extLst>
          </p:nvPr>
        </p:nvGraphicFramePr>
        <p:xfrm>
          <a:off x="1224444" y="1636001"/>
          <a:ext cx="9794739" cy="2484473"/>
        </p:xfrm>
        <a:graphic>
          <a:graphicData uri="http://schemas.openxmlformats.org/drawingml/2006/table">
            <a:tbl>
              <a:tblPr/>
              <a:tblGrid>
                <a:gridCol w="1264670">
                  <a:extLst>
                    <a:ext uri="{9D8B030D-6E8A-4147-A177-3AD203B41FA5}">
                      <a16:colId xmlns:a16="http://schemas.microsoft.com/office/drawing/2014/main" val="1303453317"/>
                    </a:ext>
                  </a:extLst>
                </a:gridCol>
                <a:gridCol w="631773">
                  <a:extLst>
                    <a:ext uri="{9D8B030D-6E8A-4147-A177-3AD203B41FA5}">
                      <a16:colId xmlns:a16="http://schemas.microsoft.com/office/drawing/2014/main" val="2642901826"/>
                    </a:ext>
                  </a:extLst>
                </a:gridCol>
                <a:gridCol w="671611">
                  <a:extLst>
                    <a:ext uri="{9D8B030D-6E8A-4147-A177-3AD203B41FA5}">
                      <a16:colId xmlns:a16="http://schemas.microsoft.com/office/drawing/2014/main" val="1853511207"/>
                    </a:ext>
                  </a:extLst>
                </a:gridCol>
                <a:gridCol w="1122718">
                  <a:extLst>
                    <a:ext uri="{9D8B030D-6E8A-4147-A177-3AD203B41FA5}">
                      <a16:colId xmlns:a16="http://schemas.microsoft.com/office/drawing/2014/main" val="2305011067"/>
                    </a:ext>
                  </a:extLst>
                </a:gridCol>
                <a:gridCol w="657323">
                  <a:extLst>
                    <a:ext uri="{9D8B030D-6E8A-4147-A177-3AD203B41FA5}">
                      <a16:colId xmlns:a16="http://schemas.microsoft.com/office/drawing/2014/main" val="697488460"/>
                    </a:ext>
                  </a:extLst>
                </a:gridCol>
                <a:gridCol w="1562300">
                  <a:extLst>
                    <a:ext uri="{9D8B030D-6E8A-4147-A177-3AD203B41FA5}">
                      <a16:colId xmlns:a16="http://schemas.microsoft.com/office/drawing/2014/main" val="3019001383"/>
                    </a:ext>
                  </a:extLst>
                </a:gridCol>
                <a:gridCol w="619431">
                  <a:extLst>
                    <a:ext uri="{9D8B030D-6E8A-4147-A177-3AD203B41FA5}">
                      <a16:colId xmlns:a16="http://schemas.microsoft.com/office/drawing/2014/main" val="2921367546"/>
                    </a:ext>
                  </a:extLst>
                </a:gridCol>
                <a:gridCol w="1587290">
                  <a:extLst>
                    <a:ext uri="{9D8B030D-6E8A-4147-A177-3AD203B41FA5}">
                      <a16:colId xmlns:a16="http://schemas.microsoft.com/office/drawing/2014/main" val="576083362"/>
                    </a:ext>
                  </a:extLst>
                </a:gridCol>
                <a:gridCol w="584318">
                  <a:extLst>
                    <a:ext uri="{9D8B030D-6E8A-4147-A177-3AD203B41FA5}">
                      <a16:colId xmlns:a16="http://schemas.microsoft.com/office/drawing/2014/main" val="1344164983"/>
                    </a:ext>
                  </a:extLst>
                </a:gridCol>
                <a:gridCol w="1093305">
                  <a:extLst>
                    <a:ext uri="{9D8B030D-6E8A-4147-A177-3AD203B41FA5}">
                      <a16:colId xmlns:a16="http://schemas.microsoft.com/office/drawing/2014/main" val="2429317195"/>
                    </a:ext>
                  </a:extLst>
                </a:gridCol>
              </a:tblGrid>
              <a:tr h="835529">
                <a:tc gridSpan="10"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Exemplo 2.9. Os dados abaixo referem-se à dureza de 30 peças de alumínio (</a:t>
                      </a:r>
                      <a:r>
                        <a:rPr lang="pt-BR" sz="2000" b="0" i="0" u="none" strike="noStrike" dirty="0" err="1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Hoaglin</a:t>
                      </a:r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, </a:t>
                      </a:r>
                      <a:r>
                        <a:rPr lang="pt-BR" sz="2000" b="0" i="0" u="none" strike="noStrike" dirty="0" err="1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Mosteller</a:t>
                      </a:r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 e </a:t>
                      </a:r>
                      <a:r>
                        <a:rPr lang="pt-BR" sz="2000" b="0" i="0" u="none" strike="noStrike" dirty="0" err="1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Tukey</a:t>
                      </a:r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, 1983, pág. 13).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729727"/>
                  </a:ext>
                </a:extLst>
              </a:tr>
              <a:tr h="549648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53,0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70,2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84,3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69,5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77,8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87,5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53,4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82,5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67,3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54,1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0774"/>
                  </a:ext>
                </a:extLst>
              </a:tr>
              <a:tr h="549648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70,5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71,4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95,4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51,1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74,4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55,7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63,5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85,8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53,5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64,3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652855"/>
                  </a:ext>
                </a:extLst>
              </a:tr>
              <a:tr h="549648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82,7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78,5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55,7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69,1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72,3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59,5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55,3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73,0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52,4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50,7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133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84266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505816" y="512862"/>
            <a:ext cx="11180365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dirty="0"/>
              <a:t>O primeiro passo é organizar os dados em ordem crescente: </a:t>
            </a:r>
          </a:p>
          <a:p>
            <a:pPr>
              <a:lnSpc>
                <a:spcPct val="150000"/>
              </a:lnSpc>
            </a:pPr>
            <a:r>
              <a:rPr lang="pt-BR" sz="2000" b="0" i="0" dirty="0">
                <a:solidFill>
                  <a:srgbClr val="121212"/>
                </a:solidFill>
                <a:effectLst/>
              </a:rPr>
              <a:t>50,7 — 51,1 — 52,4 — 53,0 — 53,4 — 53,5 — 54,1 — 55,3 — 55,7 — 55,7 — 59,5</a:t>
            </a:r>
          </a:p>
          <a:p>
            <a:pPr>
              <a:lnSpc>
                <a:spcPct val="150000"/>
              </a:lnSpc>
            </a:pPr>
            <a:r>
              <a:rPr lang="pt-BR" sz="2000" b="0" i="0" dirty="0">
                <a:solidFill>
                  <a:srgbClr val="121212"/>
                </a:solidFill>
                <a:effectLst/>
              </a:rPr>
              <a:t>63,5 — 64,3 — 67,3 — 69,1 — 69,5</a:t>
            </a:r>
          </a:p>
          <a:p>
            <a:pPr>
              <a:lnSpc>
                <a:spcPct val="150000"/>
              </a:lnSpc>
            </a:pPr>
            <a:r>
              <a:rPr lang="pt-BR" sz="2000" b="0" i="0" dirty="0">
                <a:solidFill>
                  <a:srgbClr val="121212"/>
                </a:solidFill>
                <a:effectLst/>
              </a:rPr>
              <a:t>70,2 — 70,5 — 71,4 — 72,3 — 73,0 — 74,4 — 77,8 — 78,5</a:t>
            </a:r>
          </a:p>
          <a:p>
            <a:pPr>
              <a:lnSpc>
                <a:spcPct val="150000"/>
              </a:lnSpc>
            </a:pPr>
            <a:r>
              <a:rPr lang="pt-BR" sz="2000" b="0" i="0" dirty="0">
                <a:solidFill>
                  <a:srgbClr val="121212"/>
                </a:solidFill>
                <a:effectLst/>
              </a:rPr>
              <a:t>82,5 — 82,7 — 84,3 — 85,8 — 87,5</a:t>
            </a:r>
          </a:p>
          <a:p>
            <a:pPr>
              <a:lnSpc>
                <a:spcPct val="150000"/>
              </a:lnSpc>
            </a:pPr>
            <a:r>
              <a:rPr lang="pt-BR" sz="2000" b="0" i="0" dirty="0">
                <a:solidFill>
                  <a:srgbClr val="121212"/>
                </a:solidFill>
                <a:effectLst/>
              </a:rPr>
              <a:t>95,4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solidFill>
                  <a:srgbClr val="121212"/>
                </a:solidFill>
              </a:rPr>
              <a:t>Agora é só formatar os dados:</a:t>
            </a:r>
            <a:endParaRPr lang="pt-BR" sz="2000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BC0208DD-FFF6-4C86-2F1F-F79932C30B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339911"/>
              </p:ext>
            </p:extLst>
          </p:nvPr>
        </p:nvGraphicFramePr>
        <p:xfrm>
          <a:off x="4767469" y="2866522"/>
          <a:ext cx="6742044" cy="3381877"/>
        </p:xfrm>
        <a:graphic>
          <a:graphicData uri="http://schemas.openxmlformats.org/drawingml/2006/table">
            <a:tbl>
              <a:tblPr/>
              <a:tblGrid>
                <a:gridCol w="2764521">
                  <a:extLst>
                    <a:ext uri="{9D8B030D-6E8A-4147-A177-3AD203B41FA5}">
                      <a16:colId xmlns:a16="http://schemas.microsoft.com/office/drawing/2014/main" val="2795616660"/>
                    </a:ext>
                  </a:extLst>
                </a:gridCol>
                <a:gridCol w="3977523">
                  <a:extLst>
                    <a:ext uri="{9D8B030D-6E8A-4147-A177-3AD203B41FA5}">
                      <a16:colId xmlns:a16="http://schemas.microsoft.com/office/drawing/2014/main" val="4092109212"/>
                    </a:ext>
                  </a:extLst>
                </a:gridCol>
              </a:tblGrid>
              <a:tr h="915217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pt-BR" sz="24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Figura 2.10: Ramo-e-folhas para os dados de dureza de peças de alumínio.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168941"/>
                  </a:ext>
                </a:extLst>
              </a:tr>
              <a:tr h="493332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0  1  2  3  3  3  4  5  5  5  9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384412"/>
                  </a:ext>
                </a:extLst>
              </a:tr>
              <a:tr h="493332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3  4  7  9  9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640953"/>
                  </a:ext>
                </a:extLst>
              </a:tr>
              <a:tr h="493332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0  0  1  2  3  4  7  8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594986"/>
                  </a:ext>
                </a:extLst>
              </a:tr>
              <a:tr h="493332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2  2  4  5  7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746234"/>
                  </a:ext>
                </a:extLst>
              </a:tr>
              <a:tr h="493332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0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204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1706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27196" y="623201"/>
            <a:ext cx="1118036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dirty="0"/>
              <a:t>Todos os gráficos apresentados podem ser usados para variáveis discretas ou contínuas. Em alguns casos, para variáveis contínuas é necessário discretizar os dados, ou seja, dividir os dados em classes. Veja o exemplo abaixo:</a:t>
            </a:r>
          </a:p>
          <a:p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5F99DE84-1897-C5D5-CCE5-45F31A140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432207"/>
              </p:ext>
            </p:extLst>
          </p:nvPr>
        </p:nvGraphicFramePr>
        <p:xfrm>
          <a:off x="384439" y="2487414"/>
          <a:ext cx="5241109" cy="3537325"/>
        </p:xfrm>
        <a:graphic>
          <a:graphicData uri="http://schemas.openxmlformats.org/drawingml/2006/table">
            <a:tbl>
              <a:tblPr/>
              <a:tblGrid>
                <a:gridCol w="1488814">
                  <a:extLst>
                    <a:ext uri="{9D8B030D-6E8A-4147-A177-3AD203B41FA5}">
                      <a16:colId xmlns:a16="http://schemas.microsoft.com/office/drawing/2014/main" val="2219003074"/>
                    </a:ext>
                  </a:extLst>
                </a:gridCol>
                <a:gridCol w="1174105">
                  <a:extLst>
                    <a:ext uri="{9D8B030D-6E8A-4147-A177-3AD203B41FA5}">
                      <a16:colId xmlns:a16="http://schemas.microsoft.com/office/drawing/2014/main" val="3214597092"/>
                    </a:ext>
                  </a:extLst>
                </a:gridCol>
                <a:gridCol w="1089376">
                  <a:extLst>
                    <a:ext uri="{9D8B030D-6E8A-4147-A177-3AD203B41FA5}">
                      <a16:colId xmlns:a16="http://schemas.microsoft.com/office/drawing/2014/main" val="536398451"/>
                    </a:ext>
                  </a:extLst>
                </a:gridCol>
                <a:gridCol w="1488814">
                  <a:extLst>
                    <a:ext uri="{9D8B030D-6E8A-4147-A177-3AD203B41FA5}">
                      <a16:colId xmlns:a16="http://schemas.microsoft.com/office/drawing/2014/main" val="2165628669"/>
                    </a:ext>
                  </a:extLst>
                </a:gridCol>
              </a:tblGrid>
              <a:tr h="779813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1800" b="1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Tabela 2.6: Distribuição de frequências da variável S, salário dos empregados da seção de orçamentos da Companhia MB.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262565"/>
                  </a:ext>
                </a:extLst>
              </a:tr>
              <a:tr h="524466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Classes de salários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Ponto médio si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 dirty="0" err="1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Freq</a:t>
                      </a:r>
                      <a:endParaRPr lang="pt-BR" sz="1800" b="1" i="0" u="none" strike="noStrike" dirty="0">
                        <a:solidFill>
                          <a:srgbClr val="1F6FA5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ctr" fontAlgn="b"/>
                      <a:r>
                        <a:rPr lang="pt-BR" sz="1800" b="1" i="0" u="none" strike="noStrike" dirty="0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pt-BR" sz="1800" b="1" i="0" u="none" strike="noStrike" dirty="0" err="1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ni</a:t>
                      </a:r>
                      <a:endParaRPr lang="pt-BR" sz="1800" b="1" i="0" u="none" strike="noStrike" dirty="0">
                        <a:solidFill>
                          <a:srgbClr val="1F6FA5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1F6FA5"/>
                          </a:solidFill>
                          <a:effectLst/>
                          <a:latin typeface="Aptos Narrow" panose="020B0004020202020204" pitchFamily="34" charset="0"/>
                        </a:rPr>
                        <a:t>Porcentagem 100 fi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475421"/>
                  </a:ext>
                </a:extLst>
              </a:tr>
              <a:tr h="263918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4,00 ⊢ 8,00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27,78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181719"/>
                  </a:ext>
                </a:extLst>
              </a:tr>
              <a:tr h="263918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8,00 ⊢ 12,00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33,33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181349"/>
                  </a:ext>
                </a:extLst>
              </a:tr>
              <a:tr h="263918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12,00 ⊢ 16,00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22,22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971073"/>
                  </a:ext>
                </a:extLst>
              </a:tr>
              <a:tr h="263918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16,00 ⊢ 20,00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13,89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577055"/>
                  </a:ext>
                </a:extLst>
              </a:tr>
              <a:tr h="263918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20,00 ⊢ 24,00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2,78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635917"/>
                  </a:ext>
                </a:extLst>
              </a:tr>
              <a:tr h="263918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—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100,00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2748669"/>
                  </a:ext>
                </a:extLst>
              </a:tr>
              <a:tr h="46900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18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Fonte: Tabela2.4.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473399"/>
                  </a:ext>
                </a:extLst>
              </a:tr>
            </a:tbl>
          </a:graphicData>
        </a:graphic>
      </p:graphicFrame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A0D494CA-A743-1B0C-EC48-EB29D7CA0F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4347325"/>
              </p:ext>
            </p:extLst>
          </p:nvPr>
        </p:nvGraphicFramePr>
        <p:xfrm>
          <a:off x="6168887" y="2617304"/>
          <a:ext cx="5564355" cy="2512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678530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50240" y="620693"/>
            <a:ext cx="111803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dirty="0"/>
              <a:t>Existem várias tipos de gráficos. A escolha do gráfico depende tipo do dados e da informação que queremos enfatizar</a:t>
            </a:r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9C5906F-9702-04AB-28B0-9D712FB7B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0" y="2107046"/>
            <a:ext cx="4788669" cy="408341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BFE71FF-439F-C168-9EC8-19AC32DF2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719" y="1911352"/>
            <a:ext cx="5164657" cy="240216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7679E74-2F58-EEA6-1E5D-DCD7BC60E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144" y="4428574"/>
            <a:ext cx="4677847" cy="213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3526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D72E0C1-F953-3345-764D-6829C376A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632" y="1035106"/>
            <a:ext cx="5160838" cy="436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4865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56866" y="817662"/>
            <a:ext cx="111803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Exercício (casa).</a:t>
            </a:r>
            <a:r>
              <a:rPr lang="pt-BR" sz="2800" dirty="0"/>
              <a:t> Leia a seção 2.7 do livro (Bussab &amp; </a:t>
            </a:r>
            <a:r>
              <a:rPr lang="pt-BR" sz="2800" dirty="0" err="1"/>
              <a:t>Morettin</a:t>
            </a:r>
            <a:r>
              <a:rPr lang="pt-BR" sz="2800" dirty="0"/>
              <a:t>) itens 3 e 4 ou pesquise sobre o tema “Frequências acumuladas”.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0070C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7769193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03858" y="744776"/>
            <a:ext cx="11180365" cy="4549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Medidas de posição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É um número que representa um conjunto de dados.</a:t>
            </a:r>
            <a:endParaRPr lang="pt-BR" sz="2800" b="1" dirty="0"/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b="1" dirty="0"/>
              <a:t>Moda: </a:t>
            </a:r>
            <a:r>
              <a:rPr lang="pt-BR" sz="2800" dirty="0"/>
              <a:t>é a realização mais frequente do conjunto de valores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b="1" dirty="0"/>
              <a:t>Mediana: </a:t>
            </a:r>
            <a:r>
              <a:rPr lang="pt-BR" sz="2800" dirty="0"/>
              <a:t>é a realização que ocupa a posição central da série (ordenada) de observações.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b="1" dirty="0"/>
              <a:t>Média (média aritmética): </a:t>
            </a:r>
            <a:r>
              <a:rPr lang="pt-BR" sz="2800" dirty="0"/>
              <a:t>é a soma das observações dividido pelo número delas.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3458481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76744" y="632131"/>
                <a:ext cx="11180365" cy="5196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Medidas de posição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Exemplo: </a:t>
                </a:r>
                <a:r>
                  <a:rPr lang="pt-BR" sz="2800" dirty="0"/>
                  <a:t>Considere o conjunto de dados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{4,0,5,1,7,2,3,3,5,1}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pt-BR" sz="2800" b="1" dirty="0"/>
              </a:p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>Moda:</a:t>
                </a:r>
              </a:p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pt-BR" sz="2800" b="1" dirty="0"/>
              </a:p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>Mediana:</a:t>
                </a:r>
              </a:p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>Média:</a:t>
                </a:r>
                <a:endParaRPr lang="pt-BR" sz="2800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744" y="632131"/>
                <a:ext cx="11180365" cy="5196166"/>
              </a:xfrm>
              <a:prstGeom prst="rect">
                <a:avLst/>
              </a:prstGeom>
              <a:blipFill>
                <a:blip r:embed="rId2"/>
                <a:stretch>
                  <a:fillRect l="-1091" b="-246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968681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36988" y="596963"/>
                <a:ext cx="11180365" cy="46738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Medidas de posição (fórmulas)</a:t>
                </a:r>
              </a:p>
              <a:p>
                <a:r>
                  <a:rPr lang="pt-BR" sz="2800" dirty="0"/>
                  <a:t>Sejam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 ⋯, </m:t>
                        </m:r>
                        <m:sSub>
                          <m:sSubPr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2800" dirty="0"/>
                  <a:t> um conjunto de dados (distintos ou não).</a:t>
                </a:r>
              </a:p>
              <a:p>
                <a:pPr marL="457178" indent="-457178">
                  <a:buFont typeface="Arial" panose="020B0604020202020204" pitchFamily="34" charset="0"/>
                  <a:buChar char="•"/>
                </a:pPr>
                <a:endParaRPr lang="pt-BR" sz="2800" b="1" dirty="0"/>
              </a:p>
              <a:p>
                <a:pPr marL="457178" indent="-457178"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>Média: </a:t>
                </a:r>
                <a:endParaRPr lang="pt-BR" sz="28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pt-BR" sz="2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pt-BR" sz="28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 ⋯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pt-BR" sz="2800" b="0" dirty="0"/>
              </a:p>
              <a:p>
                <a:endParaRPr lang="pt-BR" sz="2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 ⋯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º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𝑟𝑒𝑝𝑒𝑡𝑖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çõ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+ ⋯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𝑓𝑟𝑒𝑞𝑢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ê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𝑛𝑐𝑖𝑎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988" y="596963"/>
                <a:ext cx="11180365" cy="4673844"/>
              </a:xfrm>
              <a:prstGeom prst="rect">
                <a:avLst/>
              </a:prstGeom>
              <a:blipFill>
                <a:blip r:embed="rId2"/>
                <a:stretch>
                  <a:fillRect l="-1090" t="-13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8897385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30362" y="550580"/>
                <a:ext cx="11180365" cy="5004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>Mediana: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Considere o conjunto de dados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 ⋯, </m:t>
                        </m:r>
                        <m:sSub>
                          <m:sSubPr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2800" dirty="0"/>
                  <a:t> e ordene os dados de forma crescente: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d>
                            <m:d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≤…≤</m:t>
                      </m:r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pt-BR" sz="2800" b="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Se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sz="2800" dirty="0"/>
                  <a:t> é par,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𝑚𝑑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d>
                              <m:dPr>
                                <m:ctrl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num>
                                  <m:den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sub>
                        </m:s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d>
                              <m:dPr>
                                <m:ctrl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num>
                                  <m:den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sub>
                        </m:sSub>
                      </m:num>
                      <m:den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pt-BR" sz="2800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Se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sz="2800" dirty="0"/>
                  <a:t> é ímpar,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𝑚𝑑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d>
                          <m:d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num>
                              <m:den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b>
                    </m:sSub>
                  </m:oMath>
                </a14:m>
                <a:endParaRPr lang="pt-BR" sz="28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62" y="550580"/>
                <a:ext cx="11180365" cy="5004062"/>
              </a:xfrm>
              <a:prstGeom prst="rect">
                <a:avLst/>
              </a:prstGeom>
              <a:blipFill>
                <a:blip r:embed="rId2"/>
                <a:stretch>
                  <a:fillRect l="-1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7755864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47082" y="680546"/>
            <a:ext cx="10827959" cy="5390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Atividades referentes à aula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Leitura recomendada: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Bussab &amp; Morettin — Cap. 2: 2.1 a 2.4 (tabelas, gráficos, ramo-e-folhas) e Cap. 3: 3.1 (medidas de posição)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Montgomery &amp; Runger — Cap. 6: 6.1 a 6.3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Magalhães &amp; Lima — Cap. 1: 1.2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Exercícios recomendados: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Bussab, Cap. 2: exercícios 1 ao 8 e 9 ao 20 (gráficos); exercícios 15, 16 e 17 (frequências acumuladas)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Bussab, Cap. 3: exercícios de 1 a 13 (medidas de posição)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49F6C3D-C6CD-46EB-B00C-3C31995D5B04}"/>
              </a:ext>
            </a:extLst>
          </p:cNvPr>
          <p:cNvSpPr txBox="1"/>
          <p:nvPr/>
        </p:nvSpPr>
        <p:spPr>
          <a:xfrm>
            <a:off x="361395" y="6464300"/>
            <a:ext cx="4827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8780521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F490BCF-0E29-46D6-AB9B-B65C3DA07A14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81ad7711-3887-41fb-a840-a6e8a9fc0ef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1791</TotalTime>
  <Words>2178</Words>
  <Application>Microsoft Office PowerPoint</Application>
  <PresentationFormat>Widescreen</PresentationFormat>
  <Paragraphs>500</Paragraphs>
  <Slides>34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41" baseType="lpstr">
      <vt:lpstr>AlternateGothic2 BT</vt:lpstr>
      <vt:lpstr>Aptos Narrow</vt:lpstr>
      <vt:lpstr>Arial</vt:lpstr>
      <vt:lpstr>Calibri</vt:lpstr>
      <vt:lpstr>Calibri Light</vt:lpstr>
      <vt:lpstr>Cambria Math</vt:lpstr>
      <vt:lpstr>Tema do Office</vt:lpstr>
      <vt:lpstr>CEA055 – Estatística e Probabilidade Estatística Descritiva 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67</cp:revision>
  <dcterms:created xsi:type="dcterms:W3CDTF">2020-07-20T19:35:15Z</dcterms:created>
  <dcterms:modified xsi:type="dcterms:W3CDTF">2026-08-07T14:00:54Z</dcterms:modified>
</cp:coreProperties>
</file>