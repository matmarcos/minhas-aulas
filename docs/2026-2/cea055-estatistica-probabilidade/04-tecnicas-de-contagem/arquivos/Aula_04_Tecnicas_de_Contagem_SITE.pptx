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500" r:id="rId2"/>
    <p:sldId id="413" r:id="rId3"/>
    <p:sldId id="272" r:id="rId4"/>
    <p:sldId id="271" r:id="rId5"/>
    <p:sldId id="602" r:id="rId6"/>
    <p:sldId id="276" r:id="rId7"/>
    <p:sldId id="603" r:id="rId8"/>
    <p:sldId id="604" r:id="rId9"/>
    <p:sldId id="605" r:id="rId10"/>
    <p:sldId id="269" r:id="rId11"/>
    <p:sldId id="607" r:id="rId12"/>
    <p:sldId id="608" r:id="rId13"/>
    <p:sldId id="609" r:id="rId14"/>
    <p:sldId id="606" r:id="rId15"/>
    <p:sldId id="501" r:id="rId16"/>
    <p:sldId id="610" r:id="rId17"/>
    <p:sldId id="611" r:id="rId18"/>
    <p:sldId id="612" r:id="rId19"/>
    <p:sldId id="613" r:id="rId20"/>
    <p:sldId id="624" r:id="rId31"/>
    <p:sldId id="625" r:id="rId32"/>
  </p:sldIdLst>
  <p:sldSz cx="12192000" cy="6858000"/>
  <p:notesSz cx="7099300" cy="10234613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61" d="100"/>
          <a:sy n="61" d="100"/>
        </p:scale>
        <p:origin x="1968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8.xml"/><Relationship Id="rId18" Type="http://schemas.openxmlformats.org/officeDocument/2006/relationships/slide" Target="slides/slide20.xml"/><Relationship Id="rId19" Type="http://schemas.openxmlformats.org/officeDocument/2006/relationships/slide" Target="slides/slide21.xml"/><Relationship Id="rId20" Type="http://schemas.openxmlformats.org/officeDocument/2006/relationships/slide" Target="slides/slide22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4" Type="http://schemas.openxmlformats.org/officeDocument/2006/relationships/notesMaster" Target="notesMasters/notesMaster1.xml"/><Relationship Id="rId35" Type="http://schemas.openxmlformats.org/officeDocument/2006/relationships/commentAuthors" Target="commentAuthors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44623A65-BD25-40B6-8815-498297225DF7}" type="datetimeFigureOut">
              <a:rPr lang="pt-BR" smtClean="0"/>
              <a:t>07/09/2026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07/09/2026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07/09/2026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07/09/2026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07/09/2026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07/09/2026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07/09/2026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07/09/2026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07/09/2026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07/09/2026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07/09/2026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07/09/2026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07/09/2026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Técnicas de Contagem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5122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000" b="1" dirty="0"/>
              <a:t>Objetivos da aula:</a:t>
            </a:r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Calcular probabilidades em espaços amostrais finitos utilizando o princípio multiplicativo e a análise combinatória (arranjo, permutação, combinação).</a:t>
            </a:r>
          </a:p>
          <a:p>
            <a:pPr>
              <a:lnSpc>
                <a:spcPct val="150000"/>
              </a:lnSpc>
            </a:pPr>
            <a:r>
              <a:rPr lang="pt-BR" sz="2000" b="1" dirty="0"/>
              <a:t>Referências: 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Bussab, Morettin. </a:t>
            </a:r>
            <a:r>
              <a:rPr lang="pt-BR" sz="2000" b="1" dirty="0"/>
              <a:t>Estatística Básica</a:t>
            </a:r>
            <a:r>
              <a:rPr lang="pt-BR" sz="2000" dirty="0"/>
              <a:t>, 9ed — Cap. 5 (5.2)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Montgomery, Runger. </a:t>
            </a:r>
            <a:r>
              <a:rPr lang="pt-BR" sz="2000" b="1" dirty="0"/>
              <a:t>Applied Statistics and Probability for Engineers</a:t>
            </a:r>
            <a:r>
              <a:rPr lang="pt-BR" sz="2000" dirty="0"/>
              <a:t>, 7th ed — Cap. 2 (2.2)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Magalhães, Lima. </a:t>
            </a:r>
            <a:r>
              <a:rPr lang="pt-BR" sz="2000" b="1" dirty="0"/>
              <a:t>Noções de Probabilidade e Estatística</a:t>
            </a:r>
            <a:r>
              <a:rPr lang="pt-BR" sz="2000" dirty="0"/>
              <a:t>, 5ed — Cap. 2 (2.1)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Morettin. </a:t>
            </a:r>
            <a:r>
              <a:rPr lang="pt-BR" sz="2000" b="1" dirty="0"/>
              <a:t>Estatística Básica: Probabilidade e Inferência</a:t>
            </a:r>
            <a:r>
              <a:rPr lang="pt-BR" sz="2000" dirty="0"/>
              <a:t> — Cap. 2 (2.2, 2.3)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23269" y="671347"/>
            <a:ext cx="10748061" cy="282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Eventos equiprováveis (revisando)</a:t>
            </a:r>
          </a:p>
          <a:p>
            <a:endParaRPr lang="pt-BR" sz="2800" b="1" dirty="0"/>
          </a:p>
          <a:p>
            <a:pPr>
              <a:lnSpc>
                <a:spcPct val="150000"/>
              </a:lnSpc>
            </a:pPr>
            <a:r>
              <a:rPr lang="pt-BR" sz="2800" dirty="0"/>
              <a:t>Se todos os n pontos de um espaço amostral são igualmente prováveis (equiprováveis), cada um tem probabilidade 1/n. Um evento A com K desses pontos tem </a:t>
            </a:r>
            <a:r>
              <a:rPr lang="pt-BR" sz="2800" b="1" dirty="0"/>
              <a:t>P(A) = K/n</a:t>
            </a:r>
            <a:r>
              <a:rPr lang="pt-BR" sz="2800" dirty="0"/>
              <a:t>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132394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21969" y="751344"/>
                <a:ext cx="10748061" cy="46166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Exemplo. </a:t>
                </a:r>
                <a:r>
                  <a:rPr lang="pt-BR" sz="2800" dirty="0"/>
                  <a:t> Retira-se uma carta de um baralho completo de 52 cartas. Qual a probabilidade de sair um rei ou uma carta de espadas?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pt-BR" sz="2800" dirty="0"/>
                  <a:t>: sair rei;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pt-BR" sz="2800" dirty="0"/>
                  <a:t>: sair espadas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= </m:t>
                    </m:r>
                  </m:oMath>
                </a14:m>
                <a:r>
                  <a:rPr lang="pt-BR" sz="2800" dirty="0"/>
                  <a:t>{rei de espadas}.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pt-BR" sz="28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= 4/52 + 13/52 − 1/52 = 16/52 = 4/13.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969" y="751344"/>
                <a:ext cx="10748061" cy="4616648"/>
              </a:xfrm>
              <a:prstGeom prst="rect">
                <a:avLst/>
              </a:prstGeom>
              <a:blipFill>
                <a:blip r:embed="rId2"/>
                <a:stretch>
                  <a:fillRect l="-113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54384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29138" y="487331"/>
                <a:ext cx="10748061" cy="55731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Exemplo. </a:t>
                </a:r>
                <a:r>
                  <a:rPr lang="pt-BR" sz="2400" dirty="0"/>
                  <a:t>O seguinte grupo de pessoas está numa sala: 5 rapazes com mais de 21 anos, 4 rapazes com menos de 21 anos, 6 moças com mais de 21 anos e 3 moças com menos de 21 anos. Uma pessoa é escolhida ao acaso entre as 18. Os seguintes eventos são definidos: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A: a pessoa tem mais de 21 anos;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B: a pessoa tem menos de 21 anos;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C: a pessoa é um rapaz;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D: a pessoa é uma moça.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Calcular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pt-BR" sz="2400" i="1">
                        <a:latin typeface="Cambria Math" panose="02040503050406030204" pitchFamily="18" charset="0"/>
                      </a:rPr>
                      <m:t>∩</m:t>
                    </m:r>
                    <m:acc>
                      <m:accPr>
                        <m:chr m:val="̅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pt-BR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138" y="487331"/>
                <a:ext cx="10748061" cy="5573192"/>
              </a:xfrm>
              <a:prstGeom prst="rect">
                <a:avLst/>
              </a:prstGeom>
              <a:blipFill>
                <a:blip r:embed="rId2"/>
                <a:stretch>
                  <a:fillRect l="-851" r="-1134" b="-16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233766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29138" y="487331"/>
                <a:ext cx="10748061" cy="5867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200" dirty="0"/>
                  <a:t>Resposta: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 = 11/18   </m:t>
                    </m:r>
                  </m:oMath>
                </a14:m>
                <a:r>
                  <a:rPr lang="pt-BR" sz="2200" dirty="0"/>
                  <a:t>(5 rapazes + 6 moças &gt;21)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 = 7/18    </m:t>
                    </m:r>
                  </m:oMath>
                </a14:m>
                <a:r>
                  <a:rPr lang="pt-BR" sz="2200" dirty="0"/>
                  <a:t>(4 rapazes + 3 moças &lt;21)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 = 9/18    </m:t>
                    </m:r>
                  </m:oMath>
                </a14:m>
                <a:r>
                  <a:rPr lang="pt-BR" sz="2200" dirty="0"/>
                  <a:t>(5 rapazes &gt;21 + 4 rapazes &lt;21)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 = 9/18    </m:t>
                    </m:r>
                  </m:oMath>
                </a14:m>
                <a:r>
                  <a:rPr lang="pt-BR" sz="2200" dirty="0"/>
                  <a:t>(6 moças &gt;21 + 3 moças &lt;21)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 = 3/18   </m:t>
                    </m:r>
                  </m:oMath>
                </a14:m>
                <a:r>
                  <a:rPr lang="pt-BR" sz="2200" dirty="0"/>
                  <a:t>(moças &lt;21)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 +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 −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 = 7/18 + 9/18 − 3/18 = 13/18.</m:t>
                    </m:r>
                  </m:oMath>
                </a14:m>
                <a:endParaRPr lang="pt-BR" sz="220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pt-BR" sz="220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 = 5/18   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𝑟𝑎𝑝𝑎𝑧𝑒𝑠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 &gt;21)</m:t>
                    </m:r>
                  </m:oMath>
                </a14:m>
                <a:endParaRPr lang="pt-BR" sz="220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)+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 −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 = 11/18 + 9/18 − 5/18 = 15/18 = 5/6.</m:t>
                    </m:r>
                  </m:oMath>
                </a14:m>
                <a:endParaRPr lang="pt-BR" sz="220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pt-BR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200" b="0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pt-BR" sz="2200" i="1" dirty="0" smtClean="0">
                            <a:latin typeface="Cambria Math" panose="02040503050406030204" pitchFamily="18" charset="0"/>
                          </a:rPr>
                          <m:t>∩</m:t>
                        </m:r>
                        <m:acc>
                          <m:accPr>
                            <m:chr m:val="̅"/>
                            <m:ctrlPr>
                              <a:rPr lang="pt-BR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200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</m:d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pt-BR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pt-BR" sz="2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sz="2200" b="0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pt-BR" sz="2200" b="0" i="1" dirty="0" smtClean="0">
                                    <a:latin typeface="Cambria Math" panose="02040503050406030204" pitchFamily="18" charset="0"/>
                                  </a:rPr>
                                  <m:t>∪</m:t>
                                </m:r>
                                <m:r>
                                  <a:rPr lang="pt-BR" sz="2200" b="0" i="1" dirty="0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</m:d>
                          </m:e>
                          <m:sup>
                            <m:r>
                              <a:rPr lang="pt-BR" sz="2200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</m:sSup>
                      </m:e>
                    </m:d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1 −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 = 1 − 5/6 = 1/6</m:t>
                    </m:r>
                  </m:oMath>
                </a14:m>
                <a:r>
                  <a:rPr lang="pt-BR" sz="2200" dirty="0"/>
                  <a:t>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138" y="487331"/>
                <a:ext cx="10748061" cy="5867375"/>
              </a:xfrm>
              <a:prstGeom prst="rect">
                <a:avLst/>
              </a:prstGeom>
              <a:blipFill>
                <a:blip r:embed="rId2"/>
                <a:stretch>
                  <a:fillRect l="-7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855925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21969" y="818257"/>
                <a:ext cx="10748061" cy="39035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rtl="0">
                  <a:lnSpc>
                    <a:spcPct val="150000"/>
                  </a:lnSpc>
                </a:pPr>
                <a:r>
                  <a:rPr lang="pt-BR" sz="2800" b="1" dirty="0"/>
                  <a:t>Quando não dá para enumerar </a:t>
                </a:r>
                <a14:m>
                  <m:oMath xmlns:m="http://schemas.openxmlformats.org/officeDocument/2006/math">
                    <m:r>
                      <a:rPr lang="pt-BR" sz="2800" b="1" i="0" dirty="0" smtClean="0">
                        <a:latin typeface="Cambria Math" panose="02040503050406030204" pitchFamily="18" charset="0"/>
                      </a:rPr>
                      <m:t>𝛀</m:t>
                    </m:r>
                  </m:oMath>
                </a14:m>
                <a:endParaRPr lang="pt-BR" sz="2800" dirty="0"/>
              </a:p>
              <a:p>
                <a:pPr marL="457200" indent="-457200" rtl="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Nem sempre é possível enumerar o espaço amostral ponto a ponto.</a:t>
                </a:r>
              </a:p>
              <a:p>
                <a:pPr marL="457200" indent="-457200" rtl="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Nesses casos, usa-se a análise combinatória (arranjo, permutação, combinação) como processo de contagem dos casos favoráveis e possíveis.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969" y="818257"/>
                <a:ext cx="10748061" cy="3903504"/>
              </a:xfrm>
              <a:prstGeom prst="rect">
                <a:avLst/>
              </a:prstGeom>
              <a:blipFill>
                <a:blip r:embed="rId2"/>
                <a:stretch>
                  <a:fillRect l="-113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52838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585596" y="661503"/>
                <a:ext cx="10748061" cy="39035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Princípio multiplicativo</a:t>
                </a:r>
              </a:p>
              <a:p>
                <a:pPr rtl="0">
                  <a:lnSpc>
                    <a:spcPct val="150000"/>
                  </a:lnSpc>
                </a:pPr>
                <a:r>
                  <a:rPr lang="pt-BR" sz="2800" dirty="0"/>
                  <a:t>Se uma operação é feita em </a:t>
                </a:r>
                <a14:m>
                  <m:oMath xmlns:m="http://schemas.openxmlformats.org/officeDocument/2006/math">
                    <m:r>
                      <a:rPr lang="pt-BR" sz="2800" b="1" i="1" dirty="0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pt-BR" sz="2800" dirty="0"/>
                  <a:t> etapas, e a etapa i pode ser realizada de </a:t>
                </a:r>
                <a14:m>
                  <m:oMath xmlns:m="http://schemas.openxmlformats.org/officeDocument/2006/math">
                    <m:r>
                      <a:rPr lang="pt-BR" sz="2800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pt-BR" sz="2800" b="1" i="1" dirty="0" smtClean="0">
                        <a:latin typeface="Cambria Math" panose="02040503050406030204" pitchFamily="18" charset="0"/>
                      </a:rPr>
                      <m:t>ᵢ</m:t>
                    </m:r>
                  </m:oMath>
                </a14:m>
                <a:r>
                  <a:rPr lang="pt-BR" sz="2800" dirty="0"/>
                  <a:t> maneiras, o total de maneiras de completar a operação é</a:t>
                </a:r>
              </a:p>
              <a:p>
                <a:pPr algn="ctr" rtl="0">
                  <a:lnSpc>
                    <a:spcPct val="150000"/>
                  </a:lnSpc>
                </a:pPr>
                <a:r>
                  <a:rPr lang="pt-BR" sz="2800" dirty="0"/>
                  <a:t> </a:t>
                </a:r>
                <a14:m>
                  <m:oMath xmlns:m="http://schemas.openxmlformats.org/officeDocument/2006/math">
                    <m:r>
                      <a:rPr lang="pt-BR" sz="2800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pt-BR" sz="2800" b="1" i="1" dirty="0" smtClean="0">
                        <a:latin typeface="Cambria Math" panose="02040503050406030204" pitchFamily="18" charset="0"/>
                      </a:rPr>
                      <m:t>₁ × </m:t>
                    </m:r>
                    <m:r>
                      <a:rPr lang="pt-BR" sz="2800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pt-BR" sz="2800" b="1" i="1" dirty="0" smtClean="0">
                        <a:latin typeface="Cambria Math" panose="02040503050406030204" pitchFamily="18" charset="0"/>
                      </a:rPr>
                      <m:t>₂ × … × </m:t>
                    </m:r>
                    <m:r>
                      <a:rPr lang="pt-BR" sz="2800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pt-BR" sz="2800" b="1" i="1" dirty="0" smtClean="0">
                        <a:latin typeface="Cambria Math" panose="02040503050406030204" pitchFamily="18" charset="0"/>
                      </a:rPr>
                      <m:t>ₖ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  <a:p>
                <a:pPr rtl="0">
                  <a:lnSpc>
                    <a:spcPct val="150000"/>
                  </a:lnSpc>
                </a:pPr>
                <a:r>
                  <a:rPr lang="pt-BR" sz="2800" dirty="0"/>
                  <a:t>Também chamada </a:t>
                </a:r>
                <a:r>
                  <a:rPr lang="pt-BR" sz="2800" b="1" dirty="0"/>
                  <a:t>princípio multiplicativo</a:t>
                </a:r>
                <a:r>
                  <a:rPr lang="pt-BR" sz="28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596" y="661503"/>
                <a:ext cx="10748061" cy="3903504"/>
              </a:xfrm>
              <a:prstGeom prst="rect">
                <a:avLst/>
              </a:prstGeom>
              <a:blipFill>
                <a:blip r:embed="rId2"/>
                <a:stretch>
                  <a:fillRect l="-113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703661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585596" y="661503"/>
                <a:ext cx="10748061" cy="39035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Exemplo. </a:t>
                </a:r>
                <a:r>
                  <a:rPr lang="pt-BR" sz="2800" dirty="0"/>
                  <a:t>(Montgomery &amp; </a:t>
                </a:r>
                <a:r>
                  <a:rPr lang="pt-BR" sz="2800" dirty="0" err="1"/>
                  <a:t>Runger</a:t>
                </a:r>
                <a:r>
                  <a:rPr lang="pt-BR" sz="2800" dirty="0"/>
                  <a:t> 2.7.)</a:t>
                </a:r>
                <a:r>
                  <a:rPr lang="pt-BR" sz="2800" b="1" dirty="0"/>
                  <a:t> </a:t>
                </a:r>
                <a:r>
                  <a:rPr lang="pt-BR" sz="2800" dirty="0"/>
                  <a:t>Projeto de site - Um site tem 4 cores, 3 fontes e 3 posições de imagem possíveis. Quantos projetos diferentes é possível fazer com as opções acima?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Resposta: Pela regra da multiplicação: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4 × 3 × 3 = 36 </m:t>
                    </m:r>
                  </m:oMath>
                </a14:m>
                <a:r>
                  <a:rPr lang="pt-BR" sz="2800" dirty="0"/>
                  <a:t>projetos diferentes possíveis.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596" y="661503"/>
                <a:ext cx="10748061" cy="3903504"/>
              </a:xfrm>
              <a:prstGeom prst="rect">
                <a:avLst/>
              </a:prstGeom>
              <a:blipFill>
                <a:blip r:embed="rId2"/>
                <a:stretch>
                  <a:fillRect l="-1134" b="-359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837101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585596" y="661503"/>
                <a:ext cx="10748061" cy="51961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Permutação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pt-BR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pt-BR" sz="2800" b="1" dirty="0"/>
                  <a:t> </a:t>
                </a:r>
                <a:r>
                  <a:rPr lang="pt-BR" sz="2800" dirty="0"/>
                  <a:t>(ou permutação simples)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Uma permutação de um conjunto é uma sequência ordenada de seus elementos.</a:t>
                </a:r>
              </a:p>
              <a:p>
                <a:pPr>
                  <a:lnSpc>
                    <a:spcPct val="150000"/>
                  </a:lnSpc>
                </a:pPr>
                <a:endParaRPr lang="pt-BR" sz="2800" b="1" dirty="0"/>
              </a:p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Exemplo:</a:t>
                </a:r>
                <a:r>
                  <a:rPr lang="pt-BR" sz="2800" dirty="0"/>
                  <a:t> Quantas permutações existem do conjunto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= {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pt-BR" sz="2800" dirty="0"/>
                  <a:t>?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Resposta: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𝑎𝑏𝑐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i="1" dirty="0" err="1" smtClean="0">
                        <a:latin typeface="Cambria Math" panose="02040503050406030204" pitchFamily="18" charset="0"/>
                      </a:rPr>
                      <m:t>𝑎𝑐𝑏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i="1" dirty="0" err="1" smtClean="0">
                        <a:latin typeface="Cambria Math" panose="02040503050406030204" pitchFamily="18" charset="0"/>
                      </a:rPr>
                      <m:t>𝑏𝑎𝑐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i="1" dirty="0" err="1" smtClean="0">
                        <a:latin typeface="Cambria Math" panose="02040503050406030204" pitchFamily="18" charset="0"/>
                      </a:rPr>
                      <m:t>𝑏𝑐𝑎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i="1" dirty="0" err="1" smtClean="0">
                        <a:latin typeface="Cambria Math" panose="02040503050406030204" pitchFamily="18" charset="0"/>
                      </a:rPr>
                      <m:t>𝑐𝑎𝑏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i="1" dirty="0" err="1" smtClean="0">
                        <a:latin typeface="Cambria Math" panose="02040503050406030204" pitchFamily="18" charset="0"/>
                      </a:rPr>
                      <m:t>𝑐𝑏𝑎</m:t>
                    </m:r>
                  </m:oMath>
                </a14:m>
                <a:r>
                  <a:rPr lang="pt-BR" sz="2800" dirty="0"/>
                  <a:t> — 6 permutações. 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Em geral, o número de permutações de n elementos diferentes é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pt-BR" sz="2800" dirty="0"/>
                  <a:t> (aqui,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3! = 6</m:t>
                    </m:r>
                  </m:oMath>
                </a14:m>
                <a:r>
                  <a:rPr lang="pt-BR" sz="2800" dirty="0"/>
                  <a:t>).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596" y="661503"/>
                <a:ext cx="10748061" cy="5196166"/>
              </a:xfrm>
              <a:prstGeom prst="rect">
                <a:avLst/>
              </a:prstGeom>
              <a:blipFill>
                <a:blip r:embed="rId2"/>
                <a:stretch>
                  <a:fillRect l="-1134" b="-246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264850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498510" y="670212"/>
                <a:ext cx="10748061" cy="5535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Arranjo simples</a:t>
                </a:r>
              </a:p>
              <a:p>
                <a:endParaRPr lang="pt-BR" sz="2800" dirty="0"/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Um arranjo é uma escolha ordenada de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sz="2800" dirty="0"/>
                  <a:t> elementos dentre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800" dirty="0"/>
                  <a:t>, sem repetição — a </a:t>
                </a:r>
                <a:r>
                  <a:rPr lang="pt-BR" sz="2800" b="1" dirty="0"/>
                  <a:t>ordem em que os elementos são escolhidos diferencia </a:t>
                </a:r>
                <a:r>
                  <a:rPr lang="pt-BR" sz="2800" dirty="0"/>
                  <a:t>um arranjo do outro.</a:t>
                </a:r>
              </a:p>
              <a:p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 dirty="0" err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800" i="1" dirty="0" err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800" i="1" dirty="0" err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800" i="1" dirty="0"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d>
                            <m:dPr>
                              <m:ctrlP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  <a:p>
                <a:endParaRPr lang="pt-BR" sz="2800" dirty="0"/>
              </a:p>
              <a:p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800" dirty="0"/>
                  <a:t>— total de elementos disponíveis;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sz="2800" dirty="0"/>
                  <a:t> — elementos selecionados, em ordem.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510" y="670212"/>
                <a:ext cx="10748061" cy="5535811"/>
              </a:xfrm>
              <a:prstGeom prst="rect">
                <a:avLst/>
              </a:prstGeom>
              <a:blipFill>
                <a:blip r:embed="rId2"/>
                <a:stretch>
                  <a:fillRect l="-1191" t="-1101" b="-143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543785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594304" y="498037"/>
                <a:ext cx="10748061" cy="58619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Exemplo</a:t>
                </a:r>
                <a:r>
                  <a:rPr lang="pt-BR" sz="2400" dirty="0"/>
                  <a:t> — números de 4 dígitos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Temos os algarismos de 1 a 8. Quantos números diferentes de 4 dígitos podemos formar, usando 4 desses 8 algarismos, sem repetir nenhum?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Resposta: A ordem importa — o número 1234 é diferente de 4321. Escolhas sucessivas: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- 1º dígito: 8 opções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- 2º dígito: 7 opções (não pode repetir o 1º)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- 3º dígito: 6 opções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- 4º dígito: 5 opções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(8,4)=</m:t>
                    </m:r>
                    <m:f>
                      <m:f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8!</m:t>
                        </m:r>
                      </m:num>
                      <m:den>
                        <m:d>
                          <m:dPr>
                            <m:ctrlP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  <m:t>8−4</m:t>
                            </m:r>
                          </m:e>
                        </m:d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=8×7 × 6 × 5=1.680</m:t>
                    </m:r>
                  </m:oMath>
                </a14:m>
                <a:r>
                  <a:rPr lang="pt-BR" sz="2400" dirty="0"/>
                  <a:t> números diferentes.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04" y="498037"/>
                <a:ext cx="10748061" cy="5861926"/>
              </a:xfrm>
              <a:prstGeom prst="rect">
                <a:avLst/>
              </a:prstGeom>
              <a:blipFill>
                <a:blip r:embed="rId2"/>
                <a:stretch>
                  <a:fillRect l="-8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270626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559470" y="565709"/>
                <a:ext cx="10748061" cy="55975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Combinação simples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Uma combinação é uma escolha não ordenada de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sz="2400" dirty="0"/>
                  <a:t> elementos dentre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400" dirty="0"/>
                  <a:t>, sem repetição — trocar a ordem dos elementos escolhidos não gera uma combinação diferente.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i="1" dirty="0" err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2400" i="1" dirty="0" err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sz="2400" i="1" dirty="0" err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n — total de elementos disponíveis; p — elementos selecionados, sem ordem.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Difere do arranjo por não distinguir a ordem de seleção.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470" y="565709"/>
                <a:ext cx="10748061" cy="5597558"/>
              </a:xfrm>
              <a:prstGeom prst="rect">
                <a:avLst/>
              </a:prstGeom>
              <a:blipFill>
                <a:blip r:embed="rId2"/>
                <a:stretch>
                  <a:fillRect l="-908" b="-152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6265980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559470" y="565709"/>
                <a:ext cx="10748061" cy="5816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Exemplo — subconjuntos de 4 números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Temos os algarismos de 1 a 8. Quantos subconjuntos diferentes de 4 números podemos escolher dentre esses 8, sem se importar com a ordem?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Resposta: Aqui a ordem não importa — escolher {1,2,3,4} é o mesmo que escolher {4,3,2,1}.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(8,4)=</m:t>
                    </m:r>
                    <m:f>
                      <m:f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8!</m:t>
                        </m:r>
                      </m:num>
                      <m:den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4!·4!</m:t>
                        </m:r>
                      </m:den>
                    </m:f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 70 </m:t>
                    </m:r>
                  </m:oMath>
                </a14:m>
                <a:r>
                  <a:rPr lang="pt-BR" sz="2400" dirty="0"/>
                  <a:t>subconjuntos diferentes.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Compare com o arranjo: A(8,4) = 1.680 = C(8,4) × 4! — cada subconjunto de 4 números pode ser ordenado de 4! = 24 formas diferentes (1.680/70 = 24).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470" y="565709"/>
                <a:ext cx="10748061" cy="5816016"/>
              </a:xfrm>
              <a:prstGeom prst="rect">
                <a:avLst/>
              </a:prstGeom>
              <a:blipFill>
                <a:blip r:embed="rId2"/>
                <a:stretch>
                  <a:fillRect l="-908" b="-146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6114866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20430" y="826966"/>
            <a:ext cx="10748061" cy="1964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b="1" dirty="0"/>
              <a:t>Exemplo.</a:t>
            </a:r>
            <a:r>
              <a:rPr lang="pt-BR" sz="2800" dirty="0"/>
              <a:t> Em um congresso científico existem 15 matemáticos e 12 estatísticos. Qual a probabilidade de se formar uma comissão com 5 membros, na qual figurem 3 matemáticos e 2 estatísticos?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4269932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46853" y="553594"/>
                <a:ext cx="10866176" cy="54967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b="1" dirty="0"/>
                  <a:t>Resposta: </a:t>
                </a:r>
                <a:endParaRPr lang="pt-BR" sz="2400" dirty="0"/>
              </a:p>
              <a:p>
                <a:endParaRPr lang="pt-BR" sz="2200" dirty="0"/>
              </a:p>
              <a:p>
                <a:r>
                  <a:rPr lang="pt-BR" sz="2200" dirty="0"/>
                  <a:t>Casos possíveis </a:t>
                </a: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200" dirty="0"/>
                  <a:t>: qualquer comissão de 5 pessoas dentre as 27, sem distinguir cargo — a ordem não importa numa comissão, então é uma combinação: </a:t>
                </a:r>
                <a:r>
                  <a:rPr lang="pt-BR" sz="2200" b="1" dirty="0"/>
                  <a:t>n = C(27,5) = 80.730.</a:t>
                </a:r>
              </a:p>
              <a:p>
                <a:endParaRPr lang="pt-BR" sz="2200" dirty="0"/>
              </a:p>
              <a:p>
                <a:r>
                  <a:rPr lang="pt-BR" sz="2200" dirty="0"/>
                  <a:t>Casos favoráveis </a:t>
                </a: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200" dirty="0"/>
                  <a:t>: a comissão precisa ter exatamente 3 matemáticos E 2 estatísticos. Como são duas escolhas independentes (escolher os matemáticos não afeta escolher os estatísticos), usamos a regra da multiplicação:</a:t>
                </a:r>
              </a:p>
              <a:p>
                <a:r>
                  <a:rPr lang="pt-BR" sz="2200" dirty="0"/>
                  <a:t>- escolher 3 matemáticos dentre 15: C(15,3) = 455</a:t>
                </a:r>
              </a:p>
              <a:p>
                <a:r>
                  <a:rPr lang="pt-BR" sz="2200" dirty="0"/>
                  <a:t>- escolher 2 estatísticos dentre 12: C(12,2) = 66</a:t>
                </a:r>
              </a:p>
              <a:p>
                <a:r>
                  <a:rPr lang="pt-BR" sz="2200" dirty="0"/>
                  <a:t>- </a:t>
                </a:r>
                <a:r>
                  <a:rPr lang="pt-BR" sz="2200" b="1" dirty="0"/>
                  <a:t>K = 455 × 66 = 30.030</a:t>
                </a:r>
              </a:p>
              <a:p>
                <a:endParaRPr lang="pt-BR" sz="2200" dirty="0"/>
              </a:p>
              <a:p>
                <a:r>
                  <a:rPr lang="pt-BR" sz="2200" dirty="0"/>
                  <a:t>Como o espaço amostral é equiprovável (cada comissão de 5 pessoas é igualmente provável):</a:t>
                </a:r>
              </a:p>
              <a:p>
                <a:endParaRPr lang="pt-BR" sz="2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2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22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20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2200" i="1" dirty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pt-BR" sz="2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20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pt-BR" sz="220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pt-BR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200" i="1" dirty="0" smtClean="0">
                              <a:latin typeface="Cambria Math" panose="02040503050406030204" pitchFamily="18" charset="0"/>
                            </a:rPr>
                            <m:t>30.030</m:t>
                          </m:r>
                        </m:num>
                        <m:den>
                          <m:r>
                            <a:rPr lang="pt-BR" sz="2200" i="1" dirty="0" smtClean="0">
                              <a:latin typeface="Cambria Math" panose="02040503050406030204" pitchFamily="18" charset="0"/>
                            </a:rPr>
                            <m:t>80.730</m:t>
                          </m:r>
                        </m:den>
                      </m:f>
                      <m:r>
                        <a:rPr lang="pt-BR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200" i="1" dirty="0" smtClean="0">
                              <a:latin typeface="Cambria Math" panose="02040503050406030204" pitchFamily="18" charset="0"/>
                            </a:rPr>
                            <m:t>77</m:t>
                          </m:r>
                        </m:num>
                        <m:den>
                          <m:r>
                            <a:rPr lang="pt-BR" sz="2200" i="1" dirty="0" smtClean="0">
                              <a:latin typeface="Cambria Math" panose="02040503050406030204" pitchFamily="18" charset="0"/>
                            </a:rPr>
                            <m:t>207</m:t>
                          </m:r>
                        </m:den>
                      </m:f>
                      <m:r>
                        <a:rPr lang="pt-BR" sz="2200" i="1" dirty="0" smtClean="0">
                          <a:latin typeface="Cambria Math" panose="02040503050406030204" pitchFamily="18" charset="0"/>
                        </a:rPr>
                        <m:t>≈ 0,372.</m:t>
                      </m:r>
                    </m:oMath>
                  </m:oMathPara>
                </a14:m>
                <a:endParaRPr lang="pt-BR" sz="22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853" y="553594"/>
                <a:ext cx="10866176" cy="5496761"/>
              </a:xfrm>
              <a:prstGeom prst="rect">
                <a:avLst/>
              </a:prstGeom>
              <a:blipFill>
                <a:blip r:embed="rId2"/>
                <a:stretch>
                  <a:fillRect l="-898" t="-887" r="-13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46853" y="553594"/>
                <a:ext cx="10866176" cy="5565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Exemplo — </a:t>
                </a:r>
                <a:r>
                  <a:rPr lang="pt-BR" sz="2400" dirty="0"/>
                  <a:t>quadra no baralho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Retiram-se 4 cartas de um baralho de 52, sem reposição. Qual a probabilidade de sair uma quadra (as 4 cartas do mesmo valor)?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Resposta: 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Casos possíveis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: C(52,4) = 270.725.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Casos favoráveis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: 13 valores possíveis, cada um com só 1 jeito de pegar as 4 cartas daquele valor: 13 × C(4,4) = 13.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pt-BR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270.725</m:t>
                          </m:r>
                        </m:den>
                      </m:f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20.825</m:t>
                          </m:r>
                        </m:den>
                      </m:f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2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853" y="553594"/>
                <a:ext cx="10866176" cy="5565178"/>
              </a:xfrm>
              <a:prstGeom prst="rect">
                <a:avLst/>
              </a:prstGeom>
              <a:blipFill>
                <a:blip r:embed="rId2"/>
                <a:stretch>
                  <a:fillRect l="-898" r="-11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9177630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46853" y="553594"/>
            <a:ext cx="10866176" cy="5021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Exemplo. </a:t>
            </a:r>
            <a:r>
              <a:rPr lang="pt-BR" sz="2400" dirty="0"/>
              <a:t>(caras e coroas) Uma moeda é lançada 5 vezes. Qual a probabilidade de sair </a:t>
            </a:r>
            <a:r>
              <a:rPr lang="pt-BR" sz="2400" b="1" dirty="0"/>
              <a:t>exatamente 3 caras e 2 coroas</a:t>
            </a:r>
            <a:r>
              <a:rPr lang="pt-BR" sz="2400" dirty="0"/>
              <a:t>?</a:t>
            </a:r>
          </a:p>
          <a:p>
            <a:pPr>
              <a:lnSpc>
                <a:spcPct val="150000"/>
              </a:lnSpc>
            </a:pPr>
            <a:endParaRPr lang="pt-BR" sz="2400" dirty="0"/>
          </a:p>
          <a:p>
            <a:pPr>
              <a:lnSpc>
                <a:spcPct val="150000"/>
              </a:lnSpc>
            </a:pPr>
            <a:r>
              <a:rPr lang="pt-BR" sz="2400" dirty="0"/>
              <a:t>Resposta: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Casos possíveis: cada lance tem 2 resultados (cara ou coroa), e são 5 lances independentes: 2⁵ = 32.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Casos favoráveis: dentre os 5 lances, escolher quais 3 serão caras (a ordem entre os lances não importa, é uma combinação): C(5,3) = 10.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P(A) = 10/32 = 5/16.</a:t>
            </a:r>
            <a:endParaRPr lang="pt-BR" sz="22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9214685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46853" y="553594"/>
                <a:ext cx="10866176" cy="5325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Permutação de objetos similares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Quando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800" dirty="0"/>
                  <a:t> objetos não são todos diferentes —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₁</m:t>
                    </m:r>
                  </m:oMath>
                </a14:m>
                <a:r>
                  <a:rPr lang="pt-BR" sz="2800" dirty="0"/>
                  <a:t> são de um tipo,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₂</m:t>
                    </m:r>
                  </m:oMath>
                </a14:m>
                <a:r>
                  <a:rPr lang="pt-BR" sz="2800" dirty="0"/>
                  <a:t> de outro, etc.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₁+…+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ᵣ =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pt-BR" sz="2800" dirty="0"/>
                  <a:t>— o número de permutações distintas é menor que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pt-BR" sz="2800" dirty="0"/>
                  <a:t>, porque trocar objetos iguais entre si não gera uma sequência nova.</a:t>
                </a:r>
              </a:p>
              <a:p>
                <a:pPr>
                  <a:lnSpc>
                    <a:spcPct val="150000"/>
                  </a:lnSpc>
                </a:pPr>
                <a:endParaRPr lang="pt-BR" sz="28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sSub>
                            <m:sSub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!·</m:t>
                          </m:r>
                          <m:sSub>
                            <m:sSub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!· … ·</m:t>
                          </m:r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ᵣ!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853" y="553594"/>
                <a:ext cx="10866176" cy="5325304"/>
              </a:xfrm>
              <a:prstGeom prst="rect">
                <a:avLst/>
              </a:prstGeom>
              <a:blipFill>
                <a:blip r:embed="rId2"/>
                <a:stretch>
                  <a:fillRect l="-11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5613364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46853" y="553594"/>
                <a:ext cx="10866176" cy="526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Exemplo. </a:t>
                </a:r>
                <a:r>
                  <a:rPr lang="pt-BR" sz="2400" dirty="0"/>
                  <a:t>(Palavra "ARARAS”). Uma urna contém as letras A, A, A, R, R, S. Retirando-se as letras uma a uma, sem reposição, qual a probabilidade de sair exatamente a palavra ARARAS, nessa ordem?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Resposta: Casos possíveis: permutações distintas dessas 6 letras, considerando as repetições 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(3 </a:t>
                </a:r>
                <a:r>
                  <a:rPr lang="pt-BR" sz="2400" dirty="0" err="1"/>
                  <a:t>A's</a:t>
                </a:r>
                <a:r>
                  <a:rPr lang="pt-BR" sz="2400" dirty="0"/>
                  <a:t>, 2 </a:t>
                </a:r>
                <a:r>
                  <a:rPr lang="pt-BR" sz="2400" dirty="0" err="1"/>
                  <a:t>R's</a:t>
                </a:r>
                <a:r>
                  <a:rPr lang="pt-BR" sz="2400" dirty="0"/>
                  <a:t>, 1 S):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6!</m:t>
                        </m:r>
                      </m:num>
                      <m:den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3!·2!·1!</m:t>
                        </m:r>
                      </m:den>
                    </m:f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=60.</m:t>
                    </m:r>
                  </m:oMath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Casos favoráveis: só existe 1 ordem que forma exatamente a palavra ARARAS.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P(A) = 1/60.</a:t>
                </a:r>
                <a:endParaRPr lang="pt-BR" sz="22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853" y="553594"/>
                <a:ext cx="10866176" cy="5264775"/>
              </a:xfrm>
              <a:prstGeom prst="rect">
                <a:avLst/>
              </a:prstGeom>
              <a:blipFill>
                <a:blip r:embed="rId2"/>
                <a:stretch>
                  <a:fillRect l="-898" r="-1459" b="-173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572541850"/>
      </p:ext>
    </p:extLst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23269" y="671347"/>
            <a:ext cx="10748061" cy="282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b="1" sz="2800"/>
              <a:t>Leitura recomendada:</a:t>
            </a:r>
          </a:p>
          <a:p>
            <a:r>
              <a:rPr b="0" sz="2800"/>
              <a:t>Bussab &amp; Morettin — Cap. 5 (5.2)</a:t>
            </a:r>
          </a:p>
          <a:p>
            <a:r>
              <a:rPr b="0" sz="2800"/>
              <a:t>Montgomery &amp; Runger — Cap. 2 (2.2)</a:t>
            </a:r>
          </a:p>
          <a:p>
            <a:r>
              <a:rPr b="0" sz="2800"/>
              <a:t>Magalhães &amp; Lima — Cap. 2 (2.1)</a:t>
            </a:r>
          </a:p>
          <a:p>
            <a:r>
              <a:rPr b="0" sz="2800"/>
              <a:t>Morettin — Cap. 2 (2.2, 2.3)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23269" y="671347"/>
            <a:ext cx="10748061" cy="282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b="1" sz="2800"/>
              <a:t>Exercícios recomendados:</a:t>
            </a:r>
          </a:p>
          <a:p>
            <a:r>
              <a:rPr b="0" sz="2800"/>
              <a:t>Bussab &amp; Morettin, Cap. 5: Problema 11</a:t>
            </a:r>
          </a:p>
          <a:p>
            <a:r>
              <a:rPr b="0" sz="2800"/>
              <a:t>Montgomery &amp; Runger, Cap. 2: Exercícios 2.2.3, 2.2.4, 2.2.5, 2.2.6, 2.2.7, 2.2.9, 2.2.10, 2.2.11, 2.2.12 e 2.2.14</a:t>
            </a:r>
          </a:p>
          <a:p>
            <a:r>
              <a:rPr b="0" sz="2800"/>
              <a:t>Morettin, Cap. 2: Exercícios 5, 6, 7, 8, 9, 10, 11, 12, 13 e 17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– Estatística e Probabilidade – Prof. Marcos Goulart Lima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3545</TotalTime>
  <Words>3062</Words>
  <Application>Microsoft Office PowerPoint</Application>
  <PresentationFormat>Widescreen</PresentationFormat>
  <Paragraphs>249</Paragraphs>
  <Slides>32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38" baseType="lpstr">
      <vt:lpstr>AlternateGothic2 BT</vt:lpstr>
      <vt:lpstr>Arial</vt:lpstr>
      <vt:lpstr>Calibri</vt:lpstr>
      <vt:lpstr>Calibri Light</vt:lpstr>
      <vt:lpstr>Cambria Math</vt:lpstr>
      <vt:lpstr>Tema do Office</vt:lpstr>
      <vt:lpstr>CEA055 – Estatística e Probabilidade Técnicas de Contagem e Probabilidade Condicional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143</cp:revision>
  <dcterms:created xsi:type="dcterms:W3CDTF">2020-07-20T19:35:15Z</dcterms:created>
  <dcterms:modified xsi:type="dcterms:W3CDTF">2026-09-08T00:30:23Z</dcterms:modified>
</cp:coreProperties>
</file>