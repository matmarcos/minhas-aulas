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6" r:id="rId10"/>
    <p:sldId id="275" r:id="rId11"/>
    <p:sldId id="277" r:id="rId12"/>
    <p:sldId id="266" r:id="rId13"/>
    <p:sldId id="419" r:id="rId14"/>
    <p:sldId id="400" r:id="rId15"/>
    <p:sldId id="401" r:id="rId16"/>
    <p:sldId id="418" r:id="rId17"/>
    <p:sldId id="402" r:id="rId18"/>
    <p:sldId id="414" r:id="rId19"/>
    <p:sldId id="403" r:id="rId20"/>
    <p:sldId id="404" r:id="rId21"/>
    <p:sldId id="417" r:id="rId22"/>
    <p:sldId id="406" r:id="rId23"/>
    <p:sldId id="415" r:id="rId24"/>
    <p:sldId id="407" r:id="rId25"/>
    <p:sldId id="408" r:id="rId26"/>
    <p:sldId id="409" r:id="rId27"/>
    <p:sldId id="410" r:id="rId28"/>
    <p:sldId id="416" r:id="rId29"/>
    <p:sldId id="411" r:id="rId30"/>
    <p:sldId id="412" r:id="rId31"/>
    <p:sldId id="413" r:id="rId32"/>
    <p:sldId id="278" r:id="rId33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61" d="100"/>
          <a:sy n="61" d="100"/>
        </p:scale>
        <p:origin x="196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12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Introdução à Probabilidade: 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Objetivos do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Revisão de teoria de conjuntos.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Conhecer os conceitos de fenômeno aleatório, espaço amostral e evento.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Definir a função probabilidade a partir de seus axiomas e propriedades.</a:t>
            </a:r>
          </a:p>
          <a:p>
            <a:pPr>
              <a:lnSpc>
                <a:spcPct val="150000"/>
              </a:lnSpc>
            </a:pPr>
            <a:r>
              <a:rPr lang="pt-BR" sz="24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5 (5.1, 5.2)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2 (2.1, 2.3)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2 (2.1)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Morettin. </a:t>
            </a:r>
            <a:r>
              <a:rPr lang="pt-BR" sz="2000" b="1" dirty="0"/>
              <a:t>Estatística Básica: Probabilidade e Inferência</a:t>
            </a:r>
            <a:r>
              <a:rPr lang="pt-BR" sz="2000" dirty="0"/>
              <a:t> — Cap. 1 (1.1 a 1.6) e Cap. 2 (2.1)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>
                <a:latin typeface="AlternateGothic2 BT" panose="020B0608020202050204" pitchFamily="34" charset="0"/>
              </a:rPr>
              <a:t>CEA055 </a:t>
            </a:r>
            <a:r>
              <a:rPr lang="pt-BR" dirty="0">
                <a:latin typeface="AlternateGothic2 BT" panose="020B0608020202050204" pitchFamily="34" charset="0"/>
              </a:rPr>
              <a:t>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353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Revisão de teoria de conjuntos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>Intuitivamente, por </a:t>
                </a:r>
                <a:r>
                  <a:rPr lang="pt-BR" sz="2800" b="1" dirty="0"/>
                  <a:t>conjunto</a:t>
                </a:r>
                <a:r>
                  <a:rPr lang="pt-BR" sz="2800" dirty="0"/>
                  <a:t> entenderemos qualquer coleção de objetos.</a:t>
                </a:r>
              </a:p>
              <a:p>
                <a:endParaRPr lang="pt-BR" sz="2800" dirty="0"/>
              </a:p>
              <a:p>
                <a:r>
                  <a:rPr lang="pt-BR" sz="2800" b="1" dirty="0"/>
                  <a:t>Notação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3539430"/>
              </a:xfrm>
              <a:prstGeom prst="rect">
                <a:avLst/>
              </a:prstGeom>
              <a:blipFill>
                <a:blip r:embed="rId2"/>
                <a:stretch>
                  <a:fillRect l="-1272" t="-15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889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Relação de pertinência</a:t>
                </a:r>
              </a:p>
              <a:p>
                <a:endParaRPr lang="pt-BR" sz="28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Para indicar que um elemento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sz="2800" dirty="0"/>
                  <a:t> pertence ao conjunto A, escrevemos</a:t>
                </a:r>
              </a:p>
              <a:p>
                <a:pPr algn="ctr"/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. </a:t>
                </a:r>
              </a:p>
              <a:p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Caso contrário: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t-BR" sz="2800" dirty="0"/>
              </a:p>
              <a:p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blipFill>
                <a:blip r:embed="rId2"/>
                <a:stretch>
                  <a:fillRect l="-1182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977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120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Exemplos de conjuntos numéricos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={…,−2,−1, 0, 1, 2,…}</m:t>
                    </m:r>
                  </m:oMath>
                </a14:m>
                <a:r>
                  <a:rPr lang="pt-BR" sz="2800" dirty="0"/>
                  <a:t>- números inteiros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={ 0, 1, 2, 3…}</m:t>
                    </m:r>
                  </m:oMath>
                </a14:m>
                <a:r>
                  <a:rPr lang="pt-BR" sz="2800" dirty="0"/>
                  <a:t>- números naturais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ℚ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={ 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ℤ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 }</m:t>
                    </m:r>
                  </m:oMath>
                </a14:m>
                <a:r>
                  <a:rPr lang="pt-BR" sz="2800" dirty="0"/>
                  <a:t> - números racionais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pt-BR" sz="2800" dirty="0"/>
                  <a:t>números reais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ℂ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𝑏𝑖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ℝ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t-BR" sz="2800" dirty="0"/>
                  <a:t>– números complexos</a:t>
                </a:r>
                <a:endParaRPr lang="pt-BR" sz="2800" b="1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120872"/>
              </a:xfrm>
              <a:prstGeom prst="rect">
                <a:avLst/>
              </a:prstGeom>
              <a:blipFill>
                <a:blip r:embed="rId2"/>
                <a:stretch>
                  <a:fillRect l="-1182" b="-32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12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Notações de conjuntos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Unitário.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Vazio,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smtClean="0">
                            <a:latin typeface="Cambria Math" panose="02040503050406030204" pitchFamily="18" charset="0"/>
                          </a:rPr>
                          <m:t>∅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Finito ou infinito.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Enumerável ou não-enumerável.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3970318"/>
              </a:xfrm>
              <a:prstGeom prst="rect">
                <a:avLst/>
              </a:prstGeom>
              <a:blipFill>
                <a:blip r:embed="rId2"/>
                <a:stretch>
                  <a:fillRect l="-1182" t="-1382" b="-35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25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Outras notações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=, ≠,&gt;, &lt;</m:t>
                    </m:r>
                  </m:oMath>
                </a14:m>
                <a:r>
                  <a:rPr lang="pt-BR" sz="2800" dirty="0"/>
                  <a:t>,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≥, ≤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Intervalos: </a:t>
                </a: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]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 </m:t>
                    </m:r>
                  </m:oMath>
                </a14:m>
                <a:endParaRPr lang="pt-BR" sz="280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,+∞[</m:t>
                    </m:r>
                  </m:oMath>
                </a14:m>
                <a:endParaRPr lang="pt-BR" sz="2800" b="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]−∞,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832092"/>
              </a:xfrm>
              <a:prstGeom prst="rect">
                <a:avLst/>
              </a:prstGeom>
              <a:blipFill>
                <a:blip r:embed="rId2"/>
                <a:stretch>
                  <a:fillRect l="-1182" t="-11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062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Relações entre conjuntos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⊂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⊄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Combinações</a:t>
                </a: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⊊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401205"/>
              </a:xfrm>
              <a:prstGeom prst="rect">
                <a:avLst/>
              </a:prstGeom>
              <a:blipFill>
                <a:blip r:embed="rId2"/>
                <a:stretch>
                  <a:fillRect l="-1182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71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2208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Contagem de elementos de conjuntos finitos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den>
                        </m:f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Todo conjunto finito com n elementos tem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pt-BR" sz="2800" dirty="0"/>
                  <a:t> subconjuntos distintos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Conjunto das partes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 é o conjunto cujos elementos são todos os subconjuntos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.</a:t>
                </a:r>
                <a14:m>
                  <m:oMath xmlns:m="http://schemas.openxmlformats.org/officeDocument/2006/math"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pt-BR" sz="2800" b="0" i="0" dirty="0">
                  <a:latin typeface="Cambria Math" panose="02040503050406030204" pitchFamily="18" charset="0"/>
                </a:endParaRPr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220899"/>
              </a:xfrm>
              <a:prstGeom prst="rect">
                <a:avLst/>
              </a:prstGeom>
              <a:blipFill>
                <a:blip r:embed="rId2"/>
                <a:stretch>
                  <a:fillRect l="-1182" t="-13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07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4402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Operadores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0" dirty="0"/>
                  <a:t>Complementar: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0" dirty="0"/>
                  <a:t>União: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∪</m:t>
                    </m:r>
                    <m:r>
                      <a:rPr lang="pt-B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b="0" dirty="0"/>
                  <a:t>Interseção: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Subtração: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4402615"/>
              </a:xfrm>
              <a:prstGeom prst="rect">
                <a:avLst/>
              </a:prstGeom>
              <a:blipFill>
                <a:blip r:embed="rId2"/>
                <a:stretch>
                  <a:fillRect l="-1182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09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39717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Operadores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∩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∩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∪(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∩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∪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3971728"/>
              </a:xfrm>
              <a:prstGeom prst="rect">
                <a:avLst/>
              </a:prstGeom>
              <a:blipFill>
                <a:blip r:embed="rId2"/>
                <a:stretch>
                  <a:fillRect l="-1182" t="-13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9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827959" cy="2680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União e interseção de vários conjuntos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⋃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∪⋯∪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b="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914389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⋂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⋂</m:t>
                    </m:r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⋂⋯⋂</m:t>
                    </m:r>
                    <m:sSub>
                      <m:sSub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pt-BR" sz="28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827959" cy="2680477"/>
              </a:xfrm>
              <a:prstGeom prst="rect">
                <a:avLst/>
              </a:prstGeom>
              <a:blipFill>
                <a:blip r:embed="rId2"/>
                <a:stretch>
                  <a:fillRect l="-1182" t="-20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88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dirty="0">
                <a:latin typeface="AlternateGothic2 BT" panose="020B0608020202050204" pitchFamily="34" charset="0"/>
              </a:rPr>
              <a:t>E</a:t>
            </a:r>
            <a:r>
              <a:rPr lang="pt-BR" sz="2200" b="1" dirty="0"/>
              <a:t>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2041869"/>
            <a:ext cx="108279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Referencia: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dirty="0"/>
              <a:t>https://docs.ufpr.br/~</a:t>
            </a:r>
            <a:r>
              <a:rPr lang="pt-BR" sz="2800" dirty="0" err="1"/>
              <a:t>akirilov</a:t>
            </a:r>
            <a:r>
              <a:rPr lang="pt-BR" sz="2800" dirty="0"/>
              <a:t>/ensino/2017/</a:t>
            </a:r>
            <a:r>
              <a:rPr lang="pt-BR" sz="2800" dirty="0" err="1"/>
              <a:t>docs</a:t>
            </a:r>
            <a:r>
              <a:rPr lang="pt-BR" sz="2800" dirty="0"/>
              <a:t>/itc01-UFPR-2017.pdf.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13423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1188720" y="2103120"/>
                <a:ext cx="9814560" cy="1166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30000"/>
                  </a:lnSpc>
                </a:pPr>
                <a:r>
                  <a:rPr sz="2800" b="1" dirty="0">
                    <a:solidFill>
                      <a:srgbClr val="3D1F21"/>
                    </a:solidFill>
                  </a:rPr>
                  <a:t>Se </a:t>
                </a:r>
                <a14:m>
                  <m:oMath xmlns:m="http://schemas.openxmlformats.org/officeDocument/2006/math">
                    <m:r>
                      <a:rPr lang="pt-BR" sz="2800" b="1" i="1" dirty="0" smtClean="0">
                        <a:solidFill>
                          <a:srgbClr val="3D1F2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sz="2800" b="1" dirty="0">
                    <a:solidFill>
                      <a:srgbClr val="3D1F21"/>
                    </a:solidFill>
                  </a:rPr>
                  <a:t> e </a:t>
                </a:r>
                <a14:m>
                  <m:oMath xmlns:m="http://schemas.openxmlformats.org/officeDocument/2006/math">
                    <m:r>
                      <a:rPr lang="pt-BR" sz="2800" b="1" i="1" dirty="0" smtClean="0">
                        <a:solidFill>
                          <a:srgbClr val="3D1F21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sz="2800" b="1" dirty="0">
                    <a:solidFill>
                      <a:srgbClr val="3D1F21"/>
                    </a:solidFill>
                  </a:rPr>
                  <a:t> </a:t>
                </a:r>
                <a:r>
                  <a:rPr sz="2800" b="1" dirty="0" err="1">
                    <a:solidFill>
                      <a:srgbClr val="3D1F21"/>
                    </a:solidFill>
                  </a:rPr>
                  <a:t>são</a:t>
                </a:r>
                <a:r>
                  <a:rPr sz="2800" b="1" dirty="0">
                    <a:solidFill>
                      <a:srgbClr val="3D1F21"/>
                    </a:solidFill>
                  </a:rPr>
                  <a:t> </a:t>
                </a:r>
                <a:r>
                  <a:rPr sz="2800" b="1" dirty="0" err="1">
                    <a:solidFill>
                      <a:srgbClr val="3D1F21"/>
                    </a:solidFill>
                  </a:rPr>
                  <a:t>dois</a:t>
                </a:r>
                <a:r>
                  <a:rPr sz="2800" b="1" dirty="0">
                    <a:solidFill>
                      <a:srgbClr val="3D1F21"/>
                    </a:solidFill>
                  </a:rPr>
                  <a:t> conjuntos </a:t>
                </a:r>
                <a:r>
                  <a:rPr sz="2800" b="1" dirty="0" err="1">
                    <a:solidFill>
                      <a:srgbClr val="3D1F21"/>
                    </a:solidFill>
                  </a:rPr>
                  <a:t>disjuntos</a:t>
                </a:r>
                <a:r>
                  <a:rPr sz="2800" b="1" dirty="0">
                    <a:solidFill>
                      <a:srgbClr val="3D1F21"/>
                    </a:solidFill>
                  </a:rPr>
                  <a:t>, o que </a:t>
                </a:r>
                <a:r>
                  <a:rPr sz="2800" b="1" dirty="0" err="1">
                    <a:solidFill>
                      <a:srgbClr val="3D1F21"/>
                    </a:solidFill>
                  </a:rPr>
                  <a:t>isso</a:t>
                </a:r>
                <a:r>
                  <a:rPr sz="2800" b="1" dirty="0">
                    <a:solidFill>
                      <a:srgbClr val="3D1F21"/>
                    </a:solidFill>
                  </a:rPr>
                  <a:t> </a:t>
                </a:r>
                <a:r>
                  <a:rPr sz="2800" b="1" dirty="0" err="1">
                    <a:solidFill>
                      <a:srgbClr val="3D1F21"/>
                    </a:solidFill>
                  </a:rPr>
                  <a:t>significa</a:t>
                </a:r>
                <a:r>
                  <a:rPr sz="2800" b="1" dirty="0">
                    <a:solidFill>
                      <a:srgbClr val="3D1F21"/>
                    </a:solidFill>
                  </a:rPr>
                  <a:t> </a:t>
                </a:r>
                <a:r>
                  <a:rPr sz="2800" b="1" dirty="0" err="1">
                    <a:solidFill>
                      <a:srgbClr val="3D1F21"/>
                    </a:solidFill>
                  </a:rPr>
                  <a:t>sobre</a:t>
                </a:r>
                <a:r>
                  <a:rPr sz="2800" b="1" dirty="0">
                    <a:solidFill>
                      <a:srgbClr val="3D1F2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sz="2800" b="1" i="1" dirty="0" smtClean="0">
                        <a:solidFill>
                          <a:srgbClr val="3D1F21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pt-BR" sz="2800" b="1" i="1" dirty="0" smtClean="0">
                        <a:solidFill>
                          <a:srgbClr val="3D1F21"/>
                        </a:solidFill>
                        <a:latin typeface="Cambria Math" panose="02040503050406030204" pitchFamily="18" charset="0"/>
                      </a:rPr>
                      <m:t> ∩ </m:t>
                    </m:r>
                    <m:r>
                      <a:rPr lang="pt-BR" sz="2800" b="1" i="1" dirty="0" smtClean="0">
                        <a:solidFill>
                          <a:srgbClr val="3D1F21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sz="2800" b="1" dirty="0">
                    <a:solidFill>
                      <a:srgbClr val="3D1F21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8720" y="2103120"/>
                <a:ext cx="9814560" cy="1166281"/>
              </a:xfrm>
              <a:prstGeom prst="rect">
                <a:avLst/>
              </a:prstGeom>
              <a:blipFill>
                <a:blip r:embed="rId2"/>
                <a:stretch>
                  <a:fillRect b="-141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64808"/>
            <a:ext cx="4828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8A5C5E"/>
                </a:solidFill>
              </a:rPr>
              <a:t>Professor: Marcos Goulart Lima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4220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Definição do dicionário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endParaRPr lang="pt-BR" sz="2800" dirty="0"/>
          </a:p>
          <a:p>
            <a:pPr>
              <a:lnSpc>
                <a:spcPct val="150000"/>
              </a:lnSpc>
            </a:pPr>
            <a:r>
              <a:rPr lang="pt-BR" sz="2400" dirty="0"/>
              <a:t>1.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perspectiva favorável de que algo venha a ocorrer; possibilidade, chance.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2.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grau de segurança com que se pode esperar a realização de um evento, determinado pela frequência relativa dos eventos do mesmo tipo numa série de tentativas.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61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4647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Evento aleatório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400" dirty="0"/>
              <a:t>Uma série de experimentos cujas condições iniciais são iguais e a condição final (resultado) não é previsível, é chamado de </a:t>
            </a:r>
            <a:r>
              <a:rPr lang="pt-BR" sz="2400" u="sng" dirty="0"/>
              <a:t>experimento aleatório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Um experimento aleatório, associado a um resultado obtido, é chamado de evento aleatório.</a:t>
            </a:r>
          </a:p>
          <a:p>
            <a:endParaRPr lang="pt-BR" sz="2400" dirty="0"/>
          </a:p>
          <a:p>
            <a:r>
              <a:rPr lang="pt-BR" sz="2400" dirty="0"/>
              <a:t>Exemplos de experimentos aleatórios:</a:t>
            </a:r>
            <a:endParaRPr lang="pt-BR" sz="2800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pt-BR" sz="2400" dirty="0"/>
              <a:t>Lançamento de uma moeda honesta,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pt-BR" sz="2400" dirty="0"/>
              <a:t>Retirada de uma carta de um baralho com 52 cartas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pt-BR" sz="2400" dirty="0"/>
              <a:t>Determinação da vida útil de um componente eletrônico.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725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3D1F21"/>
                </a:solidFill>
              </a:rPr>
              <a:t>Lançar um dado é um experimento aleatório. E 'anotar a temperatura de hoje às 14h' — é um experimento aleatório? Por quê?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64808"/>
            <a:ext cx="4828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8A5C5E"/>
                </a:solidFill>
              </a:rPr>
              <a:t>Professor: Marcos Goulart Lima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Espaço amostral</a:t>
                </a:r>
              </a:p>
              <a:p>
                <a:pPr marL="285737" indent="-285737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Espaço amostral de um experimento aleatório é o conjunto de todos os resultados possíveis do experimento.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Os elementos do espaço amostral serão chamados de pontos amostrais.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Notação: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3970318"/>
              </a:xfrm>
              <a:prstGeom prst="rect">
                <a:avLst/>
              </a:prstGeom>
              <a:blipFill>
                <a:blip r:embed="rId2"/>
                <a:stretch>
                  <a:fillRect l="-12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557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Exemplo: I</a:t>
            </a:r>
            <a:r>
              <a:rPr lang="pt-BR" sz="2400" dirty="0"/>
              <a:t>dentifique os espaços amostrais dos experimentos aleatórios.</a:t>
            </a:r>
          </a:p>
          <a:p>
            <a:pPr>
              <a:lnSpc>
                <a:spcPct val="150000"/>
              </a:lnSpc>
            </a:pPr>
            <a:endParaRPr lang="pt-BR" sz="2400" dirty="0"/>
          </a:p>
          <a:p>
            <a:pPr marL="800089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Lançamento de uma moeda honesta,</a:t>
            </a:r>
          </a:p>
          <a:p>
            <a:pPr marL="800089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Retirada de uma carta de um baralho com 52 cartas</a:t>
            </a:r>
          </a:p>
          <a:p>
            <a:pPr marL="800089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Determinação da vida útil de um componente eletrônico.</a:t>
            </a:r>
          </a:p>
          <a:p>
            <a:endParaRPr lang="pt-BR" sz="24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251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Exemplos: </a:t>
            </a:r>
            <a:r>
              <a:rPr lang="pt-BR" sz="2800" dirty="0"/>
              <a:t>Lançam-se dois dados de 6 faces. Encontre os subconjuntos do espaço amostral que corresponde aos eventos abaixo: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A: saída de faces iguais;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B: saída de faces cuja soma seja igual a 10;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C: saída de faces cuja soma seja menor que 2;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88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Árvore de eventos aleatórios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É um diagrama que exibe todos os eventos aleatórios de uma experimento.</a:t>
            </a:r>
          </a:p>
          <a:p>
            <a:pPr>
              <a:lnSpc>
                <a:spcPct val="150000"/>
              </a:lnSpc>
            </a:pPr>
            <a:endParaRPr lang="pt-BR" sz="2800" dirty="0"/>
          </a:p>
          <a:p>
            <a:pPr>
              <a:lnSpc>
                <a:spcPct val="150000"/>
              </a:lnSpc>
            </a:pPr>
            <a:r>
              <a:rPr lang="pt-BR" sz="2800" b="1" dirty="0"/>
              <a:t>Exemplo: </a:t>
            </a:r>
            <a:r>
              <a:rPr lang="pt-BR" sz="2800" dirty="0"/>
              <a:t>Considere o seguinte experimento: joga-se uma moeda honesta e, em seguida, uma dado com quatro faces. Exiba a árvore de eventos aleatórios desse experimento. 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405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3D1F21"/>
                </a:solidFill>
              </a:rPr>
              <a:t>Quantos elementos tem o espaço amostral desse experimento?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64808"/>
            <a:ext cx="4828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8A5C5E"/>
                </a:solidFill>
              </a:rPr>
              <a:t>Professor: Marcos Goulart Lima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3255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Operações com eventos aleatórios</a:t>
                </a:r>
              </a:p>
              <a:p>
                <a:pPr>
                  <a:lnSpc>
                    <a:spcPct val="150000"/>
                  </a:lnSpc>
                </a:pPr>
                <a:endParaRPr lang="pt-BR" sz="2800" b="1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União: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b="0" dirty="0"/>
                  <a:t> 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Intersecção: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pt-BR" sz="2800" b="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Complementação: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pt-BR" sz="2800" dirty="0"/>
                  <a:t> ou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3255571"/>
              </a:xfrm>
              <a:prstGeom prst="rect">
                <a:avLst/>
              </a:prstGeom>
              <a:blipFill>
                <a:blip r:embed="rId2"/>
                <a:stretch>
                  <a:fillRect l="-1272" b="-4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6389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067277" cy="3901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</a:t>
                </a:r>
                <a:r>
                  <a:rPr lang="pt-BR" sz="2800" dirty="0"/>
                  <a:t>: Considere dois lançamento de um dado com 4 faces. Defina os eventos: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: O primeiro número é par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>: A soma dos dois lançamentos é  menor que 4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Encontre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>,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pt-BR" sz="2800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067277" cy="3901902"/>
              </a:xfrm>
              <a:prstGeom prst="rect">
                <a:avLst/>
              </a:prstGeom>
              <a:blipFill>
                <a:blip r:embed="rId2"/>
                <a:stretch>
                  <a:fillRect l="-1272" b="-35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7593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48681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Partição de um espaço amostral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>Dizemos que os eventos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>, formam uma partição do espaço amostral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800" dirty="0"/>
                  <a:t> se:</a:t>
                </a:r>
              </a:p>
              <a:p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pt-BR" sz="2800" dirty="0"/>
                  <a:t>,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pt-BR" sz="2800" b="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b="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∅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800" dirty="0"/>
                  <a:t> para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⋃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lphaLcParenR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4868192"/>
              </a:xfrm>
              <a:prstGeom prst="rect">
                <a:avLst/>
              </a:prstGeom>
              <a:blipFill>
                <a:blip r:embed="rId2"/>
                <a:stretch>
                  <a:fillRect l="-1191" t="-11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7FF7729-F3FB-B2AE-192B-468CEF40A7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100" y="3081034"/>
            <a:ext cx="4915586" cy="299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2040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3849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Definição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Seja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400" dirty="0"/>
                  <a:t> o conjunto de todos os eventos possíveis de um fenômeno aleatório. Uma função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⋅)</m:t>
                    </m:r>
                  </m:oMath>
                </a14:m>
                <a:r>
                  <a:rPr lang="pt-BR" sz="2400" dirty="0"/>
                  <a:t> é denominada </a:t>
                </a:r>
                <a:r>
                  <a:rPr lang="pt-BR" sz="2400" b="1" i="1" dirty="0"/>
                  <a:t>probabilidade</a:t>
                </a:r>
                <a:r>
                  <a:rPr lang="pt-BR" sz="2400" dirty="0"/>
                  <a:t> se satisfaz as seguintes condições:</a:t>
                </a:r>
              </a:p>
              <a:p>
                <a:pPr marL="1028689" lvl="1" indent="-571500">
                  <a:lnSpc>
                    <a:spcPct val="15000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pt-BR" sz="2400" dirty="0"/>
                  <a:t>, para todo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⊂</m:t>
                    </m:r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sz="2400" b="0" dirty="0"/>
              </a:p>
              <a:p>
                <a:pPr marL="1028689" lvl="1" indent="-571500">
                  <a:lnSpc>
                    <a:spcPct val="15000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pt-BR" sz="24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sz="2400" b="0" dirty="0"/>
                  <a:t>;</a:t>
                </a:r>
              </a:p>
              <a:p>
                <a:pPr marL="1028689" lvl="1" indent="-571500">
                  <a:lnSpc>
                    <a:spcPct val="15000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⋃"/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+⋯+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400" b="0" dirty="0"/>
                  <a:t>, com 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400" b="0" dirty="0"/>
                  <a:t>’s disjuntos.</a:t>
                </a:r>
              </a:p>
              <a:p>
                <a:pPr marL="1028689" lvl="1" indent="-571500">
                  <a:buFont typeface="+mj-lt"/>
                  <a:buAutoNum type="romanLcPeriod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3849131"/>
              </a:xfrm>
              <a:prstGeom prst="rect">
                <a:avLst/>
              </a:prstGeom>
              <a:blipFill>
                <a:blip r:embed="rId2"/>
                <a:stretch>
                  <a:fillRect l="-908" b="-44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2040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Exemplos:</a:t>
            </a:r>
          </a:p>
          <a:p>
            <a:endParaRPr lang="pt-BR" sz="2800" b="1" dirty="0"/>
          </a:p>
          <a:p>
            <a:pPr marL="514350" indent="-514350">
              <a:buFont typeface="+mj-lt"/>
              <a:buAutoNum type="arabicPeriod"/>
            </a:pPr>
            <a:r>
              <a:rPr lang="pt-BR" sz="2400" b="1" dirty="0"/>
              <a:t> </a:t>
            </a:r>
            <a:r>
              <a:rPr lang="pt-BR" sz="2400" dirty="0"/>
              <a:t>Considere um dado equilibrado de 6 faces.</a:t>
            </a:r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pPr marL="514350" indent="-514350">
              <a:buFont typeface="+mj-lt"/>
              <a:buAutoNum type="arabicPeriod"/>
            </a:pPr>
            <a:endParaRPr lang="pt-BR" sz="2400" dirty="0"/>
          </a:p>
          <a:p>
            <a:r>
              <a:rPr lang="pt-BR" sz="2400" dirty="0"/>
              <a:t>Qual a probabilidade de ser sorteada uma face aleatoriamente?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D8A93B48-37A3-4704-A123-7168EBD79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687" y="2933631"/>
            <a:ext cx="8954750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88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06234"/>
            <a:ext cx="10067277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Exemplos:</a:t>
            </a:r>
          </a:p>
          <a:p>
            <a:endParaRPr lang="pt-BR" sz="2800" b="1" dirty="0"/>
          </a:p>
          <a:p>
            <a:pPr marL="514350" indent="-514350">
              <a:buFont typeface="+mj-lt"/>
              <a:buAutoNum type="arabicPeriod" startAt="2"/>
            </a:pPr>
            <a:r>
              <a:rPr lang="pt-BR" sz="2400" b="1" dirty="0"/>
              <a:t> </a:t>
            </a:r>
            <a:r>
              <a:rPr lang="pt-BR" sz="2400" dirty="0"/>
              <a:t>Considere um grupo de duas mulheres (M) e três homens (H)</a:t>
            </a:r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pPr marL="514350" indent="-514350">
              <a:buFont typeface="+mj-lt"/>
              <a:buAutoNum type="arabicPeriod" startAt="2"/>
            </a:pPr>
            <a:endParaRPr lang="pt-BR" sz="2400" dirty="0"/>
          </a:p>
          <a:p>
            <a:pPr>
              <a:lnSpc>
                <a:spcPct val="150000"/>
              </a:lnSpc>
            </a:pPr>
            <a:r>
              <a:rPr lang="pt-BR" sz="2400" dirty="0"/>
              <a:t>Qual a probabilidade que um homem seja escolhido aleatoriamente no grupo? E uma mulher?</a:t>
            </a:r>
          </a:p>
          <a:p>
            <a:pPr marL="742926" lvl="1" indent="-285737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462FB79-FC95-4F54-B4FE-A197335926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103" y="2986674"/>
            <a:ext cx="6706536" cy="101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4054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3D1F21"/>
                </a:solidFill>
              </a:rPr>
              <a:t>Qual é a probabilidade de escolher uma mulher aleatoriamente nesse grupo?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64808"/>
            <a:ext cx="48280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8A5C5E"/>
                </a:solidFill>
              </a:rPr>
              <a:t>Professor: Marcos Goulart Lima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4402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Teoremas</a:t>
                </a:r>
              </a:p>
              <a:p>
                <a:endParaRPr lang="pt-BR" sz="2800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Se os eventos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pt-BR" sz="2800" dirty="0"/>
                  <a:t> formam um partição do espaço amostral, então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pt-BR" sz="2800" b="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Se o evento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pt-BR" sz="2800" dirty="0"/>
                  <a:t> é impossível, então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∅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4402615"/>
              </a:xfrm>
              <a:prstGeom prst="rect">
                <a:avLst/>
              </a:prstGeom>
              <a:blipFill>
                <a:blip r:embed="rId2"/>
                <a:stretch>
                  <a:fillRect l="-1191" t="-1247" b="-31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103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Exemplos: </a:t>
                </a:r>
                <a:r>
                  <a:rPr lang="pt-BR" sz="2800" dirty="0"/>
                  <a:t>Suponha que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sz="2800" dirty="0"/>
                  <a:t> 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pt-BR" sz="2800" dirty="0"/>
                  <a:t>, calcular</a:t>
                </a:r>
              </a:p>
              <a:p>
                <a:endParaRPr lang="pt-BR" sz="2800" b="1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∪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b="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∩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</m:e>
                    </m:d>
                  </m:oMath>
                </a14:m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endParaRPr lang="pt-BR" sz="28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3970318"/>
              </a:xfrm>
              <a:prstGeom prst="rect">
                <a:avLst/>
              </a:prstGeom>
              <a:blipFill>
                <a:blip r:embed="rId2"/>
                <a:stretch>
                  <a:fillRect l="-1191" t="-1382" b="-36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2231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748061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Eventos equiprováveis</a:t>
                </a:r>
              </a:p>
              <a:p>
                <a:endParaRPr lang="pt-BR" sz="2800" b="1" dirty="0"/>
              </a:p>
              <a:p>
                <a:r>
                  <a:rPr lang="pt-BR" sz="2800" dirty="0"/>
                  <a:t>Dado um espaço amostral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800" dirty="0"/>
                  <a:t>, os eventos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1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1≤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sz="2800" dirty="0"/>
                  <a:t> são ditos equiprováveis se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1≤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>Logo, se 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> pontos amostrais são equiprováveis, a probabilidade de cada ponto é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>Se o evento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 possui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sz="2800" dirty="0"/>
                  <a:t> pontos amostrais, então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sz="2800" dirty="0"/>
                  <a:t>. 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748061" cy="4401205"/>
              </a:xfrm>
              <a:prstGeom prst="rect">
                <a:avLst/>
              </a:prstGeom>
              <a:blipFill>
                <a:blip r:embed="rId2"/>
                <a:stretch>
                  <a:fillRect l="-1191" t="-12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394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Espaço Amostral e Eventos — Atividades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610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Leitura recomendada: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 &amp; Morettin — Cap. 5: 5.1, 5.2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 &amp; Runger — Cap. 2: 2.1, 2.3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 &amp; Lima — Cap. 2: 2.1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Morettin — Cap. 1: 1.1 a 1.6; Cap. 2: 2.1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Morettin, Cap. 1: exercícios 1 a 04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Bussab, Cap. 5: exercícios sobre espaço amostral e axiomas de probabilidade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2235</TotalTime>
  <Words>1779</Words>
  <Application>Microsoft Office PowerPoint</Application>
  <PresentationFormat>Widescreen</PresentationFormat>
  <Paragraphs>282</Paragraphs>
  <Slides>32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32</vt:i4>
      </vt:variant>
    </vt:vector>
  </HeadingPairs>
  <TitlesOfParts>
    <vt:vector size="38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Introdução à Probabilidade: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Apresentação do PowerPoint</vt:lpstr>
      <vt:lpstr>CEA055 – Estatística e Probabilidade Espaço Amostral e Eventos</vt:lpstr>
      <vt:lpstr>CEA055 – Estatística e Probabilidade Espaço Amostral e Eventos</vt:lpstr>
      <vt:lpstr>Apresentação do PowerPoint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Apresentação do PowerPoint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Apresentação do PowerPoint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</vt:lpstr>
      <vt:lpstr>CEA055 – Estatística e Probabilidade Espaço Amostral e Eventos — Atividades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100</cp:revision>
  <dcterms:created xsi:type="dcterms:W3CDTF">2020-07-20T19:35:15Z</dcterms:created>
  <dcterms:modified xsi:type="dcterms:W3CDTF">2026-09-01T13:18:10Z</dcterms:modified>
</cp:coreProperties>
</file>