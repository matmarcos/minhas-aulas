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800" r:id="rId2"/>
    <p:sldId id="801" r:id="rId3"/>
    <p:sldId id="802" r:id="rId4"/>
    <p:sldId id="803" r:id="rId5"/>
    <p:sldId id="804" r:id="rId6"/>
    <p:sldId id="805" r:id="rId7"/>
    <p:sldId id="806" r:id="rId8"/>
    <p:sldId id="807" r:id="rId9"/>
    <p:sldId id="808" r:id="rId10"/>
    <p:sldId id="809" r:id="rId11"/>
    <p:sldId id="810" r:id="rId12"/>
    <p:sldId id="811" r:id="rId13"/>
    <p:sldId id="812" r:id="rId14"/>
    <p:sldId id="813" r:id="rId15"/>
    <p:sldId id="814" r:id="rId1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Teste de Hipótese para a Média —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Aplicar o roteiro de 5 passos (</a:t>
            </a:r>
            <a:r>
              <a:rPr lang="pt-BR" sz="1900"/>
              <a:t>Aula 20) </a:t>
            </a:r>
            <a:r>
              <a:rPr lang="pt-BR" sz="1900" dirty="0"/>
              <a:t>ao teste de hipótese sobre a média, quando a variância populacional é conhecida.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a região crítica com a distribuição Normal padrão, nos casos bilateral e unilateral.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corretamente o valor-p de um teste.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(12.5, 12.8)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(8.2, 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12 (12.2)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Colocando o roteiro em prática</a:t>
            </a:r>
          </a:p>
          <a:p>
            <a:endParaRPr lang="pt-BR" sz="1800" dirty="0"/>
          </a:p>
          <a:p>
            <a:r>
              <a:rPr lang="pt-BR" sz="1800" dirty="0"/>
              <a:t>Na </a:t>
            </a:r>
            <a:r>
              <a:rPr lang="pt-BR" sz="1800"/>
              <a:t>Aula 20 </a:t>
            </a:r>
            <a:r>
              <a:rPr lang="pt-BR" sz="1800" dirty="0"/>
              <a:t>vimos o roteiro geral de um teste de hipótese. Hoje aplicamos esse roteiro ao caso mais simples: teste sobre a média μ, com a variância populacional σ² 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Situação típica: um processo industrial bem estabelecido, cuja variabilidade σ² é conhecida de longa data, mas cuja média pode ter se alterado.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estatística de teste, nesse caso, será baseada na distribuição Normal padrão — o mesmo Z que já usamos desde a Aula 13.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Recapitulando o roteiro de 5 passos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1. Formule H₀ e H₁.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2. Defina a estatística de teste.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3. Fixe α e construa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4. Calcule a estatística com os dados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5. Decida: rejeitar ou não rejeitar H₀.</a:t>
            </a:r>
          </a:p>
          <a:p>
            <a:endParaRPr lang="pt-BR" sz="1800" dirty="0"/>
          </a:p>
          <a:p>
            <a:r>
              <a:rPr lang="pt-BR" sz="1700" i="1" dirty="0"/>
              <a:t>Hoje, os passos 2 e 3 ganham uma fórmula concreta — é isso que vamos construir.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Passos 1 e 2: hipóteses e estatística de teste</a:t>
            </a:r>
          </a:p>
          <a:p>
            <a:r>
              <a:rPr lang="pt-BR" sz="1700" dirty="0"/>
              <a:t>Sob H₀: μ = μ₀, e supondo X₁,...,Xₙ uma AAS de uma Normal(μ, σ²) com σ² conhecida, a estatística de teste é:</a:t>
            </a:r>
          </a:p>
        </p:txBody>
      </p:sp>
      <p:pic>
        <p:nvPicPr>
          <p:cNvPr id="9" name="Estatistica 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0" y="3150000"/>
            <a:ext cx="4600000" cy="12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Sob H₀ verdadeira, Z segue distribuição Normal padrão — a mesma tabela usada nos IC (</a:t>
            </a:r>
            <a:r>
              <a:rPr lang="pt-BR" sz="1700"/>
              <a:t>Aula 18).</a:t>
            </a:r>
            <a:endParaRPr lang="pt-BR" sz="17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Passo 3: construindo a região crítica</a:t>
            </a:r>
          </a:p>
          <a:p>
            <a:r>
              <a:rPr lang="pt-BR" sz="1700" dirty="0"/>
              <a:t>A forma de H₁ determina onde fica a região crítica (mesma lógica da </a:t>
            </a:r>
            <a:r>
              <a:rPr lang="pt-BR" sz="1700"/>
              <a:t>Aula 20, </a:t>
            </a:r>
            <a:r>
              <a:rPr lang="pt-BR" sz="1700" dirty="0"/>
              <a:t>agora aplicada ao Z):</a:t>
            </a:r>
          </a:p>
        </p:txBody>
      </p:sp>
      <p:pic>
        <p:nvPicPr>
          <p:cNvPr id="9" name="RC tipos 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teor de gordura em um laticínio</a:t>
            </a:r>
          </a:p>
          <a:p>
            <a:endParaRPr lang="pt-BR" sz="1800" dirty="0"/>
          </a:p>
          <a:p>
            <a:r>
              <a:rPr lang="pt-BR" sz="1700" dirty="0"/>
              <a:t>Um laticínio produz queijo com teor de gordura historicamente Normal, média μ₀ = 45% e desvio padrão σ = 2,4% (bem estabelecidos). Uma amostra de n = 20 unidades teve média X̄ = 46,1%. Ao nível de 5%, há evidência de que a média mudou?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1: H₀: μ = 45  vs.  H₁: μ ≠ 45 (bilateral).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2: Z = (X̄ − 45)/(2,4/√20).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3: α = 0,05 → RC = {Z ∈ ℝ | |Z| &gt; 1,96}.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4: Z = (46,1 − 45)/(2,4/√20) = 1,1/0,537 = 2,05.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5: como |2,05| &gt; 1,96, Z ∈ RC — rejeitamos H₀: há evidência de mudança na média.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tempo de secagem de uma tinta</a:t>
            </a:r>
          </a:p>
          <a:p>
            <a:endParaRPr lang="pt-BR" sz="1800" dirty="0"/>
          </a:p>
          <a:p>
            <a:r>
              <a:rPr lang="pt-BR" sz="1650" dirty="0"/>
              <a:t>Um fabricante afirma que sua nova tinta seca em, no máximo, 40 minutos em média (σ = 6 min, valor conhecido do processo). Uma amostra de n = 36 aplicações teve X̄ = 42,1 min. Há evidência, a 5%, de que a secagem demora mais do que o anunciado?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1: H₀: μ = 40  vs.  H₁: μ &gt; 40 (unilateral à direita — só nos preocupa demorar mais).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2: Z = (X̄ − 40)/(6/√36).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3: α = 0,05 → RC = {Z ∈ ℝ | Z &gt; 1,645}.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4: Z = (42,1 − 40)/(6/6) = 2,1/1,0 = 2,10.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5: como 2,10 &gt; 1,645, Z ∈ RC — rejeitamos H₀: a secagem realmente demora mais que 40 min.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Uma alternativa à região crítica: o valor-p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valor-p é a probabilidade de obter uma estatística de teste tão ou mais extrema que a observada, supondo H₀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Quanto menor o valor-p, maior a evidência CONTRA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Vantagem: não é preciso fixar α antes — o leitor decide, comparando o valor-p ao seu próprio critério de significância.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a forma mais comum de relatar resultados em artigos científicos e softwares estatísticos.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Calculando o valor-p</a:t>
            </a:r>
          </a:p>
          <a:p>
            <a:r>
              <a:rPr lang="pt-BR" sz="1600" b="1" dirty="0"/>
              <a:t>Unilateral à direita:</a:t>
            </a:r>
          </a:p>
        </p:txBody>
      </p:sp>
      <p:pic>
        <p:nvPicPr>
          <p:cNvPr id="9" name="pvalor direi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00000"/>
            <a:ext cx="5000000" cy="7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3150000"/>
            <a:ext cx="54000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600" b="1" dirty="0"/>
              <a:t>Bilateral:</a:t>
            </a:r>
          </a:p>
        </p:txBody>
      </p:sp>
      <p:pic>
        <p:nvPicPr>
          <p:cNvPr id="12" name="pvalor bilater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50000"/>
            <a:ext cx="5000000" cy="750000"/>
          </a:xfrm>
          <a:prstGeom prst="rect">
            <a:avLst/>
          </a:prstGeom>
        </p:spPr>
      </p:pic>
      <p:pic>
        <p:nvPicPr>
          <p:cNvPr id="13" name="Ilustracao pval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Valor-p no exemplo da tinta</a:t>
            </a:r>
          </a:p>
          <a:p>
            <a:endParaRPr lang="pt-BR" sz="1800" dirty="0"/>
          </a:p>
          <a:p>
            <a:r>
              <a:rPr lang="pt-BR" sz="1750" dirty="0"/>
              <a:t>Retomando o exemplo da secagem de tinta: Zₒᵇₛ = 2,10, com H₁: μ &gt; 40 (unilateral à direita).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valor-p = P(Z &gt; 2,10) = 1 − 0,9821 = 0,0179 (consultando a tabela Normal padrão).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Interpretação: se μ realmente fosse 40, seria raro (1,8% de chance) observar uma amostra tão ou mais desfavorável a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Como valor-p = 0,0179 &lt; α = 0,05, rejeitamos H₀ — mesma conclusão do método da região crítica, como deve ser.</a:t>
            </a:r>
          </a:p>
          <a:p>
            <a:endParaRPr lang="pt-BR" sz="1800" dirty="0"/>
          </a:p>
          <a:p>
            <a:r>
              <a:rPr lang="pt-BR" sz="1700" i="1" dirty="0"/>
              <a:t>Regra geral: rejeite H₀ sempre que valor-p &lt; α.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Duas formas de chegar à mesma decisão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Método da região crítica: compare a estatística de teste ao valor crítico da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Método do valor-p: compare o valor-p à significância α escolhida.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dois métodos SEMPRE levam à mesma decisão — são apenas duas formas de expressar a mesma evidência.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prática, softwares estatísticos (R, Python, Excel) reportam o valor-p diretamente, tornando esse o método mais usado hoje.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Cuidados comuns na interpretação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Valor-p NÃO é a probabilidade de H₀ ser verdadeira — é a probabilidade dos dados, supondo H₀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“Não rejeitar H₀” não significa “provar que H₀ é verdadeira” — apenas que não há evidência suficiente contra 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Usar σ conhecida quando na verdade não se conhece σ é um erro grave — nesse caso, use a t-Student (</a:t>
            </a:r>
            <a:r>
              <a:rPr lang="pt-BR" sz="1750"/>
              <a:t>Aula 22).</a:t>
            </a:r>
            <a:endParaRPr lang="pt-BR" sz="17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Escolher H₁ depois de ver os dados (“p-hacking”) invalida a interpretação de α e do valor-p.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Conexão com o intervalo de confiança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Há uma relação direta entre teste bilateral e IC (</a:t>
            </a:r>
            <a:r>
              <a:rPr lang="pt-BR" sz="1800"/>
              <a:t>Aula 18): </a:t>
            </a:r>
            <a:r>
              <a:rPr lang="pt-BR" sz="1800" dirty="0"/>
              <a:t>rejeitar H₀: μ = μ₀ ao nível α equivale a μ₀ estar FORA do IC de nível (1 − α) para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do laticínio: IC(μ; 95%) = 46,1 ± 1,96×0,537 = [45,05 ; 47,15]. Como 45 (valor de H₀) NÃO está nesse intervalo, confirmamos a rejeição de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Essa equivalência é uma ótima forma de checar se um teste e um IC “conversam” entre si.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σ conhecida, a estatística de teste para a média é Z = (X̄ − μ₀)/(σ/√n), com distribuição Normal padrão sob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forma de H₁ (bilateral, unilateral direita/esquerda) define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valor-p é uma alternativa equivalente à região crítica, e é o padrão em softwares estatísticos.</a:t>
            </a:r>
          </a:p>
          <a:p>
            <a:endParaRPr lang="pt-BR" sz="1800" dirty="0"/>
          </a:p>
          <a:p>
            <a:r>
              <a:rPr lang="pt-BR" sz="1700" i="1" dirty="0"/>
              <a:t>Próxima aula: o mesmo teste, mas para o caso realista em que σ é desconhecida — voltamos à distribuição t-Student.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12.5, 12.8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8.2,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12: 12.2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laticínio com α = 0,01 e verifique se a conclusão muda.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Calcule o valor-p do exemplo bilateral do laticínio e confirme que é menor que 0,05.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1574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Tema do Office</vt:lpstr>
      <vt:lpstr>CEA055 – Estatística e Probabilidade Teste de Hipótese para a Média — Variância Conhecida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2026-10-28T12:40:55Z</dcterms:modified>
</cp:coreProperties>
</file>