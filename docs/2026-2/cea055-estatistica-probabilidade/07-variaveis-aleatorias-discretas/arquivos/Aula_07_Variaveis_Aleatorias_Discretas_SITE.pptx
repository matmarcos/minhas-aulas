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980" r:id="rId2"/>
    <p:sldId id="981" r:id="rId3"/>
    <p:sldId id="982" r:id="rId4"/>
    <p:sldId id="983" r:id="rId5"/>
    <p:sldId id="996" r:id="rId6"/>
    <p:sldId id="984" r:id="rId7"/>
    <p:sldId id="985" r:id="rId8"/>
    <p:sldId id="986" r:id="rId9"/>
    <p:sldId id="988" r:id="rId10"/>
    <p:sldId id="997" r:id="rId11"/>
    <p:sldId id="989" r:id="rId12"/>
    <p:sldId id="990" r:id="rId13"/>
    <p:sldId id="998" r:id="rId14"/>
    <p:sldId id="991" r:id="rId15"/>
    <p:sldId id="992" r:id="rId16"/>
    <p:sldId id="993" r:id="rId17"/>
    <p:sldId id="994" r:id="rId18"/>
    <p:sldId id="1000" r:id="rId19"/>
    <p:sldId id="999" r:id="rId20"/>
    <p:sldId id="1001" r:id="rId21"/>
    <p:sldId id="995" r:id="rId22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1" d="100"/>
          <a:sy n="61" d="100"/>
        </p:scale>
        <p:origin x="1968" y="6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16/09/2026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Discretas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6" y="1441868"/>
            <a:ext cx="10827959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Definir variável aleatória discreta e sua função de probabilidade.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Calcular valor esperado e variância de variáveis aleatórias discretas.</a:t>
            </a:r>
          </a:p>
          <a:p>
            <a:pPr>
              <a:lnSpc>
                <a:spcPct val="150000"/>
              </a:lnSpc>
            </a:pPr>
            <a:r>
              <a:rPr lang="pt-BR" sz="24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Morettin. </a:t>
            </a:r>
            <a:r>
              <a:rPr lang="pt-BR" sz="2400" b="1" dirty="0"/>
              <a:t>Estatística Básica</a:t>
            </a:r>
            <a:r>
              <a:rPr lang="pt-BR" sz="2400" dirty="0"/>
              <a:t>, 9ed — Cap. 6 (6.1 a 6.4)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Montgomery, Runger. </a:t>
            </a:r>
            <a:r>
              <a:rPr lang="pt-BR" sz="2400" b="1" dirty="0"/>
              <a:t>Applied Statistics and Probability for Engineers</a:t>
            </a:r>
            <a:r>
              <a:rPr lang="pt-BR" sz="2400" dirty="0"/>
              <a:t>, 7th ed — Cap. 3 (3.1, 3.3)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Magalhães, Lima. </a:t>
            </a:r>
            <a:r>
              <a:rPr lang="pt-BR" sz="2400" b="1" dirty="0"/>
              <a:t>Noções de Probabilidade e Estatística</a:t>
            </a:r>
            <a:r>
              <a:rPr lang="pt-BR" sz="2400" dirty="0"/>
              <a:t>, 5ed — Cap. 3 (3.1)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Morettin. </a:t>
            </a:r>
            <a:r>
              <a:rPr lang="pt-BR" sz="2400" b="1" dirty="0"/>
              <a:t>Estatística Básica: Probabilidade e Inferência</a:t>
            </a:r>
            <a:r>
              <a:rPr lang="pt-BR" sz="2400" dirty="0"/>
              <a:t> — Cap. 3 (3.1, 3.2, 3.3)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DA47E58F-A389-ACD0-E539-47023EB99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02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87093" y="802040"/>
                <a:ext cx="10067277" cy="3257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Considere o lançamento de uma moeda três vezes. 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o número de ocorrências da face </a:t>
                </a:r>
                <a:r>
                  <a:rPr lang="pt-BR" sz="2800" b="1" dirty="0"/>
                  <a:t>cara</a:t>
                </a:r>
                <a:r>
                  <a:rPr lang="pt-BR" sz="2800" dirty="0"/>
                  <a:t>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Associe os eventos com os valores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Calcule a probabilidade de cada valor de X.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93" y="802040"/>
                <a:ext cx="10067277" cy="3257174"/>
              </a:xfrm>
              <a:prstGeom prst="rect">
                <a:avLst/>
              </a:prstGeom>
              <a:blipFill>
                <a:blip r:embed="rId2"/>
                <a:stretch>
                  <a:fillRect l="-1211" r="-1392" b="-4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19206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9136" y="875614"/>
                <a:ext cx="10067277" cy="39035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Um variável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é chamada de variável aleatória discreta se: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os possíveis valores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estão em um conjunto enumerável, ou seja,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pt-BR" sz="2800" dirty="0"/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Para cada valor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> existe um evento do espaço associado, com certa probabilidade.</a:t>
                </a:r>
                <a:endParaRPr lang="pt-BR" sz="135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36" y="875614"/>
                <a:ext cx="10067277" cy="3903504"/>
              </a:xfrm>
              <a:prstGeom prst="rect">
                <a:avLst/>
              </a:prstGeom>
              <a:blipFill>
                <a:blip r:embed="rId2"/>
                <a:stretch>
                  <a:fillRect l="-1211" r="-1696" b="-35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36777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97604" y="749489"/>
                <a:ext cx="10067277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Definição. </a:t>
                </a:r>
                <a:r>
                  <a:rPr lang="pt-BR" sz="2800" dirty="0"/>
                  <a:t>Função de probabilidade é a função que associa a cada valor assumido pela variável aleatória a probabilidade do evento correspondente, isto é,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=1,…,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604" y="749489"/>
                <a:ext cx="10067277" cy="3323987"/>
              </a:xfrm>
              <a:prstGeom prst="rect">
                <a:avLst/>
              </a:prstGeom>
              <a:blipFill>
                <a:blip r:embed="rId2"/>
                <a:stretch>
                  <a:fillRect l="-12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84931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97604" y="749489"/>
                <a:ext cx="10067277" cy="3795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A distribuição de probabilidade de uma variável </a:t>
                </a:r>
                <a:r>
                  <a:rPr lang="pt-BR" sz="2800" dirty="0"/>
                  <a:t>é uma quadro da forma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=1,…,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800" b="1" dirty="0"/>
                  <a:t> </a:t>
                </a:r>
                <a:r>
                  <a:rPr lang="pt-BR" sz="2800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> são todos os valores que a variável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assume. Observe que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604" y="749489"/>
                <a:ext cx="10067277" cy="3795654"/>
              </a:xfrm>
              <a:prstGeom prst="rect">
                <a:avLst/>
              </a:prstGeom>
              <a:blipFill>
                <a:blip r:embed="rId2"/>
                <a:stretch>
                  <a:fillRect l="-12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502969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51859" y="751344"/>
            <a:ext cx="1006727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Exemplo. </a:t>
            </a:r>
            <a:r>
              <a:rPr lang="pt-BR" sz="2800" dirty="0"/>
              <a:t>Considere uma urna contendo duas bolas brancas e três bolas vermelhas.  Retiramos duas bolas da urna, </a:t>
            </a:r>
            <a:r>
              <a:rPr lang="pt-BR" sz="2800" b="1" dirty="0"/>
              <a:t>sem</a:t>
            </a:r>
            <a:r>
              <a:rPr lang="pt-BR" sz="2800" dirty="0"/>
              <a:t> reposição.</a:t>
            </a:r>
          </a:p>
          <a:p>
            <a:endParaRPr lang="pt-BR" sz="2800" b="1" dirty="0"/>
          </a:p>
          <a:p>
            <a:r>
              <a:rPr lang="pt-BR" sz="2800" dirty="0"/>
              <a:t>Espaço amostral: { BB, BV, VB, VV}.</a:t>
            </a:r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3AE519B-3F3D-477A-998E-3C3BC2C82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882462"/>
            <a:ext cx="4553585" cy="1933845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E11E86F-A063-4267-A3E7-AC7FC57C0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269" y="2882462"/>
            <a:ext cx="3277057" cy="260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67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50156" y="675917"/>
                <a:ext cx="10067277" cy="47998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Vamos definir a seguinte variável aleatória:</a:t>
                </a:r>
              </a:p>
              <a:p>
                <a:endParaRPr lang="pt-BR" sz="2800" dirty="0"/>
              </a:p>
              <a:p>
                <a:pPr algn="ctr"/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: número de bolas vermelhas obtidas nas duas extrações.</a:t>
                </a:r>
              </a:p>
              <a:p>
                <a:pPr algn="ctr"/>
                <a:endParaRPr lang="pt-BR" sz="2800" dirty="0"/>
              </a:p>
              <a:p>
                <a:r>
                  <a:rPr lang="pt-BR" sz="2800" dirty="0"/>
                  <a:t>Valores que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pode assumir: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{0,1,2}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Eventos associados a cada valor: </a:t>
                </a:r>
              </a:p>
              <a:p>
                <a:r>
                  <a:rPr lang="pt-BR" sz="2800" dirty="0"/>
                  <a:t>          </a:t>
                </a:r>
              </a:p>
              <a:p>
                <a:r>
                  <a:rPr lang="pt-BR" sz="2800" dirty="0"/>
                  <a:t>      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↦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𝐵𝑉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𝑉𝐵</m:t>
                          </m:r>
                        </m:e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↦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mr>
                      <m:m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𝑉𝑉</m:t>
                          </m:r>
                        </m:e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↦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mr>
                    </m:m>
                  </m:oMath>
                </a14:m>
                <a:r>
                  <a:rPr lang="pt-BR" sz="2800" i="1" dirty="0">
                    <a:latin typeface="Cambria Math" panose="02040503050406030204" pitchFamily="18" charset="0"/>
                  </a:rPr>
                  <a:t>                                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↦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1/10</m:t>
                          </m:r>
                        </m:e>
                      </m:mr>
                      <m:m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↦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6/10</m:t>
                          </m:r>
                        </m:e>
                      </m:mr>
                      <m:m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↦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3/10</m:t>
                          </m:r>
                        </m:e>
                      </m:mr>
                    </m:m>
                  </m:oMath>
                </a14:m>
                <a:r>
                  <a:rPr lang="pt-BR" sz="2800" i="1" dirty="0"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56" y="675917"/>
                <a:ext cx="10067277" cy="4799840"/>
              </a:xfrm>
              <a:prstGeom prst="rect">
                <a:avLst/>
              </a:prstGeom>
              <a:blipFill>
                <a:blip r:embed="rId2"/>
                <a:stretch>
                  <a:fillRect l="-1211" t="-12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1350C9F7-A1F3-4835-8A60-068091B80B5D}"/>
              </a:ext>
            </a:extLst>
          </p:cNvPr>
          <p:cNvSpPr/>
          <p:nvPr/>
        </p:nvSpPr>
        <p:spPr>
          <a:xfrm>
            <a:off x="4917079" y="4487570"/>
            <a:ext cx="1455938" cy="51490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7214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12019" y="783423"/>
                <a:ext cx="10067277" cy="5410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Distribuição de probabilidade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endParaRPr lang="pt-BR" sz="2800" dirty="0"/>
              </a:p>
              <a:p>
                <a:endParaRPr lang="pt-BR" sz="2800" dirty="0"/>
              </a:p>
              <a:p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Com isso, podemos escrever: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=1/10,</m:t>
                    </m:r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=6/10</m:t>
                    </m:r>
                  </m:oMath>
                </a14:m>
                <a:r>
                  <a:rPr lang="pt-BR" sz="2800" dirty="0"/>
                  <a:t>,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=2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=3/10.</m:t>
                    </m:r>
                  </m:oMath>
                </a14:m>
                <a:endParaRPr lang="pt-BR" sz="2800" b="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=7/10</m:t>
                    </m:r>
                  </m:oMath>
                </a14:m>
                <a:r>
                  <a:rPr lang="pt-BR" sz="2800" dirty="0"/>
                  <a:t> 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019" y="783423"/>
                <a:ext cx="10067277" cy="5410520"/>
              </a:xfrm>
              <a:prstGeom prst="rect">
                <a:avLst/>
              </a:prstGeom>
              <a:blipFill>
                <a:blip r:embed="rId2"/>
                <a:stretch>
                  <a:fillRect l="-1211" t="-11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graphicFrame>
        <p:nvGraphicFramePr>
          <p:cNvPr id="5" name="Tabela 6">
            <a:extLst>
              <a:ext uri="{FF2B5EF4-FFF2-40B4-BE49-F238E27FC236}">
                <a16:creationId xmlns:a16="http://schemas.microsoft.com/office/drawing/2014/main" id="{D5054F6E-72E8-6EBC-A33D-EA8F45DDC8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923282"/>
              </p:ext>
            </p:extLst>
          </p:nvPr>
        </p:nvGraphicFramePr>
        <p:xfrm>
          <a:off x="1523992" y="1935826"/>
          <a:ext cx="8128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276089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8115725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2429942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399357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13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P(X=x)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6/10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3/10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317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59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39645" y="781020"/>
                <a:ext cx="10067277" cy="39035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Uma playlist tem 5 músicas: 2 da Anitta e 3 do BTS. Sorteiam-se, sem repetição, 2 músicas para tocar em sequência.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pt-BR" sz="2800" dirty="0"/>
                  <a:t> número de músicas do BTS entre as 2 sorteadas.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Quais são os valores possíveis de X?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Monte a distribuição de probabilidade de X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45" y="781020"/>
                <a:ext cx="10067277" cy="3903504"/>
              </a:xfrm>
              <a:prstGeom prst="rect">
                <a:avLst/>
              </a:prstGeom>
              <a:blipFill>
                <a:blip r:embed="rId2"/>
                <a:stretch>
                  <a:fillRect l="-1272" b="-35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755341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39645" y="781020"/>
                <a:ext cx="10067277" cy="42265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Esperança matemática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Dada uma v.a.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discreta, assumindo os valores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⋯,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>, chamamos de valor médio ou esperança matemática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ao valor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45" y="781020"/>
                <a:ext cx="10067277" cy="4226542"/>
              </a:xfrm>
              <a:prstGeom prst="rect">
                <a:avLst/>
              </a:prstGeom>
              <a:blipFill>
                <a:blip r:embed="rId2"/>
                <a:stretch>
                  <a:fillRect l="-12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704177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50156" y="886124"/>
                <a:ext cx="10067277" cy="3902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Exemplo. </a:t>
                </a:r>
                <a:r>
                  <a:rPr lang="pt-BR" sz="2800" dirty="0"/>
                  <a:t>Vamos calcular o valor médio da v.a. do exemplo apresentado no slide 6.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=1/10,</m:t>
                    </m:r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=6/10</m:t>
                    </m:r>
                  </m:oMath>
                </a14:m>
                <a:r>
                  <a:rPr lang="pt-BR" sz="2800" dirty="0"/>
                  <a:t>,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=2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=3/10.</m:t>
                    </m:r>
                  </m:oMath>
                </a14:m>
                <a:endParaRPr lang="pt-BR" sz="2800" b="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56" y="886124"/>
                <a:ext cx="10067277" cy="3902415"/>
              </a:xfrm>
              <a:prstGeom prst="rect">
                <a:avLst/>
              </a:prstGeom>
              <a:blipFill>
                <a:blip r:embed="rId2"/>
                <a:stretch>
                  <a:fillRect l="-1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910278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9136" y="717958"/>
                <a:ext cx="10067277" cy="4548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Uma seguradora paga R$ 30.000,00 em caso de acidente de carro e cobra uma taxa de R$ 1.000,00. Sabe-se que a probabilidade de que um carro sofra acidente é de 3%. Quanto espera a seguradora ganhar por carro segurado?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Faça o cálculo considerando 100 carros.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Defina com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o valor de lucro por carro. Calcule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36" y="717958"/>
                <a:ext cx="10067277" cy="4548746"/>
              </a:xfrm>
              <a:prstGeom prst="rect">
                <a:avLst/>
              </a:prstGeom>
              <a:blipFill>
                <a:blip r:embed="rId2"/>
                <a:stretch>
                  <a:fillRect l="-1211" b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28945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29136" y="717958"/>
            <a:ext cx="10067277" cy="5575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Resolução. </a:t>
            </a:r>
            <a:r>
              <a:rPr lang="pt-BR" sz="2400" dirty="0"/>
              <a:t>Considerando 100 carros segurados: 3 (em média) sofrem acidente e 97 não.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Receita: 100 × R$ 1.000 = R$ 100.000</a:t>
            </a:r>
          </a:p>
          <a:p>
            <a:pPr lvl="1">
              <a:lnSpc>
                <a:spcPct val="150000"/>
              </a:lnSpc>
            </a:pPr>
            <a:r>
              <a:rPr lang="pt-BR" sz="2400" dirty="0"/>
              <a:t>Custo esperado com acidentes: 3 × R$ 30.000 = R$ 90.000</a:t>
            </a:r>
          </a:p>
          <a:p>
            <a:pPr lvl="1">
              <a:lnSpc>
                <a:spcPct val="150000"/>
              </a:lnSpc>
            </a:pPr>
            <a:r>
              <a:rPr lang="pt-BR" sz="2400" dirty="0"/>
              <a:t>Lucro esperado: R$ 100.000 − R$ 90.000 = R$ 10.000, ou seja, R$ 100 por carro.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Definindo X = lucro por carro segurado:</a:t>
            </a:r>
          </a:p>
          <a:p>
            <a:pPr lvl="1">
              <a:lnSpc>
                <a:spcPct val="150000"/>
              </a:lnSpc>
            </a:pPr>
            <a:r>
              <a:rPr lang="pt-BR" sz="2400" dirty="0"/>
              <a:t>X = 1.000, se não houver acidente — P(X = 1.000) = 0,97</a:t>
            </a:r>
          </a:p>
          <a:p>
            <a:pPr lvl="1">
              <a:lnSpc>
                <a:spcPct val="150000"/>
              </a:lnSpc>
            </a:pPr>
            <a:r>
              <a:rPr lang="pt-BR" sz="2400" dirty="0"/>
              <a:t>X = 1.000 − 30.000 = −29.000, se houver acidente — P(X = −29.000) = 0,03</a:t>
            </a:r>
          </a:p>
          <a:p>
            <a:pPr lvl="1">
              <a:lnSpc>
                <a:spcPct val="150000"/>
              </a:lnSpc>
            </a:pPr>
            <a:r>
              <a:rPr lang="pt-BR" sz="2400" dirty="0"/>
              <a:t>E(X) = (0,97)(1.000) + (0,03)(−29.000) = 970 − 870 = R$ 100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976375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71177" y="886124"/>
                <a:ext cx="10067277" cy="353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Propriedade da esperança matemática</a:t>
                </a:r>
              </a:p>
              <a:p>
                <a:endParaRPr lang="pt-BR" sz="2800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pt-BR" sz="2800" dirty="0"/>
                  <a:t> para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constante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pt-BR" sz="2800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177" y="886124"/>
                <a:ext cx="10067277" cy="3539430"/>
              </a:xfrm>
              <a:prstGeom prst="rect">
                <a:avLst/>
              </a:prstGeom>
              <a:blipFill>
                <a:blip r:embed="rId2"/>
                <a:stretch>
                  <a:fillRect l="-1272" t="-15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568620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902708" y="875613"/>
                <a:ext cx="10067277" cy="31099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Propriedade da esperança matemática</a:t>
                </a:r>
              </a:p>
              <a:p>
                <a:endParaRPr lang="pt-BR" sz="2800" b="1" dirty="0"/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nary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rabicPeriod" startAt="4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𝑎𝑋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𝑏𝑌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±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𝑏𝐸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708" y="875613"/>
                <a:ext cx="10067277" cy="3109954"/>
              </a:xfrm>
              <a:prstGeom prst="rect">
                <a:avLst/>
              </a:prstGeom>
              <a:blipFill>
                <a:blip r:embed="rId2"/>
                <a:stretch>
                  <a:fillRect l="-1271" t="-1961" b="-47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468040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18625" y="728469"/>
                <a:ext cx="10277702" cy="5065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Exemplo: </a:t>
                </a:r>
                <a:r>
                  <a:rPr lang="pt-BR" sz="2400" dirty="0"/>
                  <a:t>Suponhamos que um número seja sorteado de 1 a 10, inteiros positivos. Seja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o número de divisores do número sorteado. Calcular o número médio de divisores do número sorteado.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 rtl="0">
                  <a:lnSpc>
                    <a:spcPct val="150000"/>
                  </a:lnSpc>
                </a:pPr>
                <a:r>
                  <a:rPr lang="pt-BR" sz="2400" b="1" dirty="0"/>
                  <a:t>Resolução: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= número de divisores de n, </a:t>
                </a:r>
              </a:p>
              <a:p>
                <a:pPr rtl="0">
                  <a:lnSpc>
                    <a:spcPct val="150000"/>
                  </a:lnSpc>
                </a:pPr>
                <a:r>
                  <a:rPr lang="pt-BR" sz="2400" dirty="0"/>
                  <a:t>Número de divisores de cada n: </a:t>
                </a:r>
              </a:p>
              <a:p>
                <a:pPr rtl="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1→1,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2→2,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3→2,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4→3,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5→2,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6→4,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7→2,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8→4,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9→3,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10→4.</m:t>
                      </m:r>
                    </m:oMath>
                  </m:oMathPara>
                </a14:m>
                <a:endParaRPr lang="pt-BR" sz="2400" dirty="0"/>
              </a:p>
              <a:p>
                <a:pPr rtl="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 = (1/10)(1+2+2+3+2+4+2+4+3+4) = 27/10 = 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𝟕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625" y="728469"/>
                <a:ext cx="10277702" cy="5065554"/>
              </a:xfrm>
              <a:prstGeom prst="rect">
                <a:avLst/>
              </a:prstGeom>
              <a:blipFill>
                <a:blip r:embed="rId2"/>
                <a:stretch>
                  <a:fillRect l="-8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440239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9135" y="728468"/>
                <a:ext cx="10067277" cy="51034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Variância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 próximo parâmetro que vamos estudar é a dispersão de uma variável em torno da média.</a:t>
                </a:r>
              </a:p>
              <a:p>
                <a:r>
                  <a:rPr lang="pt-BR" sz="2400" b="1" dirty="0"/>
                  <a:t>Definição.</a:t>
                </a:r>
                <a:r>
                  <a:rPr lang="pt-BR" sz="2400" dirty="0"/>
                  <a:t> Chamamos de variância de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400" dirty="0"/>
                  <a:t> denotado por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pt-BR" sz="2400" dirty="0"/>
                  <a:t> ou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400" dirty="0"/>
                  <a:t> o valor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pt-BR" sz="2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Que também pode ser calculado pelas fórmulas:</a:t>
                </a:r>
                <a:endParaRPr lang="pt-BR" sz="2400" b="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pt-BR" sz="2400" b="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²) − [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)]²</m:t>
                    </m:r>
                  </m:oMath>
                </a14:m>
                <a:endParaRPr lang="pt-BR" sz="24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35" y="728468"/>
                <a:ext cx="10067277" cy="5103448"/>
              </a:xfrm>
              <a:prstGeom prst="rect">
                <a:avLst/>
              </a:prstGeom>
              <a:blipFill>
                <a:blip r:embed="rId2"/>
                <a:stretch>
                  <a:fillRect l="-909" b="-11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001393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9135" y="728468"/>
                <a:ext cx="10067277" cy="5189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Um quiz vale 10 pontos, em 2 questões de 5 pontos cada. Escolhendo um aluno da turma ao acaso, a distribuição da nota X é: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 0,1, 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=5) = 0,3, 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=10) = 0,6.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Assim,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0,6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 7,5</m:t>
                      </m:r>
                    </m:oMath>
                  </m:oMathPara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²) = (0)(0,1) + (25)(0,3) + (100)(0,6) = 67,5.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Vamos calcular a variância de três formas distintas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35" y="728468"/>
                <a:ext cx="10067277" cy="5189434"/>
              </a:xfrm>
              <a:prstGeom prst="rect">
                <a:avLst/>
              </a:prstGeom>
              <a:blipFill>
                <a:blip r:embed="rId2"/>
                <a:stretch>
                  <a:fillRect l="-1211" r="-606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052648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9135" y="728468"/>
                <a:ext cx="10796808" cy="50783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Forma 1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i="0" dirty="0" smtClean="0">
                          <a:latin typeface="Cambria Math" panose="02040503050406030204" pitchFamily="18" charset="0"/>
                        </a:rPr>
                        <m:t>Σ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ᵢ−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ᵢ</m:t>
                      </m:r>
                      <m:r>
                        <a:rPr lang="pt-BR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0−7,5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5−7,5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10−7,5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0,6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 11,25</m:t>
                      </m:r>
                    </m:oMath>
                  </m:oMathPara>
                </a14:m>
                <a:endParaRPr lang="pt-BR" sz="24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Forma 2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—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([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)]²):</m:t>
                    </m:r>
                  </m:oMath>
                </a14:m>
                <a:r>
                  <a:rPr lang="pt-BR" sz="2400" dirty="0"/>
                  <a:t>  é a mesma conta acima, só escrita como esperança da variável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[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)]²</m:t>
                    </m:r>
                  </m:oMath>
                </a14:m>
                <a:r>
                  <a:rPr lang="pt-BR" sz="2400" dirty="0"/>
                  <a:t> em vez de soma explícita — Y assume os valores 56,25 / 6,25 / 6,25 com as mesmas probabilidades 0,1 / 0,3 / 0,6, 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 = 11,25.</m:t>
                    </m:r>
                  </m:oMath>
                </a14:m>
                <a:endParaRPr lang="pt-BR" sz="24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Forma 3 —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²) − [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)]²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+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0,6</m:t>
                          </m:r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67,5</m:t>
                      </m:r>
                    </m:oMath>
                  </m:oMathPara>
                </a14:m>
                <a:endParaRPr lang="pt-BR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− </m:t>
                      </m:r>
                      <m:sSup>
                        <m:sSup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67,5 − (7,5)² = 67,5 − 56,25 = 11,25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35" y="728468"/>
                <a:ext cx="10796808" cy="5078313"/>
              </a:xfrm>
              <a:prstGeom prst="rect">
                <a:avLst/>
              </a:prstGeom>
              <a:blipFill>
                <a:blip r:embed="rId2"/>
                <a:stretch>
                  <a:fillRect l="-734" r="-6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68740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50156" y="611551"/>
            <a:ext cx="10067277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6: 6.1 a 6.4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3: 3.1, 3.3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3: 3.1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 — Cap. 3: 3.1, 3.2, 3.3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24548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50156" y="611551"/>
            <a:ext cx="10067277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</a:t>
            </a:r>
            <a:r>
              <a:rPr lang="pt-BR" sz="2400" dirty="0" err="1"/>
              <a:t>Morettin</a:t>
            </a:r>
            <a:r>
              <a:rPr lang="pt-BR" sz="2400" dirty="0"/>
              <a:t>, Cap. 6: problemas 1, 4, 5, 7, 8, 10, 11, 12, 13 e 14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Lima, Cap. 3 (3.4 Exercícios): 2, 3, 4, 5, 6, 7, 8 e 9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</a:t>
            </a:r>
            <a:r>
              <a:rPr lang="pt-BR" sz="2400" dirty="0" err="1"/>
              <a:t>Runger</a:t>
            </a:r>
            <a:r>
              <a:rPr lang="pt-BR" sz="2400" dirty="0"/>
              <a:t>, Cap. 3: 3.1.4, 3.1.5, 3.1.8, 3.1.9, 3.1.10, 3.3.1, 3.3.2, 3.3.6, 3.3.7 </a:t>
            </a:r>
            <a:r>
              <a:rPr lang="pt-BR" sz="2400"/>
              <a:t>e 3.3.8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/>
              <a:t>Morettin</a:t>
            </a:r>
            <a:r>
              <a:rPr lang="pt-BR" sz="2400" dirty="0"/>
              <a:t>, Cap. 3: 1, 3, 4, 6, 7, 9, 10, 11, 12 e 13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30062485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58E9DC-56C6-47DC-AD42-C3302BE85F4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f715231-34cc-4072-b920-6d2dc41a2c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4236</TotalTime>
  <Words>1578</Words>
  <Application>Microsoft Office PowerPoint</Application>
  <PresentationFormat>Widescreen</PresentationFormat>
  <Paragraphs>150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Variáveis Aleatórias Discretas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149</cp:revision>
  <dcterms:created xsi:type="dcterms:W3CDTF">2020-07-20T19:35:15Z</dcterms:created>
  <dcterms:modified xsi:type="dcterms:W3CDTF">2026-09-16T23:45:42Z</dcterms:modified>
</cp:coreProperties>
</file>