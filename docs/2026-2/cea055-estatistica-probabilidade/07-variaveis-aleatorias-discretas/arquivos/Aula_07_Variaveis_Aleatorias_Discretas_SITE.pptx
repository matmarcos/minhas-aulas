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980" r:id="rId2"/>
    <p:sldId id="981" r:id="rId3"/>
    <p:sldId id="982" r:id="rId4"/>
    <p:sldId id="983" r:id="rId5"/>
    <p:sldId id="996" r:id="rId6"/>
    <p:sldId id="984" r:id="rId7"/>
    <p:sldId id="985" r:id="rId8"/>
    <p:sldId id="986" r:id="rId9"/>
    <p:sldId id="988" r:id="rId10"/>
    <p:sldId id="997" r:id="rId11"/>
    <p:sldId id="989" r:id="rId12"/>
    <p:sldId id="990" r:id="rId13"/>
    <p:sldId id="998" r:id="rId14"/>
    <p:sldId id="991" r:id="rId15"/>
    <p:sldId id="992" r:id="rId16"/>
    <p:sldId id="993" r:id="rId17"/>
    <p:sldId id="994" r:id="rId18"/>
    <p:sldId id="1000" r:id="rId19"/>
    <p:sldId id="999" r:id="rId20"/>
    <p:sldId id="1001" r:id="rId21"/>
    <p:sldId id="995" r:id="rId22"/>
  </p:sldIdLst>
  <p:sldSz cx="12192000" cy="6858000"/>
  <p:notesSz cx="6858000" cy="9144000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s Goulart Lima" initials="MGL" lastIdx="1" clrIdx="0">
    <p:extLst>
      <p:ext uri="{19B8F6BF-5375-455C-9EA6-DF929625EA0E}">
        <p15:presenceInfo xmlns:p15="http://schemas.microsoft.com/office/powerpoint/2012/main" userId="809befc0d8c5df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 autoAdjust="0"/>
  </p:normalViewPr>
  <p:slideViewPr>
    <p:cSldViewPr snapToGrid="0">
      <p:cViewPr varScale="1">
        <p:scale>
          <a:sx n="61" d="100"/>
          <a:sy n="61" d="100"/>
        </p:scale>
        <p:origin x="1968" y="6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23A65-BD25-40B6-8815-498297225DF7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Variáveis Aleatórias Discretas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6" y="1441868"/>
            <a:ext cx="10827959" cy="5021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Objetivos da aula:</a:t>
            </a:r>
          </a:p>
          <a:p>
            <a:pPr marL="285737" indent="-28573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Definir variável aleatória discreta e sua função de probabilidade.</a:t>
            </a:r>
          </a:p>
          <a:p>
            <a:pPr marL="285737" indent="-28573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Calcular valor esperado e variância de variáveis aleatórias discretas.</a:t>
            </a:r>
          </a:p>
          <a:p>
            <a:pPr>
              <a:lnSpc>
                <a:spcPct val="150000"/>
              </a:lnSpc>
            </a:pPr>
            <a:r>
              <a:rPr lang="pt-BR" sz="2400" b="1" dirty="0"/>
              <a:t>Referências: 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Bussab, Morettin. </a:t>
            </a:r>
            <a:r>
              <a:rPr lang="pt-BR" sz="2400" b="1" dirty="0"/>
              <a:t>Estatística Básica</a:t>
            </a:r>
            <a:r>
              <a:rPr lang="pt-BR" sz="2400" dirty="0"/>
              <a:t>, 9ed — Cap. 6 (6.1 a 6.4)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Montgomery, Runger</a:t>
            </a:r>
            <a:r>
              <a:rPr lang="pt-BR" sz="2400"/>
              <a:t>. </a:t>
            </a:r>
            <a:r>
              <a:rPr lang="pt-BR" sz="2400" b="1"/>
              <a:t>Estatística Aplicada e Probabilidade para Engenheiros</a:t>
            </a:r>
            <a:r>
              <a:rPr lang="pt-BR" sz="2400"/>
              <a:t>, 7ª ed. — </a:t>
            </a:r>
            <a:r>
              <a:rPr lang="pt-BR" sz="2400" dirty="0"/>
              <a:t>Cap. 3 (3.1, 3.3)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Magalhães, Lima. </a:t>
            </a:r>
            <a:r>
              <a:rPr lang="pt-BR" sz="2400" b="1" dirty="0"/>
              <a:t>Noções de Probabilidade e Estatística</a:t>
            </a:r>
            <a:r>
              <a:rPr lang="pt-BR" sz="2400" dirty="0"/>
              <a:t>, 5ed — Cap. 3 (3.1)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Morettin. </a:t>
            </a:r>
            <a:r>
              <a:rPr lang="pt-BR" sz="2400" b="1" dirty="0"/>
              <a:t>Estatística Básica: Probabilidade e Inferência</a:t>
            </a:r>
            <a:r>
              <a:rPr lang="pt-BR" sz="2400" dirty="0"/>
              <a:t> — Cap. 3 (3.1, 3.2, 3.3)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DA47E58F-A389-ACD0-E539-47023EB992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602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787093" y="802040"/>
                <a:ext cx="10067277" cy="32571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Exemplo: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Considere o lançamento de uma moeda três vezes. Seja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> o número de ocorrências da face </a:t>
                </a:r>
                <a:r>
                  <a:rPr lang="pt-BR" sz="2800" b="1" dirty="0"/>
                  <a:t>cara</a:t>
                </a:r>
                <a:r>
                  <a:rPr lang="pt-BR" sz="2800" dirty="0"/>
                  <a:t>.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dirty="0"/>
                  <a:t>Associe os eventos com os valores de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>.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dirty="0"/>
                  <a:t>Calcule a probabilidade de cada valor de X.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093" y="802040"/>
                <a:ext cx="10067277" cy="3257174"/>
              </a:xfrm>
              <a:prstGeom prst="rect">
                <a:avLst/>
              </a:prstGeom>
              <a:blipFill>
                <a:blip r:embed="rId2"/>
                <a:stretch>
                  <a:fillRect l="-1211" r="-1392" b="-449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919206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29136" y="875614"/>
                <a:ext cx="10067277" cy="39035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Definição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Um variável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> é chamada de variável aleatória discreta se:</a:t>
                </a:r>
              </a:p>
              <a:p>
                <a:pPr marL="914389" lvl="1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dirty="0"/>
                  <a:t>os possíveis valores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> estão em um conjunto enumerável, ou seja,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↦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pt-BR" sz="2800" dirty="0"/>
              </a:p>
              <a:p>
                <a:pPr marL="914389" lvl="1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dirty="0"/>
                  <a:t>Para cada valor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sz="2800" dirty="0"/>
                  <a:t> existe um evento do espaço associado, com certa probabilidade.</a:t>
                </a:r>
                <a:endParaRPr lang="pt-BR" sz="1351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136" y="875614"/>
                <a:ext cx="10067277" cy="3903504"/>
              </a:xfrm>
              <a:prstGeom prst="rect">
                <a:avLst/>
              </a:prstGeom>
              <a:blipFill>
                <a:blip r:embed="rId2"/>
                <a:stretch>
                  <a:fillRect l="-1211" r="-1696" b="-359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736777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797604" y="749489"/>
                <a:ext cx="10067277" cy="33239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Definição. </a:t>
                </a:r>
                <a:r>
                  <a:rPr lang="pt-BR" sz="2800" dirty="0"/>
                  <a:t>Função de probabilidade é a função que associa a cada valor assumido pela variável aleatória a probabilidade do evento correspondente, isto é,</a:t>
                </a:r>
              </a:p>
              <a:p>
                <a:pPr>
                  <a:lnSpc>
                    <a:spcPct val="150000"/>
                  </a:lnSpc>
                </a:pPr>
                <a:endParaRPr lang="pt-BR" sz="28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,…, 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604" y="749489"/>
                <a:ext cx="10067277" cy="3323987"/>
              </a:xfrm>
              <a:prstGeom prst="rect">
                <a:avLst/>
              </a:prstGeom>
              <a:blipFill>
                <a:blip r:embed="rId2"/>
                <a:stretch>
                  <a:fillRect l="-127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884931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797604" y="749489"/>
                <a:ext cx="10067277" cy="37956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A distribuição de probabilidade de uma variável </a:t>
                </a:r>
                <a:r>
                  <a:rPr lang="pt-BR" sz="2800" dirty="0"/>
                  <a:t>é uma quadro da forma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pt-BR" sz="2800" b="1" dirty="0"/>
                  <a:t> </a:t>
                </a:r>
                <a:r>
                  <a:rPr lang="pt-BR" sz="2800" dirty="0"/>
                  <a:t>Onde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sz="2800" dirty="0"/>
                  <a:t> são todos os valores que a variável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> assume. Observe que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nary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604" y="749489"/>
                <a:ext cx="10067277" cy="3795654"/>
              </a:xfrm>
              <a:prstGeom prst="rect">
                <a:avLst/>
              </a:prstGeom>
              <a:blipFill>
                <a:blip r:embed="rId2"/>
                <a:stretch>
                  <a:fillRect l="-127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502969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51859" y="751344"/>
            <a:ext cx="1006727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Exemplo. </a:t>
            </a:r>
            <a:r>
              <a:rPr lang="pt-BR" sz="2800" dirty="0"/>
              <a:t>Considere uma urna contendo duas bolas brancas e três bolas vermelhas.  Retiramos duas bolas da urna, </a:t>
            </a:r>
            <a:r>
              <a:rPr lang="pt-BR" sz="2800" b="1" dirty="0"/>
              <a:t>sem</a:t>
            </a:r>
            <a:r>
              <a:rPr lang="pt-BR" sz="2800" dirty="0"/>
              <a:t> reposição.</a:t>
            </a:r>
          </a:p>
          <a:p>
            <a:endParaRPr lang="pt-BR" sz="2800" b="1" dirty="0"/>
          </a:p>
          <a:p>
            <a:r>
              <a:rPr lang="pt-BR" sz="2800" dirty="0"/>
              <a:t>Espaço amostral: { BB, BV, VB, VV}.</a:t>
            </a:r>
          </a:p>
          <a:p>
            <a:endParaRPr lang="pt-BR" sz="2800" dirty="0"/>
          </a:p>
          <a:p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53AE519B-3F3D-477A-998E-3C3BC2C82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882462"/>
            <a:ext cx="4553585" cy="193384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E11E86F-A063-4267-A3E7-AC7FC57C0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269" y="2882462"/>
            <a:ext cx="3277057" cy="260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67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50156" y="675917"/>
                <a:ext cx="10067277" cy="4799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dirty="0"/>
                  <a:t>Vamos definir a seguinte variável aleatória:</a:t>
                </a:r>
              </a:p>
              <a:p>
                <a:endParaRPr lang="pt-BR" sz="2800" dirty="0"/>
              </a:p>
              <a:p>
                <a:pPr algn="ctr"/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>: número de bolas vermelhas obtidas nas duas extrações.</a:t>
                </a:r>
              </a:p>
              <a:p>
                <a:pPr algn="ctr"/>
                <a:endParaRPr lang="pt-BR" sz="2800" dirty="0"/>
              </a:p>
              <a:p>
                <a:r>
                  <a:rPr lang="pt-BR" sz="2800" dirty="0"/>
                  <a:t>Valores que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> pode assumir: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pt-BR" sz="2800" dirty="0"/>
                  <a:t>.</a:t>
                </a:r>
              </a:p>
              <a:p>
                <a:endParaRPr lang="pt-BR" sz="2800" dirty="0"/>
              </a:p>
              <a:p>
                <a:r>
                  <a:rPr lang="pt-BR" sz="2800" dirty="0"/>
                  <a:t>Eventos associados a cada valor: </a:t>
                </a:r>
              </a:p>
              <a:p>
                <a:r>
                  <a:rPr lang="pt-BR" sz="2800" dirty="0"/>
                  <a:t>          </a:t>
                </a:r>
              </a:p>
              <a:p>
                <a:r>
                  <a:rPr lang="pt-BR" sz="2800" dirty="0"/>
                  <a:t>            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3"/>
                              <m:mcJc m:val="center"/>
                            </m:mcPr>
                          </m:mc>
                        </m:mcs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↦</m:t>
                          </m:r>
                        </m:e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mr>
                      <m:m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𝐵𝑉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𝑉𝐵</m:t>
                          </m:r>
                        </m:e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↦</m:t>
                          </m:r>
                        </m:e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mr>
                      <m:m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𝑉𝑉</m:t>
                          </m:r>
                        </m:e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↦</m:t>
                          </m:r>
                        </m:e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mr>
                    </m:m>
                  </m:oMath>
                </a14:m>
                <a:r>
                  <a:rPr lang="pt-BR" sz="2800" i="1" dirty="0">
                    <a:latin typeface="Cambria Math" panose="02040503050406030204" pitchFamily="18" charset="0"/>
                  </a:rPr>
                  <a:t>                                      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3"/>
                              <m:mcJc m:val="center"/>
                            </m:mcPr>
                          </m:mc>
                        </m:mcs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↦</m:t>
                          </m:r>
                        </m:e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mr>
                      <m:m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↦</m:t>
                          </m:r>
                        </m:e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mr>
                      <m:m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↦</m:t>
                          </m:r>
                        </m:e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mr>
                    </m:m>
                  </m:oMath>
                </a14:m>
                <a:r>
                  <a:rPr lang="pt-BR" sz="2800" i="1" dirty="0">
                    <a:latin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56" y="675917"/>
                <a:ext cx="10067277" cy="4799840"/>
              </a:xfrm>
              <a:prstGeom prst="rect">
                <a:avLst/>
              </a:prstGeom>
              <a:blipFill>
                <a:blip r:embed="rId2"/>
                <a:stretch>
                  <a:fillRect l="-1211" t="-127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1350C9F7-A1F3-4835-8A60-068091B80B5D}"/>
              </a:ext>
            </a:extLst>
          </p:cNvPr>
          <p:cNvSpPr/>
          <p:nvPr/>
        </p:nvSpPr>
        <p:spPr>
          <a:xfrm>
            <a:off x="4917079" y="4487570"/>
            <a:ext cx="1455938" cy="514905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7214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12019" y="783423"/>
                <a:ext cx="10067277" cy="54105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dirty="0"/>
                  <a:t>Distribuição de probabilidade de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pt-BR" sz="2800" dirty="0"/>
              </a:p>
              <a:p>
                <a:endParaRPr lang="pt-BR" sz="2800" dirty="0"/>
              </a:p>
              <a:p>
                <a:endParaRPr lang="pt-BR" sz="2800" dirty="0"/>
              </a:p>
              <a:p>
                <a:endParaRPr lang="pt-BR" sz="2800" dirty="0"/>
              </a:p>
              <a:p>
                <a:endParaRPr lang="pt-BR" sz="2800" dirty="0"/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Com isso, podemos escrever: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pt-BR" sz="2800" dirty="0"/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pt-BR" sz="2800" dirty="0"/>
                  <a:t>,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b="0" dirty="0"/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pt-BR" sz="2800" dirty="0"/>
                  <a:t> 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019" y="783423"/>
                <a:ext cx="10067277" cy="5410520"/>
              </a:xfrm>
              <a:prstGeom prst="rect">
                <a:avLst/>
              </a:prstGeom>
              <a:blipFill>
                <a:blip r:embed="rId2"/>
                <a:stretch>
                  <a:fillRect l="-1211" t="-112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graphicFrame>
        <p:nvGraphicFramePr>
          <p:cNvPr id="5" name="Tabela 6">
            <a:extLst>
              <a:ext uri="{FF2B5EF4-FFF2-40B4-BE49-F238E27FC236}">
                <a16:creationId xmlns:a16="http://schemas.microsoft.com/office/drawing/2014/main" id="{D5054F6E-72E8-6EBC-A33D-EA8F45DDC8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2923282"/>
              </p:ext>
            </p:extLst>
          </p:nvPr>
        </p:nvGraphicFramePr>
        <p:xfrm>
          <a:off x="1523992" y="1935826"/>
          <a:ext cx="812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2760896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115725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2429942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399357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13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P(X=x)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6/10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3/10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23179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359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39645" y="781020"/>
                <a:ext cx="10067277" cy="39035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Exemplo: </a:t>
                </a:r>
                <a:r>
                  <a:rPr lang="pt-BR" sz="2800" dirty="0"/>
                  <a:t>Uma playlist tem 5 músicas: 2 da Anitta e 3 do BTS. Sorteiam-se, sem repetição, 2 músicas para tocar em sequência.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Seja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 =</m:t>
                    </m:r>
                  </m:oMath>
                </a14:m>
                <a:r>
                  <a:rPr lang="pt-BR" sz="2800" dirty="0"/>
                  <a:t> número de músicas do BTS entre as 2 sorteadas.</a:t>
                </a:r>
              </a:p>
              <a:p>
                <a:pPr>
                  <a:lnSpc>
                    <a:spcPct val="150000"/>
                  </a:lnSpc>
                </a:pPr>
                <a:endParaRPr lang="pt-BR" sz="2800" dirty="0"/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dirty="0"/>
                  <a:t>Quais são os valores possíveis de X?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dirty="0"/>
                  <a:t>Monte a distribuição de probabilidade de X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645" y="781020"/>
                <a:ext cx="10067277" cy="3903504"/>
              </a:xfrm>
              <a:prstGeom prst="rect">
                <a:avLst/>
              </a:prstGeom>
              <a:blipFill>
                <a:blip r:embed="rId2"/>
                <a:stretch>
                  <a:fillRect l="-1272" b="-359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755341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39645" y="781020"/>
                <a:ext cx="10067277" cy="42265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Esperança matemática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Dada uma v.a.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> discreta, assumindo os valores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 ⋯,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t-BR" sz="2800" dirty="0"/>
                  <a:t>, chamamos de valor médio ou esperança matemática de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> ao valor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645" y="781020"/>
                <a:ext cx="10067277" cy="4226542"/>
              </a:xfrm>
              <a:prstGeom prst="rect">
                <a:avLst/>
              </a:prstGeom>
              <a:blipFill>
                <a:blip r:embed="rId2"/>
                <a:stretch>
                  <a:fillRect l="-127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704177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50156" y="886124"/>
                <a:ext cx="10067277" cy="39024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Exemplo. </a:t>
                </a:r>
                <a:r>
                  <a:rPr lang="pt-BR" sz="2800" dirty="0"/>
                  <a:t>Vamos calcular o valor médio da v.a. do exemplo apresentado no slide 6.</a:t>
                </a:r>
              </a:p>
              <a:p>
                <a:pPr>
                  <a:lnSpc>
                    <a:spcPct val="150000"/>
                  </a:lnSpc>
                </a:pPr>
                <a:endParaRPr lang="pt-BR" sz="2800" dirty="0"/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pt-BR" sz="2800" dirty="0"/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pt-BR" sz="2800" dirty="0"/>
                  <a:t>,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b="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56" y="886124"/>
                <a:ext cx="10067277" cy="3902415"/>
              </a:xfrm>
              <a:prstGeom prst="rect">
                <a:avLst/>
              </a:prstGeom>
              <a:blipFill>
                <a:blip r:embed="rId2"/>
                <a:stretch>
                  <a:fillRect l="-12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9102785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29136" y="717958"/>
                <a:ext cx="10067277" cy="45487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Exemplo: </a:t>
                </a:r>
                <a:r>
                  <a:rPr lang="pt-BR" sz="2800" dirty="0"/>
                  <a:t>Uma seguradora paga R$ 30.000,00 em caso de acidente de carro e cobra uma taxa de R$ 1.000,00. Sabe-se que a probabilidade de que um carro sofra acidente é de 3%. Quanto espera a seguradora ganhar por carro segurado?</a:t>
                </a:r>
              </a:p>
              <a:p>
                <a:pPr>
                  <a:lnSpc>
                    <a:spcPct val="150000"/>
                  </a:lnSpc>
                </a:pPr>
                <a:endParaRPr lang="pt-BR" sz="2800" dirty="0"/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dirty="0"/>
                  <a:t>Faça o cálculo considerando 100 carros.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dirty="0"/>
                  <a:t>Defina com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> o valor de lucro por carro. Calcule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/>
                  <a:t>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136" y="717958"/>
                <a:ext cx="10067277" cy="4548746"/>
              </a:xfrm>
              <a:prstGeom prst="rect">
                <a:avLst/>
              </a:prstGeom>
              <a:blipFill>
                <a:blip r:embed="rId2"/>
                <a:stretch>
                  <a:fillRect l="-1211" b="-294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328945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29136" y="717958"/>
            <a:ext cx="10067277" cy="5575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Resolução. </a:t>
            </a:r>
            <a:r>
              <a:rPr lang="pt-BR" sz="2400" dirty="0"/>
              <a:t>Considerando 100 carros segurados: 3 (em média) sofrem acidente e 97 não.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Receita: 100 × R$ 1.000 = R$ 100.000</a:t>
            </a:r>
          </a:p>
          <a:p>
            <a:pPr lvl="1">
              <a:lnSpc>
                <a:spcPct val="150000"/>
              </a:lnSpc>
            </a:pPr>
            <a:r>
              <a:rPr lang="pt-BR" sz="2400" dirty="0"/>
              <a:t>Custo esperado com acidentes: 3 × R$ 30.000 = R$ 90.000</a:t>
            </a:r>
          </a:p>
          <a:p>
            <a:pPr lvl="1">
              <a:lnSpc>
                <a:spcPct val="150000"/>
              </a:lnSpc>
            </a:pPr>
            <a:r>
              <a:rPr lang="pt-BR" sz="2400" dirty="0"/>
              <a:t>Lucro esperado: R$ 100.000 − R$ 90.000 = R$ 10.000, ou seja, R$ 100 por carro.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Definindo X = lucro por carro segurado:</a:t>
            </a:r>
          </a:p>
          <a:p>
            <a:pPr lvl="1">
              <a:lnSpc>
                <a:spcPct val="150000"/>
              </a:lnSpc>
            </a:pPr>
            <a:r>
              <a:rPr lang="pt-BR" sz="2400" dirty="0"/>
              <a:t>X = 1.000, se não houver acidente — P(X = 1.000) = 0,97</a:t>
            </a:r>
          </a:p>
          <a:p>
            <a:pPr lvl="1">
              <a:lnSpc>
                <a:spcPct val="150000"/>
              </a:lnSpc>
            </a:pPr>
            <a:r>
              <a:rPr lang="pt-BR" sz="2400" dirty="0"/>
              <a:t>X = 1.000 − 30.000 = −29.000, se houver acidente — P(X = −29.000) = 0,03</a:t>
            </a:r>
          </a:p>
          <a:p>
            <a:pPr lvl="1">
              <a:lnSpc>
                <a:spcPct val="150000"/>
              </a:lnSpc>
            </a:pPr>
            <a:r>
              <a:rPr lang="pt-BR" sz="2400" dirty="0"/>
              <a:t>E(X) = (0,97)(1.000) + (0,03)(−29.000) = 970 − 870 = R$ 100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9763753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71177" y="886124"/>
                <a:ext cx="10067277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Propriedade da esperança matemática</a:t>
                </a:r>
              </a:p>
              <a:p>
                <a:endParaRPr lang="pt-BR" sz="2800" b="1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pt-BR" sz="2800" b="0" dirty="0"/>
                  <a:t>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pt-BR" sz="2800" dirty="0"/>
                  <a:t> para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pt-BR" sz="2800" dirty="0"/>
                  <a:t> constante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pt-BR" sz="28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pt-BR" sz="2800" dirty="0"/>
                  <a:t> </a:t>
                </a:r>
                <a14:m>
                  <m:oMath xmlns:m="http://schemas.openxmlformats.org/officeDocument/2006/math">
                    <m:r>
                      <a:rPr lang="pt-BR" sz="28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pt-BR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pt-BR" sz="28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pt-BR" sz="2800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pt-BR" sz="28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pt-BR" sz="2800" b="0" dirty="0"/>
                  <a:t>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±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/>
                  <a:t>.</a:t>
                </a:r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177" y="886124"/>
                <a:ext cx="10067277" cy="3539430"/>
              </a:xfrm>
              <a:prstGeom prst="rect">
                <a:avLst/>
              </a:prstGeom>
              <a:blipFill>
                <a:blip r:embed="rId2"/>
                <a:stretch>
                  <a:fillRect l="-1272" t="-154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5686208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902708" y="875613"/>
                <a:ext cx="10067277" cy="31099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Propriedade da esperança matemática</a:t>
                </a:r>
              </a:p>
              <a:p>
                <a:endParaRPr lang="pt-BR" sz="2800" b="1" dirty="0"/>
              </a:p>
              <a:p>
                <a:pPr marL="514350" indent="-514350">
                  <a:buFont typeface="+mj-lt"/>
                  <a:buAutoNum type="arabicPeriod" startAt="4"/>
                </a:pPr>
                <a:r>
                  <a:rPr lang="pt-BR" sz="2800" b="0" dirty="0"/>
                  <a:t>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pt-BR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))</m:t>
                        </m:r>
                      </m:e>
                    </m:nary>
                  </m:oMath>
                </a14:m>
                <a:endParaRPr lang="pt-BR" sz="2800" dirty="0"/>
              </a:p>
              <a:p>
                <a:pPr marL="514350" indent="-514350">
                  <a:buFont typeface="+mj-lt"/>
                  <a:buAutoNum type="arabicPeriod" startAt="4"/>
                </a:pPr>
                <a:endParaRPr lang="pt-BR" sz="2800" dirty="0"/>
              </a:p>
              <a:p>
                <a:pPr marL="514350" indent="-514350">
                  <a:buFont typeface="+mj-lt"/>
                  <a:buAutoNum type="arabicPeriod" startAt="4"/>
                </a:pPr>
                <a:r>
                  <a:rPr lang="pt-BR" sz="2800" b="0" dirty="0"/>
                  <a:t>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𝑎𝑋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𝑏𝑌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𝑎𝐸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± 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𝑏𝐸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/>
                  <a:t>.</a:t>
                </a:r>
              </a:p>
              <a:p>
                <a:pPr marL="514350" indent="-514350">
                  <a:buFont typeface="+mj-lt"/>
                  <a:buAutoNum type="arabicPeriod" startAt="4"/>
                </a:pPr>
                <a:endParaRPr lang="pt-BR" sz="2800" dirty="0"/>
              </a:p>
              <a:p>
                <a:pPr marL="514350" indent="-514350">
                  <a:buFont typeface="+mj-lt"/>
                  <a:buAutoNum type="arabicPeriod" startAt="4"/>
                </a:pPr>
                <a:r>
                  <a:rPr lang="pt-BR" sz="2800" dirty="0"/>
                  <a:t>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708" y="875613"/>
                <a:ext cx="10067277" cy="3109954"/>
              </a:xfrm>
              <a:prstGeom prst="rect">
                <a:avLst/>
              </a:prstGeom>
              <a:blipFill>
                <a:blip r:embed="rId2"/>
                <a:stretch>
                  <a:fillRect l="-1271" t="-1961" b="-470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4680403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18625" y="728469"/>
                <a:ext cx="10277702" cy="5065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Exemplo: </a:t>
                </a:r>
                <a:r>
                  <a:rPr lang="pt-BR" sz="2400" dirty="0"/>
                  <a:t>Suponhamos que um número seja sorteado de 1 a 10, inteiros positivos. Seja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400" dirty="0"/>
                  <a:t> o número de divisores do número sorteado. Calcular o número médio de divisores do número sorteado.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 rtl="0">
                  <a:lnSpc>
                    <a:spcPct val="150000"/>
                  </a:lnSpc>
                </a:pPr>
                <a:r>
                  <a:rPr lang="pt-BR" sz="2400" b="1" dirty="0"/>
                  <a:t>Resolução:</a:t>
                </a:r>
                <a:r>
                  <a:rPr lang="pt-BR" sz="2400" dirty="0"/>
                  <a:t>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400" dirty="0"/>
                  <a:t> = número de divisores de n, </a:t>
                </a:r>
              </a:p>
              <a:p>
                <a:pPr rtl="0">
                  <a:lnSpc>
                    <a:spcPct val="150000"/>
                  </a:lnSpc>
                </a:pPr>
                <a:r>
                  <a:rPr lang="pt-BR" sz="2400" dirty="0"/>
                  <a:t>Número de divisores de cada n: </a:t>
                </a:r>
              </a:p>
              <a:p>
                <a:pPr rtl="0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400" dirty="0"/>
              </a:p>
              <a:p>
                <a:pPr rtl="0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) = (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27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pt-BR" sz="2400" b="1" i="1" dirty="0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pt-BR" sz="24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sz="2400" b="1" i="1" dirty="0" smtClean="0"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625" y="728469"/>
                <a:ext cx="10277702" cy="5065554"/>
              </a:xfrm>
              <a:prstGeom prst="rect">
                <a:avLst/>
              </a:prstGeom>
              <a:blipFill>
                <a:blip r:embed="rId2"/>
                <a:stretch>
                  <a:fillRect l="-8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4402398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29135" y="728468"/>
                <a:ext cx="10067277" cy="51034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Variância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O próximo parâmetro que vamos estudar é a dispersão de uma variável em torno da média.</a:t>
                </a:r>
              </a:p>
              <a:p>
                <a:r>
                  <a:rPr lang="pt-BR" sz="2400" b="1" dirty="0"/>
                  <a:t>Definição.</a:t>
                </a:r>
                <a:r>
                  <a:rPr lang="pt-BR" sz="2400" dirty="0"/>
                  <a:t> Chamamos de variância de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pt-BR" sz="2400" dirty="0"/>
                  <a:t> denotado por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pt-BR" sz="2400" dirty="0"/>
                  <a:t> ou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40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pt-BR" sz="2400" dirty="0"/>
                  <a:t> o valor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pt-BR" sz="2400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Que também pode ser calculado pelas fórmulas:</a:t>
                </a:r>
                <a:endParaRPr lang="pt-BR" sz="2400" b="0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pt-BR" sz="2400" b="0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²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) − [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)]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²</m:t>
                    </m:r>
                  </m:oMath>
                </a14:m>
                <a:endParaRPr lang="pt-BR" sz="2400" b="1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135" y="728468"/>
                <a:ext cx="10067277" cy="5103448"/>
              </a:xfrm>
              <a:prstGeom prst="rect">
                <a:avLst/>
              </a:prstGeom>
              <a:blipFill>
                <a:blip r:embed="rId2"/>
                <a:stretch>
                  <a:fillRect l="-909" b="-119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40013930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29135" y="728468"/>
                <a:ext cx="10067277" cy="5189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Exemplo: </a:t>
                </a:r>
                <a:r>
                  <a:rPr lang="pt-BR" sz="2800" dirty="0"/>
                  <a:t>Um quiz vale 10 pontos, em 2 questões de 5 pontos cada. Escolhendo um aluno da turma ao acaso, a distribuição da nota X é: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= 0,1, </m:t>
                      </m:r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=5) = 0,3,  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=10) = 0,6.</m:t>
                      </m:r>
                    </m:oMath>
                  </m:oMathPara>
                </a14:m>
                <a:endParaRPr lang="pt-BR" sz="2800" dirty="0"/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Assim,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d>
                        <m:d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+ </m:t>
                      </m:r>
                      <m:d>
                        <m:d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d>
                        <m:d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0,3</m:t>
                          </m:r>
                        </m:e>
                      </m:d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+ </m:t>
                      </m:r>
                      <m:d>
                        <m:d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d>
                      <m:d>
                        <m:d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0,6</m:t>
                          </m:r>
                        </m:e>
                      </m:d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= 7,5</m:t>
                      </m:r>
                    </m:oMath>
                  </m:oMathPara>
                </a14:m>
                <a:endParaRPr lang="pt-BR" sz="28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²) = (0)(0,1) + (25)(0,3) + (100)(0,6) = 67,5.</m:t>
                      </m:r>
                    </m:oMath>
                  </m:oMathPara>
                </a14:m>
                <a:endParaRPr lang="pt-BR" sz="2800" dirty="0"/>
              </a:p>
              <a:p>
                <a:pPr>
                  <a:lnSpc>
                    <a:spcPct val="150000"/>
                  </a:lnSpc>
                </a:pPr>
                <a:endParaRPr lang="pt-BR" sz="2800" dirty="0"/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Vamos calcular a variância de três formas distintas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135" y="728468"/>
                <a:ext cx="10067277" cy="5189434"/>
              </a:xfrm>
              <a:prstGeom prst="rect">
                <a:avLst/>
              </a:prstGeom>
              <a:blipFill>
                <a:blip r:embed="rId2"/>
                <a:stretch>
                  <a:fillRect l="-1211" r="-606" b="-246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0526482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29135" y="728468"/>
                <a:ext cx="10796808" cy="5078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400" dirty="0"/>
                  <a:t>Forma 1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400" i="0" dirty="0" smtClean="0">
                          <a:latin typeface="Cambria Math" panose="02040503050406030204" pitchFamily="18" charset="0"/>
                        </a:rPr>
                        <m:t>Σ</m:t>
                      </m:r>
                      <m:sSup>
                        <m:sSup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ᵢ−</m:t>
                              </m:r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pt-BR" sz="2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i="1" dirty="0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ᵢ</m:t>
                      </m:r>
                      <m:r>
                        <a:rPr lang="pt-BR" sz="2400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0−7,5</m:t>
                              </m:r>
                            </m:e>
                          </m:d>
                        </m:e>
                        <m:sup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5−7,5</m:t>
                              </m:r>
                            </m:e>
                          </m:d>
                        </m:e>
                        <m:sup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0,3</m:t>
                          </m:r>
                        </m:e>
                      </m:d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10−7,5</m:t>
                              </m:r>
                            </m:e>
                          </m:d>
                        </m:e>
                        <m:sup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0,6</m:t>
                          </m:r>
                        </m:e>
                      </m:d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=  11,25</m:t>
                      </m:r>
                    </m:oMath>
                  </m:oMathPara>
                </a14:m>
                <a:endParaRPr lang="pt-BR" sz="2400" dirty="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400" dirty="0"/>
                  <a:t>Forma 2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—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([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)]²):</m:t>
                    </m:r>
                  </m:oMath>
                </a14:m>
                <a:r>
                  <a:rPr lang="pt-BR" sz="2400" dirty="0"/>
                  <a:t>  é a mesma conta acima, só escrita como esperança da variável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= [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)]²</m:t>
                    </m:r>
                  </m:oMath>
                </a14:m>
                <a:r>
                  <a:rPr lang="pt-BR" sz="2400" dirty="0"/>
                  <a:t> em vez de soma explícita — Y assume os valores 56,25 / 6,25 / 6,25 com as mesmas probabilidades 0,1 / 0,3 / 0,6, 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 = 11,25.</m:t>
                    </m:r>
                  </m:oMath>
                </a14:m>
                <a:endParaRPr lang="pt-BR" sz="2400" dirty="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400" dirty="0"/>
                  <a:t>Forma 3 —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²) − [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)]²</m:t>
                    </m:r>
                  </m:oMath>
                </a14:m>
                <a:r>
                  <a:rPr lang="pt-BR" sz="2400" dirty="0"/>
                  <a:t>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  <m:sup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+ </m:t>
                      </m:r>
                      <m:sSup>
                        <m:sSup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d>
                        </m:e>
                        <m:sup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0,3</m:t>
                          </m:r>
                        </m:e>
                      </m:d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+ </m:t>
                      </m:r>
                      <m:sSup>
                        <m:sSup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d>
                        </m:e>
                        <m:sup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0,6</m:t>
                          </m:r>
                        </m:e>
                      </m:d>
                      <m:r>
                        <a:rPr lang="pt-BR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67,5</m:t>
                      </m:r>
                    </m:oMath>
                  </m:oMathPara>
                </a14:m>
                <a:endParaRPr lang="pt-BR" sz="24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pt-BR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pt-BR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− </m:t>
                      </m:r>
                      <m:sSup>
                        <m:sSupPr>
                          <m:ctrlPr>
                            <a:rPr lang="pt-BR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pt-BR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i="1" dirty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pt-BR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67,5 − (7,5)² = 67,5 − 56,25 = 11,25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135" y="728468"/>
                <a:ext cx="10796808" cy="5078313"/>
              </a:xfrm>
              <a:prstGeom prst="rect">
                <a:avLst/>
              </a:prstGeom>
              <a:blipFill>
                <a:blip r:embed="rId2"/>
                <a:stretch>
                  <a:fillRect l="-734" r="-62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6687409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50156" y="611551"/>
            <a:ext cx="10067277" cy="335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Atividades referentes à aula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Leitura recomendada: 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Bussab &amp; Morettin — Cap. 6: 6.1 a 6.4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Montgomery &amp; Runger — Cap. 3: 3.1, 3.3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Magalhães &amp; Lima — Cap. 3: 3.1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Morettin — Cap. 3: 3.1, 3.2, 3.3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4245486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50156" y="611551"/>
            <a:ext cx="10067277" cy="3913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Atividades referentes à aula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Exercícios recomendados: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Bussab &amp; </a:t>
            </a:r>
            <a:r>
              <a:rPr lang="pt-BR" sz="2400" dirty="0" err="1"/>
              <a:t>Morettin</a:t>
            </a:r>
            <a:r>
              <a:rPr lang="pt-BR" sz="2400" dirty="0"/>
              <a:t>, Cap. 6: problemas 1, 4, 5, 7, 8, 10, 11, 12, 13 e 14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Magalhães &amp; Lima, Cap. 3 (3.4 Exercícios): 2, 3, 4, 5, 6, 7, 8 e 9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Montgomery &amp; </a:t>
            </a:r>
            <a:r>
              <a:rPr lang="pt-BR" sz="2400" dirty="0" err="1"/>
              <a:t>Runger</a:t>
            </a:r>
            <a:r>
              <a:rPr lang="pt-BR" sz="2400" dirty="0"/>
              <a:t>, Cap. 3: 3.1.4, 3.1.5, 3.1.8, 3.1.9, 3.1.10, 3.3.1, 3.3.2, 3.3.6, 3.3.7 </a:t>
            </a:r>
            <a:r>
              <a:rPr lang="pt-BR" sz="2400"/>
              <a:t>e 3.3.8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/>
              <a:t>Morettin</a:t>
            </a:r>
            <a:r>
              <a:rPr lang="pt-BR" sz="2400" dirty="0"/>
              <a:t>, Cap. 3: 1, 3, 4, 6, 7, 9, 10, 11, 12 e 13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30062485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D58E9DC-56C6-47DC-AD42-C3302BE85F4A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ef715231-34cc-4072-b920-6d2dc41a2c4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4236</TotalTime>
  <Words>1579</Words>
  <Application>Microsoft Office PowerPoint</Application>
  <PresentationFormat>Widescreen</PresentationFormat>
  <Paragraphs>150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7" baseType="lpstr">
      <vt:lpstr>AlternateGothic2 BT</vt:lpstr>
      <vt:lpstr>Arial</vt:lpstr>
      <vt:lpstr>Calibri</vt:lpstr>
      <vt:lpstr>Calibri Light</vt:lpstr>
      <vt:lpstr>Cambria Math</vt:lpstr>
      <vt:lpstr>Tema do Office</vt:lpstr>
      <vt:lpstr>CEA055 – Estatística e Probabilidade Variáveis Aleatórias Discretas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150</cp:revision>
  <dcterms:created xsi:type="dcterms:W3CDTF">2020-07-20T19:35:15Z</dcterms:created>
  <dcterms:modified xsi:type="dcterms:W3CDTF">2026-10-22T11:30:43Z</dcterms:modified>
</cp:coreProperties>
</file>