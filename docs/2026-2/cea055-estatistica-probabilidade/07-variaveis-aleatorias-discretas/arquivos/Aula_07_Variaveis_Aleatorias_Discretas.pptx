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900" r:id="rId58"/>
    <p:sldId id="951" r:id="rId2"/>
    <p:sldId id="952" r:id="rId3"/>
    <p:sldId id="953" r:id="rId4"/>
    <p:sldId id="954" r:id="rId5"/>
    <p:sldId id="955" r:id="rId6"/>
    <p:sldId id="956" r:id="rId7"/>
    <p:sldId id="957" r:id="rId8"/>
    <p:sldId id="958" r:id="rId9"/>
    <p:sldId id="959" r:id="rId10"/>
    <p:sldId id="960" r:id="rId11"/>
    <p:sldId id="961" r:id="rId12"/>
    <p:sldId id="962" r:id="rId13"/>
    <p:sldId id="963" r:id="rId14"/>
    <p:sldId id="964" r:id="rId15"/>
    <p:sldId id="901" r:id="rId5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08/08/2024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 xml:space="preserve">Considere o lançamento de uma moeda três vezes. 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o número de ocorrências da face </a:t>
                </a:r>
                <a:r>
                  <a:rPr lang="pt-BR" sz="2800" b="1" dirty="0"/>
                  <a:t>cara</a:t>
                </a:r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Associe os eventos com os valores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Calcule a probabilidade de cada valor de X.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Verifique que se considerarmos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então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t-BR" sz="2800" dirty="0"/>
                  <a:t xml:space="preserve"> define uma partição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 xml:space="preserve">.   </a:t>
                </a:r>
              </a:p>
              <a:p>
                <a:pPr marL="742926" lvl="1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272" t="-1247" r="-14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7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Definição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 xml:space="preserve">Um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é chamada de variável aleatória discreta se:</a:t>
                </a:r>
              </a:p>
              <a:p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os possíveis valores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estão em um conjunto enumerável, ou seja,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Para cada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existe um evento do espaço associado, com certa probabilidade.</a:t>
                </a:r>
                <a:endParaRPr lang="pt-BR" sz="135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 t="-1382" r="-1635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7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146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Definição. </a:t>
                </a:r>
                <a:r>
                  <a:rPr lang="pt-BR" sz="2800" dirty="0"/>
                  <a:t>Função de probabilidade é a função que associa a cada valor assumido pela variável aleatória a probabilidade do evento correspondente, isto é,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A distribuição de probabilidade </a:t>
                </a:r>
                <a:r>
                  <a:rPr lang="pt-BR" sz="2800" dirty="0"/>
                  <a:t xml:space="preserve">de uma variável é uma quadro da forma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b="1" dirty="0"/>
                  <a:t xml:space="preserve"> </a:t>
                </a:r>
                <a:r>
                  <a:rPr lang="pt-BR" sz="2800" dirty="0"/>
                  <a:t xml:space="preserve"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são todos os valores que 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assume. Observe que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146537"/>
              </a:xfrm>
              <a:prstGeom prst="rect">
                <a:avLst/>
              </a:prstGeom>
              <a:blipFill>
                <a:blip r:embed="rId2"/>
                <a:stretch>
                  <a:fillRect l="-1272" t="-10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Exemplo. </a:t>
            </a:r>
            <a:r>
              <a:rPr lang="pt-BR" sz="2800" dirty="0"/>
              <a:t xml:space="preserve">Considere uma urna contendo duas bolas brancas e três bolas vermelhas.  Retiramos duas bolas da urna, </a:t>
            </a:r>
            <a:r>
              <a:rPr lang="pt-BR" sz="2800" b="1" dirty="0"/>
              <a:t>sem</a:t>
            </a:r>
            <a:r>
              <a:rPr lang="pt-BR" sz="2800" dirty="0"/>
              <a:t xml:space="preserve"> reposição.</a:t>
            </a:r>
          </a:p>
          <a:p>
            <a:endParaRPr lang="pt-BR" sz="2800" b="1" dirty="0"/>
          </a:p>
          <a:p>
            <a:r>
              <a:rPr lang="pt-BR" sz="2800" dirty="0"/>
              <a:t>Espaço amostral: { BB, BV, VB, VV}.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3AE519B-3F3D-477A-998E-3C3BC2C8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82" y="3429000"/>
            <a:ext cx="4553585" cy="19338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E11E86F-A063-4267-A3E7-AC7FC57C0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027" y="3429000"/>
            <a:ext cx="3277057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6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799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definir a seguinte variável aleatória: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: número de bolas vermelhas obtidas nas duas extrações.</a:t>
                </a:r>
              </a:p>
              <a:p>
                <a:pPr algn="ctr"/>
                <a:endParaRPr lang="pt-BR" sz="2800" dirty="0"/>
              </a:p>
              <a:p>
                <a:r>
                  <a:rPr lang="pt-BR" sz="2800" dirty="0"/>
                  <a:t xml:space="preserve">Valores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pode assumir: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{0,1,2}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Eventos associados a cada valor: </a:t>
                </a:r>
              </a:p>
              <a:p>
                <a:r>
                  <a:rPr lang="pt-BR" sz="2800" dirty="0"/>
                  <a:t xml:space="preserve">          </a:t>
                </a:r>
              </a:p>
              <a:p>
                <a:r>
                  <a:rPr lang="pt-BR" sz="2800" dirty="0"/>
                  <a:t xml:space="preserve">      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𝐵𝑉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𝑉𝐵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</m:m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 xml:space="preserve">                                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1/10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6/10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↦</m:t>
                          </m:r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3/10</m:t>
                          </m:r>
                        </m:e>
                      </m:mr>
                    </m:m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 xml:space="preserve"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799840"/>
              </a:xfrm>
              <a:prstGeom prst="rect">
                <a:avLst/>
              </a:prstGeom>
              <a:blipFill>
                <a:blip r:embed="rId2"/>
                <a:stretch>
                  <a:fillRect l="-1272" t="-11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350C9F7-A1F3-4835-8A60-068091B80B5D}"/>
              </a:ext>
            </a:extLst>
          </p:cNvPr>
          <p:cNvSpPr/>
          <p:nvPr/>
        </p:nvSpPr>
        <p:spPr>
          <a:xfrm>
            <a:off x="4990652" y="5307377"/>
            <a:ext cx="1455938" cy="51490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4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graphicFrame>
        <p:nvGraphicFramePr>
          <p:cNvPr id="5" name="Tabela 6">
            <a:extLst>
              <a:ext uri="{FF2B5EF4-FFF2-40B4-BE49-F238E27FC236}">
                <a16:creationId xmlns:a16="http://schemas.microsoft.com/office/drawing/2014/main" id="{D5054F6E-72E8-6EBC-A33D-EA8F45DDC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19904"/>
              </p:ext>
            </p:extLst>
          </p:nvPr>
        </p:nvGraphicFramePr>
        <p:xfrm>
          <a:off x="1654621" y="2522929"/>
          <a:ext cx="8128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76089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15725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29942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9935729"/>
                    </a:ext>
                  </a:extLst>
                </a:gridCol>
              </a:tblGrid>
              <a:tr h="26198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P(X=x)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317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28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Com isso, podemos escrever: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=1/10,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=6/10</m:t>
                    </m:r>
                  </m:oMath>
                </a14:m>
                <a:r>
                  <a:rPr lang="pt-BR" sz="2800" dirty="0"/>
                  <a:t>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=3/10.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=7/10</m:t>
                    </m:r>
                  </m:oMath>
                </a14:m>
                <a:r>
                  <a:rPr lang="pt-BR" sz="2800" dirty="0"/>
                  <a:t xml:space="preserve"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b="1" dirty="0"/>
                  <a:t xml:space="preserve">Exercício: </a:t>
                </a:r>
                <a:r>
                  <a:rPr lang="pt-BR" sz="2800" dirty="0"/>
                  <a:t>leia os exemplos 1 e 2 da página 47.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 t="-13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2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422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Esperança matemática</a:t>
                </a:r>
              </a:p>
              <a:p>
                <a:r>
                  <a:rPr lang="pt-BR" sz="2800" dirty="0"/>
                  <a:t xml:space="preserve">Dada uma v.a.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discreta, assumindo os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chamamos de valor médio ou esperança matemática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ao valor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422988"/>
              </a:xfrm>
              <a:prstGeom prst="rect">
                <a:avLst/>
              </a:prstGeom>
              <a:blipFill>
                <a:blip r:embed="rId2"/>
                <a:stretch>
                  <a:fillRect l="-1272" t="-16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0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>Vamos calcular o valor médio e esperança da v.a. do exemplo apresentado no slide 4.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=1/10,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=6/10</m:t>
                    </m:r>
                  </m:oMath>
                </a14:m>
                <a:r>
                  <a:rPr lang="pt-BR" sz="2800" dirty="0"/>
                  <a:t>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=3/10.</m:t>
                    </m:r>
                  </m:oMath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2677656"/>
              </a:xfrm>
              <a:prstGeom prst="rect">
                <a:avLst/>
              </a:prstGeom>
              <a:blipFill>
                <a:blip r:embed="rId2"/>
                <a:stretch>
                  <a:fillRect l="-1272" t="-20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>Uma seguradora paga R$ 30.000,00 em caso de acidente de carro e cobra uma taxa de R$ 1.000,00. Sabe-se que a probabilidade de que um carro sofra acidente é de 3%. Quanto espera a seguradora ganhar por carro segurado?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Faça o cálculo considerando 100 carros.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Defina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o valor de lucro por carro. Calcule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 b="-3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 da esperança matemática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b="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pt-BR" sz="2800" dirty="0"/>
                  <a:t xml:space="preserve"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 xml:space="preserve"> constante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b="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9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109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 da esperança matemática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b="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b="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𝑏𝑌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±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109954"/>
              </a:xfrm>
              <a:prstGeom prst="rect">
                <a:avLst/>
              </a:prstGeom>
              <a:blipFill>
                <a:blip r:embed="rId2"/>
                <a:stretch>
                  <a:fillRect l="-1272" t="-1765" b="-49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2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27770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 xml:space="preserve">Suponhamos que um número seja sorteado de 1 a 10, inteiros positivos. 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o número de divisores do número sorteado. Calcular o número médio de divisores do número sorteado.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Leia o exemplo 4 (pág. 50)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277702" cy="2677656"/>
              </a:xfrm>
              <a:prstGeom prst="rect">
                <a:avLst/>
              </a:prstGeom>
              <a:blipFill>
                <a:blip r:embed="rId2"/>
                <a:stretch>
                  <a:fillRect l="-1246" t="-2050" r="-593" b="-5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14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 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284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Variância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O próximo parâmetro que vamos estudar é a dispersão de uma variável em torno da média.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Definição.</a:t>
                </a:r>
                <a:r>
                  <a:rPr lang="pt-BR" sz="2800" dirty="0"/>
                  <a:t xml:space="preserve"> Chamamos de variância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o valor </a:t>
                </a:r>
                <a:endParaRPr lang="pt-BR" sz="28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284763"/>
              </a:xfrm>
              <a:prstGeom prst="rect">
                <a:avLst/>
              </a:prstGeom>
              <a:blipFill>
                <a:blip r:embed="rId2"/>
                <a:stretch>
                  <a:fillRect l="-1272" t="-12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74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Definir variável aleatória discreta e sua função de probabilidade.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Calcular valor esperado e variância de variáveis aleatórias discretas.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6 (6.1 a 6.4)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3 (3.1, 3.3)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3 (3.1)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3 (3.1, 3.2, 3.3)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Discretas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6.1 a 6.4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3.1, 3.3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3.1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3: 3.1, 3.2, 3.3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6: exercícios sobre variável aleatória, valor esperado e variância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3943</TotalTime>
  <Words>2731</Words>
  <Application>Microsoft Office PowerPoint</Application>
  <PresentationFormat>Widescreen</PresentationFormat>
  <Paragraphs>547</Paragraphs>
  <Slides>50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6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Variáveis Aleatórias Multidimensionais</vt:lpstr>
      <vt:lpstr>CEA055 – Estatística e Probabilidade Variáveis Aleatórias Multidimensionais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  <vt:lpstr>CEA055 – Estatística e Probabilidade  Variáveis Aleatórias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143</cp:revision>
  <dcterms:created xsi:type="dcterms:W3CDTF">2020-07-20T19:35:15Z</dcterms:created>
  <dcterms:modified xsi:type="dcterms:W3CDTF">2024-08-08T20:58:11Z</dcterms:modified>
</cp:coreProperties>
</file>