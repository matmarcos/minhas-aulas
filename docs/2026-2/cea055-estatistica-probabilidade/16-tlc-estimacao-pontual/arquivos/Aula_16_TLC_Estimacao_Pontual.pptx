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51.xml" ContentType="application/vnd.openxmlformats-officedocument.presentationml.slide+xml"/>
  <Override PartName="/ppt/slides/slide52.xml" ContentType="application/vnd.openxmlformats-officedocument.presentationml.slide+xml"/>
</Types>
</file>

<file path=_rels/.rels><?xml version="1.0" encoding="UTF-8"?>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900" r:id="rId19"/>
    <p:sldId id="270" r:id="rId2"/>
    <p:sldId id="286" r:id="rId3"/>
    <p:sldId id="287" r:id="rId4"/>
    <p:sldId id="288" r:id="rId5"/>
    <p:sldId id="284" r:id="rId6"/>
    <p:sldId id="278" r:id="rId7"/>
    <p:sldId id="279" r:id="rId8"/>
    <p:sldId id="280" r:id="rId9"/>
    <p:sldId id="282" r:id="rId10"/>
    <p:sldId id="289" r:id="rId11"/>
    <p:sldId id="269" r:id="rId12"/>
    <p:sldId id="901" r:id="rId20"/>
  </p:sldIdLst>
  <p:sldSz cx="12192000" cy="6858000"/>
  <p:notesSz cx="6858000" cy="9144000"/>
  <p:defaultTextStyle>
    <a:defPPr>
      <a:defRPr lang="pt-BR"/>
    </a:defPPr>
    <a:lvl1pPr marL="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cos Goulart Lima" initials="MGL" lastIdx="1" clrIdx="0">
    <p:extLst>
      <p:ext uri="{19B8F6BF-5375-455C-9EA6-DF929625EA0E}">
        <p15:presenceInfo xmlns:p15="http://schemas.microsoft.com/office/powerpoint/2012/main" userId="809befc0d8c5dfdb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6" autoAdjust="0"/>
    <p:restoredTop sz="94660" autoAdjust="0"/>
  </p:normalViewPr>
  <p:slideViewPr>
    <p:cSldViewPr snapToGrid="0">
      <p:cViewPr varScale="1">
        <p:scale>
          <a:sx n="65" d="100"/>
          <a:sy n="65" d="100"/>
        </p:scale>
        <p:origin x="48" y="451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5" d="100"/>
          <a:sy n="65" d="100"/>
        </p:scale>
        <p:origin x="4690" y="43"/>
      </p:cViewPr>
      <p:guideLst/>
    </p:cSldViewPr>
  </p:notesViewPr>
  <p:gridSpacing cx="72008" cy="72008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commentAuthors" Target="commentAuthors.xml"/><Relationship Id="rId19" Type="http://schemas.openxmlformats.org/officeDocument/2006/relationships/slide" Target="slides/slide51.xml"/><Relationship Id="rId20" Type="http://schemas.openxmlformats.org/officeDocument/2006/relationships/slide" Target="slides/slide52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623A65-BD25-40B6-8815-498297225DF7}" type="datetimeFigureOut">
              <a:rPr lang="pt-BR" smtClean="0"/>
              <a:t>17/09/2024</a:t>
            </a:fld>
            <a:endParaRPr lang="pt-BR" dirty="0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 dirty="0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7F89C7-0D7F-4B10-AF98-1416A21C67F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292120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7F89C7-0D7F-4B10-AF98-1416A21C67FE}" type="slidenum">
              <a:rPr lang="pt-BR" smtClean="0"/>
              <a:t>11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165132360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FB549B-B83A-404E-9BD8-A560AB294D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D7CE2CF-ACA4-4F2F-B0E6-62AA8A4CA0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215145D-ED8E-485D-AFAA-0637E3DDC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17/09/2024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C10A484-EBAA-4375-B22B-EB352202BA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CBFC011-A4F5-4C4D-B328-90D3A1C70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5321273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DC2C77-41CB-40C6-8592-F2323898B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A2E0EDC-CFA2-4EB2-951C-00B6285C61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67430C6-C7CB-4882-8EDC-12D186CAC1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17/09/2024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044677D-F5A4-4226-8F80-D16E10238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DAB1963-7DC3-48C6-816F-DB898EB17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590665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59C7D4-175E-4544-B2C7-10CBDC0B0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1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9345EC1-929C-4442-826F-033EE78936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D04775A-17A7-4EC4-9798-1A34FD10E4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17/09/2024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F42EA98-8D10-4ED3-B93F-FC711F0CD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39B97DE-6B04-4B6F-86E9-1D88F55F5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23122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BAA362-A45A-480A-9074-096724BCA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17FAB7C-66B6-413A-A532-7B4B35F4FB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9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E989473-C5DE-4037-A42E-A0EACF6670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9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3249F76-8985-4102-AAA2-0AF7D18B3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17/09/2024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9E6D85-4300-4D4B-9EF8-C400BC246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82F353B-CB0E-4E22-9F25-903B9054AF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548933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0DC1B8-1341-4AB7-B041-922244C5C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8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33C1DFC-5D65-46F4-994E-FD066564E0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CCD66570-19DA-43E0-B668-A0064803DB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F031A902-2182-44D2-92A6-7D350E01E0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2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F11DEC4-4ED6-4D01-8E2F-F8DFBFBB0D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251D8EF-D452-4BEB-B271-9A45BCDDDA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17/09/2024</a:t>
            </a:fld>
            <a:endParaRPr lang="pt-BR" dirty="0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B874A662-49D6-4C3B-B580-C42ED1ECEE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7B64F4DA-4AAA-4F61-9D50-9FBA731DC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0865270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5CE28C-348A-4584-BBD8-F7D4E80AC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7727A591-6069-48B6-9538-6A690479E1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17/09/2024</a:t>
            </a:fld>
            <a:endParaRPr lang="pt-BR" dirty="0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0F4B20B4-5872-4798-8273-172F9B79BE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00218E22-3A9A-4526-9A35-8F67CBEAC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998076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B8C9ED03-39FE-4839-912F-74079DC07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17/09/2024</a:t>
            </a:fld>
            <a:endParaRPr lang="pt-BR" dirty="0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12202958-2868-421E-B634-EC4F79F445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A1E4208-F91B-406F-93C9-909632019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16385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03AC6E-A8A4-484F-AB72-E01568BAD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652402C-474E-4A4C-BBB4-72C4459FD2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45932530-DB56-4B02-AAD7-0B0DAE05AC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78" indent="0">
              <a:buNone/>
              <a:defRPr sz="1400"/>
            </a:lvl2pPr>
            <a:lvl3pPr marL="914354" indent="0">
              <a:buNone/>
              <a:defRPr sz="1200"/>
            </a:lvl3pPr>
            <a:lvl4pPr marL="1371532" indent="0">
              <a:buNone/>
              <a:defRPr sz="1000"/>
            </a:lvl4pPr>
            <a:lvl5pPr marL="1828709" indent="0">
              <a:buNone/>
              <a:defRPr sz="1000"/>
            </a:lvl5pPr>
            <a:lvl6pPr marL="2285886" indent="0">
              <a:buNone/>
              <a:defRPr sz="1000"/>
            </a:lvl6pPr>
            <a:lvl7pPr marL="2743062" indent="0">
              <a:buNone/>
              <a:defRPr sz="1000"/>
            </a:lvl7pPr>
            <a:lvl8pPr marL="3200240" indent="0">
              <a:buNone/>
              <a:defRPr sz="1000"/>
            </a:lvl8pPr>
            <a:lvl9pPr marL="3657418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5269F7A-8509-44B5-A449-BA774B8D63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17/09/2024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AC7A0F7-9932-436F-9AE3-AFF4AA2B6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2EED5AD-F121-4389-805A-1761D5E18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646053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6E0AC3B-59EE-40F2-994F-F86E662CE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B38B4DB5-6F6C-4DA5-9A20-AC29F12332F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78" indent="0">
              <a:buNone/>
              <a:defRPr sz="2800"/>
            </a:lvl2pPr>
            <a:lvl3pPr marL="914354" indent="0">
              <a:buNone/>
              <a:defRPr sz="2400"/>
            </a:lvl3pPr>
            <a:lvl4pPr marL="1371532" indent="0">
              <a:buNone/>
              <a:defRPr sz="2000"/>
            </a:lvl4pPr>
            <a:lvl5pPr marL="1828709" indent="0">
              <a:buNone/>
              <a:defRPr sz="2000"/>
            </a:lvl5pPr>
            <a:lvl6pPr marL="2285886" indent="0">
              <a:buNone/>
              <a:defRPr sz="2000"/>
            </a:lvl6pPr>
            <a:lvl7pPr marL="2743062" indent="0">
              <a:buNone/>
              <a:defRPr sz="2000"/>
            </a:lvl7pPr>
            <a:lvl8pPr marL="3200240" indent="0">
              <a:buNone/>
              <a:defRPr sz="2000"/>
            </a:lvl8pPr>
            <a:lvl9pPr marL="3657418" indent="0">
              <a:buNone/>
              <a:defRPr sz="2000"/>
            </a:lvl9pPr>
          </a:lstStyle>
          <a:p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CBE271B5-C93D-4796-9358-1D1489AD91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78" indent="0">
              <a:buNone/>
              <a:defRPr sz="1400"/>
            </a:lvl2pPr>
            <a:lvl3pPr marL="914354" indent="0">
              <a:buNone/>
              <a:defRPr sz="1200"/>
            </a:lvl3pPr>
            <a:lvl4pPr marL="1371532" indent="0">
              <a:buNone/>
              <a:defRPr sz="1000"/>
            </a:lvl4pPr>
            <a:lvl5pPr marL="1828709" indent="0">
              <a:buNone/>
              <a:defRPr sz="1000"/>
            </a:lvl5pPr>
            <a:lvl6pPr marL="2285886" indent="0">
              <a:buNone/>
              <a:defRPr sz="1000"/>
            </a:lvl6pPr>
            <a:lvl7pPr marL="2743062" indent="0">
              <a:buNone/>
              <a:defRPr sz="1000"/>
            </a:lvl7pPr>
            <a:lvl8pPr marL="3200240" indent="0">
              <a:buNone/>
              <a:defRPr sz="1000"/>
            </a:lvl8pPr>
            <a:lvl9pPr marL="3657418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70EE369-01D5-4D19-9174-7B158A7B7D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17/09/2024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9AD9A84F-D4C0-4CF0-B94A-BD00C58CC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5C5E872-5A54-4124-AFFF-F672D0693F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770975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682B53-B921-43B0-B70C-89461FC53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0CD7C9CB-B075-433C-911D-C898E41105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86A9F18-28DC-4676-99F1-455FE41D8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17/09/2024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6122BC6-1417-41C0-ABAB-3814030C5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1D411FB-88FD-4753-AD8A-28F528B3E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969994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A7E2BA7-069E-46BC-89D6-D7C2DC18A2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2" y="365126"/>
            <a:ext cx="2628900" cy="5811839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A6D25537-8E8B-46D8-8D94-91EDEBEF2C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2" y="365126"/>
            <a:ext cx="7734300" cy="5811839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8151BBF-6817-43B4-9E70-9E5D97182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17/09/2024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A27DCBE-1398-4403-B8D9-E76E3BB1A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57CFCFD-A47F-4C7B-B8FA-ADA430CE0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176169009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5">
                <a:lumMod val="60000"/>
                <a:lumOff val="40000"/>
              </a:schemeClr>
            </a:gs>
            <a:gs pos="19000">
              <a:schemeClr val="bg1"/>
            </a:gs>
            <a:gs pos="95000">
              <a:schemeClr val="bg1"/>
            </a:gs>
            <a:gs pos="100000">
              <a:schemeClr val="accent5">
                <a:lumMod val="40000"/>
                <a:lumOff val="6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14E2DD83-FDEA-4717-875C-AE246EABA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8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8727906-6A75-4D24-84E2-D534D8BE7C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D73EF87-9823-417E-B531-F5CFE53CC6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45E566-B383-4B2D-B951-1136FD38326E}" type="datetimeFigureOut">
              <a:rPr lang="pt-BR" smtClean="0"/>
              <a:t>17/09/2024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A912461-C5F3-4639-9852-55C185CA8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D549E10-6FAB-43E0-BE2A-E81BCD879D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9415906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6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4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20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98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1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2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Estimação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881687" y="1506234"/>
            <a:ext cx="10618651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Inferência estatística</a:t>
            </a:r>
          </a:p>
          <a:p>
            <a:endParaRPr lang="pt-BR" sz="2800" b="1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Consiste do processo de estudar uma população através de uma amostra.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Levantam-se hipóteses baseados no conhecimento da população e de experimentos semelhantes realizados anteriormente.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As conclusões, portanto, terão um grau de incerteza ou risco.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pt-BR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Esses processo (técnicas e procedimentos) é chamado de inferência estatística.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89632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Estimação</a:t>
            </a:r>
            <a:endParaRPr lang="pt-BR" dirty="0">
              <a:latin typeface="AlternateGothic2 BT" panose="020B060802020205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81687" y="1506234"/>
                <a:ext cx="10618651" cy="39703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>Estimação de parâmetros</a:t>
                </a:r>
              </a:p>
              <a:p>
                <a:endParaRPr lang="pt-BR" sz="2800" b="1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 xml:space="preserve">Suponha que queremos estudar uma população cuja distribuição é conhecida: </a:t>
                </a:r>
              </a:p>
              <a:p>
                <a:pPr marL="914389" lvl="1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>X é a distribuição</a:t>
                </a:r>
              </a:p>
              <a:p>
                <a:pPr marL="914389" lvl="1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, …, </m:t>
                    </m:r>
                    <m:sSub>
                      <m:sSub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pt-BR" sz="2800" dirty="0"/>
                  <a:t xml:space="preserve"> são os parâmetros</a:t>
                </a:r>
              </a:p>
              <a:p>
                <a:pPr lvl="1"/>
                <a:endParaRPr lang="pt-BR" sz="2800" dirty="0"/>
              </a:p>
              <a:p>
                <a:r>
                  <a:rPr lang="pt-BR" sz="2800" dirty="0"/>
                  <a:t xml:space="preserve">Retirada uma amostra casual simples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pt-BR" sz="2800" dirty="0"/>
                  <a:t xml:space="preserve"> temos que encontrar funções que forneçam estimativas dos parâmetros.</a:t>
                </a:r>
              </a:p>
            </p:txBody>
          </p:sp>
        </mc:Choice>
        <mc:Fallback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687" y="1506234"/>
                <a:ext cx="10618651" cy="3970318"/>
              </a:xfrm>
              <a:prstGeom prst="rect">
                <a:avLst/>
              </a:prstGeom>
              <a:blipFill>
                <a:blip r:embed="rId2"/>
                <a:stretch>
                  <a:fillRect l="-1206" t="-1382" r="-804" b="-353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67973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Estimação</a:t>
            </a:r>
            <a:endParaRPr lang="pt-BR" dirty="0">
              <a:latin typeface="AlternateGothic2 BT" panose="020B060802020205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81687" y="1506234"/>
                <a:ext cx="10618651" cy="443300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 xml:space="preserve">Exemplo. </a:t>
                </a:r>
                <a:r>
                  <a:rPr lang="pt-BR" sz="2800" dirty="0"/>
                  <a:t xml:space="preserve">A população pode seguir a distribuição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∼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sz="2800" b="1" dirty="0"/>
                  <a:t>.</a:t>
                </a:r>
              </a:p>
              <a:p>
                <a:endParaRPr lang="pt-BR" sz="2800" b="1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 xml:space="preserve">Parâmetros: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pt-BR" sz="2800" dirty="0"/>
                  <a:t xml:space="preserve"> 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sz="2800" dirty="0"/>
                  <a:t>.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 xml:space="preserve">Estimadores: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pt-BR" sz="2800" b="0" i="1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̅"/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pt-BR" sz="2800" dirty="0"/>
                  <a:t xml:space="preserve"> 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pt-BR" sz="2800" dirty="0"/>
              </a:p>
              <a:p>
                <a:endParaRPr lang="pt-BR" sz="2800" b="1" dirty="0"/>
              </a:p>
              <a:p>
                <a:r>
                  <a:rPr lang="pt-BR" sz="2800" b="1" dirty="0"/>
                  <a:t xml:space="preserve">Exemplo. </a:t>
                </a:r>
                <a:r>
                  <a:rPr lang="pt-BR" sz="2800" dirty="0"/>
                  <a:t>No capítulo anterior vimos estimadores da média amostral e da proporção amostral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∼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pt-BR" sz="28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f>
                          <m:fPr>
                            <m:ctrlPr>
                              <a:rPr lang="pt-BR" sz="280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pt-BR" sz="28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sz="2800" b="0" i="1" dirty="0" smtClean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pt-BR" sz="2800" b="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pt-BR" sz="2800" b="0" i="1" dirty="0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den>
                        </m:f>
                      </m:e>
                    </m:d>
                  </m:oMath>
                </a14:m>
                <a:endParaRPr lang="pt-BR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sz="28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acc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∼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𝑛𝑝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d>
                      </m:num>
                      <m:den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sz="2800" dirty="0"/>
              </a:p>
            </p:txBody>
          </p:sp>
        </mc:Choice>
        <mc:Fallback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687" y="1506234"/>
                <a:ext cx="10618651" cy="4433008"/>
              </a:xfrm>
              <a:prstGeom prst="rect">
                <a:avLst/>
              </a:prstGeom>
              <a:blipFill>
                <a:blip r:embed="rId2"/>
                <a:stretch>
                  <a:fillRect l="-1206" t="-123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65141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Estimação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881687" y="1506234"/>
            <a:ext cx="10618651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Tipos de estimação</a:t>
            </a:r>
          </a:p>
          <a:p>
            <a:endParaRPr lang="pt-BR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Por ponto (aproximação do parâmetro)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Por intervalo (aproximação que contém uma medida do possível erro).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40129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Estimação</a:t>
            </a:r>
            <a:endParaRPr lang="pt-BR" dirty="0">
              <a:latin typeface="AlternateGothic2 BT" panose="020B060802020205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81687" y="1506234"/>
                <a:ext cx="10618651" cy="506670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>Estimação por pontos: qualidades de um bom estimador</a:t>
                </a:r>
              </a:p>
              <a:p>
                <a:endParaRPr lang="pt-BR" sz="2800" b="1" dirty="0"/>
              </a:p>
              <a:p>
                <a:r>
                  <a:rPr lang="pt-BR" sz="2800" dirty="0"/>
                  <a:t xml:space="preserve">a) Consistência. Um estimador é consistente para estimar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pt-BR" sz="2800" dirty="0"/>
                  <a:t>, se</a:t>
                </a:r>
              </a:p>
              <a:p>
                <a:endParaRPr lang="pt-BR" sz="2800" dirty="0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pt-BR" sz="2800" b="0" i="0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→∞</m:t>
                          </m:r>
                        </m:lim>
                      </m:limLow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̂"/>
                                  <m:ctrlPr>
                                    <a:rPr lang="pt-BR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2800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acc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2800" b="0" i="1" dirty="0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</m:d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=0.</m:t>
                      </m:r>
                    </m:oMath>
                  </m:oMathPara>
                </a14:m>
                <a:endParaRPr lang="pt-BR" sz="2800" dirty="0"/>
              </a:p>
              <a:p>
                <a:endParaRPr lang="pt-BR" sz="2800" dirty="0"/>
              </a:p>
              <a:p>
                <a:r>
                  <a:rPr lang="pt-BR" sz="2800" dirty="0"/>
                  <a:t xml:space="preserve">b) Ausência de vício ou justeza. Um estimador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sz="28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</m:oMath>
                </a14:m>
                <a:r>
                  <a:rPr lang="pt-BR" sz="2800" dirty="0"/>
                  <a:t xml:space="preserve"> é não-viesado (ou </a:t>
                </a:r>
                <a:r>
                  <a:rPr lang="pt-BR" sz="2800" dirty="0" err="1"/>
                  <a:t>não-viciado</a:t>
                </a:r>
                <a:r>
                  <a:rPr lang="pt-BR" sz="2800" dirty="0"/>
                  <a:t xml:space="preserve">) de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pt-BR" sz="2800" dirty="0"/>
                  <a:t xml:space="preserve"> se </a:t>
                </a:r>
                <a14:m>
                  <m:oMath xmlns:m="http://schemas.openxmlformats.org/officeDocument/2006/math">
                    <m:r>
                      <a:rPr lang="pt-BR" sz="28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̂"/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acc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pt-BR" sz="2800" dirty="0"/>
                  <a:t xml:space="preserve"> Se a equação acima não valer,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</m:oMath>
                </a14:m>
                <a:r>
                  <a:rPr lang="pt-BR" sz="2800" dirty="0"/>
                  <a:t xml:space="preserve"> diz-se viesado e a diferença </a:t>
                </a:r>
                <a:endParaRPr lang="pt-BR" sz="2800" i="1" dirty="0">
                  <a:latin typeface="Cambria Math" panose="02040503050406030204" pitchFamily="18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i="1" dirty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pt-BR" sz="28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i="1" dirty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d>
                      <m:r>
                        <a:rPr lang="pt-BR" sz="2800" i="1" dirty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pt-BR" sz="2800" i="1" dirty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pt-BR" sz="28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i="1" dirty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d>
                      <m:r>
                        <a:rPr lang="pt-BR" sz="2800" i="1" dirty="0">
                          <a:latin typeface="Cambria Math" panose="02040503050406030204" pitchFamily="18" charset="0"/>
                        </a:rPr>
                        <m:t>– </m:t>
                      </m:r>
                      <m:r>
                        <a:rPr lang="pt-BR" sz="2800" i="1" dirty="0"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pt-BR" sz="2800" dirty="0"/>
              </a:p>
              <a:p>
                <a:r>
                  <a:rPr lang="pt-BR" sz="2800" dirty="0"/>
                  <a:t xml:space="preserve">  é chamado o viés de </a:t>
                </a:r>
                <a14:m>
                  <m:oMath xmlns:m="http://schemas.openxmlformats.org/officeDocument/2006/math">
                    <m:r>
                      <a:rPr lang="pt-BR" sz="2800" i="1" dirty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pt-BR" sz="2800" i="1" dirty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sz="2800" dirty="0"/>
              </a:p>
            </p:txBody>
          </p:sp>
        </mc:Choice>
        <mc:Fallback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687" y="1506234"/>
                <a:ext cx="10618651" cy="5066708"/>
              </a:xfrm>
              <a:prstGeom prst="rect">
                <a:avLst/>
              </a:prstGeom>
              <a:blipFill>
                <a:blip r:embed="rId2"/>
                <a:stretch>
                  <a:fillRect l="-1206" t="-1083" b="-252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13201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Estimação</a:t>
            </a:r>
            <a:endParaRPr lang="pt-BR" dirty="0">
              <a:latin typeface="AlternateGothic2 BT" panose="020B060802020205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81687" y="1506234"/>
                <a:ext cx="10618651" cy="25612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dirty="0"/>
                  <a:t>Mostremos que o estimador</a:t>
                </a:r>
                <a:endParaRPr lang="pt-BR" sz="28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</m:e>
                        <m:sup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sSubSup>
                                <m:sSubSupPr>
                                  <m:ctrlPr>
                                    <a:rPr lang="pt-BR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pt-BR" sz="2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̅"/>
                                  <m:ctrlPr>
                                    <a:rPr lang="pt-BR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2800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</m:acc>
                            </m:e>
                            <m:sup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pt-BR" sz="2800" dirty="0"/>
              </a:p>
              <a:p>
                <a:r>
                  <a:rPr lang="pt-BR" sz="2800" dirty="0"/>
                  <a:t>é viesado.</a:t>
                </a:r>
              </a:p>
              <a:p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687" y="1506234"/>
                <a:ext cx="10618651" cy="2561214"/>
              </a:xfrm>
              <a:prstGeom prst="rect">
                <a:avLst/>
              </a:prstGeom>
              <a:blipFill>
                <a:blip r:embed="rId2"/>
                <a:stretch>
                  <a:fillRect l="-1206" t="-214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26159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Estimação</a:t>
            </a:r>
            <a:endParaRPr lang="pt-BR" dirty="0">
              <a:latin typeface="AlternateGothic2 BT" panose="020B060802020205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81687" y="1506234"/>
                <a:ext cx="10618651" cy="49536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514350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sz="2800" b="0" i="0" smtClean="0">
                        <a:latin typeface="Cambria Math" panose="02040503050406030204" pitchFamily="18" charset="0"/>
                      </a:rPr>
                      <m:t>E</m:t>
                    </m:r>
                    <m:d>
                      <m:d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̂"/>
                                <m:ctrlP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sz="2800" i="1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</m:acc>
                          </m:e>
                          <m:sup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𝐸</m:t>
                        </m:r>
                        <m:d>
                          <m:dPr>
                            <m:ctrlPr>
                              <a:rPr lang="pt-BR" sz="2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pt-BR" sz="28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pt-BR" sz="2800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lang="pt-BR" sz="28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  <m:sup>
                                <m:r>
                                  <a:rPr lang="pt-BR" sz="28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e>
                        </m:d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𝐸</m:t>
                        </m:r>
                        <m:d>
                          <m:dPr>
                            <m:ctrlPr>
                              <a:rPr lang="pt-BR" sz="2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sz="28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acc>
                                  <m:accPr>
                                    <m:chr m:val="̅"/>
                                    <m:ctrlPr>
                                      <a:rPr lang="pt-BR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pt-BR" sz="2800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</m:acc>
                              </m:e>
                              <m:sup>
                                <m:r>
                                  <a:rPr lang="pt-BR" sz="28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</m:e>
                    </m:nary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sz="28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pt-BR" sz="2800" dirty="0"/>
                  <a:t>Considerando ACS, temos</a:t>
                </a:r>
                <a:endParaRPr lang="pt-BR" sz="28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pt-BR" sz="28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sz="28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pt-BR" sz="280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𝑉𝑎𝑟</m:t>
                      </m:r>
                      <m:d>
                        <m:dPr>
                          <m:ctrlPr>
                            <a:rPr lang="pt-BR" sz="28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 dirty="0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pt-BR" sz="280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+ </m:t>
                      </m:r>
                      <m:sSup>
                        <m:sSupPr>
                          <m:ctrlPr>
                            <a:rPr lang="pt-BR" sz="28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sz="28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800" i="1" dirty="0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  <m:d>
                                <m:dPr>
                                  <m:ctrlPr>
                                    <a:rPr lang="pt-BR" sz="28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800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800" i="1" dirty="0" smtClean="0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pt-BR" sz="2800" i="1" dirty="0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pt-BR" sz="280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sz="28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l-GR" sz="2800" i="1" dirty="0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el-GR" sz="280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pt-BR" sz="28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pt-BR" sz="28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l-GR" sz="2800" i="1" dirty="0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p>
                          <m:r>
                            <a:rPr lang="el-GR" sz="280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l-GR" sz="2800" i="1" dirty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800" dirty="0"/>
              </a:p>
              <a:p>
                <a:endParaRPr lang="pt-BR" sz="2800" i="1" dirty="0">
                  <a:latin typeface="Cambria Math" panose="02040503050406030204" pitchFamily="18" charset="0"/>
                </a:endParaRPr>
              </a:p>
              <a:p>
                <a:pPr marL="514350" indent="-514350">
                  <a:buFont typeface="+mj-lt"/>
                  <a:buAutoNum type="arabicPeriod" startAt="3"/>
                </a:pPr>
                <a:r>
                  <a:rPr lang="pt-BR" sz="2800" dirty="0"/>
                  <a:t xml:space="preserve">Pelo </a:t>
                </a:r>
                <a:r>
                  <a:rPr lang="pt-BR" sz="2800" dirty="0" err="1"/>
                  <a:t>Teo</a:t>
                </a:r>
                <a:r>
                  <a:rPr lang="pt-BR" sz="2800" dirty="0"/>
                  <a:t xml:space="preserve">. 10.1 do livro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pt-BR" sz="28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̅"/>
                                  <m:ctrlP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</m:acc>
                            </m:e>
                            <m:sup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𝑉𝑎𝑟</m:t>
                      </m:r>
                      <m:d>
                        <m:dPr>
                          <m:ctrlPr>
                            <a:rPr lang="pt-BR" sz="28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lang="pt-BR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2800" b="0" i="1" dirty="0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acc>
                        </m:e>
                      </m:d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+ </m:t>
                      </m:r>
                      <m:sSup>
                        <m:sSupPr>
                          <m:ctrlPr>
                            <a:rPr lang="pt-BR" sz="28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sz="28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800" i="1" dirty="0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  <m:d>
                                <m:dPr>
                                  <m:ctrlPr>
                                    <a:rPr lang="pt-BR" sz="28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̅"/>
                                      <m:ctrlPr>
                                        <a:rPr lang="pt-BR" sz="2800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sz="2800" b="0" i="1" dirty="0" smtClean="0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pt-BR" sz="280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8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t-BR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l-GR" sz="2800" i="1" dirty="0" smtClean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l-GR" sz="280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sz="28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r>
                        <a:rPr lang="pt-BR" sz="28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pt-BR" sz="28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l-GR" sz="2800" i="1" dirty="0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p>
                          <m:r>
                            <a:rPr lang="el-GR" sz="280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l-GR" sz="2800" i="1" dirty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800" dirty="0"/>
              </a:p>
              <a:p>
                <a:r>
                  <a:rPr lang="pt-BR" sz="2800" dirty="0"/>
                  <a:t xml:space="preserve">Logo,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800" b="0" i="0" smtClean="0">
                          <a:latin typeface="Cambria Math" panose="02040503050406030204" pitchFamily="18" charset="0"/>
                        </a:rPr>
                        <m:t>E</m:t>
                      </m:r>
                      <m:d>
                        <m:d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̂"/>
                                  <m:ctrlPr>
                                    <a:rPr lang="pt-BR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</m:acc>
                            </m:e>
                            <m:sup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𝐸</m:t>
                          </m:r>
                          <m:d>
                            <m:d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𝐸</m:t>
                          </m:r>
                          <m:d>
                            <m:d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acc>
                                    <m:accPr>
                                      <m:chr m:val="̅"/>
                                      <m:ctrlP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</m:acc>
                                </m:e>
                                <m:sup>
                                  <m: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</m:nary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8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pt-BR" sz="2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l-GR" sz="28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l-GR" sz="28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sz="28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pt-BR" sz="2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l-GR" sz="2800" i="1" dirty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p>
                              <m:r>
                                <a:rPr lang="el-GR" sz="28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pt-BR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pt-BR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pt-BR" sz="28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l-GR" sz="2800" i="1" dirty="0">
                                          <a:latin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p>
                                      <m:r>
                                        <a:rPr lang="el-GR" sz="28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num>
                                <m:den>
                                  <m:r>
                                    <a:rPr lang="pt-BR" sz="28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  <m:r>
                                <a:rPr lang="pt-BR" sz="28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pt-BR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l-GR" sz="2800" i="1" dirty="0"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p>
                                  <m:r>
                                    <a:rPr lang="el-GR" sz="2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</m:nary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800" dirty="0"/>
              </a:p>
            </p:txBody>
          </p:sp>
        </mc:Choice>
        <mc:Fallback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687" y="1506234"/>
                <a:ext cx="10618651" cy="4953664"/>
              </a:xfrm>
              <a:prstGeom prst="rect">
                <a:avLst/>
              </a:prstGeom>
              <a:blipFill>
                <a:blip r:embed="rId2"/>
                <a:stretch>
                  <a:fillRect l="-120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91008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Estimação</a:t>
            </a:r>
            <a:endParaRPr lang="pt-BR" dirty="0">
              <a:latin typeface="AlternateGothic2 BT" panose="020B060802020205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81687" y="1506234"/>
                <a:ext cx="10618651" cy="50106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800" b="0" i="0" smtClean="0">
                          <a:latin typeface="Cambria Math" panose="02040503050406030204" pitchFamily="18" charset="0"/>
                        </a:rPr>
                        <m:t>E</m:t>
                      </m:r>
                      <m:d>
                        <m:d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̂"/>
                                  <m:ctrlPr>
                                    <a:rPr lang="pt-BR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</m:acc>
                            </m:e>
                            <m:sup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8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pt-BR" sz="2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l-GR" sz="28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l-GR" sz="28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sz="28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pt-BR" sz="2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l-GR" sz="2800" i="1" dirty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p>
                              <m:r>
                                <a:rPr lang="el-GR" sz="28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pt-BR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pt-BR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pt-BR" sz="28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l-GR" sz="2800" i="1" dirty="0">
                                          <a:latin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p>
                                      <m:r>
                                        <a:rPr lang="el-GR" sz="28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num>
                                <m:den>
                                  <m:r>
                                    <a:rPr lang="pt-BR" sz="28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  <m:r>
                                <a:rPr lang="pt-BR" sz="28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pt-BR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l-GR" sz="2800" i="1" dirty="0"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p>
                                  <m:r>
                                    <a:rPr lang="el-GR" sz="2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</m:nary>
                      <m:r>
                        <a:rPr lang="pt-BR" sz="28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8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8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d>
                        <m:dPr>
                          <m:ctrlPr>
                            <a:rPr lang="pt-BR" sz="28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d>
                            <m:dPr>
                              <m:ctrlPr>
                                <a:rPr lang="pt-BR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pt-BR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l-GR" sz="2800" i="1" dirty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l-GR" sz="2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pt-BR" sz="28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pt-BR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l-GR" sz="2800" i="1" dirty="0"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p>
                                  <m:r>
                                    <a:rPr lang="el-GR" sz="2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  <m:r>
                            <a:rPr lang="pt-BR" sz="28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pt-BR" sz="28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pt-BR" sz="28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sz="2800" b="0" i="1" dirty="0" smtClean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pt-BR" sz="2800" b="0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pt-BR" sz="28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pt-BR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sz="28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l-GR" sz="2800" i="1" dirty="0"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p>
                                  <m:r>
                                    <a:rPr lang="el-GR" sz="2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</m:d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800" b="0" dirty="0"/>
              </a:p>
              <a:p>
                <a:endParaRPr lang="pt-BR" sz="28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i="1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8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8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d>
                        <m:dPr>
                          <m:ctrlPr>
                            <a:rPr lang="pt-BR" sz="28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sSup>
                            <m:sSupPr>
                              <m:ctrlPr>
                                <a:rPr lang="pt-BR" sz="2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l-GR" sz="28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l-GR" sz="28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sz="28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pt-BR" sz="2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28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pt-BR" sz="28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pt-BR" sz="28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sz="28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2800" i="1" dirty="0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pt-BR" sz="280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t-BR" sz="28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dirty="0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f>
                            <m:fPr>
                              <m:ctrlPr>
                                <a:rPr lang="pt-BR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sz="28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sz="2800" b="0" i="1" dirty="0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</m:e>
                      </m:d>
                      <m:r>
                        <a:rPr lang="pt-BR" sz="2800" b="0" i="0" dirty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800" dirty="0"/>
              </a:p>
              <a:p>
                <a:endParaRPr lang="pt-BR" sz="2800" dirty="0"/>
              </a:p>
              <a:p>
                <a:r>
                  <a:rPr lang="pt-BR" sz="2800" dirty="0"/>
                  <a:t xml:space="preserve">Estimativa viesada com viés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pt-BR" sz="2800" dirty="0"/>
                  <a:t xml:space="preserve"> </a:t>
                </a:r>
              </a:p>
              <a:p>
                <a:r>
                  <a:rPr lang="pt-BR" sz="2800" dirty="0"/>
                  <a:t xml:space="preserve">*No livro temos a demonstração que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sz="2800" dirty="0"/>
                  <a:t xml:space="preserve"> é não viesado (</a:t>
                </a:r>
                <a:r>
                  <a:rPr lang="pt-BR" sz="2800" dirty="0" err="1"/>
                  <a:t>pg</a:t>
                </a:r>
                <a:r>
                  <a:rPr lang="pt-BR" sz="2800" dirty="0"/>
                  <a:t xml:space="preserve"> 221).</a:t>
                </a:r>
              </a:p>
            </p:txBody>
          </p:sp>
        </mc:Choice>
        <mc:Fallback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687" y="1506234"/>
                <a:ext cx="10618651" cy="5010602"/>
              </a:xfrm>
              <a:prstGeom prst="rect">
                <a:avLst/>
              </a:prstGeom>
              <a:blipFill>
                <a:blip r:embed="rId2"/>
                <a:stretch>
                  <a:fillRect l="-1206" b="-255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544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Estimação</a:t>
            </a:r>
            <a:endParaRPr lang="pt-BR" dirty="0">
              <a:latin typeface="AlternateGothic2 BT" panose="020B060802020205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81687" y="1506234"/>
                <a:ext cx="10618651" cy="35759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dirty="0"/>
                  <a:t xml:space="preserve">c) Eficiência. </a:t>
                </a:r>
                <a:r>
                  <a:rPr lang="pt-BR" sz="2800" b="1" dirty="0"/>
                  <a:t xml:space="preserve"> </a:t>
                </a:r>
                <a:r>
                  <a:rPr lang="pt-BR" sz="2800" dirty="0"/>
                  <a:t xml:space="preserve">Se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pt-BR" sz="2800" dirty="0"/>
                  <a:t xml:space="preserve"> e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’</m:t>
                    </m:r>
                  </m:oMath>
                </a14:m>
                <a:r>
                  <a:rPr lang="pt-BR" sz="2800" dirty="0"/>
                  <a:t xml:space="preserve"> são dois estimadores não-viesados de um mesmo parâmetro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pt-BR" sz="2800" dirty="0"/>
                  <a:t xml:space="preserve">, e ainda </a:t>
                </a:r>
                <a:endParaRPr lang="pt-BR" sz="28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𝑉𝑎𝑟</m:t>
                      </m:r>
                      <m:d>
                        <m:dPr>
                          <m:ctrlPr>
                            <a:rPr lang="pt-BR" sz="28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i="1" dirty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d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&lt; 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𝑉𝑎𝑟</m:t>
                      </m:r>
                      <m:d>
                        <m:dPr>
                          <m:ctrlPr>
                            <a:rPr lang="pt-BR" sz="28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i="1" dirty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sz="2800" i="1" dirty="0" smtClean="0">
                              <a:latin typeface="Cambria Math" panose="02040503050406030204" pitchFamily="18" charset="0"/>
                            </a:rPr>
                            <m:t>’</m:t>
                          </m:r>
                        </m:e>
                      </m:d>
                      <m:r>
                        <a:rPr lang="pt-BR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sz="2800" dirty="0"/>
              </a:p>
              <a:p>
                <a:endParaRPr lang="pt-BR" sz="2800" dirty="0"/>
              </a:p>
              <a:p>
                <a:r>
                  <a:rPr lang="pt-BR" sz="2800" dirty="0"/>
                  <a:t xml:space="preserve">então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pt-BR" sz="2800" dirty="0"/>
                  <a:t xml:space="preserve"> diz-se mais eficiente do que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’</m:t>
                    </m:r>
                  </m:oMath>
                </a14:m>
                <a:r>
                  <a:rPr lang="pt-BR" sz="2800" dirty="0"/>
                  <a:t>.</a:t>
                </a:r>
              </a:p>
              <a:p>
                <a:endParaRPr lang="pt-BR" sz="2800" dirty="0"/>
              </a:p>
              <a:p>
                <a:r>
                  <a:rPr lang="pt-BR" sz="2800" dirty="0"/>
                  <a:t xml:space="preserve">d) Suficiência. O estimador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sz="28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</m:oMath>
                </a14:m>
                <a:r>
                  <a:rPr lang="pt-BR" sz="2800" dirty="0"/>
                  <a:t xml:space="preserve"> de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pt-BR" sz="2800" dirty="0"/>
                  <a:t xml:space="preserve"> é suficiente se, para qualquer outro estimador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sz="28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28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acc>
                      </m:e>
                      <m: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sz="2800" dirty="0"/>
                  <a:t xml:space="preserve">, a distribuição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sz="28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28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acc>
                      </m:e>
                      <m:sub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sz="2800" dirty="0"/>
                  <a:t xml:space="preserve"> for independente de </a:t>
                </a:r>
                <a14:m>
                  <m:oMath xmlns:m="http://schemas.openxmlformats.org/officeDocument/2006/math"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pt-BR" sz="2800" dirty="0"/>
                  <a:t>.</a:t>
                </a:r>
              </a:p>
            </p:txBody>
          </p:sp>
        </mc:Choice>
        <mc:Fallback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687" y="1506234"/>
                <a:ext cx="10618651" cy="3575979"/>
              </a:xfrm>
              <a:prstGeom prst="rect">
                <a:avLst/>
              </a:prstGeom>
              <a:blipFill>
                <a:blip r:embed="rId2"/>
                <a:stretch>
                  <a:fillRect l="-1206" t="-1533" b="-391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15341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Estimação</a:t>
            </a:r>
            <a:endParaRPr lang="pt-BR" dirty="0">
              <a:latin typeface="AlternateGothic2 BT" panose="020B060802020205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81687" y="1506234"/>
                <a:ext cx="10618651" cy="39703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>Estimação por intervalo</a:t>
                </a:r>
                <a:endParaRPr lang="pt-BR" sz="2800" b="1" i="1" dirty="0">
                  <a:latin typeface="Cambria Math" panose="02040503050406030204" pitchFamily="18" charset="0"/>
                </a:endParaRPr>
              </a:p>
              <a:p>
                <a:pPr/>
                <a:endParaRPr lang="pt-BR" sz="2800" i="1" dirty="0">
                  <a:latin typeface="Cambria Math" panose="02040503050406030204" pitchFamily="18" charset="0"/>
                </a:endParaRPr>
              </a:p>
              <a:p>
                <a:r>
                  <a:rPr lang="pt-BR" sz="2800" dirty="0"/>
                  <a:t>A estimação por intervalo consiste na fixação de dois valores: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 xml:space="preserve">a estimativa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sz="2800" dirty="0"/>
                  <a:t xml:space="preserve"> dada através de um intervalo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 xml:space="preserve">A probabilidade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(1−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sz="2800" dirty="0"/>
                  <a:t xml:space="preserve"> que o intervalo contenha o verdadeiro valor do parâmetro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sz="2800" dirty="0"/>
              </a:p>
              <a:p>
                <a:endParaRPr lang="pt-BR" sz="2800" dirty="0"/>
              </a:p>
              <a:p>
                <a:r>
                  <a:rPr lang="pt-BR" sz="2800" dirty="0"/>
                  <a:t xml:space="preserve">O valor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sz="2800" dirty="0"/>
                  <a:t xml:space="preserve"> é chamado de nível de incerteza ou grau de desconfiança. Logo,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(1−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sz="2800" dirty="0"/>
                  <a:t xml:space="preserve"> é o coeficiente de confiança ou nível de confiabilidade.</a:t>
                </a:r>
              </a:p>
            </p:txBody>
          </p:sp>
        </mc:Choice>
        <mc:Fallback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687" y="1506234"/>
                <a:ext cx="10618651" cy="3970318"/>
              </a:xfrm>
              <a:prstGeom prst="rect">
                <a:avLst/>
              </a:prstGeom>
              <a:blipFill>
                <a:blip r:embed="rId2"/>
                <a:stretch>
                  <a:fillRect l="-1206" t="-1382" r="-1263" b="-353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72385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2"/>
            <a:ext cx="10827959" cy="1641228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Estimação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5"/>
            <a:ext cx="970464" cy="2027284"/>
          </a:xfr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1032611" y="2041869"/>
            <a:ext cx="1082795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dirty="0"/>
              <a:t>Atividades referentes a aula:</a:t>
            </a:r>
          </a:p>
          <a:p>
            <a:endParaRPr lang="pt-BR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 xml:space="preserve">Leia </a:t>
            </a:r>
            <a:r>
              <a:rPr lang="pt-BR" sz="2800"/>
              <a:t>o capítulo 10.</a:t>
            </a:r>
            <a:endParaRPr lang="pt-BR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pt-BR" sz="2800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A49F6C3D-C6CD-46EB-B00C-3C31995D5B04}"/>
              </a:ext>
            </a:extLst>
          </p:cNvPr>
          <p:cNvSpPr txBox="1"/>
          <p:nvPr/>
        </p:nvSpPr>
        <p:spPr>
          <a:xfrm>
            <a:off x="361395" y="6488668"/>
            <a:ext cx="2348848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>
                <a:solidFill>
                  <a:schemeClr val="bg1"/>
                </a:solidFill>
              </a:rPr>
              <a:t>Professor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34939534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Teorema do Limite Central e Estimação Pontual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881687" y="1441868"/>
            <a:ext cx="10067277" cy="4295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b="1" dirty="0"/>
              <a:t>Objetivos do aula:</a:t>
            </a:r>
          </a:p>
          <a:p>
            <a:pPr marL="285737" indent="-285737">
              <a:buFont typeface="Arial" panose="020B0604020202020204" pitchFamily="34" charset="0"/>
              <a:buChar char="•"/>
            </a:pPr>
            <a:r>
              <a:rPr lang="pt-BR" sz="2400" dirty="0"/>
              <a:t>Compreender o Teorema do Limite Central e sua importância na inferência.</a:t>
            </a:r>
          </a:p>
          <a:p>
            <a:pPr marL="285737" indent="-285737">
              <a:buFont typeface="Arial" panose="020B0604020202020204" pitchFamily="34" charset="0"/>
              <a:buChar char="•"/>
            </a:pPr>
            <a:r>
              <a:rPr lang="pt-BR" sz="2400" dirty="0"/>
              <a:t>Obter estimadores pontuais para a média e a proporção populacionais.</a:t>
            </a:r>
          </a:p>
          <a:p>
            <a:r>
              <a:rPr lang="pt-BR" sz="2400" b="1" dirty="0"/>
              <a:t xml:space="preserve">Referências: </a:t>
            </a:r>
          </a:p>
          <a:p>
            <a:pPr marL="457178" indent="-457178">
              <a:buFont typeface="Arial" panose="020B0604020202020204" pitchFamily="34" charset="0"/>
              <a:buChar char="•"/>
            </a:pPr>
            <a:r>
              <a:rPr lang="pt-BR" sz="2000" dirty="0"/>
              <a:t xml:space="preserve">Bussab, Morettin. </a:t>
            </a:r>
            <a:r>
              <a:rPr lang="pt-BR" sz="2000" b="1" dirty="0"/>
              <a:t>Estatística Básica</a:t>
            </a:r>
            <a:r>
              <a:rPr lang="pt-BR" sz="2000" dirty="0"/>
              <a:t>, 9ed — Cap. 10 (10.7); Cap. 11 (11.1)</a:t>
            </a:r>
          </a:p>
          <a:p>
            <a:pPr marL="457178" indent="-457178">
              <a:buFont typeface="Arial" panose="020B0604020202020204" pitchFamily="34" charset="0"/>
              <a:buChar char="•"/>
            </a:pPr>
            <a:r>
              <a:rPr lang="pt-BR" sz="2000" dirty="0"/>
              <a:t xml:space="preserve">Montgomery, Runger. </a:t>
            </a:r>
            <a:r>
              <a:rPr lang="pt-BR" sz="2000" b="1" dirty="0"/>
              <a:t>Applied Statistics and Probability for Engineers</a:t>
            </a:r>
            <a:r>
              <a:rPr lang="pt-BR" sz="2000" dirty="0"/>
              <a:t>, 7th ed — Cap. 7 (7.2, 7.3)</a:t>
            </a:r>
          </a:p>
          <a:p>
            <a:pPr marL="457178" indent="-457178">
              <a:buFont typeface="Arial" panose="020B0604020202020204" pitchFamily="34" charset="0"/>
              <a:buChar char="•"/>
            </a:pPr>
            <a:r>
              <a:rPr lang="pt-BR" sz="2000" dirty="0"/>
              <a:t xml:space="preserve">Magalhães, Lima. </a:t>
            </a:r>
            <a:r>
              <a:rPr lang="pt-BR" sz="2000" b="1" dirty="0"/>
              <a:t>Noções de Probabilidade e Estatística</a:t>
            </a:r>
            <a:r>
              <a:rPr lang="pt-BR" sz="2000" dirty="0"/>
              <a:t>, 5ed — Cap. 7 (7.3)</a:t>
            </a:r>
          </a:p>
          <a:p>
            <a:pPr marL="457178" indent="-457178">
              <a:buFont typeface="Arial" panose="020B0604020202020204" pitchFamily="34" charset="0"/>
              <a:buChar char="•"/>
            </a:pPr>
            <a:r>
              <a:rPr lang="pt-BR" sz="2000" dirty="0"/>
              <a:t xml:space="preserve">Morettin. </a:t>
            </a:r>
            <a:r>
              <a:rPr lang="pt-BR" sz="2000" b="1" dirty="0"/>
              <a:t>Estatística Básica: Probabilidade e Inferência</a:t>
            </a:r>
            <a:r>
              <a:rPr lang="pt-BR" sz="2000" dirty="0"/>
              <a:t xml:space="preserve"> — Cap. 9 (9.1); Cap. 10 (10.2, 10.3)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073895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TLC e Estimação Pontual — Atividades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881687" y="1441868"/>
            <a:ext cx="10067277" cy="4295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b="1" dirty="0"/>
              <a:t>Atividades referentes à aula</a:t>
            </a:r>
          </a:p>
          <a:p>
            <a:r>
              <a:rPr lang="pt-BR" sz="2000" dirty="0"/>
              <a:t xml:space="preserve">Leitura recomendada: </a:t>
            </a:r>
          </a:p>
          <a:p>
            <a:pPr marL="457178" indent="-457178">
              <a:buFont typeface="Arial" panose="020B0604020202020204" pitchFamily="34" charset="0"/>
              <a:buChar char="•"/>
            </a:pPr>
            <a:r>
              <a:rPr lang="pt-BR" sz="2000" dirty="0"/>
              <a:t>Bussab &amp; Morettin — Cap. 10: 10.7; Cap. 11: 11.1</a:t>
            </a:r>
          </a:p>
          <a:p>
            <a:pPr marL="457178" indent="-457178">
              <a:buFont typeface="Arial" panose="020B0604020202020204" pitchFamily="34" charset="0"/>
              <a:buChar char="•"/>
            </a:pPr>
            <a:r>
              <a:rPr lang="pt-BR" sz="2000" dirty="0"/>
              <a:t>Montgomery &amp; Runger — Cap. 7: 7.2, 7.3</a:t>
            </a:r>
          </a:p>
          <a:p>
            <a:pPr marL="457178" indent="-457178">
              <a:buFont typeface="Arial" panose="020B0604020202020204" pitchFamily="34" charset="0"/>
              <a:buChar char="•"/>
            </a:pPr>
            <a:r>
              <a:rPr lang="pt-BR" sz="2000" dirty="0"/>
              <a:t>Magalhães &amp; Lima — Cap. 7: 7.3</a:t>
            </a:r>
          </a:p>
          <a:p>
            <a:pPr marL="457178" indent="-457178">
              <a:buFont typeface="Arial" panose="020B0604020202020204" pitchFamily="34" charset="0"/>
              <a:buChar char="•"/>
            </a:pPr>
            <a:r>
              <a:rPr lang="pt-BR" sz="2000" dirty="0"/>
              <a:t>Morettin — Cap. 9: 9.1; Cap. 10: 10.2, 10.3</a:t>
            </a:r>
          </a:p>
          <a:p>
            <a:r>
              <a:rPr lang="pt-BR" sz="2000" dirty="0"/>
              <a:t>Exercícios recomendados:</a:t>
            </a:r>
          </a:p>
          <a:p>
            <a:pPr marL="457178" indent="-457178">
              <a:buFont typeface="Arial" panose="020B0604020202020204" pitchFamily="34" charset="0"/>
              <a:buChar char="•"/>
            </a:pPr>
            <a:r>
              <a:rPr lang="pt-BR" sz="2000" dirty="0"/>
              <a:t>Bussab, Cap. 10 e 11: exercícios sobre distribuição amostral e estimação pontual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073895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5124</TotalTime>
  <Words>634</Words>
  <Application>Microsoft Office PowerPoint</Application>
  <PresentationFormat>Widescreen</PresentationFormat>
  <Paragraphs>91</Paragraphs>
  <Slides>11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17" baseType="lpstr">
      <vt:lpstr>AlternateGothic2 BT</vt:lpstr>
      <vt:lpstr>Arial</vt:lpstr>
      <vt:lpstr>Calibri</vt:lpstr>
      <vt:lpstr>Calibri Light</vt:lpstr>
      <vt:lpstr>Cambria Math</vt:lpstr>
      <vt:lpstr>Tema do Office</vt:lpstr>
      <vt:lpstr>CEA055 – Estatística e Probabilidade Estimação</vt:lpstr>
      <vt:lpstr>CEA055 – Estatística e Probabilidade Estimação</vt:lpstr>
      <vt:lpstr>CEA055 – Estatística e Probabilidade Estimação</vt:lpstr>
      <vt:lpstr>CEA055 – Estatística e Probabilidade Estimação</vt:lpstr>
      <vt:lpstr>CEA055 – Estatística e Probabilidade Estimação</vt:lpstr>
      <vt:lpstr>CEA055 – Estatística e Probabilidade Estimação</vt:lpstr>
      <vt:lpstr>CEA055 – Estatística e Probabilidade Estimação</vt:lpstr>
      <vt:lpstr>CEA055 – Estatística e Probabilidade Estimação</vt:lpstr>
      <vt:lpstr>CEA055 – Estatística e Probabilidade Estimação</vt:lpstr>
      <vt:lpstr>CEA055 – Estatística e Probabilidade Estimação</vt:lpstr>
      <vt:lpstr>CEA055 – Estatística e Probabilidade Estimação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Marcos Goulart Lima</dc:creator>
  <cp:lastModifiedBy>Marcos Goulart Lima</cp:lastModifiedBy>
  <cp:revision>225</cp:revision>
  <dcterms:created xsi:type="dcterms:W3CDTF">2020-07-20T19:35:15Z</dcterms:created>
  <dcterms:modified xsi:type="dcterms:W3CDTF">2024-09-17T13:37:16Z</dcterms:modified>
</cp:coreProperties>
</file>