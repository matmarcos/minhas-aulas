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900" r:id="rId19"/>
    <p:sldId id="270" r:id="rId2"/>
    <p:sldId id="286" r:id="rId3"/>
    <p:sldId id="287" r:id="rId4"/>
    <p:sldId id="288" r:id="rId5"/>
    <p:sldId id="284" r:id="rId6"/>
    <p:sldId id="278" r:id="rId7"/>
    <p:sldId id="279" r:id="rId8"/>
    <p:sldId id="280" r:id="rId9"/>
    <p:sldId id="282" r:id="rId10"/>
    <p:sldId id="289" r:id="rId11"/>
    <p:sldId id="269" r:id="rId12"/>
    <p:sldId id="901" r:id="rId20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51323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17/09/2024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Teorema do Limite Central e Estimação Pontual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Compreender o Teorema do Limite Central e sua importância na inferência.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Obter estimadores pontuais para a média e a proporção populacionais.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10 (10.7); Cap. 11 (11.1)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7 (7.2, 7.3)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7 (7.3)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9 (9.1); Cap. 10 (10.2, 10.3)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61865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Inferência estatística</a:t>
            </a:r>
          </a:p>
          <a:p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Consiste do processo de estudar uma população através de uma amostra.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Levantam-se hipóteses baseados no conhecimento da população e de experimentos semelhantes realizados anteriormente.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As conclusões, portanto, terão um grau de incerteza ou risco.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Esses processo (técnicas e procedimentos) é chamado de inferência estatística.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6896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Estimação de parâmetros</a:t>
                </a:r>
              </a:p>
              <a:p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Suponha que queremos estudar uma população cuja distribuição é conhecida: 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X é a distribuição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são os parâmetros</a:t>
                </a:r>
              </a:p>
              <a:p>
                <a:pPr lvl="1"/>
                <a:endParaRPr lang="pt-BR" sz="2800" dirty="0"/>
              </a:p>
              <a:p>
                <a:r>
                  <a:rPr lang="pt-BR" sz="2800" dirty="0"/>
                  <a:t xml:space="preserve">Retirada uma amostra casual simples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temos que encontrar funções que forneçam estimativas dos parâmetros.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970318"/>
              </a:xfrm>
              <a:prstGeom prst="rect">
                <a:avLst/>
              </a:prstGeom>
              <a:blipFill>
                <a:blip r:embed="rId2"/>
                <a:stretch>
                  <a:fillRect l="-1206" t="-1382" r="-804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166797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433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 xml:space="preserve">A população pode seguir a distribuição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b="1" dirty="0"/>
                  <a:t>.</a:t>
                </a:r>
              </a:p>
              <a:p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Parâmetros: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Estimadores: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2800" dirty="0"/>
              </a:p>
              <a:p>
                <a:endParaRPr lang="pt-BR" sz="2800" b="1" dirty="0"/>
              </a:p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>No capítulo anterior vimos estimadores da média amostral e da proporção amostral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b="0" i="1" dirty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pt-BR" sz="28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433008"/>
              </a:xfrm>
              <a:prstGeom prst="rect">
                <a:avLst/>
              </a:prstGeom>
              <a:blipFill>
                <a:blip r:embed="rId2"/>
                <a:stretch>
                  <a:fillRect l="-1206" t="-12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66651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6186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Tipos de estimação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Por ponto (aproximação do parâmetro)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Por intervalo (aproximação que contém uma medida do possível erro).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71401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5066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Estimação por pontos: qualidades de um bom estimador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a) Consistência. Um estimador é consistente para estimar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sz="2800" dirty="0"/>
                  <a:t>, se</a:t>
                </a:r>
              </a:p>
              <a:p>
                <a:endParaRPr lang="pt-BR" sz="2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b) Ausência de vício ou justeza. Um 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pt-BR" sz="2800" dirty="0"/>
                  <a:t xml:space="preserve"> é não-viesado (ou </a:t>
                </a:r>
                <a:r>
                  <a:rPr lang="pt-BR" sz="2800" dirty="0" err="1"/>
                  <a:t>não-viciado</a:t>
                </a:r>
                <a:r>
                  <a:rPr lang="pt-BR" sz="2800" dirty="0"/>
                  <a:t xml:space="preserve">)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sz="2800" dirty="0"/>
                  <a:t xml:space="preserve"> se </a:t>
                </a:r>
                <a14:m>
                  <m:oMath xmlns:m="http://schemas.openxmlformats.org/officeDocument/2006/math"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 xml:space="preserve"> Se a equação acima não valer,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pt-BR" sz="2800" dirty="0"/>
                  <a:t xml:space="preserve"> diz-se viesado e a diferença 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–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 xml:space="preserve">  é chamado o viés de </a:t>
                </a:r>
                <a14:m>
                  <m:oMath xmlns:m="http://schemas.openxmlformats.org/officeDocument/2006/math">
                    <m:r>
                      <a:rPr lang="pt-BR" sz="28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5066708"/>
              </a:xfrm>
              <a:prstGeom prst="rect">
                <a:avLst/>
              </a:prstGeom>
              <a:blipFill>
                <a:blip r:embed="rId2"/>
                <a:stretch>
                  <a:fillRect l="-1206" t="-1083" b="-25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51320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2561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Mostremos que o estimador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>é viesado.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2561214"/>
              </a:xfrm>
              <a:prstGeom prst="rect">
                <a:avLst/>
              </a:prstGeom>
              <a:blipFill>
                <a:blip r:embed="rId2"/>
                <a:stretch>
                  <a:fillRect l="-1206" t="-21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4261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953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Considerando ACS, temos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pt-BR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pt-BR" sz="280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80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l-GR" sz="28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l-GR" sz="28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l-GR" sz="28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pt-BR" sz="2800" dirty="0"/>
                  <a:t xml:space="preserve">Pelo </a:t>
                </a:r>
                <a:r>
                  <a:rPr lang="pt-BR" sz="2800" dirty="0" err="1"/>
                  <a:t>Teo</a:t>
                </a:r>
                <a:r>
                  <a:rPr lang="pt-BR" sz="2800" dirty="0"/>
                  <a:t xml:space="preserve">. 10.1 do livro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pt-BR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BR" sz="2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80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l-GR" sz="28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l-GR" sz="28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l-GR" sz="28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 xml:space="preserve">Logo,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l-GR" sz="2800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l-GR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953664"/>
              </a:xfrm>
              <a:prstGeom prst="rect">
                <a:avLst/>
              </a:prstGeo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79100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5010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l-GR" sz="2800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l-GR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l-G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b="0" dirty="0"/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l-G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t-BR" sz="2800" b="0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Estimativa viesada com viés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 xml:space="preserve"> </a:t>
                </a:r>
              </a:p>
              <a:p>
                <a:r>
                  <a:rPr lang="pt-BR" sz="2800" dirty="0"/>
                  <a:t xml:space="preserve">*No livro temos a demonstração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 xml:space="preserve"> é não viesado (</a:t>
                </a:r>
                <a:r>
                  <a:rPr lang="pt-BR" sz="2800" dirty="0" err="1"/>
                  <a:t>pg</a:t>
                </a:r>
                <a:r>
                  <a:rPr lang="pt-BR" sz="2800" dirty="0"/>
                  <a:t xml:space="preserve"> 221).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5010602"/>
              </a:xfrm>
              <a:prstGeom prst="rect">
                <a:avLst/>
              </a:prstGeom>
              <a:blipFill>
                <a:blip r:embed="rId2"/>
                <a:stretch>
                  <a:fillRect l="-1206" b="-25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154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575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 xml:space="preserve">c) Eficiência. </a:t>
                </a:r>
                <a:r>
                  <a:rPr lang="pt-BR" sz="2800" b="1" dirty="0"/>
                  <a:t xml:space="preserve"> </a:t>
                </a:r>
                <a:r>
                  <a:rPr lang="pt-BR" sz="2800" dirty="0"/>
                  <a:t xml:space="preserve">Se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pt-BR" sz="2800" dirty="0"/>
                  <a:t xml:space="preserve"> são dois estimadores não-viesados de um mesmo parâmetro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sz="2800" dirty="0"/>
                  <a:t xml:space="preserve">, e ainda 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&lt;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então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sz="2800" dirty="0"/>
                  <a:t xml:space="preserve"> diz-se mais eficiente do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d) Suficiência. O estimador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pt-BR" sz="2800" dirty="0"/>
                  <a:t xml:space="preserve">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sz="2800" dirty="0"/>
                  <a:t xml:space="preserve"> é suficiente se, para qualquer outro estimador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800" dirty="0"/>
                  <a:t xml:space="preserve">, a distribuição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for independente de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575979"/>
              </a:xfrm>
              <a:prstGeom prst="rect">
                <a:avLst/>
              </a:prstGeom>
              <a:blipFill>
                <a:blip r:embed="rId2"/>
                <a:stretch>
                  <a:fillRect l="-1206" t="-1533" b="-3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21153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Estimação por intervalo</a:t>
                </a:r>
                <a:endParaRPr lang="pt-BR" sz="2800" b="1" i="1" dirty="0">
                  <a:latin typeface="Cambria Math" panose="02040503050406030204" pitchFamily="18" charset="0"/>
                </a:endParaRPr>
              </a:p>
              <a:p>
                <a:pPr/>
                <a:endParaRPr lang="pt-BR" sz="2800" i="1" dirty="0">
                  <a:latin typeface="Cambria Math" panose="02040503050406030204" pitchFamily="18" charset="0"/>
                </a:endParaRPr>
              </a:p>
              <a:p>
                <a:r>
                  <a:rPr lang="pt-BR" sz="2800" dirty="0"/>
                  <a:t>A estimação por intervalo consiste na fixação de dois valores: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a estimativa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dada através de um intervalo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A probabilidade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 xml:space="preserve"> que o intervalo contenha o verdadeiro valor do parâmetro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O valor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/>
                  <a:t xml:space="preserve"> é chamado de nível de incerteza ou grau de desconfiança. Logo,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 xml:space="preserve"> é o coeficiente de confiança ou nível de confiabilidade.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970318"/>
              </a:xfrm>
              <a:prstGeom prst="rect">
                <a:avLst/>
              </a:prstGeom>
              <a:blipFill>
                <a:blip r:embed="rId2"/>
                <a:stretch>
                  <a:fillRect l="-1206" t="-1382" r="-1263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107238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A34B6DD-B04E-45E9-94F0-530A0A45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5"/>
            <a:ext cx="970464" cy="2027284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2041869"/>
            <a:ext cx="108279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Atividades referentes a aula: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 xml:space="preserve">Leia </a:t>
            </a:r>
            <a:r>
              <a:rPr lang="pt-BR" sz="2800"/>
              <a:t>o capítulo 10.</a:t>
            </a: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9395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10: 10.7; Cap. 11: 11.1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7: 7.2, 7.3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7: 7.3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9: 9.1; Cap. 10: 10.2, 10.3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10 e 11: exercícios sobre distribuição amostral e estimação pontual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5124</TotalTime>
  <Words>634</Words>
  <Application>Microsoft Office PowerPoint</Application>
  <PresentationFormat>Widescreen</PresentationFormat>
  <Paragraphs>91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Estimação</vt:lpstr>
      <vt:lpstr>CEA055 – Estatística e Probabilidade Estimação</vt:lpstr>
      <vt:lpstr>CEA055 – Estatística e Probabilidade Estimação</vt:lpstr>
      <vt:lpstr>CEA055 – Estatística e Probabilidade Estimação</vt:lpstr>
      <vt:lpstr>CEA055 – Estatística e Probabilidade Estimação</vt:lpstr>
      <vt:lpstr>CEA055 – Estatística e Probabilidade Estimação</vt:lpstr>
      <vt:lpstr>CEA055 – Estatística e Probabilidade Estimação</vt:lpstr>
      <vt:lpstr>CEA055 – Estatística e Probabilidade Estimação</vt:lpstr>
      <vt:lpstr>CEA055 – Estatística e Probabilidade Estimação</vt:lpstr>
      <vt:lpstr>CEA055 – Estatística e Probabilidade Estimação</vt:lpstr>
      <vt:lpstr>CEA055 – Estatística e Probabilidade Estimação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225</cp:revision>
  <dcterms:created xsi:type="dcterms:W3CDTF">2020-07-20T19:35:15Z</dcterms:created>
  <dcterms:modified xsi:type="dcterms:W3CDTF">2024-09-17T13:37:16Z</dcterms:modified>
</cp:coreProperties>
</file>