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900" r:id="rId2"/>
    <p:sldId id="902" r:id="rId3"/>
    <p:sldId id="903" r:id="rId4"/>
    <p:sldId id="904" r:id="rId5"/>
    <p:sldId id="905" r:id="rId6"/>
    <p:sldId id="906" r:id="rId7"/>
    <p:sldId id="907" r:id="rId8"/>
    <p:sldId id="908" r:id="rId9"/>
    <p:sldId id="909" r:id="rId10"/>
    <p:sldId id="910" r:id="rId11"/>
    <p:sldId id="911" r:id="rId12"/>
    <p:sldId id="912" r:id="rId13"/>
    <p:sldId id="913" r:id="rId14"/>
    <p:sldId id="914" r:id="rId15"/>
    <p:sldId id="915" r:id="rId16"/>
    <p:sldId id="916" r:id="rId17"/>
    <p:sldId id="920" r:id="rId18"/>
    <p:sldId id="917" r:id="rId19"/>
    <p:sldId id="921" r:id="rId20"/>
    <p:sldId id="922" r:id="rId21"/>
    <p:sldId id="918" r:id="rId22"/>
    <p:sldId id="919" r:id="rId23"/>
    <p:sldId id="923" r:id="rId24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61" d="100"/>
          <a:sy n="61" d="100"/>
        </p:scale>
        <p:origin x="1968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F89C7-0D7F-4B10-AF98-1416A21C67FE}" type="slidenum">
              <a:rPr lang="pt-BR" smtClean="0"/>
              <a:t>16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66203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F89C7-0D7F-4B10-AF98-1416A21C67FE}" type="slidenum">
              <a:rPr lang="pt-BR" smtClean="0"/>
              <a:t>17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858436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F89C7-0D7F-4B10-AF98-1416A21C67FE}" type="slidenum">
              <a:rPr lang="pt-BR" smtClean="0"/>
              <a:t>18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84948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F89C7-0D7F-4B10-AF98-1416A21C67FE}" type="slidenum">
              <a:rPr lang="pt-BR" smtClean="0"/>
              <a:t>19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916967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F89C7-0D7F-4B10-AF98-1416A21C67FE}" type="slidenum">
              <a:rPr lang="pt-BR" smtClean="0"/>
              <a:t>20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323760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F89C7-0D7F-4B10-AF98-1416A21C67FE}" type="slidenum">
              <a:rPr lang="pt-BR" smtClean="0"/>
              <a:t>21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57955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Contínuas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568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/>
              <a:t>Objetivos da </a:t>
            </a:r>
            <a:r>
              <a:rPr lang="pt-BR" sz="2400" b="1" dirty="0"/>
              <a:t>aula:</a:t>
            </a:r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Definir variável aleatória contínua e sua função densidade de probabilidade.</a:t>
            </a:r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Calcular valor esperado e variância de variáveis aleatórias contínuas.</a:t>
            </a:r>
          </a:p>
          <a:p>
            <a:pPr>
              <a:lnSpc>
                <a:spcPct val="150000"/>
              </a:lnSpc>
            </a:pPr>
            <a:r>
              <a:rPr lang="pt-BR" sz="2400" b="1" dirty="0"/>
              <a:t>Referências: 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Bussab, Morettin. </a:t>
            </a:r>
            <a:r>
              <a:rPr lang="pt-BR" sz="2000" b="1" dirty="0"/>
              <a:t>Estatística Básica</a:t>
            </a:r>
            <a:r>
              <a:rPr lang="pt-BR" sz="2000" dirty="0"/>
              <a:t>, 9ed — Cap. 7 (7.1 a 7.3)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Montgomery, Runger</a:t>
            </a:r>
            <a:r>
              <a:rPr lang="pt-BR" sz="2000"/>
              <a:t>. </a:t>
            </a:r>
            <a:r>
              <a:rPr lang="pt-BR" sz="2000" b="1"/>
              <a:t>Estatística Aplicada e Probabilidade para Engenheiros</a:t>
            </a:r>
            <a:r>
              <a:rPr lang="pt-BR" sz="2000"/>
              <a:t>, 7ª ed. — </a:t>
            </a:r>
            <a:r>
              <a:rPr lang="pt-BR" sz="2000" dirty="0"/>
              <a:t>Cap. 4 (4.2, 4.3)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Magalhães, Lima. </a:t>
            </a:r>
            <a:r>
              <a:rPr lang="pt-BR" sz="2000" b="1" dirty="0"/>
              <a:t>Noções de Probabilidade e Estatística</a:t>
            </a:r>
            <a:r>
              <a:rPr lang="pt-BR" sz="2000" dirty="0"/>
              <a:t>, 5ed — Cap. 6 (6.1)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Morettin. </a:t>
            </a:r>
            <a:r>
              <a:rPr lang="pt-BR" sz="2000" b="1" dirty="0"/>
              <a:t>Estatística Básica: Probabilidade e Inferência</a:t>
            </a:r>
            <a:r>
              <a:rPr lang="pt-BR" sz="2000" dirty="0"/>
              <a:t> — Cap. 5 (5.1)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4" name="Espaço Reservado para Conteúdo 4">
            <a:extLst>
              <a:ext uri="{FF2B5EF4-FFF2-40B4-BE49-F238E27FC236}">
                <a16:creationId xmlns:a16="http://schemas.microsoft.com/office/drawing/2014/main" id="{04774EBB-6451-E61C-EF46-55ED7E5CE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42539" y="518947"/>
                <a:ext cx="10787610" cy="50475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Variáveis aleatórias contínuas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Vamos comparar um histograma com a </a:t>
                </a:r>
                <a:r>
                  <a:rPr lang="pt-BR" sz="2800" b="1" dirty="0"/>
                  <a:t>distribuição de probabilidade</a:t>
                </a:r>
                <a:r>
                  <a:rPr lang="pt-BR" sz="2800" dirty="0"/>
                  <a:t> de uma variável aleatória discreta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Em um histograma a área das barras corresponde frequência (probabilidade) da realização.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O gráfico da distribuição de probabilidade exibe a probabilidade de cada valor de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>: </a:t>
                </a:r>
                <a14:m>
                  <m:oMath xmlns:m="http://schemas.openxmlformats.org/officeDocument/2006/math"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800" i="1" dirty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pt-BR" sz="2800" dirty="0"/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539" y="518947"/>
                <a:ext cx="10787610" cy="5047536"/>
              </a:xfrm>
              <a:prstGeom prst="rect">
                <a:avLst/>
              </a:prstGeom>
              <a:blipFill>
                <a:blip r:embed="rId2"/>
                <a:stretch>
                  <a:fillRect l="-1187" r="-7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089090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75669" y="730982"/>
                <a:ext cx="10277702" cy="4832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dirty="0"/>
                  <a:t>Considere a variável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> com a seguinte distribuição de probabilidade.</a:t>
                </a:r>
              </a:p>
              <a:p>
                <a:endParaRPr lang="pt-BR" sz="2800" b="1" dirty="0"/>
              </a:p>
              <a:p>
                <a:endParaRPr lang="pt-BR" sz="2800" b="1" dirty="0"/>
              </a:p>
              <a:p>
                <a:endParaRPr lang="pt-BR" sz="2800" b="1" dirty="0"/>
              </a:p>
              <a:p>
                <a:endParaRPr lang="pt-BR" sz="2800" b="1" dirty="0"/>
              </a:p>
              <a:p>
                <a:endParaRPr lang="pt-BR" sz="2800" b="1" dirty="0"/>
              </a:p>
              <a:p>
                <a:endParaRPr lang="pt-BR" sz="2800" b="1" dirty="0"/>
              </a:p>
              <a:p>
                <a:endParaRPr lang="pt-BR" sz="2800" b="1" dirty="0"/>
              </a:p>
              <a:p>
                <a:endParaRPr lang="pt-BR" sz="2800" b="1" dirty="0"/>
              </a:p>
              <a:p>
                <a:endParaRPr lang="pt-BR" sz="2800" b="1" dirty="0"/>
              </a:p>
              <a:p>
                <a:r>
                  <a:rPr lang="pt-BR" sz="2800" dirty="0"/>
                  <a:t>Vamos analisar o histograma da distribuição de probabilidade de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>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669" y="730982"/>
                <a:ext cx="10277702" cy="4832092"/>
              </a:xfrm>
              <a:prstGeom prst="rect">
                <a:avLst/>
              </a:prstGeom>
              <a:blipFill>
                <a:blip r:embed="rId2"/>
                <a:stretch>
                  <a:fillRect l="-1186" t="-1261" b="-26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a 4">
                <a:extLst>
                  <a:ext uri="{FF2B5EF4-FFF2-40B4-BE49-F238E27FC236}">
                    <a16:creationId xmlns:a16="http://schemas.microsoft.com/office/drawing/2014/main" id="{BCB3261E-9DB3-5E4E-8221-36B065D022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7367849"/>
                  </p:ext>
                </p:extLst>
              </p:nvPr>
            </p:nvGraphicFramePr>
            <p:xfrm>
              <a:off x="1340402" y="1742550"/>
              <a:ext cx="3657706" cy="258122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28853">
                      <a:extLst>
                        <a:ext uri="{9D8B030D-6E8A-4147-A177-3AD203B41FA5}">
                          <a16:colId xmlns:a16="http://schemas.microsoft.com/office/drawing/2014/main" val="2167701323"/>
                        </a:ext>
                      </a:extLst>
                    </a:gridCol>
                    <a:gridCol w="1828853">
                      <a:extLst>
                        <a:ext uri="{9D8B030D-6E8A-4147-A177-3AD203B41FA5}">
                          <a16:colId xmlns:a16="http://schemas.microsoft.com/office/drawing/2014/main" val="3002806548"/>
                        </a:ext>
                      </a:extLst>
                    </a:gridCol>
                  </a:tblGrid>
                  <a:tr h="42528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oMath>
                            </m:oMathPara>
                          </a14:m>
                          <a:endParaRPr lang="pt-B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t-B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18456567"/>
                      </a:ext>
                    </a:extLst>
                  </a:tr>
                  <a:tr h="4311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0,1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42234370"/>
                      </a:ext>
                    </a:extLst>
                  </a:tr>
                  <a:tr h="4311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0,2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9990029"/>
                      </a:ext>
                    </a:extLst>
                  </a:tr>
                  <a:tr h="4311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0,4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6261237"/>
                      </a:ext>
                    </a:extLst>
                  </a:tr>
                  <a:tr h="4311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0,2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5284294"/>
                      </a:ext>
                    </a:extLst>
                  </a:tr>
                  <a:tr h="4311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0,1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72236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a 4">
                <a:extLst>
                  <a:ext uri="{FF2B5EF4-FFF2-40B4-BE49-F238E27FC236}">
                    <a16:creationId xmlns:a16="http://schemas.microsoft.com/office/drawing/2014/main" id="{BCB3261E-9DB3-5E4E-8221-36B065D022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5527954"/>
                  </p:ext>
                </p:extLst>
              </p:nvPr>
            </p:nvGraphicFramePr>
            <p:xfrm>
              <a:off x="1340402" y="1742550"/>
              <a:ext cx="3657706" cy="258122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28853">
                      <a:extLst>
                        <a:ext uri="{9D8B030D-6E8A-4147-A177-3AD203B41FA5}">
                          <a16:colId xmlns:a16="http://schemas.microsoft.com/office/drawing/2014/main" val="2167701323"/>
                        </a:ext>
                      </a:extLst>
                    </a:gridCol>
                    <a:gridCol w="1828853">
                      <a:extLst>
                        <a:ext uri="{9D8B030D-6E8A-4147-A177-3AD203B41FA5}">
                          <a16:colId xmlns:a16="http://schemas.microsoft.com/office/drawing/2014/main" val="3002806548"/>
                        </a:ext>
                      </a:extLst>
                    </a:gridCol>
                  </a:tblGrid>
                  <a:tr h="425282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332" t="-1429" r="-101329" b="-5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100667" t="-1429" r="-1667" b="-514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8456567"/>
                      </a:ext>
                    </a:extLst>
                  </a:tr>
                  <a:tr h="4311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0,1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42234370"/>
                      </a:ext>
                    </a:extLst>
                  </a:tr>
                  <a:tr h="4311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0,2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9990029"/>
                      </a:ext>
                    </a:extLst>
                  </a:tr>
                  <a:tr h="4311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0,4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6261237"/>
                      </a:ext>
                    </a:extLst>
                  </a:tr>
                  <a:tr h="4311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0,2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5284294"/>
                      </a:ext>
                    </a:extLst>
                  </a:tr>
                  <a:tr h="4311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0,1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722361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Imagem 6">
            <a:extLst>
              <a:ext uri="{FF2B5EF4-FFF2-40B4-BE49-F238E27FC236}">
                <a16:creationId xmlns:a16="http://schemas.microsoft.com/office/drawing/2014/main" id="{5F103FFB-DFFA-3D63-53DB-A728E66CD6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2252" y="1742550"/>
            <a:ext cx="3657705" cy="292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815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28678" y="839025"/>
                <a:ext cx="10277702" cy="4549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Definição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Uma função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>, definida sobre o espaço amostral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800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pt-BR" sz="2800" dirty="0"/>
                  <a:t> e </a:t>
                </a:r>
                <a:r>
                  <a:rPr lang="pt-BR" sz="2800" b="1" dirty="0"/>
                  <a:t>assumindo valores num intervalo de números reais</a:t>
                </a:r>
                <a:r>
                  <a:rPr lang="pt-BR" sz="2800" dirty="0"/>
                  <a:t>, é dita uma variável aleatória contínua.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Assim, a distribuição de probabilidade passa a ser representada por uma curva "alisada" (a função densidade de probabilidade, que veremos a seguir)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678" y="839025"/>
                <a:ext cx="10277702" cy="4549835"/>
              </a:xfrm>
              <a:prstGeom prst="rect">
                <a:avLst/>
              </a:prstGeom>
              <a:blipFill>
                <a:blip r:embed="rId2"/>
                <a:stretch>
                  <a:fillRect l="-1246" r="-1839" b="-294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282E024B-08FD-0BFC-4367-B96C3C37F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7892" y="4755717"/>
            <a:ext cx="3743847" cy="181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008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15426" y="465938"/>
            <a:ext cx="10827959" cy="5196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b="1" dirty="0"/>
              <a:t>Exemplo: </a:t>
            </a:r>
            <a:r>
              <a:rPr lang="pt-BR" sz="2800" dirty="0"/>
              <a:t>Considere um relógio de ponteiros de maneira que o </a:t>
            </a:r>
            <a:r>
              <a:rPr lang="pt-BR" sz="2800" u="sng" dirty="0"/>
              <a:t>ponteiro dos segundos</a:t>
            </a:r>
            <a:r>
              <a:rPr lang="pt-BR" sz="2800" dirty="0"/>
              <a:t> pode parar a qualquer instante, devido a algum defeito técnico, ou término da bateria.</a:t>
            </a:r>
          </a:p>
          <a:p>
            <a:pPr>
              <a:lnSpc>
                <a:spcPct val="150000"/>
              </a:lnSpc>
            </a:pPr>
            <a:endParaRPr lang="pt-BR" sz="2800" dirty="0"/>
          </a:p>
          <a:p>
            <a:pPr>
              <a:lnSpc>
                <a:spcPct val="150000"/>
              </a:lnSpc>
            </a:pPr>
            <a:r>
              <a:rPr lang="pt-BR" sz="2800" dirty="0"/>
              <a:t>Defina a seguinte v.a. discreta:</a:t>
            </a:r>
          </a:p>
          <a:p>
            <a:pPr>
              <a:lnSpc>
                <a:spcPct val="150000"/>
              </a:lnSpc>
            </a:pPr>
            <a:endParaRPr lang="pt-BR" sz="2800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dirty="0"/>
              <a:t>X: é ângulo que esse ponteiro forma com o eixo vertical passando pelo centro do mostrador e pelo número XII. (quando o ponteiro para).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993820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053795"/>
            <a:ext cx="10827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Distribuição de probabilidade de X: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487F0ED-589D-477C-8BD0-20CA8D580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687" y="2316997"/>
            <a:ext cx="10096362" cy="194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048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15426" y="730982"/>
                <a:ext cx="10827959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dirty="0"/>
                  <a:t>Vamos replicar o exemplo para um ponteiro que se move de maneira </a:t>
                </a:r>
                <a:r>
                  <a:rPr lang="pt-BR" sz="2800" b="1" dirty="0"/>
                  <a:t>contínua</a:t>
                </a:r>
                <a:r>
                  <a:rPr lang="pt-BR" sz="2800" dirty="0"/>
                  <a:t>.</a:t>
                </a:r>
              </a:p>
              <a:p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X: é ângulo que esse ponteiro forma com o eixo vertical passando pelo centro do mostrador e pelo número XII. (quando o ponteiro para).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X é uma variável contínua,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∈[0,360[. </m:t>
                    </m:r>
                  </m:oMath>
                </a14:m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Como calcular a função de probabilidade de X?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426" y="730982"/>
                <a:ext cx="10827959" cy="3970318"/>
              </a:xfrm>
              <a:prstGeom prst="rect">
                <a:avLst/>
              </a:prstGeom>
              <a:blipFill>
                <a:blip r:embed="rId2"/>
                <a:stretch>
                  <a:fillRect l="-1182" t="-1536" r="-1464" b="-35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998212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788922" y="651469"/>
            <a:ext cx="1082795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Vamos usar um histograma para nos auxiliar:</a:t>
            </a:r>
          </a:p>
          <a:p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EEAB44A-357F-4D57-9205-F8A8A34FB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043" y="1572037"/>
            <a:ext cx="10677035" cy="3905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364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82020" y="518947"/>
                <a:ext cx="10827959" cy="54364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dirty="0"/>
                  <a:t>O histograma corresponde a seguinte função:</a:t>
                </a:r>
              </a:p>
              <a:p>
                <a:pPr>
                  <a:lnSpc>
                    <a:spcPct val="150000"/>
                  </a:lnSpc>
                </a:pPr>
                <a:endParaRPr lang="pt-BR" sz="2800" dirty="0"/>
              </a:p>
              <a:p>
                <a:pPr>
                  <a:lnSpc>
                    <a:spcPct val="150000"/>
                  </a:lnSpc>
                </a:pPr>
                <a:endParaRPr lang="pt-BR" sz="2800" dirty="0"/>
              </a:p>
              <a:p>
                <a:pPr>
                  <a:lnSpc>
                    <a:spcPct val="150000"/>
                  </a:lnSpc>
                </a:pPr>
                <a:endParaRPr lang="pt-BR" sz="2800" dirty="0"/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Para calcularmos a probabilidade do ponteiro parar, temos que calcular a área hachurada (entre a e b). O que, matematicamente, corresponde a: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f>
                            <m:f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360</m:t>
                              </m:r>
                            </m:den>
                          </m:f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360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020" y="518947"/>
                <a:ext cx="10827959" cy="5436425"/>
              </a:xfrm>
              <a:prstGeom prst="rect">
                <a:avLst/>
              </a:prstGeom>
              <a:blipFill>
                <a:blip r:embed="rId2"/>
                <a:stretch>
                  <a:fillRect l="-1182" r="-61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EFA588D-13C9-4FA1-9968-ED0D1CDD1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5391" y="1391352"/>
            <a:ext cx="4945940" cy="1373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451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75061" y="552078"/>
                <a:ext cx="10827959" cy="5609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Definição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Uma função contínua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pt-BR" sz="2800" dirty="0"/>
                  <a:t> é de probabilidade ou </a:t>
                </a:r>
                <a:r>
                  <a:rPr lang="pt-BR" sz="2800" b="1" dirty="0"/>
                  <a:t>função densidade de probabilidade</a:t>
                </a:r>
                <a:r>
                  <a:rPr lang="pt-BR" sz="2800" dirty="0"/>
                  <a:t> para uma variável aleatória contínua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> se: 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≥0,</m:t>
                    </m:r>
                  </m:oMath>
                </a14:m>
                <a:r>
                  <a:rPr lang="pt-BR" sz="2800" dirty="0"/>
                  <a:t> para todo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A área definida por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 é igual a 1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b>
                          <m:sup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nary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pt-BR" sz="2800" dirty="0"/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Calcularemos probabilidade de intervalos usando a integral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pt-BR" sz="2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061" y="552078"/>
                <a:ext cx="10827959" cy="5609100"/>
              </a:xfrm>
              <a:prstGeom prst="rect">
                <a:avLst/>
              </a:prstGeom>
              <a:blipFill>
                <a:blip r:embed="rId2"/>
                <a:stretch>
                  <a:fillRect l="-118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309795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64878" y="445603"/>
                <a:ext cx="10827959" cy="60430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Propriedades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Seja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 a função de probabilidade da variável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Esperança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𝑥𝑓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Variância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ctrlPr>
                                        <a:rPr lang="pt-BR" sz="2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𝑉𝐴𝑅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𝐸</m:t>
                    </m:r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2800" dirty="0"/>
                  <a:t> 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878" y="445603"/>
                <a:ext cx="10827959" cy="6043065"/>
              </a:xfrm>
              <a:prstGeom prst="rect">
                <a:avLst/>
              </a:prstGeom>
              <a:blipFill>
                <a:blip r:embed="rId2"/>
                <a:stretch>
                  <a:fillRect l="-112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843816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75670" y="591834"/>
                <a:ext cx="10827959" cy="53012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Propriedades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Função de distribuição acumulada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Observe que, se existir, podemos encontrar a função a </a:t>
                </a:r>
                <a:r>
                  <a:rPr lang="pt-BR" sz="2800" dirty="0" err="1"/>
                  <a:t>f.d.p</a:t>
                </a:r>
                <a:r>
                  <a:rPr lang="pt-BR" sz="2800" dirty="0"/>
                  <a:t> a partir de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pt-BR" sz="28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670" y="591834"/>
                <a:ext cx="10827959" cy="5301259"/>
              </a:xfrm>
              <a:prstGeom prst="rect">
                <a:avLst/>
              </a:prstGeom>
              <a:blipFill>
                <a:blip r:embed="rId2"/>
                <a:stretch>
                  <a:fillRect l="-11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059561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29287" y="565330"/>
                <a:ext cx="10827959" cy="48971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Exemplo: </a:t>
                </a:r>
                <a:r>
                  <a:rPr lang="pt-BR" sz="2800" dirty="0"/>
                  <a:t>Considere a variável associada ao movimento do ponteiro de segundos do relógio.</a:t>
                </a:r>
              </a:p>
              <a:p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Função densidade de probabilidade: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360</m:t>
                        </m:r>
                      </m:den>
                    </m:f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b="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b="1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Distribuição de probabilidade: 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pt-BR" sz="28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f>
                          <m:fPr>
                            <m:ctrlPr>
                              <a:rPr lang="pt-BR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360</m:t>
                            </m:r>
                          </m:den>
                        </m:f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  <m:r>
                      <a:rPr lang="pt-BR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360</m:t>
                        </m:r>
                      </m:den>
                    </m:f>
                    <m:r>
                      <a:rPr lang="pt-BR" sz="28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Esperança: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𝑥𝑓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360</m:t>
                          </m:r>
                        </m:sup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f>
                            <m:f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360</m:t>
                              </m:r>
                            </m:den>
                          </m:f>
                        </m:e>
                      </m:nary>
                      <m:r>
                        <a:rPr lang="pt-BR" sz="2800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360</m:t>
                          </m:r>
                        </m:den>
                      </m:f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360</m:t>
                                  </m:r>
                                </m:e>
                                <m:sup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=180.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565330"/>
                <a:ext cx="10827959" cy="4897174"/>
              </a:xfrm>
              <a:prstGeom prst="rect">
                <a:avLst/>
              </a:prstGeom>
              <a:blipFill>
                <a:blip r:embed="rId2"/>
                <a:stretch>
                  <a:fillRect l="-1182" t="-12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8204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82020" y="532199"/>
                <a:ext cx="10827959" cy="48694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Variância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ctrlPr>
                                        <a:rPr lang="pt-BR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360</m:t>
                          </m:r>
                        </m:sup>
                        <m:e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−180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f>
                            <m:f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360</m:t>
                              </m:r>
                            </m:den>
                          </m:f>
                        </m:e>
                      </m:nary>
                      <m:r>
                        <a:rPr lang="pt-BR" sz="2800" i="1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pt-BR" sz="2800" i="1" dirty="0">
                  <a:latin typeface="Cambria Math" panose="02040503050406030204" pitchFamily="18" charset="0"/>
                </a:endParaRPr>
              </a:p>
              <a:p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360</m:t>
                          </m:r>
                        </m:den>
                      </m:f>
                      <m:nary>
                        <m:nary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360</m:t>
                          </m:r>
                        </m:sup>
                        <m:e>
                          <m:sSup>
                            <m:sSup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−360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+180</m:t>
                              </m:r>
                            </m:e>
                            <m:sup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pt-BR" sz="2800" i="1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pt-BR" sz="28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360</m:t>
                          </m:r>
                        </m:den>
                      </m:f>
                      <m:sSubSup>
                        <m:sSub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pt-BR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pt-BR" sz="28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360</m:t>
                                  </m:r>
                                  <m:sSup>
                                    <m:sSupPr>
                                      <m:ctrlPr>
                                        <a:rPr lang="pt-BR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pt-BR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180</m:t>
                                  </m:r>
                                </m:e>
                                <m:sup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360</m:t>
                          </m:r>
                        </m:sup>
                      </m:sSubSup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=10800.</m:t>
                      </m:r>
                    </m:oMath>
                  </m:oMathPara>
                </a14:m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Desvio padrão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=103,9230</m:t>
                    </m:r>
                  </m:oMath>
                </a14:m>
                <a:r>
                  <a:rPr lang="pt-BR" sz="2800" dirty="0"/>
                  <a:t>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020" y="532199"/>
                <a:ext cx="10827959" cy="4869475"/>
              </a:xfrm>
              <a:prstGeom prst="rect">
                <a:avLst/>
              </a:prstGeom>
              <a:blipFill>
                <a:blip r:embed="rId2"/>
                <a:stretch>
                  <a:fillRect l="-1014" t="-1126" b="-262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0323396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15426" y="532200"/>
                <a:ext cx="10827959" cy="4182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800" dirty="0"/>
                  <a:t>Função de distribuição acumulada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pt-BR" sz="2800" b="0" dirty="0"/>
              </a:p>
              <a:p>
                <a:pPr>
                  <a:lnSpc>
                    <a:spcPct val="150000"/>
                  </a:lnSpc>
                </a:pPr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f>
                            <m:f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360</m:t>
                              </m:r>
                            </m:den>
                          </m:f>
                        </m:e>
                      </m:nary>
                      <m:r>
                        <a:rPr lang="pt-BR" sz="2800" i="1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360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426" y="532200"/>
                <a:ext cx="10827959" cy="4182107"/>
              </a:xfrm>
              <a:prstGeom prst="rect">
                <a:avLst/>
              </a:prstGeom>
              <a:blipFill>
                <a:blip r:embed="rId2"/>
                <a:stretch>
                  <a:fillRect l="-101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3443200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20573" y="675505"/>
                <a:ext cx="10827959" cy="27599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Exemplo.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Verifique se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m:rPr>
                                <m:brk m:alnAt="7"/>
                              </m:rPr>
                              <a:rPr lang="pt-BR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+3,             0≤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≤2</m:t>
                            </m:r>
                          </m:e>
                          <m:e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&amp;0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,             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≤0 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𝑜𝑢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≥2</m:t>
                            </m:r>
                          </m:e>
                        </m:eqArr>
                      </m:e>
                    </m:d>
                  </m:oMath>
                </a14:m>
                <a:r>
                  <a:rPr lang="pt-BR" sz="2800" b="1" dirty="0"/>
                  <a:t> , 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é uma </a:t>
                </a:r>
                <a:r>
                  <a:rPr lang="pt-BR" sz="2800" dirty="0" err="1"/>
                  <a:t>f.d.p</a:t>
                </a:r>
                <a:r>
                  <a:rPr lang="pt-BR" sz="2800" dirty="0"/>
                  <a:t>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573" y="675505"/>
                <a:ext cx="10827959" cy="2759923"/>
              </a:xfrm>
              <a:prstGeom prst="rect">
                <a:avLst/>
              </a:prstGeom>
              <a:blipFill>
                <a:blip r:embed="rId3"/>
                <a:stretch>
                  <a:fillRect l="-1182" b="-529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A49F6C3D-C6CD-46EB-B00C-3C31995D5B04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>
                <a:solidFill>
                  <a:schemeClr val="bg1"/>
                </a:solidFill>
              </a:rPr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4555386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20573" y="675505"/>
                <a:ext cx="10827959" cy="47612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Resolução. </a:t>
                </a:r>
                <a:r>
                  <a:rPr lang="pt-BR" sz="2800" dirty="0"/>
                  <a:t>Uma </a:t>
                </a:r>
                <a:r>
                  <a:rPr lang="pt-BR" sz="2800" dirty="0" err="1"/>
                  <a:t>f.d.p</a:t>
                </a:r>
                <a:r>
                  <a:rPr lang="pt-BR" sz="2800" dirty="0"/>
                  <a:t>. precisa satisfazer duas condições: </a:t>
                </a:r>
              </a:p>
              <a:p>
                <a:pPr marL="514350" indent="-514350">
                  <a:lnSpc>
                    <a:spcPct val="150000"/>
                  </a:lnSpc>
                  <a:buAutoNum type="arabicParenBoth"/>
                </a:pPr>
                <a:r>
                  <a:rPr lang="pt-BR" sz="2800" dirty="0"/>
                  <a:t>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sz="2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800" i="1" dirty="0">
                        <a:latin typeface="Cambria Math" panose="02040503050406030204" pitchFamily="18" charset="0"/>
                      </a:rPr>
                      <m:t>) ≥ 0</m:t>
                    </m:r>
                  </m:oMath>
                </a14:m>
                <a:r>
                  <a:rPr lang="pt-BR" sz="2800" dirty="0"/>
                  <a:t> para todo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sz="2800" dirty="0"/>
                  <a:t>, </a:t>
                </a:r>
              </a:p>
              <a:p>
                <a:pPr marL="514350" indent="-514350">
                  <a:lnSpc>
                    <a:spcPct val="150000"/>
                  </a:lnSpc>
                  <a:buAutoNum type="arabicParenBoth"/>
                </a:pPr>
                <a:r>
                  <a:rPr lang="pt-BR" sz="2800" dirty="0"/>
                  <a:t>a área total sob a curva deve ser igual a 1.</a:t>
                </a:r>
              </a:p>
              <a:p>
                <a:pPr marL="514350" indent="-514350">
                  <a:lnSpc>
                    <a:spcPct val="150000"/>
                  </a:lnSpc>
                  <a:buAutoNum type="arabicParenBoth"/>
                </a:pPr>
                <a:endParaRPr lang="pt-BR" sz="2800" dirty="0"/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1. Para 0 ≤ x ≤ 2, temos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) = 2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+3 ≥ 3 &gt; 0 </m:t>
                    </m:r>
                  </m:oMath>
                </a14:m>
                <a:r>
                  <a:rPr lang="pt-BR" sz="2800" dirty="0"/>
                  <a:t>sempre (é uma reta crescente, nunca negativa nesse intervalo).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2.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∫</m:t>
                        </m:r>
                      </m:e>
                      <m:sub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+3</m:t>
                        </m:r>
                      </m:e>
                    </m:d>
                    <m:r>
                      <a:rPr lang="pt-BR" sz="2800" i="1" dirty="0" err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pt-BR" sz="2800" i="1" dirty="0">
                        <a:latin typeface="Cambria Math" panose="02040503050406030204" pitchFamily="18" charset="0"/>
                      </a:rPr>
                      <m:t> =</m:t>
                    </m:r>
                    <m:sSubSup>
                      <m:sSubSupPr>
                        <m:ctrlPr>
                          <a:rPr lang="pt-BR" sz="2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pt-BR" sz="28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t-BR" sz="28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sz="28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pt-BR" sz="28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pt-BR" sz="2800" i="1" dirty="0">
                                <a:latin typeface="Cambria Math" panose="02040503050406030204" pitchFamily="18" charset="0"/>
                              </a:rPr>
                              <m:t>+3</m:t>
                            </m:r>
                            <m:r>
                              <a:rPr lang="pt-BR" sz="28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pt-BR" sz="28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pt-BR" sz="28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pt-BR" sz="2800" i="1" dirty="0">
                        <a:latin typeface="Cambria Math" panose="02040503050406030204" pitchFamily="18" charset="0"/>
                      </a:rPr>
                      <m:t>=(4+6) − 0=10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573" y="675505"/>
                <a:ext cx="10827959" cy="4761240"/>
              </a:xfrm>
              <a:prstGeom prst="rect">
                <a:avLst/>
              </a:prstGeom>
              <a:blipFill>
                <a:blip r:embed="rId3"/>
                <a:stretch>
                  <a:fillRect l="-1182" b="-192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A49F6C3D-C6CD-46EB-B00C-3C31995D5B04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>
                <a:solidFill>
                  <a:schemeClr val="bg1"/>
                </a:solidFill>
              </a:rPr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2300030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38554" y="463470"/>
                <a:ext cx="10827959" cy="45005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Exemplo. </a:t>
                </a:r>
                <a:r>
                  <a:rPr lang="pt-BR" sz="2800" dirty="0"/>
                  <a:t>Seja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m:rPr>
                                <m:brk m:alnAt="7"/>
                              </m:r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,               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,        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𝑐𝑎𝑠𝑜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𝑐𝑜𝑛𝑡𝑟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á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𝑟𝑖𝑜</m:t>
                            </m:r>
                          </m:e>
                        </m:eqArr>
                      </m:e>
                    </m:d>
                  </m:oMath>
                </a14:m>
                <a:r>
                  <a:rPr lang="pt-BR" sz="2800" dirty="0"/>
                  <a:t>.</a:t>
                </a:r>
              </a:p>
              <a:p>
                <a:endParaRPr lang="pt-BR" sz="2800" dirty="0"/>
              </a:p>
              <a:p>
                <a:endParaRPr lang="pt-BR" sz="2800" dirty="0"/>
              </a:p>
              <a:p>
                <a:pPr marL="971539" lvl="1" indent="-514350">
                  <a:buFont typeface="+mj-lt"/>
                  <a:buAutoNum type="alphaLcParenR"/>
                </a:pPr>
                <a:endParaRPr lang="pt-BR" sz="2800" dirty="0"/>
              </a:p>
              <a:p>
                <a:endParaRPr lang="pt-BR" sz="2800" dirty="0"/>
              </a:p>
              <a:p>
                <a:endParaRPr lang="pt-BR" sz="2800" dirty="0"/>
              </a:p>
              <a:p>
                <a:endParaRPr lang="pt-BR" sz="2800" dirty="0"/>
              </a:p>
              <a:p>
                <a:pPr marL="457178" indent="-457178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178" indent="-457178">
                  <a:buFont typeface="Arial" panose="020B0604020202020204" pitchFamily="34" charset="0"/>
                  <a:buChar char="•"/>
                </a:pPr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554" y="463470"/>
                <a:ext cx="10827959" cy="4500591"/>
              </a:xfrm>
              <a:prstGeom prst="rect">
                <a:avLst/>
              </a:prstGeom>
              <a:blipFill>
                <a:blip r:embed="rId3"/>
                <a:stretch>
                  <a:fillRect l="-11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A49F6C3D-C6CD-46EB-B00C-3C31995D5B04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>
                <a:solidFill>
                  <a:schemeClr val="bg1"/>
                </a:solidFill>
              </a:rPr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E85F2891-740F-5960-AE63-E7561D2E398F}"/>
                  </a:ext>
                </a:extLst>
              </p:cNvPr>
              <p:cNvSpPr txBox="1"/>
              <p:nvPr/>
            </p:nvSpPr>
            <p:spPr>
              <a:xfrm>
                <a:off x="715108" y="1853519"/>
                <a:ext cx="10738338" cy="3256084"/>
              </a:xfrm>
              <a:prstGeom prst="rect">
                <a:avLst/>
              </a:prstGeom>
              <a:noFill/>
            </p:spPr>
            <p:txBody>
              <a:bodyPr wrap="square" numCol="2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dirty="0"/>
                  <a:t>Determinar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lphaLcParenR"/>
                </a:pPr>
                <a:r>
                  <a:rPr lang="pt-BR" sz="2800" b="0" dirty="0"/>
                  <a:t>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sz="2800" dirty="0"/>
                  <a:t> a fim de que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 seja </a:t>
                </a:r>
                <a:r>
                  <a:rPr lang="pt-BR" sz="2800" dirty="0" err="1"/>
                  <a:t>f.d.p</a:t>
                </a:r>
                <a:endParaRPr lang="pt-BR" sz="2800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lphaLcParenR"/>
                </a:pPr>
                <a:r>
                  <a:rPr lang="pt-BR" sz="2800" dirty="0"/>
                  <a:t>o gráfico de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f>
                          <m:f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lphaLcParenR"/>
                </a:pPr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lang="pt-BR" sz="2800" b="0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𝑉𝐴𝑅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800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800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lphaLcParenR"/>
                </a:pPr>
                <a:r>
                  <a:rPr lang="pt-BR" sz="2800" dirty="0"/>
                  <a:t>Gráfico de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E85F2891-740F-5960-AE63-E7561D2E3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108" y="1853519"/>
                <a:ext cx="10738338" cy="3256084"/>
              </a:xfrm>
              <a:prstGeom prst="rect">
                <a:avLst/>
              </a:prstGeom>
              <a:blipFill>
                <a:blip r:embed="rId4"/>
                <a:stretch>
                  <a:fillRect l="-1192" b="-468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2174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38554" y="463470"/>
                <a:ext cx="10827959" cy="5570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Resolução.</a:t>
                </a:r>
              </a:p>
              <a:p>
                <a:pPr marL="514350" indent="-514350">
                  <a:lnSpc>
                    <a:spcPct val="150000"/>
                  </a:lnSpc>
                  <a:buAutoNum type="alphaLcParenR"/>
                </a:pPr>
                <a:r>
                  <a:rPr lang="pt-BR" sz="28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𝑘𝑥</m:t>
                        </m:r>
                      </m:e>
                    </m:nary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=1⇒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pt-BR" sz="2800" dirty="0"/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 Logo,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) = 2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sz="2800" dirty="0"/>
                  <a:t>, para 0 ≤ x ≤ 1.</a:t>
                </a:r>
              </a:p>
              <a:p>
                <a:pPr>
                  <a:lnSpc>
                    <a:spcPct val="150000"/>
                  </a:lnSpc>
                </a:pPr>
                <a:endParaRPr lang="pt-BR" sz="2800" dirty="0"/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b) Gráfico de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c)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0≤ </m:t>
                        </m:r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≤</m:t>
                        </m:r>
                        <m:f>
                          <m:fPr>
                            <m:ctrlPr>
                              <a:rPr lang="pt-BR" sz="28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80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t-BR" sz="28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=</m:t>
                    </m:r>
                    <m:nary>
                      <m:nary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f>
                          <m:fPr>
                            <m:ctrlPr>
                              <a:rPr lang="pt-BR" sz="280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80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t-BR" sz="280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b="0" dirty="0"/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d)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 </m:t>
                    </m:r>
                    <m:r>
                      <a:rPr lang="pt-BR" sz="2800" i="1" dirty="0" err="1" smtClean="0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554" y="463470"/>
                <a:ext cx="10827959" cy="5570243"/>
              </a:xfrm>
              <a:prstGeom prst="rect">
                <a:avLst/>
              </a:prstGeom>
              <a:blipFill>
                <a:blip r:embed="rId3"/>
                <a:stretch>
                  <a:fillRect l="-1182" b="-5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A49F6C3D-C6CD-46EB-B00C-3C31995D5B04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>
                <a:solidFill>
                  <a:schemeClr val="bg1"/>
                </a:solidFill>
              </a:rPr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8080717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38554" y="463470"/>
                <a:ext cx="10827959" cy="4352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Resolução.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e) </a:t>
                </a:r>
                <a14:m>
                  <m:oMath xmlns:m="http://schemas.openxmlformats.org/officeDocument/2006/math"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pt-BR" sz="2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i="1" dirty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pt-BR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pt-BR" sz="28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800" i="1" dirty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pt-BR" sz="28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pt-BR" sz="2800" i="1" dirty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pt-BR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pt-BR" sz="28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800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pt-BR" sz="28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2800" i="1" dirty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pt-BR" sz="28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800" i="1" dirty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f)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pt-BR" sz="28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pt-BR" sz="28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pt-BR" sz="2800" i="1" dirty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pt-BR" sz="2800" i="1" dirty="0">
                        <a:latin typeface="Cambria Math" panose="02040503050406030204" pitchFamily="18" charset="0"/>
                      </a:rPr>
                      <m:t> </m:t>
                    </m:r>
                    <m:r>
                      <a:rPr lang="pt-BR" sz="2800" i="1" dirty="0"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pt-BR" sz="28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800" b="0" i="1" dirty="0">
                    <a:latin typeface="Cambria Math" panose="02040503050406030204" pitchFamily="18" charset="0"/>
                  </a:rPr>
                  <a:t>, </a:t>
                </a:r>
                <a:r>
                  <a:rPr lang="pt-BR" sz="2800" dirty="0"/>
                  <a:t>para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0 ≤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≤ 1</m:t>
                    </m:r>
                  </m:oMath>
                </a14:m>
                <a:r>
                  <a:rPr lang="pt-BR" sz="2800" dirty="0"/>
                  <a:t>;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pt-BR" sz="28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800" i="1" dirty="0">
                          <a:latin typeface="Cambria Math" panose="02040503050406030204" pitchFamily="18" charset="0"/>
                        </a:rPr>
                        <m:t>)=0 </m:t>
                      </m:r>
                      <m:r>
                        <a:rPr lang="pt-BR" sz="2800" i="1" dirty="0">
                          <a:latin typeface="Cambria Math" panose="02040503050406030204" pitchFamily="18" charset="0"/>
                        </a:rPr>
                        <m:t>𝑝𝑎𝑟𝑎</m:t>
                      </m:r>
                      <m:r>
                        <a:rPr lang="pt-BR" sz="28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8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800" i="1" dirty="0">
                          <a:latin typeface="Cambria Math" panose="02040503050406030204" pitchFamily="18" charset="0"/>
                        </a:rPr>
                        <m:t>&lt;0; </m:t>
                      </m:r>
                      <m:r>
                        <a:rPr lang="pt-BR" sz="2800" i="1" dirty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pt-BR" sz="28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800" i="1" dirty="0">
                          <a:latin typeface="Cambria Math" panose="02040503050406030204" pitchFamily="18" charset="0"/>
                        </a:rPr>
                        <m:t>)=1 </m:t>
                      </m:r>
                      <m:r>
                        <a:rPr lang="pt-BR" sz="2800" i="1" dirty="0">
                          <a:latin typeface="Cambria Math" panose="02040503050406030204" pitchFamily="18" charset="0"/>
                        </a:rPr>
                        <m:t>𝑝𝑎𝑟𝑎</m:t>
                      </m:r>
                      <m:r>
                        <a:rPr lang="pt-BR" sz="28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8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800" i="1" dirty="0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pt-BR" sz="2800" dirty="0"/>
              </a:p>
              <a:p>
                <a:pPr>
                  <a:lnSpc>
                    <a:spcPct val="150000"/>
                  </a:lnSpc>
                </a:pPr>
                <a:endParaRPr lang="pt-BR" sz="2800" dirty="0"/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g) Gráfico de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554" y="463470"/>
                <a:ext cx="10827959" cy="4352987"/>
              </a:xfrm>
              <a:prstGeom prst="rect">
                <a:avLst/>
              </a:prstGeom>
              <a:blipFill>
                <a:blip r:embed="rId3"/>
                <a:stretch>
                  <a:fillRect l="-1126" b="-30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A49F6C3D-C6CD-46EB-B00C-3C31995D5B04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>
                <a:solidFill>
                  <a:schemeClr val="bg1"/>
                </a:solidFill>
              </a:rPr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41202772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47077" y="556235"/>
                <a:ext cx="10827959" cy="4747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Exemplo. </a:t>
                </a:r>
                <a:r>
                  <a:rPr lang="pt-BR" sz="2800" dirty="0"/>
                  <a:t>Seja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m:rPr>
                                <m:brk m:alnAt="7"/>
                              </m:r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,               0≤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≤1</m:t>
                            </m:r>
                          </m:e>
                          <m:e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&amp;0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,        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𝑐𝑎𝑠𝑜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𝑐𝑜𝑛𝑡𝑟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á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𝑟𝑖𝑜</m:t>
                            </m:r>
                          </m:e>
                        </m:eqArr>
                      </m:e>
                    </m:d>
                  </m:oMath>
                </a14:m>
                <a:r>
                  <a:rPr lang="pt-BR" sz="2800" dirty="0"/>
                  <a:t>.</a:t>
                </a:r>
              </a:p>
              <a:p>
                <a:endParaRPr lang="pt-BR" sz="2800" dirty="0"/>
              </a:p>
              <a:p>
                <a:r>
                  <a:rPr lang="pt-BR" sz="2800" dirty="0"/>
                  <a:t>Calcular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f>
                          <m:f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f>
                      <m:f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endParaRPr lang="pt-BR" sz="2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f>
                            <m:f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f>
                            <m:f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​≤</m:t>
                          </m:r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f>
                            <m:f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​</m:t>
                          </m:r>
                        </m:e>
                      </m:d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1/3</m:t>
                              </m:r>
                              <m: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  <m:t>​≤</m:t>
                              </m:r>
                              <m: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  <m:t>≤1/2​</m:t>
                              </m:r>
                            </m:e>
                          </m:d>
                        </m:num>
                        <m:den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1/3</m:t>
                              </m:r>
                              <m: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  <m:t>​≤</m:t>
                              </m:r>
                              <m: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  <m:t>≤2/3​</m:t>
                              </m:r>
                            </m:e>
                          </m:d>
                        </m:den>
                      </m:f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​=</m:t>
                      </m:r>
                      <m:f>
                        <m:f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trlP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/3</m:t>
                              </m:r>
                            </m:sub>
                            <m:sup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  <m:e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nary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nary>
                            <m:naryPr>
                              <m:ctrlP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/3</m:t>
                              </m:r>
                            </m:sub>
                            <m:sup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  <m:e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800" i="1" dirty="0">
                                  <a:latin typeface="Cambria Math" panose="02040503050406030204" pitchFamily="18" charset="0"/>
                                </a:rPr>
                                <m:t>𝑥𝑑𝑥</m:t>
                              </m:r>
                            </m:e>
                          </m:nary>
                        </m:den>
                      </m:f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5/36</m:t>
                          </m:r>
                        </m:num>
                        <m:den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1/3</m:t>
                          </m:r>
                        </m:den>
                      </m:f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​=</m:t>
                      </m:r>
                      <m:f>
                        <m:f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​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077" y="556235"/>
                <a:ext cx="10827959" cy="4747325"/>
              </a:xfrm>
              <a:prstGeom prst="rect">
                <a:avLst/>
              </a:prstGeom>
              <a:blipFill>
                <a:blip r:embed="rId3"/>
                <a:stretch>
                  <a:fillRect l="-118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A49F6C3D-C6CD-46EB-B00C-3C31995D5B04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>
                <a:solidFill>
                  <a:schemeClr val="bg1"/>
                </a:solidFill>
              </a:rPr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5721212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795547" y="514216"/>
            <a:ext cx="10067277" cy="335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Atividades referentes à aula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Leitura recomendada: 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Bussab &amp; Morettin — Cap. 7: 7.1 a 7.3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Montgomery &amp; Runger — Cap. 4: 4.2, 4.3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Magalhães &amp; Lima — Cap. 6: 6.1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Morettin — Cap. 5</a:t>
            </a:r>
            <a:r>
              <a:rPr lang="pt-BR" sz="2400"/>
              <a:t>: 5.1</a:t>
            </a:r>
            <a:endParaRPr lang="pt-BR" sz="24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1187002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795547" y="514216"/>
            <a:ext cx="10067277" cy="3913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Atividades referentes </a:t>
            </a:r>
            <a:r>
              <a:rPr lang="pt-BR" sz="2400" b="1"/>
              <a:t>à aula (continuação)</a:t>
            </a:r>
            <a:endParaRPr lang="pt-BR" sz="2400" b="1" dirty="0"/>
          </a:p>
          <a:p>
            <a:pPr>
              <a:lnSpc>
                <a:spcPct val="150000"/>
              </a:lnSpc>
            </a:pPr>
            <a:r>
              <a:rPr lang="pt-BR" sz="2400"/>
              <a:t>Exercícios recomendados:</a:t>
            </a:r>
            <a:endParaRPr lang="it-IT" sz="2400"/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400"/>
              <a:t>Bussab &amp; Morettin — Cap. 7: Problemas 1, 2, 4, 5, 6, 7, 9, 10, 11 e 12</a:t>
            </a:r>
            <a:endParaRPr lang="pt-BR" sz="2400"/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/>
              <a:t>Magalhães &amp; Lima — Cap. 6 (6.3 Exercícios): 3, 4, 5, 6, 7, 8, 11 e 14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/>
              <a:t>Montgomery &amp; Runger — Cap. 4: Exercícios 4.2.1, 4.2.6, 4.2.8, 4.2.9, 4.3.1, 4.3.2, 4.3.6 e 4.3.7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/>
              <a:t>Morettin — Cap. 5: Exercícios 1, 3, 4, 5, 6, 7, 9, 10 e 11</a:t>
            </a:r>
            <a:endParaRPr lang="pt-BR" sz="24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5042662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5088678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AA33B9A-D80D-4603-B2E2-70A773CD36DD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e447b953-2d32-4d70-ba74-f871bdc0ffc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4386</TotalTime>
  <Words>1391</Words>
  <Application>Microsoft Office PowerPoint</Application>
  <PresentationFormat>Widescreen</PresentationFormat>
  <Paragraphs>186</Paragraphs>
  <Slides>23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9" baseType="lpstr">
      <vt:lpstr>AlternateGothic2 BT</vt:lpstr>
      <vt:lpstr>Arial</vt:lpstr>
      <vt:lpstr>Calibri</vt:lpstr>
      <vt:lpstr>Calibri Light</vt:lpstr>
      <vt:lpstr>Cambria Math</vt:lpstr>
      <vt:lpstr>Tema do Office</vt:lpstr>
      <vt:lpstr>CEA055 – Estatística e Probabilidade Variáveis Aleatórias Contínuas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183</cp:revision>
  <dcterms:created xsi:type="dcterms:W3CDTF">2020-07-20T19:35:15Z</dcterms:created>
  <dcterms:modified xsi:type="dcterms:W3CDTF">2026-10-22T11:30:46Z</dcterms:modified>
</cp:coreProperties>
</file>