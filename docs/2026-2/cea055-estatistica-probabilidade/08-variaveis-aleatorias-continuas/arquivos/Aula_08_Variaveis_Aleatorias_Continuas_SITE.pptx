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thumbnail" Target="docProps/thumbnail.jpeg"/><Relationship Id="rId4" Type="http://schemas.openxmlformats.org/package/2006/relationships/metadata/core-properties" Target="docProps/core.xml"/><Relationship Id="rId5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900" r:id="rId2"/>
    <p:sldId id="902" r:id="rId3"/>
    <p:sldId id="903" r:id="rId4"/>
    <p:sldId id="904" r:id="rId5"/>
    <p:sldId id="905" r:id="rId6"/>
    <p:sldId id="906" r:id="rId7"/>
    <p:sldId id="907" r:id="rId8"/>
    <p:sldId id="908" r:id="rId9"/>
    <p:sldId id="909" r:id="rId10"/>
    <p:sldId id="910" r:id="rId12"/>
    <p:sldId id="911" r:id="rId13"/>
    <p:sldId id="912" r:id="rId15"/>
    <p:sldId id="913" r:id="rId16"/>
    <p:sldId id="914" r:id="rId17"/>
    <p:sldId id="915" r:id="rId18"/>
    <p:sldId id="916" r:id="rId19"/>
    <p:sldId id="920" r:id="rId20"/>
    <p:sldId id="917" r:id="rId22"/>
    <p:sldId id="921" r:id="rId23"/>
    <p:sldId id="922" r:id="rId24"/>
    <p:sldId id="918" r:id="rId25"/>
    <p:sldId id="919" r:id="rId27"/>
  </p:sldIdLst>
  <p:sldSz cx="12192000" cy="6858000"/>
  <p:notesSz cx="6858000" cy="9144000"/>
  <p:defaultTextStyle>
    <a:defPPr>
      <a:defRPr lang="pt-BR"/>
    </a:defPPr>
    <a:lvl1pPr marL="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Marcos Goulart Lima" initials="MGL" lastIdx="1" clrIdx="0">
    <p:extLst>
      <p:ext uri="{19B8F6BF-5375-455C-9EA6-DF929625EA0E}">
        <p15:presenceInfo xmlns:p15="http://schemas.microsoft.com/office/powerpoint/2012/main" userId="809befc0d8c5dfd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6" autoAdjust="0"/>
    <p:restoredTop sz="94660" autoAdjust="0"/>
  </p:normalViewPr>
  <p:slideViewPr>
    <p:cSldViewPr snapToGrid="0">
      <p:cViewPr varScale="1">
        <p:scale>
          <a:sx n="61" d="100"/>
          <a:sy n="61" d="100"/>
        </p:scale>
        <p:origin x="1968" y="52"/>
      </p:cViewPr>
      <p:guideLst>
        <p:guide orient="horz" pos="2160"/>
        <p:guide pos="384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5" d="100"/>
          <a:sy n="65" d="100"/>
        </p:scale>
        <p:origin x="4690" y="43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commentAuthors" Target="commentAuthors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3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4623A65-BD25-40B6-8815-498297225DF7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D7F89C7-0D7F-4B10-AF98-1416A21C67FE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292120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18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377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566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754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5943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131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320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509" algn="l" defTabSz="914377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18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66203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19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28584367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21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3849488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22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9169679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23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323760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D7F89C7-0D7F-4B10-AF98-1416A21C67FE}" type="slidenum">
              <a:rPr lang="pt-BR" smtClean="0"/>
              <a:t>24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57955286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68FB549B-B83A-404E-9BD8-A560AB294D1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6D7CE2CF-ACA4-4F2F-B0E6-62AA8A4CA03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7"/>
            <a:ext cx="9144000" cy="1655763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215145D-ED8E-485D-AFAA-0637E3DDCA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8C10A484-EBAA-4375-B22B-EB352202BA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CBFC011-A4F5-4C4D-B328-90D3A1C70F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321273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DC2C77-41CB-40C6-8592-F2323898BE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FA2E0EDC-CFA2-4EB2-951C-00B6285C61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A67430C6-C7CB-4882-8EDC-12D186CAC1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044677D-F5A4-4226-8F80-D16E10238EA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DAB1963-7DC3-48C6-816F-DB898EB1723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590665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659C7D4-175E-4544-B2C7-10CBDC0B06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1" y="1709741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9345EC1-929C-4442-826F-033EE78936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1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178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3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88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062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24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418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8D04775A-17A7-4EC4-9798-1A34FD10E4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F42EA98-8D10-4ED3-B93F-FC711F0CD5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39B97DE-6B04-4B6F-86E9-1D88F55F5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723122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2BAA362-A45A-480A-9074-096724BCA1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217FAB7C-66B6-413A-A532-7B4B35F4FB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0E989473-C5DE-4037-A42E-A0EACF6670D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9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3249F76-8985-4102-AAA2-0AF7D18B3D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9E6D85-4300-4D4B-9EF8-C400BC246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82F353B-CB0E-4E22-9F25-903B9054AF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548933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FB0DC1B8-1341-4AB7-B041-922244C5C8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8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B33C1DFC-5D65-46F4-994E-FD066564E0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CCD66570-19DA-43E0-B668-A0064803DB0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F031A902-2182-44D2-92A6-7D350E01E03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2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78" indent="0">
              <a:buNone/>
              <a:defRPr sz="2000" b="1"/>
            </a:lvl2pPr>
            <a:lvl3pPr marL="914354" indent="0">
              <a:buNone/>
              <a:defRPr sz="1800" b="1"/>
            </a:lvl3pPr>
            <a:lvl4pPr marL="1371532" indent="0">
              <a:buNone/>
              <a:defRPr sz="1600" b="1"/>
            </a:lvl4pPr>
            <a:lvl5pPr marL="1828709" indent="0">
              <a:buNone/>
              <a:defRPr sz="1600" b="1"/>
            </a:lvl5pPr>
            <a:lvl6pPr marL="2285886" indent="0">
              <a:buNone/>
              <a:defRPr sz="1600" b="1"/>
            </a:lvl6pPr>
            <a:lvl7pPr marL="2743062" indent="0">
              <a:buNone/>
              <a:defRPr sz="1600" b="1"/>
            </a:lvl7pPr>
            <a:lvl8pPr marL="3200240" indent="0">
              <a:buNone/>
              <a:defRPr sz="1600" b="1"/>
            </a:lvl8pPr>
            <a:lvl9pPr marL="3657418" indent="0">
              <a:buNone/>
              <a:defRPr sz="1600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F11DEC4-4ED6-4D01-8E2F-F8DFBFBB0DB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6251D8EF-D452-4BEB-B271-9A45BCDDDA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B874A662-49D6-4C3B-B580-C42ED1ECEE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7B64F4DA-4AAA-4F61-9D50-9FBA731DC7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0865270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55CE28C-348A-4584-BBD8-F7D4E80ACE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7727A591-6069-48B6-9538-6A690479E1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0F4B20B4-5872-4798-8273-172F9B79BEA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00218E22-3A9A-4526-9A35-8F67CBEAC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9980760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B8C9ED03-39FE-4839-912F-74079DC07C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12202958-2868-421E-B634-EC4F79F44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A1E4208-F91B-406F-93C9-909632019E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16385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503AC6E-A8A4-484F-AB72-E01568BAD61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0652402C-474E-4A4C-BBB4-72C4459FD2E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45932530-DB56-4B02-AAD7-0B0DAE05ACD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25269F7A-8509-44B5-A449-BA774B8D63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AC7A0F7-9932-436F-9AE3-AFF4AA2B6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82EED5AD-F121-4389-805A-1761D5E18CE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9646053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6E0AC3B-59EE-40F2-994F-F86E662CEC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B38B4DB5-6F6C-4DA5-9A20-AC29F12332F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9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78" indent="0">
              <a:buNone/>
              <a:defRPr sz="2800"/>
            </a:lvl2pPr>
            <a:lvl3pPr marL="914354" indent="0">
              <a:buNone/>
              <a:defRPr sz="2400"/>
            </a:lvl3pPr>
            <a:lvl4pPr marL="1371532" indent="0">
              <a:buNone/>
              <a:defRPr sz="2000"/>
            </a:lvl4pPr>
            <a:lvl5pPr marL="1828709" indent="0">
              <a:buNone/>
              <a:defRPr sz="2000"/>
            </a:lvl5pPr>
            <a:lvl6pPr marL="2285886" indent="0">
              <a:buNone/>
              <a:defRPr sz="2000"/>
            </a:lvl6pPr>
            <a:lvl7pPr marL="2743062" indent="0">
              <a:buNone/>
              <a:defRPr sz="2000"/>
            </a:lvl7pPr>
            <a:lvl8pPr marL="3200240" indent="0">
              <a:buNone/>
              <a:defRPr sz="2000"/>
            </a:lvl8pPr>
            <a:lvl9pPr marL="3657418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CBE271B5-C93D-4796-9358-1D1489AD91F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1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78" indent="0">
              <a:buNone/>
              <a:defRPr sz="1400"/>
            </a:lvl2pPr>
            <a:lvl3pPr marL="914354" indent="0">
              <a:buNone/>
              <a:defRPr sz="1200"/>
            </a:lvl3pPr>
            <a:lvl4pPr marL="1371532" indent="0">
              <a:buNone/>
              <a:defRPr sz="1000"/>
            </a:lvl4pPr>
            <a:lvl5pPr marL="1828709" indent="0">
              <a:buNone/>
              <a:defRPr sz="1000"/>
            </a:lvl5pPr>
            <a:lvl6pPr marL="2285886" indent="0">
              <a:buNone/>
              <a:defRPr sz="1000"/>
            </a:lvl6pPr>
            <a:lvl7pPr marL="2743062" indent="0">
              <a:buNone/>
              <a:defRPr sz="1000"/>
            </a:lvl7pPr>
            <a:lvl8pPr marL="3200240" indent="0">
              <a:buNone/>
              <a:defRPr sz="1000"/>
            </a:lvl8pPr>
            <a:lvl9pPr marL="3657418" indent="0">
              <a:buNone/>
              <a:defRPr sz="1000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70EE369-01D5-4D19-9174-7B158A7B7D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9AD9A84F-D4C0-4CF0-B94A-BD00C58CCE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55C5E872-5A54-4124-AFFF-F672D0693F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770975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A682B53-B921-43B0-B70C-89461FC539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0CD7C9CB-B075-433C-911D-C898E411059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086A9F18-28DC-4676-99F1-455FE41D8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76122BC6-1417-41C0-ABAB-3814030C5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41D411FB-88FD-4753-AD8A-28F528B3E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4969994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CA7E2BA7-069E-46BC-89D6-D7C2DC18A2A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2" y="365126"/>
            <a:ext cx="2628900" cy="5811839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A6D25537-8E8B-46D8-8D94-91EDEBEF2C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2" y="365126"/>
            <a:ext cx="7734300" cy="5811839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E8151BBF-6817-43B4-9E70-9E5D97182D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FA27DCBE-1398-4403-B8D9-E76E3BB1A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957CFCFD-A47F-4C7B-B8FA-ADA430CE0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417616900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5">
                <a:lumMod val="60000"/>
                <a:lumOff val="40000"/>
              </a:schemeClr>
            </a:gs>
            <a:gs pos="19000">
              <a:schemeClr val="bg1"/>
            </a:gs>
            <a:gs pos="95000">
              <a:schemeClr val="bg1"/>
            </a:gs>
            <a:gs pos="100000">
              <a:schemeClr val="accent5">
                <a:lumMod val="40000"/>
                <a:lumOff val="60000"/>
              </a:schemeClr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14E2DD83-FDEA-4717-875C-AE246EABA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8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58727906-6A75-4D24-84E2-D534D8BE7C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D73EF87-9823-417E-B531-F5CFE53CC6D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45E566-B383-4B2D-B951-1136FD38326E}" type="datetimeFigureOut">
              <a:rPr lang="pt-BR" smtClean="0"/>
              <a:t>21/09/2026</a:t>
            </a:fld>
            <a:endParaRPr lang="pt-BR" dirty="0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0A912461-C5F3-4639-9852-55C185CA8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8D549E10-6FAB-43E0-BE2A-E81BCD879D3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4F45F78-8E39-4E0D-8BA4-956BA9D160F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9415906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354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589" indent="-228589" algn="l" defTabSz="914354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6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4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20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298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474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652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829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006" indent="-228589" algn="l" defTabSz="914354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7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54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3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09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886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062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240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418" algn="l" defTabSz="914354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3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8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9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00.png"/><Relationship Id="rId4" Type="http://schemas.openxmlformats.org/officeDocument/2006/relationships/image" Target="../media/image210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3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4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98918-7CB4-450A-A042-F0B538CA25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32611" y="0"/>
            <a:ext cx="10827959" cy="1574800"/>
          </a:xfrm>
        </p:spPr>
        <p:txBody>
          <a:bodyPr>
            <a:normAutofit/>
          </a:bodyPr>
          <a:lstStyle/>
          <a:p>
            <a:pPr algn="ctr"/>
            <a:r>
              <a:rPr lang="pt-BR" dirty="0">
                <a:latin typeface="AlternateGothic2 BT" panose="020B0608020202050204" pitchFamily="34" charset="0"/>
              </a:rPr>
              <a:t>CEA055 – Estatística e Probabilidade</a:t>
            </a:r>
            <a:br>
              <a:rPr lang="pt-BR" dirty="0">
                <a:latin typeface="AlternateGothic2 BT" panose="020B0608020202050204" pitchFamily="34" charset="0"/>
              </a:rPr>
            </a:br>
            <a:r>
              <a:rPr lang="pt-BR" sz="2200" b="1" dirty="0"/>
              <a:t>Variáveis Aleatórias Contínuas</a:t>
            </a:r>
            <a:endParaRPr lang="pt-BR" dirty="0">
              <a:latin typeface="AlternateGothic2 BT" panose="020B0608020202050204" pitchFamily="34" charset="0"/>
            </a:endParaRPr>
          </a:p>
        </p:txBody>
      </p:sp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441868"/>
            <a:ext cx="10067277" cy="4568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/>
              <a:t>Objetivos da </a:t>
            </a:r>
            <a:r>
              <a:rPr lang="pt-BR" sz="2400" b="1" dirty="0"/>
              <a:t>aula: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Definir variável aleatória contínua e sua função densidade de probabilidade.</a:t>
            </a:r>
          </a:p>
          <a:p>
            <a:pPr marL="285737" indent="-285737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Calcular valor esperado e variância de variáveis aleatórias contínuas.</a:t>
            </a:r>
          </a:p>
          <a:p>
            <a:pPr>
              <a:lnSpc>
                <a:spcPct val="150000"/>
              </a:lnSpc>
            </a:pPr>
            <a:r>
              <a:rPr lang="pt-BR" sz="2400" b="1" dirty="0"/>
              <a:t>Referências: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Bussab, Morettin. </a:t>
            </a:r>
            <a:r>
              <a:rPr lang="pt-BR" sz="2000" b="1" dirty="0"/>
              <a:t>Estatística Básica</a:t>
            </a:r>
            <a:r>
              <a:rPr lang="pt-BR" sz="2000" dirty="0"/>
              <a:t>, 9ed — Cap. 7 (7.1 a 7.3)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Montgomery, Runger. </a:t>
            </a:r>
            <a:r>
              <a:rPr lang="pt-BR" sz="2000" b="1" dirty="0"/>
              <a:t>Applied Statistics and Probability for Engineers</a:t>
            </a:r>
            <a:r>
              <a:rPr lang="pt-BR" sz="2000" dirty="0"/>
              <a:t>, 7th ed — Cap. 4 (4.2, 4.3)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Magalhães, Lima. </a:t>
            </a:r>
            <a:r>
              <a:rPr lang="pt-BR" sz="2000" b="1" dirty="0"/>
              <a:t>Noções de Probabilidade e Estatística</a:t>
            </a:r>
            <a:r>
              <a:rPr lang="pt-BR" sz="2000" dirty="0"/>
              <a:t>, 5ed — Cap. 6 (6.1)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000" dirty="0"/>
              <a:t>Morettin. </a:t>
            </a:r>
            <a:r>
              <a:rPr lang="pt-BR" sz="2000" b="1" dirty="0"/>
              <a:t>Estatística Básica: Probabilidade e Inferência</a:t>
            </a:r>
            <a:r>
              <a:rPr lang="pt-BR" sz="2000" dirty="0"/>
              <a:t> — Cap. 5 (5.1)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4" name="Espaço Reservado para Conteúdo 4">
            <a:extLst>
              <a:ext uri="{FF2B5EF4-FFF2-40B4-BE49-F238E27FC236}">
                <a16:creationId xmlns:a16="http://schemas.microsoft.com/office/drawing/2014/main" id="{04774EBB-6451-E61C-EF46-55ED7E5CE27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144" y="112237"/>
            <a:ext cx="588096" cy="12285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07389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42539" y="518947"/>
                <a:ext cx="10787610" cy="5047536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Variáveis aleatórias contínuas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Vamos comparar um histograma com a </a:t>
                </a:r>
                <a:r>
                  <a:rPr lang="pt-BR" sz="2800" b="1" dirty="0"/>
                  <a:t>distribuição de probabilidade</a:t>
                </a:r>
                <a:r>
                  <a:rPr lang="pt-BR" sz="2800" dirty="0"/>
                  <a:t> de uma variável aleatória discreta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Em um histograma a área das barras corresponde frequência (probabilidade) da realização.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O gráfico da distribuição de probabilidade exibe a probabilidade de cada valor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: </a:t>
                </a: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).</m:t>
                    </m:r>
                  </m:oMath>
                </a14:m>
                <a:endParaRPr lang="pt-BR" sz="2800" dirty="0"/>
              </a:p>
              <a:p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42539" y="518947"/>
                <a:ext cx="10787610" cy="5047536"/>
              </a:xfrm>
              <a:prstGeom prst="rect">
                <a:avLst/>
              </a:prstGeom>
              <a:blipFill>
                <a:blip r:embed="rId2"/>
                <a:stretch>
                  <a:fillRect l="-1187" r="-79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0890906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75669" y="730982"/>
                <a:ext cx="10277702" cy="483209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Considere a variável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com a seguinte distribuição de probabilidade.</a:t>
                </a:r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endParaRPr lang="pt-BR" sz="2800" b="1" dirty="0"/>
              </a:p>
              <a:p>
                <a:r>
                  <a:rPr lang="pt-BR" sz="2800" dirty="0"/>
                  <a:t>Vamos analisar o histograma da distribuição de probabilidade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669" y="730982"/>
                <a:ext cx="10277702" cy="4832092"/>
              </a:xfrm>
              <a:prstGeom prst="rect">
                <a:avLst/>
              </a:prstGeom>
              <a:blipFill>
                <a:blip r:embed="rId2"/>
                <a:stretch>
                  <a:fillRect l="-1186" t="-1261" b="-264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5" name="Tabela 4">
                <a:extLst>
                  <a:ext uri="{FF2B5EF4-FFF2-40B4-BE49-F238E27FC236}">
                    <a16:creationId xmlns:a16="http://schemas.microsoft.com/office/drawing/2014/main" id="{BCB3261E-9DB3-5E4E-8221-36B065D022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5527954"/>
                  </p:ext>
                </p:extLst>
              </p:nvPr>
            </p:nvGraphicFramePr>
            <p:xfrm>
              <a:off x="1340402" y="1742550"/>
              <a:ext cx="3657706" cy="25812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28853">
                      <a:extLst>
                        <a:ext uri="{9D8B030D-6E8A-4147-A177-3AD203B41FA5}">
                          <a16:colId xmlns:a16="http://schemas.microsoft.com/office/drawing/2014/main" val="2167701323"/>
                        </a:ext>
                      </a:extLst>
                    </a:gridCol>
                    <a:gridCol w="1828853">
                      <a:extLst>
                        <a:ext uri="{9D8B030D-6E8A-4147-A177-3AD203B41FA5}">
                          <a16:colId xmlns:a16="http://schemas.microsoft.com/office/drawing/2014/main" val="3002806548"/>
                        </a:ext>
                      </a:extLst>
                    </a:gridCol>
                  </a:tblGrid>
                  <a:tr h="425282"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b="1" i="1" smtClean="0">
                                    <a:latin typeface="Cambria Math" panose="02040503050406030204" pitchFamily="18" charset="0"/>
                                  </a:rPr>
                                  <m:t>𝑿</m:t>
                                </m:r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𝑃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𝑌</m:t>
                                </m:r>
                                <m:r>
                                  <a:rPr lang="pt-BR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pt-BR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718456567"/>
                      </a:ext>
                    </a:extLst>
                  </a:tr>
                  <a:tr h="43118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0,1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2234370"/>
                      </a:ext>
                    </a:extLst>
                  </a:tr>
                  <a:tr h="43118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0,2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990029"/>
                      </a:ext>
                    </a:extLst>
                  </a:tr>
                  <a:tr h="43118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0,4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261237"/>
                      </a:ext>
                    </a:extLst>
                  </a:tr>
                  <a:tr h="43118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0,2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65284294"/>
                      </a:ext>
                    </a:extLst>
                  </a:tr>
                  <a:tr h="43118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0,1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7223618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5" name="Tabela 4">
                <a:extLst>
                  <a:ext uri="{FF2B5EF4-FFF2-40B4-BE49-F238E27FC236}">
                    <a16:creationId xmlns:a16="http://schemas.microsoft.com/office/drawing/2014/main" id="{BCB3261E-9DB3-5E4E-8221-36B065D0220E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85527954"/>
                  </p:ext>
                </p:extLst>
              </p:nvPr>
            </p:nvGraphicFramePr>
            <p:xfrm>
              <a:off x="1340402" y="1742550"/>
              <a:ext cx="3657706" cy="2581227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1828853">
                      <a:extLst>
                        <a:ext uri="{9D8B030D-6E8A-4147-A177-3AD203B41FA5}">
                          <a16:colId xmlns:a16="http://schemas.microsoft.com/office/drawing/2014/main" val="2167701323"/>
                        </a:ext>
                      </a:extLst>
                    </a:gridCol>
                    <a:gridCol w="1828853">
                      <a:extLst>
                        <a:ext uri="{9D8B030D-6E8A-4147-A177-3AD203B41FA5}">
                          <a16:colId xmlns:a16="http://schemas.microsoft.com/office/drawing/2014/main" val="3002806548"/>
                        </a:ext>
                      </a:extLst>
                    </a:gridCol>
                  </a:tblGrid>
                  <a:tr h="425282"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332" t="-1429" r="-101329" b="-514286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pt-BR"/>
                        </a:p>
                      </a:txBody>
                      <a:tcPr>
                        <a:blipFill>
                          <a:blip r:embed="rId3"/>
                          <a:stretch>
                            <a:fillRect l="-100667" t="-1429" r="-1667" b="-514286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718456567"/>
                      </a:ext>
                    </a:extLst>
                  </a:tr>
                  <a:tr h="43118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1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0,1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842234370"/>
                      </a:ext>
                    </a:extLst>
                  </a:tr>
                  <a:tr h="43118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2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0,2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09990029"/>
                      </a:ext>
                    </a:extLst>
                  </a:tr>
                  <a:tr h="43118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3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0,4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86261237"/>
                      </a:ext>
                    </a:extLst>
                  </a:tr>
                  <a:tr h="43118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4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0,2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965284294"/>
                      </a:ext>
                    </a:extLst>
                  </a:tr>
                  <a:tr h="431189"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5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ctr"/>
                          <a:r>
                            <a:rPr lang="pt-BR" dirty="0"/>
                            <a:t>0,1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47223618"/>
                      </a:ext>
                    </a:extLst>
                  </a:tr>
                </a:tbl>
              </a:graphicData>
            </a:graphic>
          </p:graphicFrame>
        </mc:Fallback>
      </mc:AlternateContent>
      <p:pic>
        <p:nvPicPr>
          <p:cNvPr id="7" name="Imagem 6">
            <a:extLst>
              <a:ext uri="{FF2B5EF4-FFF2-40B4-BE49-F238E27FC236}">
                <a16:creationId xmlns:a16="http://schemas.microsoft.com/office/drawing/2014/main" id="{5F103FFB-DFFA-3D63-53DB-A728E66CD69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2252" y="1742550"/>
            <a:ext cx="3657705" cy="29243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08153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28678" y="839025"/>
                <a:ext cx="10277702" cy="454983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Definição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Uma função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, definida sobre o espaço amostral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pt-BR" sz="2800" b="0" i="0" smtClean="0">
                        <a:latin typeface="Cambria Math" panose="02040503050406030204" pitchFamily="18" charset="0"/>
                      </a:rPr>
                      <m:t>Ω</m:t>
                    </m:r>
                  </m:oMath>
                </a14:m>
                <a:r>
                  <a:rPr lang="pt-BR" sz="2800" dirty="0"/>
                  <a:t> e </a:t>
                </a:r>
                <a:r>
                  <a:rPr lang="pt-BR" sz="2800" b="1" dirty="0"/>
                  <a:t>assumindo valores num intervalo de números reais</a:t>
                </a:r>
                <a:r>
                  <a:rPr lang="pt-BR" sz="2800" dirty="0"/>
                  <a:t>, é dita uma variável aleatória contínua.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Assim, a distribuição de probabilidade passa a ser representada por uma curva "alisada" (a função densidade de probabilidade, que veremos a seguir)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8678" y="839025"/>
                <a:ext cx="10277702" cy="4549835"/>
              </a:xfrm>
              <a:prstGeom prst="rect">
                <a:avLst/>
              </a:prstGeom>
              <a:blipFill>
                <a:blip r:embed="rId2"/>
                <a:stretch>
                  <a:fillRect l="-1246" r="-1839" b="-294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10" name="Imagem 9">
            <a:extLst>
              <a:ext uri="{FF2B5EF4-FFF2-40B4-BE49-F238E27FC236}">
                <a16:creationId xmlns:a16="http://schemas.microsoft.com/office/drawing/2014/main" id="{282E024B-08FD-0BFC-4367-B96C3C37FD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07892" y="4755717"/>
            <a:ext cx="3743847" cy="1810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60088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15426" y="465938"/>
            <a:ext cx="10827959" cy="519616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800" b="1" dirty="0"/>
              <a:t>Exemplo: </a:t>
            </a:r>
            <a:r>
              <a:rPr lang="pt-BR" sz="2800" dirty="0"/>
              <a:t>Considere um relógio de ponteiros de maneira que o </a:t>
            </a:r>
            <a:r>
              <a:rPr lang="pt-BR" sz="2800" u="sng" dirty="0"/>
              <a:t>ponteiro dos segundos</a:t>
            </a:r>
            <a:r>
              <a:rPr lang="pt-BR" sz="2800" dirty="0"/>
              <a:t> pode parar a qualquer instante, devido a algum defeito técnico, ou término da bateria.</a:t>
            </a:r>
          </a:p>
          <a:p>
            <a:pPr>
              <a:lnSpc>
                <a:spcPct val="150000"/>
              </a:lnSpc>
            </a:pPr>
            <a:endParaRPr lang="pt-BR" sz="2800" dirty="0"/>
          </a:p>
          <a:p>
            <a:pPr>
              <a:lnSpc>
                <a:spcPct val="150000"/>
              </a:lnSpc>
            </a:pPr>
            <a:r>
              <a:rPr lang="pt-BR" sz="2800" dirty="0"/>
              <a:t>Defina a seguinte v.a. discreta:</a:t>
            </a:r>
          </a:p>
          <a:p>
            <a:pPr>
              <a:lnSpc>
                <a:spcPct val="150000"/>
              </a:lnSpc>
            </a:pPr>
            <a:endParaRPr lang="pt-BR" sz="2800" dirty="0"/>
          </a:p>
          <a:p>
            <a:pPr marL="457200" indent="-45720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800" dirty="0"/>
              <a:t>X: é ângulo que esse ponteiro forma com o eixo vertical passando pelo centro do mostrador e pelo número XII. (quando o ponteiro para).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99382082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881687" y="1053795"/>
            <a:ext cx="1082795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Distribuição de probabilidade de X: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1487F0ED-589D-477C-8BD0-20CA8D580D8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687" y="2316997"/>
            <a:ext cx="10096362" cy="19420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00489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15426" y="730982"/>
                <a:ext cx="10827959" cy="397031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dirty="0"/>
                  <a:t>Vamos replicar o exemplo para um ponteiro que se move de maneira </a:t>
                </a:r>
                <a:r>
                  <a:rPr lang="pt-BR" sz="2800" b="1" dirty="0"/>
                  <a:t>contínua</a:t>
                </a:r>
                <a:r>
                  <a:rPr lang="pt-BR" sz="2800" dirty="0"/>
                  <a:t>.</a:t>
                </a:r>
              </a:p>
              <a:p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X: é ângulo que esse ponteiro forma com o eixo vertical passando pelo centro do mostrador e pelo número XII. (quando o ponteiro para).</a:t>
                </a:r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X é uma variável contínua,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∈[0,360[. 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Como calcular a função de probabilidade de X?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426" y="730982"/>
                <a:ext cx="10827959" cy="3970318"/>
              </a:xfrm>
              <a:prstGeom prst="rect">
                <a:avLst/>
              </a:prstGeom>
              <a:blipFill>
                <a:blip r:embed="rId2"/>
                <a:stretch>
                  <a:fillRect l="-1182" t="-1536" r="-1464" b="-3533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99821235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88922" y="651469"/>
            <a:ext cx="1082795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800" dirty="0"/>
              <a:t>Vamos usar um histograma para nos auxiliar:</a:t>
            </a:r>
          </a:p>
          <a:p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pt-BR" sz="2800" dirty="0"/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EEAB44A-357F-4D57-9205-F8A8A34FB81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6043" y="1572037"/>
            <a:ext cx="10677035" cy="39055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43645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82020" y="518947"/>
                <a:ext cx="10827959" cy="54364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dirty="0"/>
                  <a:t>O histograma corresponde a seguinte função: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Para calcularmos a probabilidade do ponteiro parar, temos que calcular a área hachurada (entre a e b). O que, matematicamente, corresponde a: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f>
                            <m:f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360</m:t>
                              </m:r>
                            </m:den>
                          </m:f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360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020" y="518947"/>
                <a:ext cx="10827959" cy="5436425"/>
              </a:xfrm>
              <a:prstGeom prst="rect">
                <a:avLst/>
              </a:prstGeom>
              <a:blipFill>
                <a:blip r:embed="rId2"/>
                <a:stretch>
                  <a:fillRect l="-1182" r="-619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DEFA588D-13C9-4FA1-9968-ED0D1CDD1A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85391" y="1391352"/>
            <a:ext cx="4945940" cy="1373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545127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75061" y="552078"/>
                <a:ext cx="10827959" cy="560910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Definição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Uma função contínua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pt-BR" sz="2800" dirty="0"/>
                  <a:t> é de probabilidade ou </a:t>
                </a:r>
                <a:r>
                  <a:rPr lang="pt-BR" sz="2800" b="1" dirty="0"/>
                  <a:t>função densidade de probabilidade</a:t>
                </a:r>
                <a:r>
                  <a:rPr lang="pt-BR" sz="2800" dirty="0"/>
                  <a:t> para uma variável aleatória contínua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 se: 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≥0,</m:t>
                    </m:r>
                  </m:oMath>
                </a14:m>
                <a:r>
                  <a:rPr lang="pt-BR" sz="2800" dirty="0"/>
                  <a:t> para todo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∈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ℝ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A área definida por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é igual a 1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b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𝑓</m:t>
                            </m:r>
                            <m:d>
                              <m:dPr>
                                <m:ctrlP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d>
                          </m:e>
                        </m:nary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𝑑𝑥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=1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 </m:t>
                    </m:r>
                  </m:oMath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Calcularemos probabilidade de intervalos usando a integral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&lt;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𝑏</m:t>
                          </m:r>
                        </m:e>
                      </m:d>
                      <m:r>
                        <a:rPr lang="pt-BR" sz="2800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𝑑𝑥</m:t>
                          </m:r>
                        </m:e>
                      </m:nary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75061" y="552078"/>
                <a:ext cx="10827959" cy="5609100"/>
              </a:xfrm>
              <a:prstGeom prst="rect">
                <a:avLst/>
              </a:prstGeom>
              <a:blipFill>
                <a:blip r:embed="rId2"/>
                <a:stretch>
                  <a:fillRect l="-11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3097953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64878" y="445603"/>
                <a:ext cx="10827959" cy="60430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Propriedades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a função de probabilidade da variável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pt-BR" sz="2800" dirty="0"/>
                  <a:t>.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Esperança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𝜇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𝑥𝑓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Variância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𝜎</m:t>
                          </m:r>
                        </m:e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pt-BR" sz="280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8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pt-BR" sz="28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𝑉𝐴𝑅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sSup>
                      <m:sSup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</m:d>
                      </m:e>
                      <m:sup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sz="2800" dirty="0"/>
                  <a:t> 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878" y="445603"/>
                <a:ext cx="10827959" cy="6043065"/>
              </a:xfrm>
              <a:prstGeom prst="rect">
                <a:avLst/>
              </a:prstGeom>
              <a:blipFill>
                <a:blip r:embed="rId2"/>
                <a:stretch>
                  <a:fillRect l="-112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438163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75670" y="591834"/>
                <a:ext cx="10827959" cy="530125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Propriedades</a:t>
                </a:r>
              </a:p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Função de distribuição acumulada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−∞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Observe que, se existir, podemos encontrar a função a </a:t>
                </a:r>
                <a:r>
                  <a:rPr lang="pt-BR" sz="2800" dirty="0" err="1"/>
                  <a:t>f.d.p</a:t>
                </a:r>
                <a:r>
                  <a:rPr lang="pt-BR" sz="2800" dirty="0"/>
                  <a:t> a partir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den>
                      </m:f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𝑋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75670" y="591834"/>
                <a:ext cx="10827959" cy="5301259"/>
              </a:xfrm>
              <a:prstGeom prst="rect">
                <a:avLst/>
              </a:prstGeom>
              <a:blipFill>
                <a:blip r:embed="rId2"/>
                <a:stretch>
                  <a:fillRect l="-112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05956152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29287" y="565330"/>
                <a:ext cx="10827959" cy="489717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Exemplo: </a:t>
                </a:r>
                <a:r>
                  <a:rPr lang="pt-BR" sz="2800" dirty="0"/>
                  <a:t>Considere a variável associada ao movimento do ponteiro de segundos do relógio.</a:t>
                </a:r>
              </a:p>
              <a:p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Função densidade de probabilidade: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360</m:t>
                        </m:r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b="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b="1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Distribuição de probabilidade: </a:t>
                </a:r>
                <a14:m>
                  <m:oMath xmlns:m="http://schemas.openxmlformats.org/officeDocument/2006/math">
                    <m:r>
                      <a:rPr lang="pt-BR" sz="2800" i="1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≤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&lt;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𝑏</m:t>
                        </m:r>
                      </m:e>
                    </m:d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𝑎</m:t>
                        </m:r>
                      </m:sub>
                      <m:sup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𝑏</m:t>
                        </m:r>
                      </m:sup>
                      <m:e>
                        <m:f>
                          <m:fPr>
                            <m:ctrlPr>
                              <a:rPr lang="pt-BR" sz="2800" i="1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360</m:t>
                            </m:r>
                          </m:den>
                        </m:f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𝑑𝑥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nary>
                    <m:r>
                      <a:rPr lang="pt-BR" sz="28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𝑏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𝑎</m:t>
                        </m:r>
                      </m:num>
                      <m:den>
                        <m:r>
                          <a:rPr lang="pt-BR" sz="2800" i="1">
                            <a:latin typeface="Cambria Math" panose="02040503050406030204" pitchFamily="18" charset="0"/>
                          </a:rPr>
                          <m:t>360</m:t>
                        </m:r>
                      </m:den>
                    </m:f>
                    <m:r>
                      <a:rPr lang="pt-BR" sz="2800" i="1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Esperança: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𝐸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𝑥𝑓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360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.</m:t>
                          </m:r>
                          <m:f>
                            <m:f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360</m:t>
                              </m:r>
                            </m:den>
                          </m:f>
                        </m:e>
                      </m:nary>
                      <m:r>
                        <a:rPr lang="pt-BR" sz="2800" i="1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360</m:t>
                          </m:r>
                        </m:den>
                      </m:f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p>
                                <m:sSup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360</m:t>
                                  </m:r>
                                </m:e>
                                <m:sup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=180.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29287" y="565330"/>
                <a:ext cx="10827959" cy="4897174"/>
              </a:xfrm>
              <a:prstGeom prst="rect">
                <a:avLst/>
              </a:prstGeom>
              <a:blipFill>
                <a:blip r:embed="rId2"/>
                <a:stretch>
                  <a:fillRect l="-1182" t="-1245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820494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682020" y="532199"/>
                <a:ext cx="10827959" cy="48694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Variância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𝑉𝑎𝑟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p>
                        <m:e>
                          <m:sSup>
                            <m:s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𝐸</m:t>
                                  </m:r>
                                  <m:d>
                                    <m:d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d>
                                </m:e>
                              </m:d>
                            </m:e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𝑑𝑥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360</m:t>
                          </m:r>
                        </m:sup>
                        <m:e>
                          <m:sSup>
                            <m:sSup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−180</m:t>
                                  </m:r>
                                </m:e>
                              </m:d>
                            </m:e>
                            <m: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  <m:f>
                            <m:f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360</m:t>
                              </m:r>
                            </m:den>
                          </m:f>
                        </m:e>
                      </m:nary>
                      <m:r>
                        <a:rPr lang="pt-BR" sz="2800" i="1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360</m:t>
                          </m:r>
                        </m:den>
                      </m:f>
                      <m:nary>
                        <m:nary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360</m:t>
                          </m:r>
                        </m:sup>
                        <m:e>
                          <m:sSup>
                            <m:sSupPr>
                              <m:ctrlPr>
                                <a:rPr lang="pt-BR" sz="2800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sSup>
                                <m:sSupPr>
                                  <m:ctrlP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p>
                                  <m:r>
                                    <a:rPr lang="pt-BR" sz="28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−360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+180</m:t>
                              </m:r>
                            </m:e>
                            <m: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e>
                      </m:nary>
                      <m:r>
                        <a:rPr lang="pt-BR" sz="2800" i="1">
                          <a:latin typeface="Cambria Math" panose="02040503050406030204" pitchFamily="18" charset="0"/>
                        </a:rPr>
                        <m:t>𝑑𝑥</m:t>
                      </m:r>
                    </m:oMath>
                  </m:oMathPara>
                </a14:m>
                <a:endParaRPr lang="pt-BR" sz="280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1</m:t>
                          </m:r>
                        </m:num>
                        <m:den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360</m:t>
                          </m:r>
                        </m:den>
                      </m:f>
                      <m:sSubSup>
                        <m:sSubSup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d>
                            <m:dPr>
                              <m:begChr m:val="["/>
                              <m:endChr m:val="]"/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p>
                                    <m:s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den>
                              </m:f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f>
                                <m:f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360</m:t>
                                  </m:r>
                                  <m:sSup>
                                    <m:sSupPr>
                                      <m:ctrlP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p>
                                      <m:r>
                                        <a:rPr lang="pt-BR" sz="2800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p>
                                  </m:sSup>
                                </m:num>
                                <m:den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sSup>
                                <m:sSupPr>
                                  <m:ctrlP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180</m:t>
                                  </m:r>
                                </m:e>
                                <m:sup>
                                  <m:r>
                                    <a:rPr lang="pt-BR" sz="28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pt-BR" sz="28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d>
                        </m:e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360</m:t>
                          </m:r>
                        </m:sup>
                      </m:sSubSup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=10800.</m:t>
                      </m:r>
                    </m:oMath>
                  </m:oMathPara>
                </a14:m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200" indent="-457200">
                  <a:buFont typeface="Arial" panose="020B0604020202020204" pitchFamily="34" charset="0"/>
                  <a:buChar char="•"/>
                </a:pPr>
                <a:r>
                  <a:rPr lang="pt-BR" sz="2800" dirty="0"/>
                  <a:t>Desvio padrão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𝜎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=103,9230</m:t>
                    </m:r>
                  </m:oMath>
                </a14:m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2020" y="532199"/>
                <a:ext cx="10827959" cy="4869475"/>
              </a:xfrm>
              <a:prstGeom prst="rect">
                <a:avLst/>
              </a:prstGeom>
              <a:blipFill>
                <a:blip r:embed="rId2"/>
                <a:stretch>
                  <a:fillRect l="-1014" t="-1126" b="-262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03233969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15426" y="532200"/>
                <a:ext cx="10827959" cy="418210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marL="457200" indent="-457200">
                  <a:lnSpc>
                    <a:spcPct val="150000"/>
                  </a:lnSpc>
                  <a:buFont typeface="Arial" panose="020B0604020202020204" pitchFamily="34" charset="0"/>
                  <a:buChar char="•"/>
                </a:pPr>
                <a:r>
                  <a:rPr lang="pt-BR" sz="2800" dirty="0"/>
                  <a:t>Função de distribuição acumulada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d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∞</m:t>
                          </m:r>
                        </m:sub>
                        <m:sup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  <m:e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nary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𝑑𝑡</m:t>
                      </m:r>
                    </m:oMath>
                  </m:oMathPara>
                </a14:m>
                <a:endParaRPr lang="pt-BR" sz="2800" b="0" dirty="0"/>
              </a:p>
              <a:p>
                <a:pPr>
                  <a:lnSpc>
                    <a:spcPct val="150000"/>
                  </a:lnSpc>
                </a:pPr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pt-BR" sz="2800" i="1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  <m:sup>
                          <m:r>
                            <a:rPr lang="pt-BR" sz="2800" i="1">
                              <a:latin typeface="Cambria Math" panose="02040503050406030204" pitchFamily="18" charset="0"/>
                            </a:rPr>
                            <m:t>𝑥</m:t>
                          </m:r>
                        </m:sup>
                        <m:e>
                          <m:f>
                            <m:fPr>
                              <m:ctrlP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800" b="0" i="1" smtClean="0">
                                  <a:latin typeface="Cambria Math" panose="02040503050406030204" pitchFamily="18" charset="0"/>
                                </a:rPr>
                                <m:t>360</m:t>
                              </m:r>
                            </m:den>
                          </m:f>
                        </m:e>
                      </m:nary>
                      <m:r>
                        <a:rPr lang="pt-BR" sz="2800" i="1">
                          <a:latin typeface="Cambria Math" panose="02040503050406030204" pitchFamily="18" charset="0"/>
                        </a:rPr>
                        <m:t>𝑑𝑡</m:t>
                      </m:r>
                      <m:r>
                        <a:rPr lang="pt-BR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pt-BR" sz="2800" b="0" i="1" smtClean="0">
                              <a:latin typeface="Cambria Math" panose="02040503050406030204" pitchFamily="18" charset="0"/>
                            </a:rPr>
                            <m:t>360</m:t>
                          </m:r>
                        </m:den>
                      </m:f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426" y="532200"/>
                <a:ext cx="10827959" cy="4182107"/>
              </a:xfrm>
              <a:prstGeom prst="rect">
                <a:avLst/>
              </a:prstGeom>
              <a:blipFill>
                <a:blip r:embed="rId2"/>
                <a:stretch>
                  <a:fillRect l="-1014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3443200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20573" y="675505"/>
                <a:ext cx="10827959" cy="275992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Exemplo.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Verifique se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m:rPr>
                                <m:brk m:alnAt="7"/>
                              </m:rPr>
                              <a:rPr lang="pt-BR" sz="28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+3,             0≤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≤2</m:t>
                            </m:r>
                          </m:e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&amp;0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,             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≤0 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𝑜𝑢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≥2</m:t>
                            </m:r>
                          </m:e>
                        </m:eqArr>
                      </m:e>
                    </m:d>
                  </m:oMath>
                </a14:m>
                <a:r>
                  <a:rPr lang="pt-BR" sz="2800" b="1" dirty="0"/>
                  <a:t> , 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é uma </a:t>
                </a:r>
                <a:r>
                  <a:rPr lang="pt-BR" sz="2800" dirty="0" err="1"/>
                  <a:t>f.d.p</a:t>
                </a:r>
                <a:r>
                  <a:rPr lang="pt-BR" sz="2800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573" y="675505"/>
                <a:ext cx="10827959" cy="2759923"/>
              </a:xfrm>
              <a:prstGeom prst="rect">
                <a:avLst/>
              </a:prstGeom>
              <a:blipFill>
                <a:blip r:embed="rId3"/>
                <a:stretch>
                  <a:fillRect l="-1182" b="-5298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4555386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20573" y="675505"/>
                <a:ext cx="10827959" cy="476124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Resolução. </a:t>
                </a:r>
                <a:r>
                  <a:rPr lang="pt-BR" sz="2800" dirty="0"/>
                  <a:t>Uma </a:t>
                </a:r>
                <a:r>
                  <a:rPr lang="pt-BR" sz="2800" dirty="0" err="1"/>
                  <a:t>f.d.p</a:t>
                </a:r>
                <a:r>
                  <a:rPr lang="pt-BR" sz="2800" dirty="0"/>
                  <a:t>. precisa satisfazer duas condições: </a:t>
                </a:r>
              </a:p>
              <a:p>
                <a:pPr marL="514350" indent="-514350">
                  <a:lnSpc>
                    <a:spcPct val="150000"/>
                  </a:lnSpc>
                  <a:buAutoNum type="arabicParenBoth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) ≥ 0</m:t>
                    </m:r>
                  </m:oMath>
                </a14:m>
                <a:r>
                  <a:rPr lang="pt-BR" sz="2800" dirty="0"/>
                  <a:t> para todo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sz="2800" dirty="0"/>
                  <a:t>, </a:t>
                </a:r>
              </a:p>
              <a:p>
                <a:pPr marL="514350" indent="-514350">
                  <a:lnSpc>
                    <a:spcPct val="150000"/>
                  </a:lnSpc>
                  <a:buAutoNum type="arabicParenBoth"/>
                </a:pPr>
                <a:r>
                  <a:rPr lang="pt-BR" sz="2800" dirty="0"/>
                  <a:t>a área total sob a curva deve ser igual a 1.</a:t>
                </a:r>
              </a:p>
              <a:p>
                <a:pPr marL="514350" indent="-514350">
                  <a:lnSpc>
                    <a:spcPct val="150000"/>
                  </a:lnSpc>
                  <a:buAutoNum type="arabicParenBoth"/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1. Para 0 ≤ x ≤ 2, temos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 = 2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+3 ≥ 3 &gt; 0 </m:t>
                    </m:r>
                  </m:oMath>
                </a14:m>
                <a:r>
                  <a:rPr lang="pt-BR" sz="2800" dirty="0"/>
                  <a:t>sempre (é uma reta crescente, nunca negativa nesse intervalo).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2.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∫</m:t>
                        </m:r>
                      </m:e>
                      <m:sub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d>
                      <m:d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+3</m:t>
                        </m:r>
                      </m:e>
                    </m:d>
                    <m:r>
                      <a:rPr lang="pt-BR" sz="2800" i="1" dirty="0" err="1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 =</m:t>
                    </m:r>
                    <m:sSubSup>
                      <m:sSubSup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sz="28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pt-BR" sz="2800" i="1" dirty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pt-BR" sz="2800" i="1" dirty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  <m:sup>
                                <m:r>
                                  <a:rPr lang="pt-BR" sz="2800" i="1" dirty="0"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sup>
                            </m:sSup>
                            <m:r>
                              <a:rPr lang="pt-BR" sz="2800" i="1" dirty="0">
                                <a:latin typeface="Cambria Math" panose="02040503050406030204" pitchFamily="18" charset="0"/>
                              </a:rPr>
                              <m:t>+3</m:t>
                            </m:r>
                            <m:r>
                              <a:rPr lang="pt-BR" sz="2800" i="1" dirty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</m:e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sz="2800" i="1" dirty="0">
                        <a:latin typeface="Cambria Math" panose="02040503050406030204" pitchFamily="18" charset="0"/>
                      </a:rPr>
                      <m:t>=(4+6) − 0=10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0573" y="675505"/>
                <a:ext cx="10827959" cy="4761240"/>
              </a:xfrm>
              <a:prstGeom prst="rect">
                <a:avLst/>
              </a:prstGeom>
              <a:blipFill>
                <a:blip r:embed="rId3"/>
                <a:stretch>
                  <a:fillRect l="-1182" b="-192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223000307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38554" y="463470"/>
                <a:ext cx="10827959" cy="450059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Exemplo. </a:t>
                </a:r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m:rPr>
                                <m:brk m:alnAt="7"/>
                              </m:r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,               0≤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≤1</m:t>
                            </m:r>
                          </m:e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&amp;0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,        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𝑐𝑎𝑠𝑜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𝑐𝑜𝑛𝑡𝑟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á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𝑟𝑖𝑜</m:t>
                            </m:r>
                          </m:e>
                        </m:eqArr>
                      </m:e>
                    </m:d>
                  </m:oMath>
                </a14:m>
                <a:r>
                  <a:rPr lang="pt-BR" sz="2800" dirty="0"/>
                  <a:t>.</a:t>
                </a:r>
              </a:p>
              <a:p>
                <a:endParaRPr lang="pt-BR" sz="2800" dirty="0"/>
              </a:p>
              <a:p>
                <a:endParaRPr lang="pt-BR" sz="2800" dirty="0"/>
              </a:p>
              <a:p>
                <a:pPr marL="971539" lvl="1" indent="-514350">
                  <a:buFont typeface="+mj-lt"/>
                  <a:buAutoNum type="alphaLcParenR"/>
                </a:pPr>
                <a:endParaRPr lang="pt-BR" sz="2800" dirty="0"/>
              </a:p>
              <a:p>
                <a:endParaRPr lang="pt-BR" sz="2800" dirty="0"/>
              </a:p>
              <a:p>
                <a:endParaRPr lang="pt-BR" sz="2800" dirty="0"/>
              </a:p>
              <a:p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  <a:p>
                <a:pPr marL="457178" indent="-457178">
                  <a:buFont typeface="Arial" panose="020B0604020202020204" pitchFamily="34" charset="0"/>
                  <a:buChar char="•"/>
                </a:pPr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54" y="463470"/>
                <a:ext cx="10827959" cy="4500591"/>
              </a:xfrm>
              <a:prstGeom prst="rect">
                <a:avLst/>
              </a:prstGeom>
              <a:blipFill>
                <a:blip r:embed="rId3"/>
                <a:stretch>
                  <a:fillRect l="-1126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CEA055 - Estatística e Probabilidade - Professor: Marcos Goulart Lima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E85F2891-740F-5960-AE63-E7561D2E398F}"/>
                  </a:ext>
                </a:extLst>
              </p:cNvPr>
              <p:cNvSpPr txBox="1"/>
              <p:nvPr/>
            </p:nvSpPr>
            <p:spPr>
              <a:xfrm>
                <a:off x="715108" y="1853519"/>
                <a:ext cx="10738338" cy="3256084"/>
              </a:xfrm>
              <a:prstGeom prst="rect">
                <a:avLst/>
              </a:prstGeom>
              <a:noFill/>
            </p:spPr>
            <p:txBody>
              <a:bodyPr wrap="square" numCol="2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dirty="0"/>
                  <a:t>Determinar</a:t>
                </a: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:r>
                  <a:rPr lang="pt-BR" sz="2800" b="0" dirty="0"/>
                  <a:t>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pt-BR" sz="2800" dirty="0"/>
                  <a:t> a fim de que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sz="2800" dirty="0"/>
                  <a:t> seja </a:t>
                </a:r>
                <a:r>
                  <a:rPr lang="pt-BR" sz="2800" dirty="0" err="1"/>
                  <a:t>f.d.p</a:t>
                </a:r>
                <a:endParaRPr lang="pt-BR" sz="2800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:r>
                  <a:rPr lang="pt-BR" sz="2800" dirty="0"/>
                  <a:t>o gráfico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0≤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f>
                          <m:f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</m:oMath>
                </a14:m>
                <a:endParaRPr lang="pt-BR" sz="2800" b="0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𝑉𝐴𝑅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  <a:p>
                <a:pPr marL="514350" indent="-514350">
                  <a:lnSpc>
                    <a:spcPct val="150000"/>
                  </a:lnSpc>
                  <a:buFont typeface="+mj-lt"/>
                  <a:buAutoNum type="alphaLcParenR"/>
                </a:pPr>
                <a:r>
                  <a:rPr lang="pt-BR" sz="2800" dirty="0"/>
                  <a:t>Gráfico de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3" name="CaixaDeTexto 2">
                <a:extLst>
                  <a:ext uri="{FF2B5EF4-FFF2-40B4-BE49-F238E27FC236}">
                    <a16:creationId xmlns:a16="http://schemas.microsoft.com/office/drawing/2014/main" id="{E85F2891-740F-5960-AE63-E7561D2E398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5108" y="1853519"/>
                <a:ext cx="10738338" cy="3256084"/>
              </a:xfrm>
              <a:prstGeom prst="rect">
                <a:avLst/>
              </a:prstGeom>
              <a:blipFill>
                <a:blip r:embed="rId4"/>
                <a:stretch>
                  <a:fillRect l="-1192" b="-46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52174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38554" y="463470"/>
                <a:ext cx="10827959" cy="5570243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Resolução.</a:t>
                </a:r>
              </a:p>
              <a:p>
                <a:pPr marL="514350" indent="-514350">
                  <a:lnSpc>
                    <a:spcPct val="150000"/>
                  </a:lnSpc>
                  <a:buAutoNum type="alphaLcParenR"/>
                </a:pPr>
                <a:r>
                  <a:rPr lang="pt-BR" sz="2800" dirty="0"/>
                  <a:t> </a:t>
                </a:r>
                <a14:m>
                  <m:oMath xmlns:m="http://schemas.openxmlformats.org/officeDocument/2006/math">
                    <m:nary>
                      <m:nary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𝑘𝑥</m:t>
                        </m:r>
                      </m:e>
                    </m:nary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𝑘</m:t>
                        </m:r>
                      </m:num>
                      <m:den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=1⇒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𝑘</m:t>
                    </m:r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 Logo,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 = 2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pt-BR" sz="2800" dirty="0"/>
                  <a:t>, para 0 ≤ x ≤ 1.</a:t>
                </a:r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b) Gráfico 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c)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0≤ 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≤</m:t>
                        </m:r>
                        <m:f>
                          <m:fPr>
                            <m:ctrlP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pt-BR" sz="2800" b="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=</m:t>
                    </m:r>
                    <m:nary>
                      <m:nary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f>
                          <m:fPr>
                            <m:ctrlP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pt-BR" sz="2800" i="1" dirty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sup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den>
                    </m:f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sz="2800" b="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d)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2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 </m:t>
                    </m:r>
                    <m:r>
                      <a:rPr lang="pt-BR" sz="2800" i="1" dirty="0" err="1" smtClean="0">
                        <a:latin typeface="Cambria Math" panose="02040503050406030204" pitchFamily="18" charset="0"/>
                      </a:rPr>
                      <m:t>𝑑𝑥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54" y="463470"/>
                <a:ext cx="10827959" cy="5570243"/>
              </a:xfrm>
              <a:prstGeom prst="rect">
                <a:avLst/>
              </a:prstGeom>
              <a:blipFill>
                <a:blip r:embed="rId3"/>
                <a:stretch>
                  <a:fillRect l="-1182" b="-547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808071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738554" y="463470"/>
                <a:ext cx="10827959" cy="435298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>
                  <a:lnSpc>
                    <a:spcPct val="150000"/>
                  </a:lnSpc>
                </a:pPr>
                <a:r>
                  <a:rPr lang="pt-BR" sz="2800" b="1" dirty="0"/>
                  <a:t>Resolução.</a:t>
                </a: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e) </a:t>
                </a:r>
                <a14:m>
                  <m:oMath xmlns:m="http://schemas.openxmlformats.org/officeDocument/2006/math"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𝑉𝑎𝑟</m:t>
                    </m:r>
                    <m:d>
                      <m:d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pt-BR" sz="28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𝐸</m:t>
                    </m:r>
                    <m:d>
                      <m:d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pt-BR" sz="28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pt-BR" sz="2800" i="1" dirty="0">
                                <a:latin typeface="Cambria Math" panose="02040503050406030204" pitchFamily="18" charset="0"/>
                              </a:rPr>
                              <m:t>𝑋</m:t>
                            </m:r>
                          </m:e>
                          <m:sup>
                            <m:r>
                              <a:rPr lang="pt-BR" sz="2800" i="1" dirty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</m:e>
                    </m:d>
                    <m:r>
                      <a:rPr lang="pt-BR" sz="2800" i="1" dirty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d>
                          <m:dPr>
                            <m:begChr m:val="["/>
                            <m:endChr m:val="]"/>
                            <m:ctrlPr>
                              <a:rPr lang="pt-BR" sz="28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800" i="1" dirty="0">
                                <a:latin typeface="Cambria Math" panose="02040503050406030204" pitchFamily="18" charset="0"/>
                              </a:rPr>
                              <m:t>𝐸</m:t>
                            </m:r>
                            <m:d>
                              <m:dPr>
                                <m:ctrlPr>
                                  <a:rPr lang="pt-BR" sz="2800" i="1" dirty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pt-BR" sz="2800" i="1" dirty="0">
                                    <a:latin typeface="Cambria Math" panose="02040503050406030204" pitchFamily="18" charset="0"/>
                                  </a:rPr>
                                  <m:t>𝑋</m:t>
                                </m:r>
                              </m:e>
                            </m:d>
                          </m:e>
                        </m:d>
                      </m:e>
                      <m:sup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800" i="1" dirty="0">
                        <a:latin typeface="Cambria Math" panose="02040503050406030204" pitchFamily="18" charset="0"/>
                      </a:rPr>
                      <m:t> =</m:t>
                    </m:r>
                    <m:f>
                      <m:f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−</m:t>
                    </m:r>
                    <m:f>
                      <m:f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4</m:t>
                        </m:r>
                      </m:num>
                      <m:den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9</m:t>
                        </m:r>
                      </m:den>
                    </m:f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18</m:t>
                        </m:r>
                      </m:den>
                    </m:f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f)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𝐹</m:t>
                    </m:r>
                    <m:d>
                      <m:dPr>
                        <m:ctrlPr>
                          <a:rPr lang="pt-BR" sz="2800" i="1" dirty="0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pt-BR" sz="2800" i="1" dirty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𝑥</m:t>
                        </m:r>
                      </m:sup>
                      <m:e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</m:nary>
                    <m:r>
                      <a:rPr lang="pt-BR" sz="2800" i="1" dirty="0">
                        <a:latin typeface="Cambria Math" panose="02040503050406030204" pitchFamily="18" charset="0"/>
                      </a:rPr>
                      <m:t> 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𝑑𝑡</m:t>
                    </m:r>
                    <m:r>
                      <a:rPr lang="pt-BR" sz="2800" i="1" dirty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pt-BR" sz="2800" b="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sz="28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p>
                        <m:r>
                          <a:rPr lang="pt-BR" sz="2800" b="0" i="1" dirty="0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pt-BR" sz="2800" b="0" i="1" dirty="0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pt-BR" sz="2800" b="0" i="1" dirty="0">
                    <a:latin typeface="Cambria Math" panose="02040503050406030204" pitchFamily="18" charset="0"/>
                  </a:rPr>
                  <a:t>, </a:t>
                </a:r>
                <a:r>
                  <a:rPr lang="pt-BR" sz="2800" dirty="0"/>
                  <a:t>para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0 ≤ 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 ≤ 1</m:t>
                    </m:r>
                  </m:oMath>
                </a14:m>
                <a:r>
                  <a:rPr lang="pt-BR" sz="2800" dirty="0"/>
                  <a:t>; </a:t>
                </a:r>
              </a:p>
              <a:p>
                <a:pPr>
                  <a:lnSpc>
                    <a:spcPct val="150000"/>
                  </a:lnSpc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)=0 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𝑝𝑎𝑟𝑎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&lt;0; 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𝐹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)=1 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𝑝𝑎𝑟𝑎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pt-BR" sz="2800" i="1" dirty="0">
                          <a:latin typeface="Cambria Math" panose="02040503050406030204" pitchFamily="18" charset="0"/>
                        </a:rPr>
                        <m:t>≥1</m:t>
                      </m:r>
                    </m:oMath>
                  </m:oMathPara>
                </a14:m>
                <a:endParaRPr lang="pt-BR" sz="2800" dirty="0"/>
              </a:p>
              <a:p>
                <a:pPr>
                  <a:lnSpc>
                    <a:spcPct val="150000"/>
                  </a:lnSpc>
                </a:pPr>
                <a:endParaRPr lang="pt-BR" sz="2800" dirty="0"/>
              </a:p>
              <a:p>
                <a:pPr>
                  <a:lnSpc>
                    <a:spcPct val="150000"/>
                  </a:lnSpc>
                </a:pPr>
                <a:r>
                  <a:rPr lang="pt-BR" sz="2800" dirty="0"/>
                  <a:t>g) Gráfico de </a:t>
                </a:r>
                <a14:m>
                  <m:oMath xmlns:m="http://schemas.openxmlformats.org/officeDocument/2006/math"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𝐹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pt-BR" sz="28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8554" y="463470"/>
                <a:ext cx="10827959" cy="4352987"/>
              </a:xfrm>
              <a:prstGeom prst="rect">
                <a:avLst/>
              </a:prstGeom>
              <a:blipFill>
                <a:blip r:embed="rId3"/>
                <a:stretch>
                  <a:fillRect l="-1126" b="-308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41202772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/>
              <p:nvPr/>
            </p:nvSpPr>
            <p:spPr>
              <a:xfrm>
                <a:off x="847077" y="556235"/>
                <a:ext cx="10827959" cy="474732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800" b="1" dirty="0"/>
                  <a:t>Exemplo. </a:t>
                </a:r>
                <a:r>
                  <a:rPr lang="pt-BR" sz="2800" dirty="0"/>
                  <a:t>Seja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𝑓</m:t>
                    </m:r>
                    <m:d>
                      <m:d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{"/>
                        <m:endChr m:val="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eqArr>
                          <m:eqArr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eqArrPr>
                          <m:e>
                            <m:r>
                              <m:rPr>
                                <m:brk m:alnAt="7"/>
                              </m:r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,               0≤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𝑥</m:t>
                            </m:r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≤1</m:t>
                            </m:r>
                          </m:e>
                          <m:e>
                            <m:r>
                              <a:rPr lang="pt-BR" sz="2800" i="1">
                                <a:latin typeface="Cambria Math" panose="02040503050406030204" pitchFamily="18" charset="0"/>
                              </a:rPr>
                              <m:t>&amp;0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,        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𝑐𝑎𝑠𝑜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𝑐𝑜𝑛𝑡𝑟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á</m:t>
                            </m:r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𝑟𝑖𝑜</m:t>
                            </m:r>
                          </m:e>
                        </m:eqArr>
                      </m:e>
                    </m:d>
                  </m:oMath>
                </a14:m>
                <a:r>
                  <a:rPr lang="pt-BR" sz="2800" dirty="0"/>
                  <a:t>.</a:t>
                </a:r>
              </a:p>
              <a:p>
                <a:endParaRPr lang="pt-BR" sz="2800" dirty="0"/>
              </a:p>
              <a:p>
                <a:r>
                  <a:rPr lang="pt-BR" sz="2800" dirty="0"/>
                  <a:t>Calcular </a:t>
                </a:r>
                <a14:m>
                  <m:oMath xmlns:m="http://schemas.openxmlformats.org/officeDocument/2006/math"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𝑃</m:t>
                    </m:r>
                    <m:d>
                      <m:dPr>
                        <m:endChr m:val="|"/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𝑋</m:t>
                        </m:r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≤</m:t>
                        </m:r>
                        <m:f>
                          <m:fPr>
                            <m:ctrlP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num>
                          <m:den>
                            <m:r>
                              <a:rPr lang="pt-BR" sz="28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den>
                        </m:f>
                      </m:e>
                    </m:d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≤</m:t>
                    </m:r>
                    <m:f>
                      <m:fPr>
                        <m:ctrlPr>
                          <a:rPr lang="pt-BR" sz="2800" b="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num>
                      <m:den>
                        <m:r>
                          <a:rPr lang="pt-BR" sz="2800" b="0" i="1" smtClean="0"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pt-BR" sz="28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endParaRPr lang="pt-BR" sz="2800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d>
                        <m:d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f>
                            <m:f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 | </m:t>
                          </m:r>
                          <m:f>
                            <m:f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​≤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𝑋</m:t>
                          </m:r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≤</m:t>
                          </m:r>
                          <m:f>
                            <m:fPr>
                              <m:ctrlP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num>
                            <m:den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den>
                          </m:f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​</m:t>
                          </m:r>
                        </m:e>
                      </m:d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1/3</m:t>
                              </m:r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​≤</m:t>
                              </m:r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≤1/2​</m:t>
                              </m:r>
                            </m:e>
                          </m:d>
                        </m:num>
                        <m:den>
                          <m:r>
                            <a:rPr lang="pt-BR" sz="2800" i="1" dirty="0" smtClean="0">
                              <a:latin typeface="Cambria Math" panose="02040503050406030204" pitchFamily="18" charset="0"/>
                            </a:rPr>
                            <m:t>𝑃</m:t>
                          </m:r>
                          <m:d>
                            <m:dPr>
                              <m:ctrlP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1/3</m:t>
                              </m:r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​≤</m:t>
                              </m:r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𝑋</m:t>
                              </m:r>
                              <m:r>
                                <a:rPr lang="pt-BR" sz="2800" i="1" dirty="0" smtClean="0">
                                  <a:latin typeface="Cambria Math" panose="02040503050406030204" pitchFamily="18" charset="0"/>
                                </a:rPr>
                                <m:t>≤2/3​</m:t>
                              </m:r>
                            </m:e>
                          </m:d>
                        </m:den>
                      </m:f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​=</m:t>
                      </m:r>
                      <m:f>
                        <m:f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nary>
                            <m:nary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/3</m:t>
                              </m:r>
                            </m:sub>
                            <m:sup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1/2</m:t>
                              </m:r>
                            </m:sup>
                            <m:e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nary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𝑑𝑥</m:t>
                          </m:r>
                        </m:num>
                        <m:den>
                          <m:nary>
                            <m:naryPr>
                              <m:ctrl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m:rPr>
                                  <m:brk m:alnAt="23"/>
                                </m:rP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/3</m:t>
                              </m:r>
                            </m:sub>
                            <m:sup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/</m:t>
                              </m:r>
                              <m:r>
                                <a:rPr lang="pt-BR" sz="2800" b="0" i="1" dirty="0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sup>
                            <m:e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  <m:r>
                                <a:rPr lang="pt-BR" sz="2800" i="1" dirty="0">
                                  <a:latin typeface="Cambria Math" panose="02040503050406030204" pitchFamily="18" charset="0"/>
                                </a:rPr>
                                <m:t>𝑥𝑑𝑥</m:t>
                              </m:r>
                            </m:e>
                          </m:nary>
                        </m:den>
                      </m:f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pt-BR" sz="280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5/36</m:t>
                          </m:r>
                        </m:num>
                        <m:den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1/3</m:t>
                          </m:r>
                        </m:den>
                      </m:f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​=</m:t>
                      </m:r>
                      <m:f>
                        <m:fPr>
                          <m:ctrlP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5</m:t>
                          </m:r>
                        </m:num>
                        <m:den>
                          <m:r>
                            <a:rPr lang="pt-BR" sz="2800" b="0" i="1" dirty="0" smtClean="0">
                              <a:latin typeface="Cambria Math" panose="02040503050406030204" pitchFamily="18" charset="0"/>
                            </a:rPr>
                            <m:t>12</m:t>
                          </m:r>
                        </m:den>
                      </m:f>
                      <m:r>
                        <a:rPr lang="pt-BR" sz="2800" b="0" i="1" dirty="0" smtClean="0">
                          <a:latin typeface="Cambria Math" panose="02040503050406030204" pitchFamily="18" charset="0"/>
                        </a:rPr>
                        <m:t>.</m:t>
                      </m:r>
                      <m:r>
                        <a:rPr lang="pt-BR" sz="2800" i="1" dirty="0" smtClean="0">
                          <a:latin typeface="Cambria Math" panose="02040503050406030204" pitchFamily="18" charset="0"/>
                        </a:rPr>
                        <m:t>​</m:t>
                      </m:r>
                    </m:oMath>
                  </m:oMathPara>
                </a14:m>
                <a:endParaRPr lang="pt-BR" sz="2800" dirty="0"/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720B10DA-C761-4DEE-8D86-E170E1C2E9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7077" y="556235"/>
                <a:ext cx="10827959" cy="4747325"/>
              </a:xfrm>
              <a:prstGeom prst="rect">
                <a:avLst/>
              </a:prstGeom>
              <a:blipFill>
                <a:blip r:embed="rId3"/>
                <a:stretch>
                  <a:fillRect l="-1182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" name="CaixaDeTexto 6">
            <a:extLst>
              <a:ext uri="{FF2B5EF4-FFF2-40B4-BE49-F238E27FC236}">
                <a16:creationId xmlns:a16="http://schemas.microsoft.com/office/drawing/2014/main" id="{A49F6C3D-C6CD-46EB-B00C-3C31995D5B04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>
                <a:solidFill>
                  <a:schemeClr val="bg1"/>
                </a:solidFill>
              </a:rPr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157212122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aixaDeTexto 5">
            <a:extLst>
              <a:ext uri="{FF2B5EF4-FFF2-40B4-BE49-F238E27FC236}">
                <a16:creationId xmlns:a16="http://schemas.microsoft.com/office/drawing/2014/main" id="{720B10DA-C761-4DEE-8D86-E170E1C2E981}"/>
              </a:ext>
            </a:extLst>
          </p:cNvPr>
          <p:cNvSpPr txBox="1"/>
          <p:nvPr/>
        </p:nvSpPr>
        <p:spPr>
          <a:xfrm>
            <a:off x="795547" y="514216"/>
            <a:ext cx="10067277" cy="5021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pt-BR" sz="2400" b="1" dirty="0"/>
              <a:t>Atividades referentes à aula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Leitura recomendada: 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 &amp; Morettin — Cap. 7: 7.1 a 7.3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Montgomery &amp; Runger — Cap. 4: 4.2, 4.3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Magalhães &amp; Lima — Cap. 6: 6.1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Morettin — Cap. 5: 5.1</a:t>
            </a:r>
          </a:p>
          <a:p>
            <a:pPr>
              <a:lnSpc>
                <a:spcPct val="150000"/>
              </a:lnSpc>
            </a:pPr>
            <a:r>
              <a:rPr lang="pt-BR" sz="2400" dirty="0"/>
              <a:t>Exercícios recomendados:</a:t>
            </a:r>
          </a:p>
          <a:p>
            <a:pPr marL="457178" indent="-457178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pt-BR" sz="2400" dirty="0"/>
              <a:t>Bussab, Cap. 7: exercícios sobre variável aleatória contínua, valor esperado e variância</a:t>
            </a:r>
          </a:p>
        </p:txBody>
      </p:sp>
      <p:sp>
        <p:nvSpPr>
          <p:cNvPr id="3" name="CaixaDeTexto 2">
            <a:extLst>
              <a:ext uri="{FF2B5EF4-FFF2-40B4-BE49-F238E27FC236}">
                <a16:creationId xmlns:a16="http://schemas.microsoft.com/office/drawing/2014/main" id="{19131A04-B5D6-4211-8B49-4615DE5797E9}"/>
              </a:ext>
            </a:extLst>
          </p:cNvPr>
          <p:cNvSpPr txBox="1"/>
          <p:nvPr/>
        </p:nvSpPr>
        <p:spPr>
          <a:xfrm>
            <a:off x="361395" y="6488668"/>
            <a:ext cx="5042662" cy="3002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pt-BR" sz="1351" dirty="0"/>
              <a:t>CEA055 - Estatística e Probabilidade - Professor: Marcos Goulart Lima</a:t>
            </a:r>
          </a:p>
        </p:txBody>
      </p:sp>
    </p:spTree>
    <p:extLst>
      <p:ext uri="{BB962C8B-B14F-4D97-AF65-F5344CB8AC3E}">
        <p14:creationId xmlns:p14="http://schemas.microsoft.com/office/powerpoint/2010/main" val="3118700238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525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BAA33B9A-D80D-4603-B2E2-70A773CD36DD}">
  <we:reference id="wa200010001" version="1.0.0.1" store="en-US" storeType="OMEX"/>
  <we:alternateReferences>
    <we:reference id="wa200010001" version="1.0.0.1" store="en-US" storeType="OMEX"/>
  </we:alternateReferences>
  <we:properties>
    <we:property name="claude.fileId" value="&quot;e447b953-2d32-4d70-ba74-f871bdc0ffc7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4386</TotalTime>
  <Words>1548</Words>
  <Application>Microsoft Office PowerPoint</Application>
  <PresentationFormat>Widescreen</PresentationFormat>
  <Paragraphs>201</Paragraphs>
  <Slides>26</Slides>
  <Notes>6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26</vt:i4>
      </vt:variant>
    </vt:vector>
  </HeadingPairs>
  <TitlesOfParts>
    <vt:vector size="32" baseType="lpstr">
      <vt:lpstr>AlternateGothic2 BT</vt:lpstr>
      <vt:lpstr>Arial</vt:lpstr>
      <vt:lpstr>Calibri</vt:lpstr>
      <vt:lpstr>Calibri Light</vt:lpstr>
      <vt:lpstr>Cambria Math</vt:lpstr>
      <vt:lpstr>Tema do Office</vt:lpstr>
      <vt:lpstr>CEA055 – Estatística e Probabilidade Variáveis Aleatórias Contínuas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Marcos Goulart Lima</dc:creator>
  <cp:lastModifiedBy>Marcos Goulart Lima</cp:lastModifiedBy>
  <cp:revision>180</cp:revision>
  <dcterms:created xsi:type="dcterms:W3CDTF">2020-07-20T19:35:15Z</dcterms:created>
  <dcterms:modified xsi:type="dcterms:W3CDTF">2026-09-21T13:23:02Z</dcterms:modified>
</cp:coreProperties>
</file>