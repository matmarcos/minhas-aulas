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000" r:id="rId31"/>
    <p:sldId id="1001" r:id="rId32"/>
    <p:sldId id="1002" r:id="rId33"/>
    <p:sldId id="1003" r:id="rId34"/>
    <p:sldId id="1004" r:id="rId35"/>
    <p:sldId id="1005" r:id="rId36"/>
    <p:sldId id="1006" r:id="rId37"/>
    <p:sldId id="1007" r:id="rId38"/>
    <p:sldId id="1008" r:id="rId39"/>
    <p:sldId id="1009" r:id="rId40"/>
    <p:sldId id="1010" r:id="rId41"/>
    <p:sldId id="1011" r:id="rId42"/>
    <p:sldId id="1012" r:id="rId43"/>
    <p:sldId id="1013" r:id="rId44"/>
    <p:sldId id="1014" r:id="rId45"/>
    <p:sldId id="1015" r:id="rId46"/>
    <p:sldId id="1016" r:id="rId47"/>
    <p:sldId id="1017" r:id="rId48"/>
    <p:sldId id="1018" r:id="rId49"/>
    <p:sldId id="1019" r:id="rId50"/>
    <p:sldId id="1020" r:id="rId51"/>
    <p:sldId id="1021" r:id="rId52"/>
    <p:sldId id="1022" r:id="rId53"/>
    <p:sldId id="1023" r:id="rId54"/>
    <p:sldId id="1024" r:id="rId55"/>
    <p:sldId id="1025" r:id="rId56"/>
    <p:sldId id="1026" r:id="rId57"/>
    <p:sldId id="1027" r:id="rId5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commentAuthors" Target="commentAuthors.xml"/><Relationship Id="rId25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4_tabela.png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4_tabela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4_dispersao.png"/></Relationships>
</file>

<file path=ppt/slides/_rels/slide4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4_tabela2.png"/></Relationships>
</file>

<file path=ppt/slides/_rels/slide4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Variáveis Aleatórias Multidimensionais: Distribuições Conjuntas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650000"/>
            <a:ext cx="10067277" cy="4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a distribuição conjunta de duas variáveis aleatórias discretas.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Obter distribuições marginais e condicionais a partir da distribuição conjunta.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Verificar se duas variáveis aleatórias são independentes.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esperanças de funções de duas variáveis, incluindo E(XY).</a:t>
            </a:r>
          </a:p>
          <a:p>
            <a:pPr/>
            <a:r>
              <a:rPr lang="pt-BR" sz="19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Bussab, Morettin. Estatística Básica, 9ed — Cap. 8 (8.1, 8.2)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Montgomery, Runger. Applied Statistics..., 7th ed — Cap. 5 (5.1, 5.2)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Magalhães, Lima. Noções de Probabilidade e Estatística, 5ed — Cap. 5 (5.1, 5.2)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Morettin. Estatística Básica: Probabilidade e Inferência — Cap. 3 (3.4)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Por que estudar duas variáveis juntas?</a:t>
            </a:r>
          </a:p>
          <a:p>
            <a:endParaRPr lang="pt-BR" sz="1800" dirty="0"/>
          </a:p>
          <a:p>
            <a:pPr/>
            <a:r>
              <a:rPr lang="pt-BR" sz="1800" dirty="0"/>
              <a:t>Até agora, tratamos v.a. isoladamente. Mas muitos fenômenos envolvem duas grandezas que variam JUNTAS, e nos interessa a relação entre elas.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numa central de atendimento, X = número de chamados recebidos numa hora e Y = número de chamados resolvidos sem precisar escalonar. Será que X e Y estão relacionadas?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Para responder, precisamos de uma distribuição de probabilidade conjunta, que descreva X e Y ao mesmo tempo.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Distribuição conjunta de duas v.a. discretas</a:t>
            </a:r>
          </a:p>
          <a:p>
            <a:endParaRPr lang="pt-BR" sz="1800" dirty="0"/>
          </a:p>
          <a:p>
            <a:pPr/>
            <a:r>
              <a:rPr lang="pt-BR" sz="1800" dirty="0"/>
              <a:t>Dadas duas v.a. discretas X e Y, a distribuição conjunta é a função:</a:t>
            </a:r>
          </a:p>
          <a:p>
            <a:pPr/>
            <a:r>
              <a:rPr lang="pt-BR" sz="2000" b="1" dirty="0"/>
              <a:t>p(x, y) = P(X = x, Y = y) = P({X = x} ∩ {Y = y})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Propriedades: p(x,y) ≥ 0 para todo par (x,y), e a soma de p(x,y) sobre todos os pares possíveis é igual a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Assim como no caso unidimensional, p(x,y) resume toda a informação probabilística sobre o par (X,Y).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tabela de dupla entrada</a:t>
            </a:r>
          </a:p>
          <a:p>
            <a:pPr/>
            <a:r>
              <a:rPr lang="pt-BR" sz="1600" dirty="0"/>
              <a:t>Uma central de atendimento registra, por hora: X = chamados recebidos (0, 1 ou 2) e Y = chamados resolvidos sem escalonamento (0 ou 1). A distribuição conjunta observada é:</a:t>
            </a:r>
          </a:p>
        </p:txBody>
      </p:sp>
      <p:pic>
        <p:nvPicPr>
          <p:cNvPr id="9" name="Tabela distribuicao conjun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000" y="3100000"/>
            <a:ext cx="7400000" cy="22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Lendo a tabela conjunta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Cada célula é uma probabilidade conjunta: p(1,1) = P(X=1, Y=1) = 0,20.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soma de todas as células internas é 1 (verifique: 0,10+0,05+0,15+0,20+0,10+0,40 = 1,00).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Podemos calcular probabilidades de eventos compostos somando células. Ex.: P(X ≥ 1) = p(1,0)+p(1,1)+p(2,0)+p(2,1) = 0,15+0,20+0,10+0,40 = 0,85.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Distribuições marginais</a:t>
            </a:r>
          </a:p>
          <a:p>
            <a:endParaRPr lang="pt-BR" sz="1800" dirty="0"/>
          </a:p>
          <a:p>
            <a:pPr/>
            <a:r>
              <a:rPr lang="pt-BR" sz="1800" dirty="0"/>
              <a:t>A distribuição marginal de X é a distribuição de X sozinha, “ignorando” Y — obtida somando p(x,y) sobre todos os valores de y:</a:t>
            </a:r>
          </a:p>
          <a:p>
            <a:pPr/>
            <a:r>
              <a:rPr lang="pt-BR" sz="1900" b="1" dirty="0"/>
              <a:t>p(x) = Σᵧ p(x,y)          p(y) = Σₓ p(x,y)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tabela de dupla entrada, as marginais aparecem nas margens — daí o nome: última coluna dá p(y), última linha dá p(x).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Marginais do nosso exemplo</a:t>
            </a:r>
          </a:p>
          <a:p>
            <a:pPr/>
            <a:r>
              <a:rPr lang="pt-BR" sz="1700" dirty="0"/>
              <a:t>Olhando as margens da tabela:</a:t>
            </a:r>
          </a:p>
        </p:txBody>
      </p:sp>
      <p:pic>
        <p:nvPicPr>
          <p:cNvPr id="9" name="Tabela com margina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000" y="2800000"/>
            <a:ext cx="7400000" cy="22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510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dirty="0"/>
              <a:t>p(X): P(X=0)=0,15; P(X=1)=0,35; P(X=2)=0,50.   p(Y): P(Y=0)=0,35; P(Y=1)=0,65.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Distribuições condicionais</a:t>
            </a:r>
          </a:p>
          <a:p>
            <a:endParaRPr lang="pt-BR" sz="1800" dirty="0"/>
          </a:p>
          <a:p>
            <a:pPr/>
            <a:r>
              <a:rPr lang="pt-BR" sz="1800" dirty="0"/>
              <a:t>A distribuição condicional de X dado Y = y descreve o comportamento de X quando já sabemos o valor de Y:</a:t>
            </a:r>
          </a:p>
          <a:p>
            <a:pPr/>
            <a:r>
              <a:rPr lang="pt-BR" sz="1900" b="1" dirty="0"/>
              <a:t>p(x | y) = p(x,y) / p(y),   desde que p(y) &gt; 0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É a versão “atualizada” da distribuição de X, incorporando a informação de que Y = 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Analogia: mesma ideia de probabilidade condicional P(A|B) = P(A∩B)/P(B), vista lá no início do curso.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0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distribuição de X dado Y = 1</a:t>
            </a:r>
          </a:p>
          <a:p>
            <a:endParaRPr lang="pt-BR" sz="1800" dirty="0"/>
          </a:p>
          <a:p>
            <a:pPr/>
            <a:r>
              <a:rPr lang="pt-BR" sz="1750" dirty="0"/>
              <a:t>Queremos a distribuição de X (chamados recebidos), sabendo que Y = 1 (houve resolução sem escalonamento). Usamos p(y=1) = 0,65: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p(X=0 | Y=1) = p(0,1)/p(1) = 0,05/0,65 = 0,077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p(X=1 | Y=1) = p(1,1)/p(1) = 0,20/0,65 = 0,308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p(X=2 | Y=1) = p(2,1)/p(1) = 0,40/0,65 = 0,615</a:t>
            </a:r>
          </a:p>
          <a:p>
            <a:endParaRPr lang="pt-BR" sz="1800" dirty="0"/>
          </a:p>
          <a:p>
            <a:pPr/>
            <a:r>
              <a:rPr lang="pt-BR" sz="1650" i="1" dirty="0"/>
              <a:t>Verificação: 0,077 + 0,308 + 0,615 = 1,00. ✓</a:t>
            </a:r>
          </a:p>
          <a:p>
            <a:pPr/>
            <a:r>
              <a:rPr lang="pt-BR" sz="1650" i="1" dirty="0"/>
              <a:t>Note que essa distribuição condicional é BEM diferente da marginal de X (0,15; 0,35; 0,50) — um indício de que X e Y não são independentes.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Independência entre duas variáveis aleatórias</a:t>
            </a:r>
          </a:p>
          <a:p>
            <a:endParaRPr lang="pt-BR" sz="1800" dirty="0"/>
          </a:p>
          <a:p>
            <a:pPr/>
            <a:r>
              <a:rPr lang="pt-BR" sz="1800" dirty="0"/>
              <a:t>X e Y são independentes se, e somente se:</a:t>
            </a:r>
          </a:p>
          <a:p>
            <a:pPr/>
            <a:r>
              <a:rPr lang="pt-BR" sz="1900" b="1" dirty="0"/>
              <a:t>p(x, y) = p(x) · p(y),   para TODO par (x, 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Interpretação: saber o valor de Y não muda nada sobre a distribuição de X (e vice-versa) — as distribuições condicionais seriam iguais às marginais.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Para provar independência, é preciso checar a igualdade para TODOS os pares — um único par que falhe já garante dependência.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Verificando independência na prática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1: calcule as marginais p(x) e p(y).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2: para cada célula (x,y), calcule o produto p(x)·p(y).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3: compare com o valor de p(x,y) observado na tabela.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Se todos os produtos coincidirem com os valores da tabela, as variáveis são independentes. Basta UM par não bater para concluir que são 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Verificando no nosso exemplo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Testamos a célula (X=0, Y=0): p(0,0) = 0,10 (da tabela).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Produto das marginais: p(0)·p(0) = 0,15 × 0,35 = 0,0525.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Como 0,10 ≠ 0,0525, já podemos concluir: X e Y NÃO são independentes.</a:t>
            </a:r>
          </a:p>
          <a:p>
            <a:endParaRPr lang="pt-BR" sz="1800" dirty="0"/>
          </a:p>
          <a:p>
            <a:pPr/>
            <a:r>
              <a:rPr lang="pt-BR" sz="1700" i="1" dirty="0"/>
              <a:t>Isso confirma o que já suspeitávamos ao ver que a condicional p(x|y=1) era diferente da marginal p(x) (slide anterior).</a:t>
            </a:r>
          </a:p>
          <a:p>
            <a:pPr/>
            <a:r>
              <a:rPr lang="pt-BR" sz="1700" i="1" dirty="0"/>
              <a:t>Faz sentido no contexto: mais chamados recebidos (X alto) tende a vir acompanhado de mais resoluções sem escalar (Y=1) — há uma associação real entre elas.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Contraste: um exemplo onde há independência</a:t>
            </a:r>
          </a:p>
          <a:p>
            <a:endParaRPr lang="pt-BR" sz="1800" dirty="0"/>
          </a:p>
          <a:p>
            <a:pPr/>
            <a:r>
              <a:rPr lang="pt-BR" sz="1750" dirty="0"/>
              <a:t>Lança-se um dado equilibrado e uma moeda equilibrada, ao mesmo tempo. X = resultado do dado (1 a 6), Y = resultado da moeda (0 = coroa, 1 = cara).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Aqui, p(x,y) = p(x)·p(y) = (1/6)×(1/2) = 1/12, para todo par (x,y) — a condição vale para TODAS as 12 combinações.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Isso faz sentido: o resultado do dado não tem nenhuma relação física com o resultado da moeda.</a:t>
            </a:r>
          </a:p>
          <a:p>
            <a:endParaRPr lang="pt-BR" sz="1800" dirty="0"/>
          </a:p>
          <a:p>
            <a:pPr/>
            <a:r>
              <a:rPr lang="pt-BR" sz="1700" i="1" dirty="0"/>
              <a:t>Contraste com o exemplo da central de atendimento: lá, X e Y vêm do MESMO processo (mesma hora de operação), o que cria uma associação natural.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Esperança de funções de X e Y</a:t>
            </a:r>
          </a:p>
          <a:p>
            <a:endParaRPr lang="pt-BR" sz="1800" dirty="0"/>
          </a:p>
          <a:p>
            <a:pPr/>
            <a:r>
              <a:rPr lang="pt-BR" sz="1800" dirty="0"/>
              <a:t>Se g(X,Y) é uma função qualquer das duas variáveis, sua esperança é calculada de forma análoga ao caso unidimensional:</a:t>
            </a:r>
          </a:p>
          <a:p>
            <a:pPr/>
            <a:r>
              <a:rPr lang="pt-BR" sz="1900" b="1" dirty="0"/>
              <a:t>E[g(X,Y)] = Σₓ Σᵧ g(x,y)·p(x,y)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Casos particulares importantes: g(X,Y) = X+Y, ou g(X,Y) = X·Y — este último vamos usar bastante na próxima aula.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Calculando E(XY) no nosso exemplo</a:t>
            </a:r>
          </a:p>
          <a:p>
            <a:endParaRPr lang="pt-BR" sz="1800" dirty="0"/>
          </a:p>
          <a:p>
            <a:pPr/>
            <a:r>
              <a:rPr lang="pt-BR" sz="1750" dirty="0"/>
              <a:t>E(XY) = Σ x·y·p(x,y), somando sobre os 6 pares da tabela:</a:t>
            </a:r>
          </a:p>
          <a:p>
            <a:pPr/>
            <a:r>
              <a:rPr lang="pt-BR" sz="1500" dirty="0"/>
              <a:t>E(XY) = (0×0×0,10)+(0×1×0,05)+(1×0×0,15)+(1×1×0,20)+(2×0×0,10)+(2×1×0,40)</a:t>
            </a:r>
          </a:p>
          <a:p>
            <a:pPr/>
            <a:r>
              <a:rPr lang="pt-BR" sz="1800" b="1" dirty="0"/>
              <a:t>E(XY) = 0 + 0 + 0 + 0,20 + 0 + 0,80 = 1,00</a:t>
            </a:r>
          </a:p>
          <a:p>
            <a:endParaRPr lang="pt-BR" sz="1800" dirty="0"/>
          </a:p>
          <a:p>
            <a:pPr/>
            <a:r>
              <a:rPr lang="pt-BR" sz="1700" i="1" dirty="0"/>
              <a:t>Esse valor, junto com E(X) e E(Y), será a base para calcular a covariância na próxima aula.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Linearidade da esperança</a:t>
            </a:r>
          </a:p>
          <a:p>
            <a:endParaRPr lang="pt-BR" sz="1800" dirty="0"/>
          </a:p>
          <a:p>
            <a:pPr/>
            <a:r>
              <a:rPr lang="pt-BR" sz="1800" dirty="0"/>
              <a:t>Uma propriedade poderosa, válida SEMPRE (independente de X e Y serem independentes ou não):</a:t>
            </a:r>
          </a:p>
          <a:p>
            <a:pPr/>
            <a:r>
              <a:rPr lang="pt-BR" sz="2000" b="1" dirty="0"/>
              <a:t>E(X + Y) = E(X) + E(Y)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Isso NÃO vale, em geral, para E(XY) = E(X)·E(Y) — essa igualdade só é garantida quando X e Y são independentes.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nosso exemplo: E(X)=1,35, E(Y)=0,65, então E(X)+E(Y) = 2,00 = E(X+Y).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Mas E(X)·E(Y) = 1,35×0,65 = 0,8775 ≠ E(XY) = 1,00 — confirma novamente que X e Y não são independentes.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 a variância da soma?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Diferente da esperança, a variância de X+Y NÃO é simplesmente Var(X) + Var(Y), a menos que X e Y sejam independentes.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fórmula geral envolve um termo extra que mede a associação entre X e Y — a covariância.</a:t>
            </a:r>
          </a:p>
          <a:p>
            <a:endParaRPr lang="pt-BR" sz="1800" dirty="0"/>
          </a:p>
          <a:p>
            <a:pPr/>
            <a:r>
              <a:rPr lang="pt-BR" sz="1900" b="1" dirty="0"/>
              <a:t>Var(X + Y) = Var(X) + Var(Y) + 2·Cov(X,Y)</a:t>
            </a:r>
          </a:p>
          <a:p>
            <a:endParaRPr lang="pt-BR" sz="1800" dirty="0"/>
          </a:p>
          <a:p>
            <a:pPr/>
            <a:r>
              <a:rPr lang="pt-BR" sz="1700" i="1" dirty="0"/>
              <a:t>Vamos estudar essa medida de associação, a covariância, em detalhe na próxima aula.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Visualizando a distribuição conjunta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Cada ponto do gráfico é um par (x,y) possível; o tamanho do círculo representa a probabilidade p(x,y).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Pontos maiores → combinações mais prováveis. Aqui, (X=2,Y=1) se destaca, com p=0,40.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Esse tipo de gráfico ajuda a enxergar visualmente onde se concentra a probabilidade conjunta.</a:t>
            </a:r>
          </a:p>
        </p:txBody>
      </p:sp>
      <p:pic>
        <p:nvPicPr>
          <p:cNvPr id="9" name="Grafico de dispersa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400000"/>
            <a:ext cx="4900000" cy="35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Checkpoint: o que já vimos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Distribuição conjunta p(x,y): descreve X e Y simultaneamente.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Marginais p(x), p(y): distribuição de cada variável isoladamente, somando sobre a outra.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Condicionais p(x|y): distribuição de X sabendo o valor de 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Independência: p(x,y) = p(x)p(y) para todo par — caso especial, não a regra.</a:t>
            </a:r>
          </a:p>
          <a:p>
            <a:endParaRPr lang="pt-BR" sz="1800" dirty="0"/>
          </a:p>
          <a:p>
            <a:pPr/>
            <a:r>
              <a:rPr lang="pt-BR" sz="1700" i="1" dirty="0"/>
              <a:t>A seguir, vamos ver como esses conceitos se estendem a três variáveis, e algumas aplicações práticas.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 com três ou mais variáveis?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conceitos se estendem naturalmente: para X, Y, Z, a conjunta é p(x,y,z) = P(X=x, Y=y, Z=z).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Marginais podem ser obtidas somando sobre uma ou duas variáveis (ex.: p(x,y) = Σᵣ p(x,y,z)).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Independência mútua exige p(x,y,z) = p(x)·p(y)·p(z) para TODOS os trios — uma condição ainda mais forte.</a:t>
            </a:r>
          </a:p>
          <a:p>
            <a:endParaRPr lang="pt-BR" sz="1800" dirty="0"/>
          </a:p>
          <a:p>
            <a:pPr/>
            <a:r>
              <a:rPr lang="pt-BR" sz="1700" i="1" dirty="0"/>
              <a:t>Na prática (ciência de dados, controle de qualidade multivariado), é comum lidar com dezenas de variáveis conjuntas — os princípios são os mesmos que vimos aqui para duas.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Onde isso aparece na prática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Controle de qualidade: relação entre duas características de um produto (ex.: peso e volume de um pacote).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Ciência de dados: praticamente todo conjunto de dados com duas ou mais colunas é, na essência, uma amostra de uma distribuição conjunta.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Finanças: retorno conjunto de dois ativos numa carteira — a associação entre eles afeta o risco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Engenharia: tempo de vida conjunto de dois componentes de um sistema.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 2: inspeção de peças</a:t>
            </a:r>
          </a:p>
          <a:p>
            <a:pPr/>
            <a:r>
              <a:rPr lang="pt-BR" sz="1600" dirty="0"/>
              <a:t>Uma linha de produção classifica cada peça segundo X = número de defeitos leves (0, 1 ou 2) e Y = presença de defeito grave (0 = não, 1 = sim). A distribuição conjunta observada é:</a:t>
            </a:r>
          </a:p>
        </p:txBody>
      </p:sp>
      <p:pic>
        <p:nvPicPr>
          <p:cNvPr id="9" name="Tabela exempl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000" y="3100000"/>
            <a:ext cx="7400000" cy="22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Resolvendo o Exemplo 2: marginais e condicional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Marginais: p(X=0)=0,35; p(X=1)=0,35; p(X=2)=0,30. p(Y=0)=0,55; p(Y=1)=0,45.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Condicional de X dado defeito grave (Y=1): p(X=0|Y=1) = 0,05/0,45 = 0,111; p(X=1|Y=1) = 0,15/0,45 = 0,333; p(X=2|Y=1) = 0,25/0,45 = 0,556.</a:t>
            </a:r>
          </a:p>
          <a:p>
            <a:endParaRPr lang="pt-BR" sz="1800" dirty="0"/>
          </a:p>
          <a:p>
            <a:pPr/>
            <a:r>
              <a:rPr lang="pt-BR" sz="1650" i="1" dirty="0"/>
              <a:t>Interpretação: entre as peças com defeito grave, mais da metade também tem 2 defeitos leves — sugere que os dois tipos de defeito estão associados (mesma causa raiz?).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Resolvendo o Exemplo 2: independência e E(XY)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Testando (X=0,Y=0): p(0,0) = 0,30. Produto das marginais: p(0)·p(0) = 0,35×0,55 = 0,1925.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Como 0,30 ≠ 0,1925, X e Y NÃO são independentes — confirma a suspeita do slide anterior.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E(X) = 0,95; E(Y) = 0,45; E(XY) = 0,65 (some x·y·p(x,y) nas 6 células).</a:t>
            </a:r>
          </a:p>
          <a:p>
            <a:endParaRPr lang="pt-BR" sz="1800" dirty="0"/>
          </a:p>
          <a:p>
            <a:pPr/>
            <a:r>
              <a:rPr lang="pt-BR" sz="1650" i="1" dirty="0"/>
              <a:t>Note que E(X)·E(Y) = 0,95×0,45 = 0,4275, bem diferente de E(XY) = 0,65 — mais uma confirmação da dependência.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Cuidados comuns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Marginal NÃO é o mesmo que condicional — p(x) soma sobre TODOS os y; p(x|y) é restrito a um valor específico de 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Cov(X,Y)=0 (ou E(XY)=E(X)E(Y)) não implica independência — apenas ausência de associação LINEAR (veremos isso na Aula 25).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Checar independência em UM par (x,y) não basta para concluir independência — é preciso checar TODOS os pares.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As probabilidades da tabela conjunta devem somar exatamente 1 — sempre confira isso ao montar uma tabela.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Por que essa aula é uma virada no curso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Até aqui, o curso tratou uma variável de cada vez. A partir de agora, entramos no estudo de RELAÇÕES entre variáveis.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Isso é a base conceitual para: covariância e correlação (Aula 25), e para o modelo de regressão linear (Aulas 26 e 27).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pergunta central passa a ser: como uma variável se comporta em função de outra? — é essa pergunta que a regressão vai responder de forma quantitativa.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Distribuição conjunta p(x,y): descreve o comportamento simultâneo de duas v.a.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Marginais e condicionais são obtidas a partir da conjunta, somando ou “fatiando” a tabela.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Independência é a condição p(x,y)=p(x)p(y) para todo par — caso especial, verificado, não assumido.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E(X+Y) = E(X)+E(Y) sempre vale; E(XY) = E(X)E(Y) só sob independência.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 aula: como medir a força e a direção da associação entre X e Y — covariância e correlação.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Variáveis Aleatórias Multidimensionais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8: 8.1, 8.2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5: 5.1, 5.2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5: 5.1, 5.2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3: 3.4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Exemplo 2 (inspeção de peças), calcule a distribuição condicional de X dado Y=0 e compare com a marginal de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Construa sua própria tabela de dupla entrada com 2x3 células, representando um cenário do seu cotidiano, e verifique se as variáveis são independentes.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1586</Words>
  <Application>Microsoft Office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229</cp:revision>
  <dcterms:created xsi:type="dcterms:W3CDTF">2020-07-20T19:35:15Z</dcterms:created>
  <dcterms:modified xsi:type="dcterms:W3CDTF">2024-09-19T22:01:46Z</dcterms:modified>
</cp:coreProperties>
</file>