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900" r:id="rId2"/>
    <p:sldId id="269" r:id="rId3"/>
    <p:sldId id="270" r:id="rId4"/>
    <p:sldId id="272" r:id="rId5"/>
    <p:sldId id="286" r:id="rId6"/>
    <p:sldId id="287" r:id="rId7"/>
    <p:sldId id="902" r:id="rId8"/>
    <p:sldId id="314" r:id="rId9"/>
    <p:sldId id="904" r:id="rId10"/>
    <p:sldId id="282" r:id="rId11"/>
    <p:sldId id="284" r:id="rId12"/>
    <p:sldId id="283" r:id="rId13"/>
    <p:sldId id="291" r:id="rId14"/>
    <p:sldId id="906" r:id="rId15"/>
    <p:sldId id="907" r:id="rId16"/>
    <p:sldId id="901" r:id="rId17"/>
    <p:sldId id="903" r:id="rId18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Contínuos 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568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uniforme contínua e calcular suas probabilidades.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exponencial e suas aplicações.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7 (7.4.1, 7.4.3)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Runger</a:t>
            </a:r>
            <a:r>
              <a:rPr lang="pt-BR" sz="2000"/>
              <a:t>. </a:t>
            </a:r>
            <a:r>
              <a:rPr lang="pt-BR" sz="2000" b="1"/>
              <a:t>Estatística Aplicada e Probabilidade para Engenheiros</a:t>
            </a:r>
            <a:r>
              <a:rPr lang="pt-BR" sz="2000"/>
              <a:t>, 7ª ed. — </a:t>
            </a:r>
            <a:r>
              <a:rPr lang="pt-BR" sz="2000" dirty="0"/>
              <a:t>Cap. 4 (4.4, 4.7)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6 (6.2)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5 (5.2)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B161EC75-4AC3-77EB-6B21-EF4361D49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76278" y="585208"/>
                <a:ext cx="10067277" cy="5123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Distribuição Uniforme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  <a:r>
                  <a:rPr lang="pt-BR" sz="2400" dirty="0"/>
                  <a:t>. A v.a.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tem distribuição uniforme no intervalo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400" dirty="0"/>
                  <a:t> se sua </a:t>
                </a:r>
                <a:r>
                  <a:rPr lang="pt-BR" sz="2400" dirty="0" err="1"/>
                  <a:t>f.d.p</a:t>
                </a:r>
                <a:r>
                  <a:rPr lang="pt-BR" sz="2400" dirty="0"/>
                  <a:t>. é dada por</a:t>
                </a:r>
                <a:r>
                  <a:rPr lang="pt-BR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</m:eqAr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mr>
                        <m:m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𝑐𝑎𝑠𝑜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𝑐𝑜𝑛𝑡𝑟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𝑟𝑖𝑜</m:t>
                            </m:r>
                          </m:e>
                        </m:mr>
                      </m:m>
                    </m:oMath>
                  </m:oMathPara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Esperança: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Variância: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8" y="585208"/>
                <a:ext cx="10067277" cy="5123518"/>
              </a:xfrm>
              <a:prstGeom prst="rect">
                <a:avLst/>
              </a:prstGeom>
              <a:blipFill>
                <a:blip r:embed="rId2"/>
                <a:stretch>
                  <a:fillRect l="-969" b="-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13058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28678" y="552077"/>
            <a:ext cx="100672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Gráfico da função densidade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70889D-276B-47F3-8315-940B98EFB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311" y="1539914"/>
            <a:ext cx="8446071" cy="39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6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42539" y="806702"/>
                <a:ext cx="10067277" cy="1829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37" indent="-285737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F.d.a</a:t>
                </a: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mr>
                        <m:m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mr>
                        <m:m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39" y="806702"/>
                <a:ext cx="10067277" cy="1829219"/>
              </a:xfrm>
              <a:prstGeom prst="rect">
                <a:avLst/>
              </a:prstGeom>
              <a:blipFill>
                <a:blip r:embed="rId2"/>
                <a:stretch>
                  <a:fillRect l="-848" t="-2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ED254D-632F-4F80-AB7F-E64E79653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181" y="2718945"/>
            <a:ext cx="7620000" cy="368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9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35913" y="684600"/>
            <a:ext cx="10654898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Exemplo:  </a:t>
            </a:r>
            <a:r>
              <a:rPr lang="pt-BR" sz="2400" dirty="0"/>
              <a:t>Um tubo de PVC é submetido a grande pressão de água e é inspecionado no momento em que ocorre o primeiro vazamento. Com o objetivo de verificar a resistência à pressão de água, os técnicos de qualidade de uma empresa inspecionam os tubos produzidos. Eles têm 7 metros de comprimento e as distâncias às extremidades são anotadas para análise posterior. 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Denota-se por </a:t>
            </a:r>
            <a:r>
              <a:rPr lang="pt-BR" sz="2400" b="1" dirty="0"/>
              <a:t>X a variável aleatória que indica a distância correspondente ao vazamento</a:t>
            </a:r>
            <a:r>
              <a:rPr lang="pt-BR" sz="2400" dirty="0"/>
              <a:t>. Admita igual probabilidade de ocorrência em todos os pontos.</a:t>
            </a:r>
            <a:endParaRPr lang="pt-BR" sz="2400" i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8790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67638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9531" y="585208"/>
                <a:ext cx="10067277" cy="5387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Escolhe-se um tubo ao acaso para ser inspecionado. Qual a probabilidade de que o vazamento esteja, no máximo, a 1 metro da extremidade esquerda ou, no máximo, a 2 metros da extremidade direita?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r>
                  <a:rPr lang="pt-BR" sz="2400" b="1" dirty="0"/>
                  <a:t>Resolução: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i="0" dirty="0">
                    <a:solidFill>
                      <a:srgbClr val="000000"/>
                    </a:solidFill>
                    <a:effectLst/>
                    <a:latin typeface="ProximaNova"/>
                  </a:rPr>
                  <a:t>O tubo tem 7 metros de comprimento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i="0" dirty="0">
                    <a:solidFill>
                      <a:srgbClr val="000000"/>
                    </a:solidFill>
                    <a:effectLst/>
                    <a:latin typeface="ProximaNova"/>
                  </a:rPr>
                  <a:t>Denota-se por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i="0" dirty="0">
                    <a:solidFill>
                      <a:srgbClr val="000000"/>
                    </a:solidFill>
                    <a:effectLst/>
                    <a:latin typeface="ProximaNova"/>
                  </a:rPr>
                  <a:t> a variável aleatória que indica a distância correspondente ao vazamento.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i="0" dirty="0">
                    <a:solidFill>
                      <a:srgbClr val="000000"/>
                    </a:solidFill>
                    <a:effectLst/>
                    <a:latin typeface="ProximaNova"/>
                  </a:rPr>
                  <a:t> Admitindo igual probabilidade de ocorrência em todos os pontos, temos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𝑈</m:t>
                    </m:r>
                    <m:r>
                      <a:rPr lang="pt-BR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[0,7]</m:t>
                    </m:r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1" y="585208"/>
                <a:ext cx="10067277" cy="5387950"/>
              </a:xfrm>
              <a:prstGeom prst="rect">
                <a:avLst/>
              </a:prstGeom>
              <a:blipFill>
                <a:blip r:embed="rId2"/>
                <a:stretch>
                  <a:fillRect l="-908" r="-1574" b="-6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0578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9531" y="585208"/>
                <a:ext cx="10067277" cy="5160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Queremos calcular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≤1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𝑜𝑢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5≤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Como os intervalos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5,7</m:t>
                        </m:r>
                      </m:e>
                    </m:d>
                  </m:oMath>
                </a14:m>
                <a:r>
                  <a:rPr lang="pt-BR" sz="2400" dirty="0"/>
                  <a:t> são disjuntos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≤1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𝑜𝑢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5≤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≤1 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5≤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</m:oMath>
                  </m:oMathPara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Cambria Math" panose="02040503050406030204" pitchFamily="18" charset="0"/>
                  </a:rPr>
                  <a:t>Logo,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≤1 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5≤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≤7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  <m:e>
                        <m:f>
                          <m:f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pt-BR" sz="24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Cambria Math" panose="02040503050406030204" pitchFamily="18" charset="0"/>
                  </a:rPr>
                  <a:t>Portanto,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≤1 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𝑜𝑢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 5≤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≤7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1" y="585208"/>
                <a:ext cx="10067277" cy="5160772"/>
              </a:xfrm>
              <a:prstGeom prst="rect">
                <a:avLst/>
              </a:prstGeom>
              <a:blipFill>
                <a:blip r:embed="rId2"/>
                <a:stretch>
                  <a:fillRect l="-9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4471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55791" y="936391"/>
            <a:ext cx="10347638" cy="4464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Um influenciador posta um </a:t>
            </a:r>
            <a:r>
              <a:rPr lang="pt-BR" sz="2400" dirty="0" err="1"/>
              <a:t>story</a:t>
            </a:r>
            <a:r>
              <a:rPr lang="pt-BR" sz="2400" dirty="0"/>
              <a:t>, que fica no ar por 24 horas. Um seguidor abre o app em um instante qualquer dessas 24 horas, sem preferência de horário.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Seja X o instante (em horas após a postagem) em que o seguidor vê o </a:t>
            </a:r>
            <a:r>
              <a:rPr lang="pt-BR" sz="2400" dirty="0" err="1"/>
              <a:t>story</a:t>
            </a:r>
            <a:r>
              <a:rPr lang="pt-BR" sz="2400" dirty="0"/>
              <a:t>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Qual a probabilidade de ele ver o </a:t>
            </a:r>
            <a:r>
              <a:rPr lang="pt-BR" sz="2400" dirty="0" err="1"/>
              <a:t>story</a:t>
            </a:r>
            <a:r>
              <a:rPr lang="pt-BR" sz="2400" dirty="0"/>
              <a:t> nas primeiras 6 horas? Qual o instante médio em que ele vê o </a:t>
            </a:r>
            <a:r>
              <a:rPr lang="pt-BR" sz="2400" dirty="0" err="1"/>
              <a:t>story</a:t>
            </a:r>
            <a:r>
              <a:rPr lang="pt-BR" sz="2400" dirty="0"/>
              <a:t>?</a:t>
            </a:r>
            <a:endParaRPr lang="pt-BR" sz="2400" i="1" dirty="0">
              <a:latin typeface="Cambria Math" panose="020405030504060302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15496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0957" y="570631"/>
                <a:ext cx="10347638" cy="532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 </a:t>
                </a:r>
                <a:r>
                  <a:rPr lang="pt-BR" sz="2400" dirty="0"/>
                  <a:t>Como não há preferência de horário,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[0, 24],</m:t>
                    </m:r>
                  </m:oMath>
                </a14:m>
                <a:r>
                  <a:rPr lang="pt-BR" sz="2400" dirty="0"/>
                  <a:t> com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0≤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≤24, </m:t>
                    </m:r>
                  </m:oMath>
                </a14:m>
                <a:r>
                  <a:rPr lang="pt-BR" sz="2400" dirty="0"/>
                  <a:t>e</a:t>
                </a:r>
                <a:r>
                  <a:rPr lang="pt-BR" sz="2400" i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pt-BR" sz="2400" dirty="0"/>
                  <a:t>, caso contrário.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Ver o </a:t>
                </a:r>
                <a:r>
                  <a:rPr lang="pt-BR" sz="2400" dirty="0" err="1"/>
                  <a:t>story</a:t>
                </a:r>
                <a:r>
                  <a:rPr lang="pt-BR" sz="2400" dirty="0"/>
                  <a:t> nas primeiras 6 horas: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≤ 6) = ∫₀⁶ (1/24) 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6/24 = 0,25.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Instante médio em que o </a:t>
                </a:r>
                <a:r>
                  <a:rPr lang="pt-BR" sz="2400" dirty="0" err="1"/>
                  <a:t>story</a:t>
                </a:r>
                <a:r>
                  <a:rPr lang="pt-BR" sz="2400" dirty="0"/>
                  <a:t> é visto</a:t>
                </a:r>
              </a:p>
              <a:p>
                <a:pPr marL="800089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dirty="0">
                        <a:latin typeface="Cambria Math" panose="02040503050406030204" pitchFamily="18" charset="0"/>
                      </a:rPr>
                      <m:t>) = (0 + 24)/2 = 12</m:t>
                    </m:r>
                  </m:oMath>
                </a14:m>
                <a:r>
                  <a:rPr lang="pt-BR" sz="2400" i="0" dirty="0">
                    <a:latin typeface="+mj-lt"/>
                  </a:rPr>
                  <a:t> </a:t>
                </a:r>
                <a:r>
                  <a:rPr lang="pt-BR" sz="2400" dirty="0"/>
                  <a:t>horas</a:t>
                </a:r>
                <a14:m>
                  <m:oMath xmlns:m="http://schemas.openxmlformats.org/officeDocument/2006/math">
                    <m:r>
                      <a:rPr lang="pt-BR" sz="2400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 marL="800089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 = (24 − 0)²/12 = 48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², </m:t>
                    </m:r>
                  </m:oMath>
                </a14:m>
                <a:r>
                  <a:rPr lang="pt-BR" sz="2400" dirty="0"/>
                  <a:t>ou seja, desvio padrão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≈ 6,9 </m:t>
                    </m:r>
                  </m:oMath>
                </a14:m>
                <a:r>
                  <a:rPr lang="pt-BR" sz="2400" dirty="0"/>
                  <a:t>horas</a:t>
                </a:r>
                <a14:m>
                  <m:oMath xmlns:m="http://schemas.openxmlformats.org/officeDocument/2006/math">
                    <m:r>
                      <a:rPr lang="pt-BR" sz="2400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57" y="570631"/>
                <a:ext cx="10347638" cy="5327612"/>
              </a:xfrm>
              <a:prstGeom prst="rect">
                <a:avLst/>
              </a:prstGeom>
              <a:blipFill>
                <a:blip r:embed="rId2"/>
                <a:stretch>
                  <a:fillRect l="-883" b="-5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063943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0120" y="711104"/>
                <a:ext cx="10571759" cy="5482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>
                    <a:cs typeface="Calibri" panose="020F0502020204030204" pitchFamily="34" charset="0"/>
                  </a:rPr>
                  <a:t>Distribuição</a:t>
                </a:r>
                <a:r>
                  <a:rPr lang="pt-BR" sz="2400" b="1" dirty="0"/>
                  <a:t> Exponencial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  <a:r>
                  <a:rPr lang="pt-BR" sz="2400" dirty="0"/>
                  <a:t>: Dizemos que a v.a.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tem distribuição exponencial com parâmetro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400" dirty="0"/>
                  <a:t> se a sua função densidade é dada por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         0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Notação: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𝐸𝑥𝑝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pt-BR" sz="24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0" y="711104"/>
                <a:ext cx="10571759" cy="5482078"/>
              </a:xfrm>
              <a:prstGeom prst="rect">
                <a:avLst/>
              </a:prstGeom>
              <a:blipFill>
                <a:blip r:embed="rId2"/>
                <a:stretch>
                  <a:fillRect l="-923" r="-1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46358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2661" y="671347"/>
                <a:ext cx="10067277" cy="4581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Esperança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24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Função de distribuição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&amp;0                       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61" y="671347"/>
                <a:ext cx="10067277" cy="4581382"/>
              </a:xfrm>
              <a:prstGeom prst="rect">
                <a:avLst/>
              </a:prstGeom>
              <a:blipFill>
                <a:blip r:embed="rId2"/>
                <a:stretch>
                  <a:fillRect l="-848" t="-10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046305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0120" y="748589"/>
                <a:ext cx="1057175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>
                    <a:cs typeface="Calibri" panose="020F0502020204030204" pitchFamily="34" charset="0"/>
                  </a:rPr>
                  <a:t>Exemplo de gráfico para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endParaRPr lang="pt-BR" sz="2400" dirty="0">
                  <a:cs typeface="Calibri" panose="020F0502020204030204" pitchFamily="34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>
                    <a:cs typeface="Calibri" panose="020F0502020204030204" pitchFamily="34" charset="0"/>
                  </a:rPr>
                  <a:t> função de distribuição acumulada (</a:t>
                </a:r>
                <a:r>
                  <a:rPr lang="pt-BR" sz="2400" dirty="0" err="1">
                    <a:cs typeface="Calibri" panose="020F0502020204030204" pitchFamily="34" charset="0"/>
                  </a:rPr>
                  <a:t>f.d.a</a:t>
                </a:r>
                <a:r>
                  <a:rPr lang="pt-BR" sz="2400" dirty="0">
                    <a:cs typeface="Calibri" panose="020F0502020204030204" pitchFamily="34" charset="0"/>
                  </a:rPr>
                  <a:t>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>
                    <a:cs typeface="Calibri" panose="020F0502020204030204" pitchFamily="34" charset="0"/>
                  </a:rPr>
                  <a:t>Função densidade de probabilidade (</a:t>
                </a:r>
                <a:r>
                  <a:rPr lang="pt-BR" sz="2400" dirty="0" err="1">
                    <a:cs typeface="Calibri" panose="020F0502020204030204" pitchFamily="34" charset="0"/>
                  </a:rPr>
                  <a:t>f.d.p</a:t>
                </a:r>
                <a:r>
                  <a:rPr lang="pt-BR" sz="2400" dirty="0">
                    <a:cs typeface="Calibri" panose="020F0502020204030204" pitchFamily="34" charset="0"/>
                  </a:rPr>
                  <a:t>)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0" y="748589"/>
                <a:ext cx="10571759" cy="3046988"/>
              </a:xfrm>
              <a:prstGeom prst="rect">
                <a:avLst/>
              </a:prstGeom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CD818C-B3F0-A529-404F-AC83E66C4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18" y="2873123"/>
            <a:ext cx="9801218" cy="30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29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6522" y="618338"/>
                <a:ext cx="10789124" cy="4005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A duração de uma sessão em um app de vídeos curtos segue uma distribuição exponencial com média de 8 minutos.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sz="2400" dirty="0"/>
                  <a:t> a duração de uma sessão, em minutos.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Qual a probabilidade de uma sessão durar mais de 15 minutos? E de durar no máximo 2 minutos?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22" y="618338"/>
                <a:ext cx="10789124" cy="4005392"/>
              </a:xfrm>
              <a:prstGeom prst="rect">
                <a:avLst/>
              </a:prstGeom>
              <a:blipFill>
                <a:blip r:embed="rId2"/>
                <a:stretch>
                  <a:fillRect l="-847" b="-3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288304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6522" y="618338"/>
                <a:ext cx="10789124" cy="5344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 </a:t>
                </a:r>
                <a:r>
                  <a:rPr lang="pt-BR" sz="2400" dirty="0"/>
                  <a:t>Vamos resolver o exemplo usando o modelo exponencial 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Pelo slide anterior, a média da variável exponencial é 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Pelo enunciado, o tempo médio é 8 minutos, então 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=1/8</m:t>
                    </m:r>
                  </m:oMath>
                </a14:m>
                <a:r>
                  <a:rPr lang="pt-BR" sz="2400" dirty="0"/>
                  <a:t> por minuto. Assim, 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(1/8).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Portanto,</a:t>
                </a: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&gt;15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 dirty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sub>
                            <m:sup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400" b="0" i="1" dirty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func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400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sSubSup>
                        <m:sSubSup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400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≈0,153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22" y="618338"/>
                <a:ext cx="10789124" cy="5344796"/>
              </a:xfrm>
              <a:prstGeom prst="rect">
                <a:avLst/>
              </a:prstGeom>
              <a:blipFill>
                <a:blip r:embed="rId2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24126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6522" y="618338"/>
                <a:ext cx="10789124" cy="13572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>
                            <m:f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+1≈0,221.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22" y="618338"/>
                <a:ext cx="10789124" cy="13572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20650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49166" y="428077"/>
            <a:ext cx="1006727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7: 7.4.1, 7.4.3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4: 4.4, 4.7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6: 6.2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5: 5.2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49166" y="428077"/>
            <a:ext cx="1006727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 (continuação)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7: Problemas 13 e 21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6 (6.3 Exercícios): 18, 20, 21, 22 e 23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4: 4.4.1, 4.4.2, 4.4.3, 4.4.4, 4.4.5, 4.7.1, 4.7.2, 4.7.4, 4.7.5 e 4.7.7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5: Exercícios 9, 10 e 12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4860</TotalTime>
  <Words>1116</Words>
  <Application>Microsoft Office PowerPoint</Application>
  <PresentationFormat>Widescreen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AlternateGothic2 BT</vt:lpstr>
      <vt:lpstr>Arial</vt:lpstr>
      <vt:lpstr>Calibri</vt:lpstr>
      <vt:lpstr>Calibri Light</vt:lpstr>
      <vt:lpstr>Cambria Math</vt:lpstr>
      <vt:lpstr>ProximaNova</vt:lpstr>
      <vt:lpstr>Tema do Office</vt:lpstr>
      <vt:lpstr>CEA055 – Estatística e Probabilidade Modelos Contínuos 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197</cp:revision>
  <dcterms:created xsi:type="dcterms:W3CDTF">2020-07-20T19:35:15Z</dcterms:created>
  <dcterms:modified xsi:type="dcterms:W3CDTF">2026-10-22T11:30:31Z</dcterms:modified>
</cp:coreProperties>
</file>