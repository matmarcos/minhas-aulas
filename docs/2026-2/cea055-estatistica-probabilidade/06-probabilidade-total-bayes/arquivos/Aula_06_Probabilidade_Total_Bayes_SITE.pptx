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800" r:id="rId2"/>
    <p:sldId id="281" r:id="rId3"/>
    <p:sldId id="802" r:id="rId4"/>
    <p:sldId id="282" r:id="rId5"/>
    <p:sldId id="289" r:id="rId6"/>
    <p:sldId id="805" r:id="rId7"/>
    <p:sldId id="299" r:id="rId8"/>
    <p:sldId id="803" r:id="rId9"/>
    <p:sldId id="806" r:id="rId10"/>
    <p:sldId id="807" r:id="rId11"/>
    <p:sldId id="283" r:id="rId12"/>
    <p:sldId id="284" r:id="rId13"/>
    <p:sldId id="286" r:id="rId14"/>
    <p:sldId id="287" r:id="rId15"/>
    <p:sldId id="808" r:id="rId16"/>
    <p:sldId id="801" r:id="rId17"/>
    <p:sldId id="809" r:id="rId18"/>
  </p:sldIdLst>
  <p:sldSz cx="12192000" cy="6858000"/>
  <p:notesSz cx="7099300" cy="10234613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73" d="100"/>
          <a:sy n="73" d="100"/>
        </p:scale>
        <p:origin x="56" y="5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Teorema de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340760"/>
            <a:ext cx="10067277" cy="4651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Aplicar a regra da probabilidade total a partir de uma partição do espaço amostral.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Utilizar o Teorema de Bayes para revisar probabilidades à luz de nova informação.</a:t>
            </a:r>
          </a:p>
          <a:p>
            <a:pPr>
              <a:lnSpc>
                <a:spcPct val="150000"/>
              </a:lnSpc>
            </a:pPr>
            <a:r>
              <a:rPr lang="pt-BR" sz="22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Bussab, Morettin. </a:t>
            </a:r>
            <a:r>
              <a:rPr lang="pt-BR" sz="2200" b="1" dirty="0"/>
              <a:t>Estatística Básica</a:t>
            </a:r>
            <a:r>
              <a:rPr lang="pt-BR" sz="2200" dirty="0"/>
              <a:t>, 9ed — Cap. 5 (5.4)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Montgomery, Runger</a:t>
            </a:r>
            <a:r>
              <a:rPr lang="pt-BR" sz="2200"/>
              <a:t>. </a:t>
            </a:r>
            <a:r>
              <a:rPr lang="pt-BR" sz="2200" b="1"/>
              <a:t>Estatística Aplicada e Probabilidade para Engenheiros</a:t>
            </a:r>
            <a:r>
              <a:rPr lang="pt-BR" sz="2200"/>
              <a:t>, 7ª ed. — </a:t>
            </a:r>
            <a:r>
              <a:rPr lang="pt-BR" sz="2200" dirty="0"/>
              <a:t>Cap. 2 (2.6, 2.8)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Magalhães, Lima. </a:t>
            </a:r>
            <a:r>
              <a:rPr lang="pt-BR" sz="2200" b="1" dirty="0"/>
              <a:t>Noções de Probabilidade e Estatística</a:t>
            </a:r>
            <a:r>
              <a:rPr lang="pt-BR" sz="2200" dirty="0"/>
              <a:t>, 5ed — Cap. 2 (2.2)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Morettin. </a:t>
            </a:r>
            <a:r>
              <a:rPr lang="pt-BR" sz="2200" b="1" dirty="0"/>
              <a:t>Estatística Básica: Probabilidade e Inferência</a:t>
            </a:r>
            <a:r>
              <a:rPr lang="pt-BR" sz="2200" dirty="0"/>
              <a:t> — Cap. 2 (2.6)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3645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Partição do espaço amostral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Os eventos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 formam uma partição do espaço amostral se </a:t>
                </a:r>
              </a:p>
              <a:p>
                <a:pPr marL="571500" indent="-571500">
                  <a:lnSpc>
                    <a:spcPct val="15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pt-BR" sz="2400" b="0" dirty="0"/>
                  <a:t>;</a:t>
                </a:r>
              </a:p>
              <a:p>
                <a:pPr marL="571500" indent="-571500">
                  <a:lnSpc>
                    <a:spcPct val="15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∪ ⋯∪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400" b="0" dirty="0"/>
                  <a:t>.</a:t>
                </a:r>
              </a:p>
              <a:p>
                <a:pPr marL="571500" indent="-571500">
                  <a:buFont typeface="+mj-lt"/>
                  <a:buAutoNum type="romanLcPeriod"/>
                </a:pPr>
                <a:endParaRPr lang="pt-BR" sz="2800" b="0" dirty="0"/>
              </a:p>
              <a:p>
                <a:pPr marL="571500" indent="-571500">
                  <a:buFont typeface="+mj-lt"/>
                  <a:buAutoNum type="romanLcPeriod"/>
                </a:pPr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3645613"/>
              </a:xfrm>
              <a:prstGeom prst="rect">
                <a:avLst/>
              </a:prstGeom>
              <a:blipFill>
                <a:blip r:embed="rId2"/>
                <a:stretch>
                  <a:fillRect l="-9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32667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340760"/>
                <a:ext cx="10748061" cy="5033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Sorteando ao acaso um integrante da Sociedade do Anel, o espaço amostral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i="0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400" dirty="0"/>
                  <a:t> é o conjunto dos 9 membros. As raças formam uma partição de Ω: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C₁ = </a:t>
                </a:r>
                <a:r>
                  <a:rPr lang="pt-BR" sz="2400" dirty="0" err="1"/>
                  <a:t>Hobbits</a:t>
                </a:r>
                <a:r>
                  <a:rPr lang="pt-BR" sz="2400" dirty="0"/>
                  <a:t> (Frodo, Sam, </a:t>
                </a:r>
                <a:r>
                  <a:rPr lang="pt-BR" sz="2400" dirty="0" err="1"/>
                  <a:t>Merry</a:t>
                </a:r>
                <a:r>
                  <a:rPr lang="pt-BR" sz="2400" dirty="0"/>
                  <a:t>, Pippin)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C₂ = Homens (Aragorn, </a:t>
                </a:r>
                <a:r>
                  <a:rPr lang="pt-BR" sz="2400" dirty="0" err="1"/>
                  <a:t>Boromir</a:t>
                </a:r>
                <a:r>
                  <a:rPr lang="pt-BR" sz="2400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C₃ = Elfo (Legolas)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C₄ = Anão (</a:t>
                </a:r>
                <a:r>
                  <a:rPr lang="pt-BR" sz="2400" dirty="0" err="1"/>
                  <a:t>Gimli</a:t>
                </a:r>
                <a:r>
                  <a:rPr lang="pt-BR" sz="2400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C₅ = Mago (Gandalf)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Todo integrante pertence a exatamente uma raça — ninguém pertence a duas ao mesmo tempo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ᵢ∩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ⱼ=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∅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e ninguém fica de fora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₂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₄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₅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2400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340760"/>
                <a:ext cx="10748061" cy="5033494"/>
              </a:xfrm>
              <a:prstGeom prst="rect">
                <a:avLst/>
              </a:prstGeom>
              <a:blipFill>
                <a:blip r:embed="rId2"/>
                <a:stretch>
                  <a:fillRect l="-908" b="-16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06969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Teorema da Probabilidade total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>} uma partição do espaço amostral. 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Então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⋯+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2677656"/>
              </a:xfrm>
              <a:prstGeom prst="rect">
                <a:avLst/>
              </a:prstGeom>
              <a:blipFill>
                <a:blip r:embed="rId2"/>
                <a:stretch>
                  <a:fillRect l="-1191" t="-20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26347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1032611" y="1506234"/>
            <a:ext cx="10597137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Exemplo (pg. 25): </a:t>
            </a:r>
            <a:r>
              <a:rPr lang="pt-BR" sz="2800" dirty="0"/>
              <a:t>Uma urna contém 3 bolas brancas e duas amarelas. Uma segunda urna contém 4 bolas brancas e 2 amarelas. Escolhe-se, ao acaso, uma urna e dela retira-se, também ao acaso, uma bola. Qual a probabilidade que seja branca?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82097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1032611" y="1370472"/>
            <a:ext cx="10597137" cy="511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Exemplo. </a:t>
            </a:r>
            <a:r>
              <a:rPr lang="pt-BR" sz="2200" dirty="0"/>
              <a:t>Numa convenção de quadrinhos, todo visitante se fantasiou de um herói de uma entre três franquias: Marvel, DC ou Star Wars — as três se particionam o público (C₁, C₂, C₃). Sabe-se que: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P(Marvel ∩ ganhou prêmio) = 0,15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P(DC ∩ ganhou prêmio) = 0,08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P(Star Wars ∩ ganhou prêmio) = 0,02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Qual a probabilidade de um visitante escolhido ao acaso ter ganhado o prêmio de melhor fantasia?</a:t>
            </a:r>
          </a:p>
          <a:p>
            <a:pPr>
              <a:lnSpc>
                <a:spcPct val="150000"/>
              </a:lnSpc>
            </a:pPr>
            <a:r>
              <a:rPr lang="pt-BR" sz="2200" b="1" dirty="0"/>
              <a:t>Resolução:</a:t>
            </a:r>
            <a:r>
              <a:rPr lang="pt-BR" sz="2200" dirty="0"/>
              <a:t> P(prêmio) = P(prêmio ∩ Marvel) + P(prêmio ∩ DC) + P(prêmio ∩ Star Wars) = 0,15 + 0,08 + 0,02 = 0,25.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987801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Num torneio de Mario Kart, 60% dos jogadores escolhem um kart leve e 40% escolhem um kart pesado. A taxa de vitória numa corrida é de 30% para quem usa kart leve e 55% para quem usa kart pesado. Escolhendo um jogador ao acaso, qual a probabilidade de ele vencer a corrida?</a:t>
            </a:r>
          </a:p>
          <a:p>
            <a:pPr rtl="0">
              <a:lnSpc>
                <a:spcPct val="150000"/>
              </a:lnSpc>
            </a:pPr>
            <a:endParaRPr lang="pt-BR" sz="2400" dirty="0"/>
          </a:p>
          <a:p>
            <a:pPr rtl="0">
              <a:lnSpc>
                <a:spcPct val="150000"/>
              </a:lnSpc>
            </a:pPr>
            <a:r>
              <a:rPr lang="pt-BR" sz="2400" b="1" dirty="0"/>
              <a:t>Resolução: </a:t>
            </a:r>
            <a:r>
              <a:rPr lang="pt-BR" sz="2400" dirty="0"/>
              <a:t>P(leve) = 0,6, P(pesado) = 0,4. </a:t>
            </a:r>
          </a:p>
          <a:p>
            <a:pPr rtl="0">
              <a:lnSpc>
                <a:spcPct val="150000"/>
              </a:lnSpc>
            </a:pPr>
            <a:r>
              <a:rPr lang="pt-BR" sz="2400" dirty="0"/>
              <a:t>P(</a:t>
            </a:r>
            <a:r>
              <a:rPr lang="pt-BR" sz="2400" dirty="0" err="1"/>
              <a:t>vitória|leve</a:t>
            </a:r>
            <a:r>
              <a:rPr lang="pt-BR" sz="2400" dirty="0"/>
              <a:t>) = 0,3, P(</a:t>
            </a:r>
            <a:r>
              <a:rPr lang="pt-BR" sz="2400" dirty="0" err="1"/>
              <a:t>vitória|pesado</a:t>
            </a:r>
            <a:r>
              <a:rPr lang="pt-BR" sz="2400" dirty="0"/>
              <a:t>) = 0,55. </a:t>
            </a:r>
          </a:p>
          <a:p>
            <a:pPr rtl="0">
              <a:lnSpc>
                <a:spcPct val="150000"/>
              </a:lnSpc>
            </a:pPr>
            <a:r>
              <a:rPr lang="pt-BR" sz="2400" dirty="0"/>
              <a:t>P(vitória) = P(leve)·P(</a:t>
            </a:r>
            <a:r>
              <a:rPr lang="pt-BR" sz="2400" dirty="0" err="1"/>
              <a:t>vitória|leve</a:t>
            </a:r>
            <a:r>
              <a:rPr lang="pt-BR" sz="2400" dirty="0"/>
              <a:t>) + P(pesado)·P(</a:t>
            </a:r>
            <a:r>
              <a:rPr lang="pt-BR" sz="2400" dirty="0" err="1"/>
              <a:t>vitória|pesado</a:t>
            </a:r>
            <a:r>
              <a:rPr lang="pt-BR" sz="2400" dirty="0"/>
              <a:t>) = 0,6·0,3 + 0,4·0,55 = 0,18 + 0,22 = </a:t>
            </a:r>
            <a:r>
              <a:rPr lang="pt-BR" sz="2400" b="1" dirty="0"/>
              <a:t>0,40</a:t>
            </a:r>
            <a:r>
              <a:rPr lang="pt-BR" sz="2400" dirty="0"/>
              <a:t>.</a:t>
            </a: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473020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Teorema de </a:t>
            </a:r>
            <a:r>
              <a:rPr lang="pt-BR" sz="2800" b="1" dirty="0" err="1"/>
              <a:t>Bayes</a:t>
            </a:r>
            <a:r>
              <a:rPr lang="pt-BR" sz="2800" b="1" dirty="0"/>
              <a:t> </a:t>
            </a:r>
          </a:p>
          <a:p>
            <a:pPr>
              <a:lnSpc>
                <a:spcPct val="150000"/>
              </a:lnSpc>
            </a:pPr>
            <a:r>
              <a:rPr lang="pt-BR" sz="2400" b="0" dirty="0"/>
              <a:t>O Teorema de </a:t>
            </a:r>
            <a:r>
              <a:rPr lang="pt-BR" sz="2400" b="0" dirty="0" err="1"/>
              <a:t>Bayes</a:t>
            </a:r>
            <a:r>
              <a:rPr lang="pt-BR" sz="2400" b="0" dirty="0"/>
              <a:t> serve para inverter uma probabilidade condicional: a partir de P(</a:t>
            </a:r>
            <a:r>
              <a:rPr lang="pt-BR" sz="2400" b="0" dirty="0" err="1"/>
              <a:t>efeito|causa</a:t>
            </a:r>
            <a:r>
              <a:rPr lang="pt-BR" sz="2400" b="0" dirty="0"/>
              <a:t>), ele calcula P(causa | efeito). </a:t>
            </a:r>
          </a:p>
          <a:p>
            <a:pPr>
              <a:lnSpc>
                <a:spcPct val="150000"/>
              </a:lnSpc>
            </a:pPr>
            <a:r>
              <a:rPr lang="pt-BR" sz="2400" b="0" dirty="0"/>
              <a:t>É exatamente o problema do "Detector de mentiras" da Aula 5 — sabíamos que o teste falha com probabilidade 0,8 quando a pessoa é ladrão </a:t>
            </a:r>
            <a:r>
              <a:rPr lang="pt-BR" sz="2400" b="1" dirty="0"/>
              <a:t>(P(</a:t>
            </a:r>
            <a:r>
              <a:rPr lang="pt-BR" sz="2400" b="1" dirty="0" err="1"/>
              <a:t>falhou|ladrão</a:t>
            </a:r>
            <a:r>
              <a:rPr lang="pt-BR" sz="2400" b="1" dirty="0"/>
              <a:t>) = 0,8)</a:t>
            </a:r>
            <a:r>
              <a:rPr lang="pt-BR" sz="2400" b="0" dirty="0"/>
              <a:t>, mas a pergunta que interessava de verdade era a contrária: de quem falhou no teste, qual a probabilidade de ser realmente ladrão? </a:t>
            </a:r>
            <a:r>
              <a:rPr lang="pt-BR" sz="2400" b="1" dirty="0"/>
              <a:t>(P(</a:t>
            </a:r>
            <a:r>
              <a:rPr lang="pt-BR" sz="2400" b="1" dirty="0" err="1"/>
              <a:t>ladrão|falhou</a:t>
            </a:r>
            <a:r>
              <a:rPr lang="pt-BR" sz="2400" b="1" dirty="0"/>
              <a:t>) = 0,31).</a:t>
            </a:r>
            <a:r>
              <a:rPr lang="pt-BR" sz="2400" b="0" dirty="0"/>
              <a:t> O Teorema de </a:t>
            </a:r>
            <a:r>
              <a:rPr lang="pt-BR" sz="2400" b="0" dirty="0" err="1"/>
              <a:t>Bayes</a:t>
            </a:r>
            <a:r>
              <a:rPr lang="pt-BR" sz="2400" b="0" dirty="0"/>
              <a:t> formaliza essa inversão.</a:t>
            </a:r>
            <a:endParaRPr lang="pt-BR" sz="24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1540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 5.15. </a:t>
            </a:r>
            <a:r>
              <a:rPr lang="pt-BR" sz="2400" dirty="0"/>
              <a:t>(Bussab &amp; </a:t>
            </a:r>
            <a:r>
              <a:rPr lang="pt-BR" sz="2400" dirty="0" err="1"/>
              <a:t>Morettin</a:t>
            </a:r>
            <a:r>
              <a:rPr lang="pt-BR" sz="2400" dirty="0"/>
              <a:t>) Numa empresa, candidatos fazem um curso de treinamento e são classificados como Bons (25%), Médios (50%) ou Fracos (25%). Um teste alternativo, aplicado antes do curso, tem taxa de aprovação de 80% para quem seria Bom, 50% para Médio e 20% para Fraco. 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Qual a probabilidade de um candidato aprovado no teste ser, na verdade, Fraco?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958118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E7D7DF4-BC75-6BC5-7A2A-4E0A37963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31" y="1501352"/>
            <a:ext cx="4635738" cy="307355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E02383C-1B39-9EEC-06BC-556CDEFAD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006" y="1501352"/>
            <a:ext cx="4036231" cy="3106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F56E022-A72E-E493-9B83-91EE419563FE}"/>
                  </a:ext>
                </a:extLst>
              </p:cNvPr>
              <p:cNvSpPr txBox="1"/>
              <p:nvPr/>
            </p:nvSpPr>
            <p:spPr>
              <a:xfrm>
                <a:off x="510096" y="5013071"/>
                <a:ext cx="8465779" cy="14755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𝐹𝑟𝑎𝑐𝑜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𝐴𝑝𝑟𝑜𝑣𝑎𝑑𝑜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𝐹𝑟𝑎𝑐𝑜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𝐴𝑝𝑟𝑜𝑣𝑎𝑑𝑜</m:t>
                            </m:r>
                          </m:e>
                        </m:d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𝐴𝑝𝑟𝑜𝑣𝑎𝑑𝑜</m:t>
                            </m:r>
                          </m:e>
                        </m:d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05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(No denominador nós usamos o Teorema da Probabilidade Total)</a:t>
                </a: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F56E022-A72E-E493-9B83-91EE41956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96" y="5013071"/>
                <a:ext cx="8465779" cy="1475597"/>
              </a:xfrm>
              <a:prstGeom prst="rect">
                <a:avLst/>
              </a:prstGeom>
              <a:blipFill>
                <a:blip r:embed="rId5"/>
                <a:stretch>
                  <a:fillRect l="-1153" b="-86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584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D39BDD1-0BFE-4C1B-8F26-CA7C9C8E3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536" y="3759512"/>
            <a:ext cx="5709393" cy="272915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63EA47F-ECFD-24EA-1A3D-DE427B8EA6A4}"/>
              </a:ext>
            </a:extLst>
          </p:cNvPr>
          <p:cNvSpPr txBox="1"/>
          <p:nvPr/>
        </p:nvSpPr>
        <p:spPr>
          <a:xfrm>
            <a:off x="1032612" y="1436914"/>
            <a:ext cx="10277702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Temos cinco urnas, cada uma com seis bolas. Duas dessas urnas (tipo C₁) têm 3 bolas brancas, duas outras (tipo C₂) têm 2 bolas brancas, e a última urna (tipo C₃) tem 6 bolas brancas. Escolhemos uma urna ao acaso e dela retiramos uma bola.  Qual a probabilidade de a urna escolhida ser do tipo C₃, sabendo-se que a bola sorteada é branca?</a:t>
            </a:r>
          </a:p>
        </p:txBody>
      </p:sp>
    </p:spTree>
    <p:extLst>
      <p:ext uri="{BB962C8B-B14F-4D97-AF65-F5344CB8AC3E}">
        <p14:creationId xmlns:p14="http://schemas.microsoft.com/office/powerpoint/2010/main" val="2977226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934446" y="1218636"/>
                <a:ext cx="10748061" cy="5270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400" dirty="0"/>
                  <a:t>1</a:t>
                </a:r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₂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₂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)·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400" i="1" dirty="0"/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pt-BR" sz="2400" i="1" dirty="0"/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pt-BR" sz="2400" i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446" y="1218636"/>
                <a:ext cx="10748061" cy="5270032"/>
              </a:xfrm>
              <a:prstGeom prst="rect">
                <a:avLst/>
              </a:prstGeom>
              <a:blipFill>
                <a:blip r:embed="rId2"/>
                <a:stretch>
                  <a:fillRect l="-7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001E6A3-452A-4BA3-9171-7D2DC75F8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21" y="1340760"/>
            <a:ext cx="4628209" cy="221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30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132887"/>
                <a:ext cx="10748061" cy="5280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Teorema de </a:t>
                </a:r>
                <a:r>
                  <a:rPr lang="pt-BR" sz="2400" b="1" dirty="0" err="1"/>
                  <a:t>Bayes</a:t>
                </a:r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Suponha que:</a:t>
                </a:r>
              </a:p>
              <a:p>
                <a:pPr marL="571500" indent="-571500">
                  <a:lnSpc>
                    <a:spcPct val="150000"/>
                  </a:lnSpc>
                  <a:buFont typeface="+mj-lt"/>
                  <a:buAutoNum type="romanLcPeriod"/>
                </a:pPr>
                <a:r>
                  <a:rPr lang="pt-BR" sz="2400" b="1" dirty="0"/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,⋯,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t-BR" sz="2400" dirty="0"/>
                  <a:t> seja uma partição do espaço amostral;</a:t>
                </a:r>
              </a:p>
              <a:p>
                <a:pPr marL="571500" indent="-571500">
                  <a:lnSpc>
                    <a:spcPct val="150000"/>
                  </a:lnSpc>
                  <a:buFont typeface="+mj-lt"/>
                  <a:buAutoNum type="romanLcPeriod"/>
                </a:pPr>
                <a:r>
                  <a:rPr lang="pt-BR" sz="2400" dirty="0"/>
                  <a:t>São conhecidas as probabilidades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Então,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 probabilidade de ocorrência do evento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, supondo-se a ocorrência do evento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400" dirty="0"/>
                  <a:t> é dada por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132887"/>
                <a:ext cx="10748061" cy="5280613"/>
              </a:xfrm>
              <a:prstGeom prst="rect">
                <a:avLst/>
              </a:prstGeom>
              <a:blipFill>
                <a:blip r:embed="rId2"/>
                <a:stretch>
                  <a:fillRect l="-9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13605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1032611" y="1506234"/>
                <a:ext cx="10597137" cy="335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 (pg. 25): </a:t>
                </a:r>
                <a:r>
                  <a:rPr lang="pt-BR" sz="2400" dirty="0"/>
                  <a:t>A urna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400" dirty="0"/>
                  <a:t> contém 3 fichas vermelhas e 2 azuis, e a urna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400" dirty="0"/>
                  <a:t> contém 2 vermelhas e 8 azuis. Joga-se uma moeda "honesta". Se a moeda der cara, extrai-se uma ficha da urna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400" dirty="0"/>
                  <a:t>; se der coroa, extrai-se uma ficha da urna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400" dirty="0"/>
                  <a:t>. Uma ficha vermelha é extraída. 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Qual a probabilidade de ter saído cara no lançamento?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611" y="1506234"/>
                <a:ext cx="10597137" cy="3359061"/>
              </a:xfrm>
              <a:prstGeom prst="rect">
                <a:avLst/>
              </a:prstGeom>
              <a:blipFill>
                <a:blip r:embed="rId2"/>
                <a:stretch>
                  <a:fillRect l="-863" r="-1380" b="-32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55199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901982" y="1340760"/>
                <a:ext cx="10597137" cy="5212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200" dirty="0"/>
                  <a:t>Resolução: 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dirty="0"/>
                  <a:t>P(cara) = P(coroa) = 1/2.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dirty="0"/>
                  <a:t>P(</a:t>
                </a:r>
                <a:r>
                  <a:rPr lang="pt-BR" sz="2200" dirty="0" err="1"/>
                  <a:t>vermelha|cara</a:t>
                </a:r>
                <a:r>
                  <a:rPr lang="pt-BR" sz="2200" dirty="0"/>
                  <a:t>) = 3/5. P(</a:t>
                </a:r>
                <a:r>
                  <a:rPr lang="pt-BR" sz="2200" dirty="0" err="1"/>
                  <a:t>vermelha|coroa</a:t>
                </a:r>
                <a:r>
                  <a:rPr lang="pt-BR" sz="2200" dirty="0"/>
                  <a:t>) = 2/10.</a:t>
                </a:r>
              </a:p>
              <a:p>
                <a:pPr>
                  <a:lnSpc>
                    <a:spcPct val="150000"/>
                  </a:lnSpc>
                </a:pPr>
                <a:endParaRPr lang="pt-BR" sz="2200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Primeiro, calculamos P(vermelha) pelo Teorema da Probabilidade Total: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P(vermelha) = P(cara)·P(</a:t>
                </a:r>
                <a:r>
                  <a:rPr lang="pt-BR" sz="2200" dirty="0" err="1"/>
                  <a:t>vermelha|cara</a:t>
                </a:r>
                <a:r>
                  <a:rPr lang="pt-BR" sz="2200" dirty="0"/>
                  <a:t>) + P(coroa)·P(</a:t>
                </a:r>
                <a:r>
                  <a:rPr lang="pt-BR" sz="2200" dirty="0" err="1"/>
                  <a:t>vermelha|coroa</a:t>
                </a:r>
                <a:r>
                  <a:rPr lang="pt-BR" sz="2200" dirty="0"/>
                  <a:t>)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= 1/2·3/5 + 1/2·2/10 = 3/10 + 1/10 = 4/10 = 2/5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Agora, pelo Teorema de </a:t>
                </a:r>
                <a:r>
                  <a:rPr lang="pt-BR" sz="2200" dirty="0" err="1"/>
                  <a:t>Bayes</a:t>
                </a:r>
                <a:r>
                  <a:rPr lang="pt-BR" sz="22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i="1" dirty="0" err="1">
                          <a:latin typeface="Cambria Math" panose="02040503050406030204" pitchFamily="18" charset="0"/>
                        </a:rPr>
                        <m:t>𝑐𝑎𝑟𝑎</m:t>
                      </m:r>
                      <m:r>
                        <a:rPr lang="pt-BR" sz="22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pt-BR" sz="2200" i="1" dirty="0" err="1">
                          <a:latin typeface="Cambria Math" panose="02040503050406030204" pitchFamily="18" charset="0"/>
                        </a:rPr>
                        <m:t>𝑣𝑒𝑟𝑚𝑒𝑙h𝑎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𝑐𝑎𝑟𝑎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)·</m:t>
                      </m:r>
                      <m:f>
                        <m:fPr>
                          <m:ctrlPr>
                            <a:rPr lang="pt-BR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i="1" dirty="0" err="1">
                                  <a:latin typeface="Cambria Math" panose="02040503050406030204" pitchFamily="18" charset="0"/>
                                </a:rPr>
                                <m:t>𝑣𝑒𝑟𝑚𝑒𝑙h𝑎</m:t>
                              </m:r>
                            </m:e>
                            <m:e>
                              <m:r>
                                <a:rPr lang="pt-BR" sz="2200" i="1" dirty="0" err="1">
                                  <a:latin typeface="Cambria Math" panose="02040503050406030204" pitchFamily="18" charset="0"/>
                                </a:rPr>
                                <m:t>𝑐𝑎𝑟𝑎</m:t>
                              </m:r>
                            </m:e>
                          </m:d>
                        </m:num>
                        <m:den>
                          <m:r>
                            <a:rPr lang="pt-BR" sz="22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i="1" dirty="0">
                                  <a:latin typeface="Cambria Math" panose="02040503050406030204" pitchFamily="18" charset="0"/>
                                </a:rPr>
                                <m:t>𝑣𝑒𝑟𝑚𝑒𝑙h𝑎</m:t>
                              </m:r>
                            </m:e>
                          </m:d>
                        </m:den>
                      </m:f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pt-BR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b="0" i="1" dirty="0" smtClean="0">
                              <a:latin typeface="Cambria Math" panose="02040503050406030204" pitchFamily="18" charset="0"/>
                            </a:rPr>
                            <m:t>3/10</m:t>
                          </m:r>
                        </m:num>
                        <m:den>
                          <m:r>
                            <a:rPr lang="pt-BR" sz="2200" b="0" i="1" dirty="0" smtClean="0">
                              <a:latin typeface="Cambria Math" panose="02040503050406030204" pitchFamily="18" charset="0"/>
                            </a:rPr>
                            <m:t>4/10</m:t>
                          </m:r>
                        </m:den>
                      </m:f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 = 3/4 = 0,75</m:t>
                      </m:r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82" y="1340760"/>
                <a:ext cx="10597137" cy="5212389"/>
              </a:xfrm>
              <a:prstGeom prst="rect">
                <a:avLst/>
              </a:prstGeom>
              <a:blipFill>
                <a:blip r:embed="rId2"/>
                <a:stretch>
                  <a:fillRect l="-7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053663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308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 &amp; </a:t>
            </a:r>
            <a:r>
              <a:rPr lang="pt-BR" sz="2200" dirty="0" err="1"/>
              <a:t>Morettin</a:t>
            </a:r>
            <a:r>
              <a:rPr lang="pt-BR" sz="2200" dirty="0"/>
              <a:t> — Cap. 5: 5.4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 &amp; </a:t>
            </a:r>
            <a:r>
              <a:rPr lang="pt-BR" sz="2200" dirty="0" err="1"/>
              <a:t>Runger</a:t>
            </a:r>
            <a:r>
              <a:rPr lang="pt-BR" sz="2200" dirty="0"/>
              <a:t> — Cap. 2: 2.6, 2.8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 &amp; Lima — Cap. 2: 2.2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 err="1"/>
              <a:t>Morettin</a:t>
            </a:r>
            <a:r>
              <a:rPr lang="pt-BR" sz="2200" dirty="0"/>
              <a:t> — Cap. 2: 2.6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2579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Exercícios recomendados: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 &amp; </a:t>
            </a:r>
            <a:r>
              <a:rPr lang="pt-BR" sz="2200" dirty="0" err="1"/>
              <a:t>Morettin</a:t>
            </a:r>
            <a:r>
              <a:rPr lang="pt-BR" sz="2200" dirty="0"/>
              <a:t> — Cap. 5: Problemas 23, 24, 25, 26, 27 e 37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 &amp; Lima — Cap. 2 (§2.3): Exercícios 18, 25, 26, 28 e 29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 &amp; </a:t>
            </a:r>
            <a:r>
              <a:rPr lang="pt-BR" sz="2200" dirty="0" err="1"/>
              <a:t>Runger</a:t>
            </a:r>
            <a:r>
              <a:rPr lang="pt-BR" sz="2200" dirty="0"/>
              <a:t> — Cap. 2: Exercícios 2.6.1, 2.6.3, 2.6.4, 2.6.6, 2.6.7, 2.8.1, 2.8.3, 2.8.4, 2.8.7 e 2.8.9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8490966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3441</TotalTime>
  <Words>1557</Words>
  <Application>Microsoft Office PowerPoint</Application>
  <PresentationFormat>Widescreen</PresentationFormat>
  <Paragraphs>100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Probabilidade Total e Teorema de Bayes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125</cp:revision>
  <dcterms:created xsi:type="dcterms:W3CDTF">2020-07-20T19:35:15Z</dcterms:created>
  <dcterms:modified xsi:type="dcterms:W3CDTF">2026-10-22T11:30:41Z</dcterms:modified>
</cp:coreProperties>
</file>