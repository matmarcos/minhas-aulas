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600" r:id="rId35"/>
    <p:sldId id="275" r:id="rId12"/>
    <p:sldId id="278" r:id="rId13"/>
    <p:sldId id="297" r:id="rId14"/>
    <p:sldId id="280" r:id="rId15"/>
    <p:sldId id="295" r:id="rId16"/>
    <p:sldId id="281" r:id="rId17"/>
    <p:sldId id="282" r:id="rId18"/>
    <p:sldId id="601" r:id="rId36"/>
  </p:sldIdLst>
  <p:sldSz cx="12192000" cy="6858000"/>
  <p:notesSz cx="7099300" cy="10234613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4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32" Type="http://schemas.openxmlformats.org/officeDocument/2006/relationships/viewProps" Target="viewProps.xml"/><Relationship Id="rId15" Type="http://schemas.openxmlformats.org/officeDocument/2006/relationships/slide" Target="slides/slide14.xml"/><Relationship Id="rId31" Type="http://schemas.openxmlformats.org/officeDocument/2006/relationships/presProps" Target="presProps.xml"/><Relationship Id="rId14" Type="http://schemas.openxmlformats.org/officeDocument/2006/relationships/slide" Target="slides/slide13.xml"/><Relationship Id="rId30" Type="http://schemas.openxmlformats.org/officeDocument/2006/relationships/commentAuthors" Target="commentAuthors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4623A65-BD25-40B6-8815-498297225DF7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Condicional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4452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Probabilidade Condicional e Independência</a:t>
                </a:r>
              </a:p>
              <a:p>
                <a:r>
                  <a:rPr lang="pt-BR" sz="2800" dirty="0"/>
                  <a:t xml:space="preserve">Para dois eventos quaisquer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 xml:space="preserve">, sendo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pt-BR" sz="2800" dirty="0"/>
                  <a:t xml:space="preserve">, definimos a probabilidade condicional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 xml:space="preserve"> dado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 xml:space="preserve">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como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b="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Observe que da definição podemos extrair a </a:t>
                </a:r>
                <a:r>
                  <a:rPr lang="pt-BR" sz="2800" b="1" dirty="0"/>
                  <a:t>regra do produto de probabilidades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4452053"/>
              </a:xfrm>
              <a:prstGeom prst="rect">
                <a:avLst/>
              </a:prstGeom>
              <a:blipFill>
                <a:blip r:embed="rId2"/>
                <a:stretch>
                  <a:fillRect l="-1191" t="-12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9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Condicional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25689"/>
                <a:ext cx="10748061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Probabilidades condicionais</a:t>
                </a:r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Calcule: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25689"/>
                <a:ext cx="10748061" cy="4401205"/>
              </a:xfrm>
              <a:prstGeom prst="rect">
                <a:avLst/>
              </a:prstGeom>
              <a:blipFill>
                <a:blip r:embed="rId2"/>
                <a:stretch>
                  <a:fillRect l="-1191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5BF1ABE-2001-ED4B-7383-480A8D7B7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731" y="2081024"/>
            <a:ext cx="6677957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224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Condicional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 (pg.20): </a:t>
                </a:r>
                <a:r>
                  <a:rPr lang="pt-BR" sz="2800" dirty="0"/>
                  <a:t xml:space="preserve">Se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=1/3</m:t>
                    </m:r>
                  </m:oMath>
                </a14:m>
                <a:r>
                  <a:rPr lang="pt-BR" sz="2800" dirty="0"/>
                  <a:t xml:space="preserve">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=3/4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=11/12</m:t>
                    </m:r>
                  </m:oMath>
                </a14:m>
                <a:r>
                  <a:rPr lang="pt-BR" sz="2800" dirty="0"/>
                  <a:t xml:space="preserve">, calcular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954107"/>
              </a:xfrm>
              <a:prstGeom prst="rect">
                <a:avLst/>
              </a:prstGeom>
              <a:blipFill>
                <a:blip r:embed="rId2"/>
                <a:stretch>
                  <a:fillRect l="-1191" t="-5732" b="-171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17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Condicional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Exemplo: </a:t>
            </a:r>
            <a:r>
              <a:rPr lang="pt-BR" sz="2800" dirty="0"/>
              <a:t xml:space="preserve">Uma urna contém duas bolas brancas (B) e três vermelhas (V). Suponha que são sorteadas duas bolas ao acaso, sem reposição. </a:t>
            </a:r>
          </a:p>
          <a:p>
            <a:endParaRPr lang="pt-BR" sz="2800" dirty="0"/>
          </a:p>
          <a:p>
            <a:r>
              <a:rPr lang="pt-BR" sz="2800" dirty="0"/>
              <a:t>Vamos usar um diagrama de árvore para estudar o espaço amostral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40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Condicional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597220" y="1506234"/>
            <a:ext cx="60325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Resultados possíveis</a:t>
            </a:r>
          </a:p>
          <a:p>
            <a:pPr algn="ctr"/>
            <a:endParaRPr lang="pt-BR" sz="2800" dirty="0"/>
          </a:p>
          <a:p>
            <a:r>
              <a:rPr lang="pt-BR" sz="2800" dirty="0"/>
              <a:t>BV</a:t>
            </a:r>
          </a:p>
          <a:p>
            <a:endParaRPr lang="pt-BR" sz="2800" dirty="0"/>
          </a:p>
          <a:p>
            <a:r>
              <a:rPr lang="pt-BR" sz="2800" dirty="0"/>
              <a:t>BB</a:t>
            </a:r>
          </a:p>
          <a:p>
            <a:endParaRPr lang="pt-BR" sz="2800" dirty="0"/>
          </a:p>
          <a:p>
            <a:r>
              <a:rPr lang="pt-BR" sz="2800" dirty="0"/>
              <a:t>VV</a:t>
            </a:r>
          </a:p>
          <a:p>
            <a:endParaRPr lang="pt-BR" sz="2800" dirty="0"/>
          </a:p>
          <a:p>
            <a:r>
              <a:rPr lang="pt-BR" sz="2800" dirty="0"/>
              <a:t>VB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D111532-239E-48EB-A3D5-D8708BD43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87" y="1506234"/>
            <a:ext cx="4715533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45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Condicional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1506234"/>
            <a:ext cx="105971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 (pg. 21): </a:t>
            </a:r>
            <a:r>
              <a:rPr lang="pt-BR" sz="2800" dirty="0"/>
              <a:t>Duas bolas vão ser retiradas de uma urna que contém 2 bolas brancas, 3 pretas e 4 verdes. Qual a probabilidade de que ambas</a:t>
            </a:r>
          </a:p>
          <a:p>
            <a:endParaRPr lang="pt-BR" sz="2800" dirty="0"/>
          </a:p>
          <a:p>
            <a:r>
              <a:rPr lang="pt-BR" sz="2800" dirty="0"/>
              <a:t>a) sejam verdes?</a:t>
            </a:r>
          </a:p>
          <a:p>
            <a:r>
              <a:rPr lang="pt-BR" sz="2800" dirty="0"/>
              <a:t>b) sejam da mesma cor?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435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Condicional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Definição: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O evento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 xml:space="preserve"> é independente do evento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 xml:space="preserve"> se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Neste caso,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Podemos assumir que,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𝑖𝑛𝑑𝑒𝑝𝑒𝑛𝑑𝑒𝑛𝑡𝑒𝑠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⟺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4832092"/>
              </a:xfrm>
              <a:prstGeom prst="rect">
                <a:avLst/>
              </a:prstGeom>
              <a:blipFill>
                <a:blip r:embed="rId2"/>
                <a:stretch>
                  <a:fillRect l="-1191" t="-11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24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Condicional e Independência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Definir probabilidade condicional e calculá-la em problemas práticos.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Reconhecer e verificar a independência entre eventos aleatórios.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5 (5.3)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2 (2.5, 2.7)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2 (2.2)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2 (2.4, 2.5)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Condicional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5: 5.3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2: 2.5, 2.7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2: 2.2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2: 2.4, 2.5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5: exercícios sobre probabilidade condicional e independência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Morettin, Cap. 2: exercícios 2.4 e 2.5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3378</TotalTime>
  <Words>1382</Words>
  <Application>Microsoft Office PowerPoint</Application>
  <PresentationFormat>Widescreen</PresentationFormat>
  <Paragraphs>211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 – Pt1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121</cp:revision>
  <dcterms:created xsi:type="dcterms:W3CDTF">2020-07-20T19:35:15Z</dcterms:created>
  <dcterms:modified xsi:type="dcterms:W3CDTF">2024-07-15T19:43:35Z</dcterms:modified>
</cp:coreProperties>
</file>