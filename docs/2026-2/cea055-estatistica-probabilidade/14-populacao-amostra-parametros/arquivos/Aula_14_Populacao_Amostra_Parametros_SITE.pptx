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900" r:id="rId2"/>
    <p:sldId id="270" r:id="rId3"/>
    <p:sldId id="271" r:id="rId4"/>
    <p:sldId id="912" r:id="rId5"/>
    <p:sldId id="913" r:id="rId6"/>
    <p:sldId id="914" r:id="rId7"/>
    <p:sldId id="923" r:id="rId8"/>
    <p:sldId id="922" r:id="rId9"/>
    <p:sldId id="916" r:id="rId10"/>
    <p:sldId id="917" r:id="rId11"/>
    <p:sldId id="924" r:id="rId12"/>
    <p:sldId id="902" r:id="rId13"/>
    <p:sldId id="903" r:id="rId14"/>
    <p:sldId id="918" r:id="rId15"/>
    <p:sldId id="298" r:id="rId16"/>
    <p:sldId id="905" r:id="rId17"/>
    <p:sldId id="292" r:id="rId18"/>
    <p:sldId id="925" r:id="rId19"/>
    <p:sldId id="929" r:id="rId20"/>
    <p:sldId id="919" r:id="rId21"/>
    <p:sldId id="926" r:id="rId22"/>
    <p:sldId id="927" r:id="rId23"/>
    <p:sldId id="300" r:id="rId24"/>
    <p:sldId id="928" r:id="rId25"/>
    <p:sldId id="921" r:id="rId26"/>
    <p:sldId id="908" r:id="rId27"/>
    <p:sldId id="909" r:id="rId28"/>
    <p:sldId id="901" r:id="rId29"/>
    <p:sldId id="911" r:id="rId30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18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88" y="4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População, Amostra e Parâmetros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Compreender os conceitos de população e amostra.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Conhecer os tipos de amostragem, com foco na Amostragem Aleatória Simples (AAS).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Diferenciar estatística (medida da amostra) de parâmetro (medida da população).</a:t>
            </a:r>
          </a:p>
          <a:p>
            <a:pPr>
              <a:lnSpc>
                <a:spcPct val="150000"/>
              </a:lnSpc>
            </a:pPr>
            <a:r>
              <a:rPr lang="pt-BR" sz="20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10 (10.2, 10.4, 10.5, 10.6, 10.14)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</a:t>
            </a:r>
            <a:r>
              <a:rPr lang="pt-BR" sz="2000" dirty="0" err="1"/>
              <a:t>Runger</a:t>
            </a:r>
            <a:r>
              <a:rPr lang="pt-BR" sz="2000" dirty="0"/>
              <a:t>. </a:t>
            </a:r>
            <a:r>
              <a:rPr lang="pt-BR" sz="2000" b="1" dirty="0"/>
              <a:t>Estatística Aplicada e Probabilidade para Engenheiros</a:t>
            </a:r>
            <a:r>
              <a:rPr lang="pt-BR" sz="2000" dirty="0"/>
              <a:t>, 7ª </a:t>
            </a:r>
            <a:r>
              <a:rPr lang="pt-BR" sz="2000" dirty="0" err="1"/>
              <a:t>ed</a:t>
            </a:r>
            <a:r>
              <a:rPr lang="pt-BR" sz="2000" dirty="0"/>
              <a:t> — Cap. 7 (7.1)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1 (1.1); Cap. 7 (7.1)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7 (7.1, 7.2)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41643" y="625085"/>
            <a:ext cx="10908714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Introdução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Na Parte 1 - Resumo dos dados.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Na Parte 2 - Modelos teóricos (probabilísticos).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Agora começamos a apresentar os argumentos estatísticos para fazer afirmações sobre as características de uma população, com base em informações dadas por amostras.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7477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25265" y="566896"/>
            <a:ext cx="10908714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Conceitos básicos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b="1" dirty="0"/>
              <a:t>População</a:t>
            </a:r>
            <a:r>
              <a:rPr lang="pt-BR" sz="2400" dirty="0"/>
              <a:t> é o conjunto formado por indivíduos ou objetos que têm pelo menos uma variável comum e observável.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b="1" dirty="0"/>
              <a:t>Amostra: </a:t>
            </a:r>
            <a:r>
              <a:rPr lang="pt-BR" sz="2400" dirty="0"/>
              <a:t>fixada uma população, qualquer subconjunto formado exclusivamente por seus elementos é denominado amostra desta população.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b="1" dirty="0"/>
              <a:t>Amostragem: </a:t>
            </a:r>
            <a:r>
              <a:rPr lang="pt-BR" sz="2400" dirty="0"/>
              <a:t>é o processo de seleção de uma amostra, que possibilita o estudo das características da população.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1617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73869" y="376298"/>
                <a:ext cx="10597140" cy="5452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2400" b="1" dirty="0" err="1"/>
                  <a:t>Parâmetro</a:t>
                </a:r>
                <a:r>
                  <a:rPr sz="2400" b="1" dirty="0"/>
                  <a:t>, </a:t>
                </a:r>
                <a:r>
                  <a:rPr sz="2400" b="1" dirty="0" err="1"/>
                  <a:t>estimador</a:t>
                </a:r>
                <a:r>
                  <a:rPr sz="2400" b="1" dirty="0"/>
                  <a:t> e </a:t>
                </a:r>
                <a:r>
                  <a:rPr sz="2400" b="1" dirty="0" err="1"/>
                  <a:t>estimativa</a:t>
                </a:r>
                <a:endParaRPr sz="2400" b="1" dirty="0"/>
              </a:p>
              <a:p>
                <a:pPr marL="342900" indent="-342900">
                  <a:lnSpc>
                    <a:spcPct val="2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sz="2400" b="1" dirty="0" err="1"/>
                  <a:t>Parâmetro</a:t>
                </a:r>
                <a:r>
                  <a:rPr sz="2400" b="1" dirty="0"/>
                  <a:t>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(</m:t>
                    </m:r>
                    <m:r>
                      <a:rPr lang="pt-BR" sz="2400" b="1">
                        <a:latin typeface="Cambria Math"/>
                      </a:rPr>
                      <m:t>𝜃</m:t>
                    </m:r>
                    <m:r>
                      <a:rPr lang="pt-BR" sz="2400" b="1">
                        <a:latin typeface="Cambria Math"/>
                      </a:rPr>
                      <m:t>)</m:t>
                    </m:r>
                  </m:oMath>
                </a14:m>
                <a:r>
                  <a:rPr sz="2400" b="1" dirty="0"/>
                  <a:t>: </a:t>
                </a:r>
                <a:r>
                  <a:rPr sz="2400" dirty="0" err="1"/>
                  <a:t>medida</a:t>
                </a:r>
                <a:r>
                  <a:rPr sz="2400" dirty="0"/>
                  <a:t> que </a:t>
                </a:r>
                <a:r>
                  <a:rPr sz="2400" dirty="0" err="1"/>
                  <a:t>descreve</a:t>
                </a:r>
                <a:r>
                  <a:rPr sz="2400" dirty="0"/>
                  <a:t> </a:t>
                </a:r>
                <a:r>
                  <a:rPr sz="2400" dirty="0" err="1"/>
                  <a:t>uma</a:t>
                </a:r>
                <a:r>
                  <a:rPr sz="2400" dirty="0"/>
                  <a:t> </a:t>
                </a:r>
                <a:r>
                  <a:rPr sz="2400" dirty="0" err="1"/>
                  <a:t>característica</a:t>
                </a:r>
                <a:r>
                  <a:rPr sz="2400" dirty="0"/>
                  <a:t> </a:t>
                </a:r>
                <a:r>
                  <a:rPr sz="2400" dirty="0" err="1"/>
                  <a:t>numérica</a:t>
                </a:r>
                <a:r>
                  <a:rPr sz="2400" dirty="0"/>
                  <a:t> da </a:t>
                </a:r>
                <a:r>
                  <a:rPr sz="2400" dirty="0" err="1"/>
                  <a:t>população</a:t>
                </a:r>
                <a:r>
                  <a:rPr sz="2400" dirty="0"/>
                  <a:t>. Em </a:t>
                </a:r>
                <a:r>
                  <a:rPr sz="2400" dirty="0" err="1"/>
                  <a:t>geral</a:t>
                </a:r>
                <a:r>
                  <a:rPr sz="2400" dirty="0"/>
                  <a:t> é </a:t>
                </a:r>
                <a:r>
                  <a:rPr sz="2400" dirty="0" err="1"/>
                  <a:t>desconhecido</a:t>
                </a:r>
                <a:r>
                  <a:rPr sz="2400" dirty="0"/>
                  <a:t>: é o que </a:t>
                </a:r>
                <a:r>
                  <a:rPr sz="2400" dirty="0" err="1"/>
                  <a:t>queremos</a:t>
                </a:r>
                <a:r>
                  <a:rPr sz="2400" dirty="0"/>
                  <a:t> </a:t>
                </a:r>
                <a:r>
                  <a:rPr sz="2400" dirty="0" err="1"/>
                  <a:t>descobrir</a:t>
                </a:r>
                <a:r>
                  <a:rPr sz="2400" dirty="0"/>
                  <a:t>.</a:t>
                </a:r>
                <a:endParaRPr lang="pt-BR" sz="2400" dirty="0"/>
              </a:p>
              <a:p>
                <a:pPr marL="342900" indent="-342900">
                  <a:lnSpc>
                    <a:spcPct val="2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sz="2400" b="1" dirty="0" err="1"/>
                  <a:t>Estimador</a:t>
                </a:r>
                <a:r>
                  <a:rPr sz="2400" b="1" dirty="0"/>
                  <a:t>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 b="1">
                        <a:latin typeface="Cambria Math"/>
                      </a:rPr>
                      <m:t>)</m:t>
                    </m:r>
                  </m:oMath>
                </a14:m>
                <a:r>
                  <a:rPr sz="2400" b="1" dirty="0"/>
                  <a:t>: </a:t>
                </a:r>
                <a:r>
                  <a:rPr sz="2400" dirty="0" err="1"/>
                  <a:t>também</a:t>
                </a:r>
                <a:r>
                  <a:rPr sz="2400" dirty="0"/>
                  <a:t> </a:t>
                </a:r>
                <a:r>
                  <a:rPr sz="2400" dirty="0" err="1"/>
                  <a:t>chamado</a:t>
                </a:r>
                <a:r>
                  <a:rPr sz="2400" dirty="0"/>
                  <a:t> de </a:t>
                </a:r>
                <a:r>
                  <a:rPr sz="2400" dirty="0" err="1"/>
                  <a:t>estatística</a:t>
                </a:r>
                <a:r>
                  <a:rPr sz="2400" dirty="0"/>
                  <a:t>; é </a:t>
                </a:r>
                <a:r>
                  <a:rPr sz="2400" dirty="0" err="1"/>
                  <a:t>uma</a:t>
                </a:r>
                <a:r>
                  <a:rPr sz="2400" dirty="0"/>
                  <a:t> </a:t>
                </a:r>
                <a:r>
                  <a:rPr sz="2400" dirty="0" err="1"/>
                  <a:t>função</a:t>
                </a:r>
                <a:r>
                  <a:rPr sz="2400" dirty="0"/>
                  <a:t> dos </a:t>
                </a:r>
                <a:r>
                  <a:rPr sz="2400" dirty="0" err="1"/>
                  <a:t>elementos</a:t>
                </a:r>
                <a:r>
                  <a:rPr sz="2400" dirty="0"/>
                  <a:t> da </a:t>
                </a:r>
                <a:r>
                  <a:rPr sz="2400" dirty="0" err="1"/>
                  <a:t>amostra</a:t>
                </a:r>
                <a:r>
                  <a:rPr sz="2400" dirty="0"/>
                  <a:t>, </a:t>
                </a:r>
                <a:r>
                  <a:rPr sz="2400" dirty="0" err="1"/>
                  <a:t>uma</a:t>
                </a:r>
                <a:r>
                  <a:rPr sz="2400" dirty="0"/>
                  <a:t> </a:t>
                </a:r>
                <a:r>
                  <a:rPr sz="2400" dirty="0" err="1"/>
                  <a:t>regra</a:t>
                </a:r>
                <a:r>
                  <a:rPr sz="2400" dirty="0"/>
                  <a:t> de </a:t>
                </a:r>
                <a:r>
                  <a:rPr sz="2400" dirty="0" err="1"/>
                  <a:t>cálculo</a:t>
                </a:r>
                <a:r>
                  <a:rPr sz="2400" dirty="0"/>
                  <a:t> que vale para </a:t>
                </a:r>
                <a:r>
                  <a:rPr sz="2400" dirty="0" err="1"/>
                  <a:t>qualquer</a:t>
                </a:r>
                <a:r>
                  <a:rPr sz="2400" dirty="0"/>
                  <a:t> </a:t>
                </a:r>
                <a:r>
                  <a:rPr sz="2400" dirty="0" err="1"/>
                  <a:t>amostra</a:t>
                </a:r>
                <a:r>
                  <a:rPr sz="2400" dirty="0"/>
                  <a:t>.</a:t>
                </a:r>
                <a:endParaRPr lang="pt-BR" sz="2400" dirty="0"/>
              </a:p>
              <a:p>
                <a:pPr marL="342900" indent="-342900">
                  <a:lnSpc>
                    <a:spcPct val="2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sz="2400" b="1" dirty="0" err="1"/>
                  <a:t>Estimativa</a:t>
                </a:r>
                <a:r>
                  <a:rPr sz="2400" b="1" dirty="0"/>
                  <a:t>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1">
                                <a:latin typeface="Cambria Math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pt-BR" sz="2400" b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pt-BR" sz="2400" b="1">
                        <a:latin typeface="Cambria Math"/>
                      </a:rPr>
                      <m:t>)</m:t>
                    </m:r>
                  </m:oMath>
                </a14:m>
                <a:r>
                  <a:rPr sz="2400" b="1" dirty="0"/>
                  <a:t>: </a:t>
                </a:r>
                <a:r>
                  <a:rPr sz="2400" dirty="0"/>
                  <a:t>o valor </a:t>
                </a:r>
                <a:r>
                  <a:rPr sz="2400" dirty="0" err="1"/>
                  <a:t>numérico</a:t>
                </a:r>
                <a:r>
                  <a:rPr sz="2400" dirty="0"/>
                  <a:t> que o </a:t>
                </a:r>
                <a:r>
                  <a:rPr sz="2400" dirty="0" err="1"/>
                  <a:t>estimador</a:t>
                </a:r>
                <a:r>
                  <a:rPr sz="2400" dirty="0"/>
                  <a:t> assume </a:t>
                </a:r>
                <a:r>
                  <a:rPr sz="2400" dirty="0" err="1"/>
                  <a:t>na</a:t>
                </a:r>
                <a:r>
                  <a:rPr sz="2400" dirty="0"/>
                  <a:t> </a:t>
                </a:r>
                <a:r>
                  <a:rPr sz="2400" dirty="0" err="1"/>
                  <a:t>amostra</a:t>
                </a:r>
                <a:r>
                  <a:rPr sz="2400" dirty="0"/>
                  <a:t> que </a:t>
                </a:r>
                <a:r>
                  <a:rPr sz="2400" dirty="0" err="1"/>
                  <a:t>foi</a:t>
                </a:r>
                <a:r>
                  <a:rPr sz="2400" dirty="0"/>
                  <a:t> de </a:t>
                </a:r>
                <a:r>
                  <a:rPr sz="2400" dirty="0" err="1"/>
                  <a:t>fato</a:t>
                </a:r>
                <a:r>
                  <a:rPr sz="2400" dirty="0"/>
                  <a:t> </a:t>
                </a:r>
                <a:r>
                  <a:rPr sz="2400" dirty="0" err="1"/>
                  <a:t>observada</a:t>
                </a:r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69" y="376298"/>
                <a:ext cx="10597140" cy="5452198"/>
              </a:xfrm>
              <a:prstGeom prst="rect">
                <a:avLst/>
              </a:prstGeom>
              <a:blipFill>
                <a:blip r:embed="rId2"/>
                <a:stretch>
                  <a:fillRect l="-921" r="-1323" b="-16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687" y="900000"/>
            <a:ext cx="1059714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Notação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/>
              <a:t>Os parâmetros usam letras gregas; os estimadores, letras latinas ou o "chapéu".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615620"/>
                  </p:ext>
                </p:extLst>
              </p:nvPr>
            </p:nvGraphicFramePr>
            <p:xfrm>
              <a:off x="881687" y="2500000"/>
              <a:ext cx="10600000" cy="22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7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0000">
                    <a:tc>
                      <a:txBody>
                        <a:bodyPr/>
                        <a:lstStyle/>
                        <a:p>
                          <a:r>
                            <a:rPr sz="2400" b="1"/>
                            <a:t>Medida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r>
                            <a:rPr sz="2400" b="1"/>
                            <a:t>Parâmetro (população)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r>
                            <a:rPr sz="2400" b="1"/>
                            <a:t>Estimador (amostra)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0000">
                    <a:tc>
                      <a:txBody>
                        <a:bodyPr/>
                        <a:lstStyle/>
                        <a:p>
                          <a:r>
                            <a:rPr sz="2400" b="1"/>
                            <a:t>Média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sz="2400" b="0" dirty="0">
                            <a:latin typeface="Cambria Math"/>
                          </a:endParaRP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̄"/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2400" b="0" dirty="0">
                            <a:latin typeface="Cambria Math"/>
                          </a:endParaRP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0000">
                    <a:tc>
                      <a:txBody>
                        <a:bodyPr/>
                        <a:lstStyle/>
                        <a:p>
                          <a:r>
                            <a:rPr sz="2400" b="1" dirty="0" err="1"/>
                            <a:t>Variância</a:t>
                          </a:r>
                          <a:endParaRPr sz="24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2400" b="0" dirty="0">
                            <a:latin typeface="Cambria Math"/>
                          </a:endParaRP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2400" b="0" dirty="0">
                            <a:latin typeface="Cambria Math"/>
                          </a:endParaRP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0000">
                    <a:tc>
                      <a:txBody>
                        <a:bodyPr/>
                        <a:lstStyle/>
                        <a:p>
                          <a:r>
                            <a:rPr sz="2400" b="1" dirty="0" err="1"/>
                            <a:t>Proporção</a:t>
                          </a:r>
                          <a:endParaRPr sz="24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sz="2400" b="0" dirty="0">
                            <a:latin typeface="Cambria Math"/>
                          </a:endParaRP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4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2400" b="0" dirty="0">
                            <a:latin typeface="Cambria Math"/>
                          </a:endParaRP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615620"/>
                  </p:ext>
                </p:extLst>
              </p:nvPr>
            </p:nvGraphicFramePr>
            <p:xfrm>
              <a:off x="881687" y="2500000"/>
              <a:ext cx="10600000" cy="224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7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0000">
                    <a:tc>
                      <a:txBody>
                        <a:bodyPr/>
                        <a:lstStyle/>
                        <a:p>
                          <a:r>
                            <a:rPr sz="2400" b="1"/>
                            <a:t>Medida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r>
                            <a:rPr sz="2400" b="1"/>
                            <a:t>Parâmetro (população)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r>
                            <a:rPr sz="2400" b="1"/>
                            <a:t>Estimador (amostra)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0000">
                    <a:tc>
                      <a:txBody>
                        <a:bodyPr/>
                        <a:lstStyle/>
                        <a:p>
                          <a:r>
                            <a:rPr sz="2400" b="1"/>
                            <a:t>Média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86513" t="-110870" r="-100493" b="-2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86820" t="-110870" r="-659" b="-2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0000">
                    <a:tc>
                      <a:txBody>
                        <a:bodyPr/>
                        <a:lstStyle/>
                        <a:p>
                          <a:r>
                            <a:rPr sz="2400" b="1" dirty="0" err="1"/>
                            <a:t>Variância</a:t>
                          </a:r>
                          <a:endParaRPr sz="24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86513" t="-210870" r="-100493" b="-1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86820" t="-210870" r="-659" b="-1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0000">
                    <a:tc>
                      <a:txBody>
                        <a:bodyPr/>
                        <a:lstStyle/>
                        <a:p>
                          <a:r>
                            <a:rPr sz="2400" b="1" dirty="0" err="1"/>
                            <a:t>Proporção</a:t>
                          </a:r>
                          <a:endParaRPr sz="24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86513" t="-310870" r="-100493" b="-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86820" t="-310870" r="-659" b="-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81687" y="900000"/>
                <a:ext cx="10597140" cy="5007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Um aplicativo de entregas quer conhecer o tempo médio de entrega dos 12.000 pedidos feitos no mês. A equipe sorteia 5 pedidos e anota os tempos, em minutos: 30, 25, 40, 35 e 20.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Parâmetro: </a:t>
                </a:r>
                <a:r>
                  <a:rPr lang="pt-BR" sz="2400" dirty="0"/>
                  <a:t>o tempo médio 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dirty="0"/>
                  <a:t> de todos os 12.000 pedidos. É desconhecido.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Estimador: </a:t>
                </a:r>
                <a:r>
                  <a:rPr lang="pt-BR" sz="2400" dirty="0"/>
                  <a:t>a média amostral, uma regra que vale para qualquer amostra de 5 pedidos.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900000"/>
                <a:ext cx="10597140" cy="5007461"/>
              </a:xfrm>
              <a:prstGeom prst="rect">
                <a:avLst/>
              </a:prstGeom>
              <a:blipFill>
                <a:blip r:embed="rId2"/>
                <a:stretch>
                  <a:fillRect l="-9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81687" y="900000"/>
                <a:ext cx="10597140" cy="4394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Estimativa</a:t>
                </a:r>
                <a:r>
                  <a:rPr lang="pt-BR" sz="2400" dirty="0"/>
                  <a:t>: o valor do estimador nesta amostra.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30+25+40+35+20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150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=30 </m:t>
                    </m:r>
                  </m:oMath>
                </a14:m>
                <a:r>
                  <a:rPr lang="pt-BR" sz="2400" dirty="0"/>
                  <a:t>minutos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 outra amostra trouxesse 22, 38, 31, 27 e 37, a estimativa seria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22+38+31+27+37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155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=31</m:t>
                    </m:r>
                  </m:oMath>
                </a14:m>
                <a:r>
                  <a:rPr lang="pt-BR" sz="2400" dirty="0"/>
                  <a:t> minutos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parâmetro é o mesmo, mas cada amostra dá uma estimativa diferente.</a:t>
                </a:r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900000"/>
                <a:ext cx="10597140" cy="4394729"/>
              </a:xfrm>
              <a:prstGeom prst="rect">
                <a:avLst/>
              </a:prstGeom>
              <a:blipFill>
                <a:blip r:embed="rId2"/>
                <a:stretch>
                  <a:fillRect l="-921" b="-22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03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81687" y="900000"/>
                <a:ext cx="10597140" cy="4167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Erro</a:t>
                </a:r>
                <a:r>
                  <a:rPr sz="2400" b="1" dirty="0"/>
                  <a:t> </a:t>
                </a:r>
                <a:r>
                  <a:rPr sz="2400" b="1" dirty="0" err="1"/>
                  <a:t>amostral</a:t>
                </a:r>
                <a:endParaRPr sz="2400" b="1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pt-BR" sz="2400" dirty="0"/>
                  <a:t>É</a:t>
                </a:r>
                <a:r>
                  <a:rPr sz="2400" dirty="0"/>
                  <a:t> o </a:t>
                </a:r>
                <a:r>
                  <a:rPr sz="2400" dirty="0" err="1"/>
                  <a:t>erro</a:t>
                </a:r>
                <a:r>
                  <a:rPr sz="2400" dirty="0"/>
                  <a:t> que </a:t>
                </a:r>
                <a:r>
                  <a:rPr sz="2400" dirty="0" err="1"/>
                  <a:t>ocorre</a:t>
                </a:r>
                <a:r>
                  <a:rPr sz="2400" dirty="0"/>
                  <a:t> </a:t>
                </a:r>
                <a:r>
                  <a:rPr sz="2400" dirty="0" err="1"/>
                  <a:t>justamente</a:t>
                </a:r>
                <a:r>
                  <a:rPr sz="2400" dirty="0"/>
                  <a:t> </a:t>
                </a:r>
                <a:r>
                  <a:rPr sz="2400" dirty="0" err="1"/>
                  <a:t>pelo</a:t>
                </a:r>
                <a:r>
                  <a:rPr sz="2400" dirty="0"/>
                  <a:t> </a:t>
                </a:r>
                <a:r>
                  <a:rPr sz="2400" dirty="0" err="1"/>
                  <a:t>uso</a:t>
                </a:r>
                <a:r>
                  <a:rPr sz="2400" dirty="0"/>
                  <a:t> da </a:t>
                </a:r>
                <a:r>
                  <a:rPr sz="2400" dirty="0" err="1"/>
                  <a:t>amostra</a:t>
                </a:r>
                <a:r>
                  <a:rPr sz="2400" dirty="0"/>
                  <a:t>. Ele é </a:t>
                </a:r>
                <a:r>
                  <a:rPr sz="2400" dirty="0" err="1"/>
                  <a:t>definido</a:t>
                </a:r>
                <a:r>
                  <a:rPr sz="2400" dirty="0"/>
                  <a:t> </a:t>
                </a:r>
                <a:r>
                  <a:rPr sz="2400" dirty="0" err="1"/>
                  <a:t>por</a:t>
                </a:r>
                <a:endParaRPr sz="24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𝜖</m:t>
                      </m:r>
                      <m:r>
                        <a:rPr lang="pt-BR" sz="2400">
                          <a:latin typeface="Cambria Math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>
                              <a:latin typeface="Cambria Math"/>
                            </a:rPr>
                            <m:t>𝜃</m:t>
                          </m:r>
                        </m:e>
                      </m:acc>
                      <m:r>
                        <a:rPr lang="pt-BR" sz="2400">
                          <a:latin typeface="Cambria Math"/>
                        </a:rPr>
                        <m:t>−</m:t>
                      </m:r>
                      <m:r>
                        <a:rPr lang="pt-BR" sz="2400"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dirty="0" err="1"/>
                  <a:t>Cada</a:t>
                </a:r>
                <a:r>
                  <a:rPr sz="2400" dirty="0"/>
                  <a:t> </a:t>
                </a:r>
                <a:r>
                  <a:rPr sz="2400" dirty="0" err="1"/>
                  <a:t>amostra</a:t>
                </a:r>
                <a:r>
                  <a:rPr sz="2400" dirty="0"/>
                  <a:t> </a:t>
                </a:r>
                <a:r>
                  <a:rPr sz="2400" dirty="0" err="1"/>
                  <a:t>sorteada</a:t>
                </a:r>
                <a:r>
                  <a:rPr sz="2400" dirty="0"/>
                  <a:t> </a:t>
                </a:r>
                <a:r>
                  <a:rPr sz="2400" dirty="0" err="1"/>
                  <a:t>dá</a:t>
                </a:r>
                <a:r>
                  <a:rPr sz="2400" dirty="0"/>
                  <a:t> </a:t>
                </a:r>
                <a:r>
                  <a:rPr sz="2400" dirty="0" err="1"/>
                  <a:t>uma</a:t>
                </a:r>
                <a:r>
                  <a:rPr sz="2400" dirty="0"/>
                  <a:t> </a:t>
                </a:r>
                <a:r>
                  <a:rPr sz="2400" dirty="0" err="1"/>
                  <a:t>estimativa</a:t>
                </a:r>
                <a:r>
                  <a:rPr sz="2400" dirty="0"/>
                  <a:t> </a:t>
                </a:r>
                <a:r>
                  <a:rPr sz="2400" dirty="0" err="1"/>
                  <a:t>diferente</a:t>
                </a:r>
                <a:r>
                  <a:rPr sz="2400" dirty="0"/>
                  <a:t>; </a:t>
                </a:r>
                <a:r>
                  <a:rPr sz="2400" dirty="0" err="1"/>
                  <a:t>por</a:t>
                </a:r>
                <a:r>
                  <a:rPr sz="2400" dirty="0"/>
                  <a:t> </a:t>
                </a:r>
                <a:r>
                  <a:rPr sz="2400" dirty="0" err="1"/>
                  <a:t>isso</a:t>
                </a:r>
                <a:r>
                  <a:rPr sz="2400" dirty="0"/>
                  <a:t> o </a:t>
                </a:r>
                <a:r>
                  <a:rPr sz="2400" dirty="0" err="1"/>
                  <a:t>erro</a:t>
                </a:r>
                <a:r>
                  <a:rPr sz="2400" dirty="0"/>
                  <a:t> </a:t>
                </a:r>
                <a:r>
                  <a:rPr sz="2400" dirty="0" err="1"/>
                  <a:t>amostral</a:t>
                </a:r>
                <a:r>
                  <a:rPr sz="2400" dirty="0"/>
                  <a:t> </a:t>
                </a:r>
                <a:r>
                  <a:rPr sz="2400" dirty="0" err="1"/>
                  <a:t>muda</a:t>
                </a:r>
                <a:r>
                  <a:rPr sz="2400" dirty="0"/>
                  <a:t> de </a:t>
                </a:r>
                <a:r>
                  <a:rPr sz="2400" dirty="0" err="1"/>
                  <a:t>amostra</a:t>
                </a:r>
                <a:r>
                  <a:rPr sz="2400" dirty="0"/>
                  <a:t> para </a:t>
                </a:r>
                <a:r>
                  <a:rPr sz="2400" dirty="0" err="1"/>
                  <a:t>amostra</a:t>
                </a:r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dirty="0"/>
                  <a:t>Na </a:t>
                </a:r>
                <a:r>
                  <a:rPr sz="2400" dirty="0" err="1"/>
                  <a:t>prática</a:t>
                </a:r>
                <a:r>
                  <a:rPr sz="2400" dirty="0"/>
                  <a:t>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conseguimos</a:t>
                </a:r>
                <a:r>
                  <a:rPr sz="2400" dirty="0"/>
                  <a:t> </a:t>
                </a:r>
                <a:r>
                  <a:rPr sz="2400" dirty="0" err="1"/>
                  <a:t>calculá</a:t>
                </a:r>
                <a:r>
                  <a:rPr sz="2400" dirty="0"/>
                  <a:t>-lo, </a:t>
                </a:r>
                <a:r>
                  <a:rPr sz="2400" dirty="0" err="1"/>
                  <a:t>porque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 dirty="0"/>
                  <a:t> é </a:t>
                </a:r>
                <a:r>
                  <a:rPr sz="2400" dirty="0" err="1"/>
                  <a:t>desconhecido</a:t>
                </a:r>
                <a:r>
                  <a:rPr sz="2400" dirty="0"/>
                  <a:t>. Nas </a:t>
                </a:r>
                <a:r>
                  <a:rPr sz="2400" dirty="0" err="1"/>
                  <a:t>próximas</a:t>
                </a:r>
                <a:r>
                  <a:rPr sz="2400" dirty="0"/>
                  <a:t> aulas </a:t>
                </a:r>
                <a:r>
                  <a:rPr sz="2400" dirty="0" err="1"/>
                  <a:t>veremos</a:t>
                </a:r>
                <a:r>
                  <a:rPr sz="2400" dirty="0"/>
                  <a:t> </a:t>
                </a:r>
                <a:r>
                  <a:rPr sz="2400" dirty="0" err="1"/>
                  <a:t>como</a:t>
                </a:r>
                <a:r>
                  <a:rPr sz="2400" dirty="0"/>
                  <a:t> </a:t>
                </a:r>
                <a:r>
                  <a:rPr sz="2400" dirty="0" err="1"/>
                  <a:t>medir</a:t>
                </a:r>
                <a:r>
                  <a:rPr sz="2400" dirty="0"/>
                  <a:t> o </a:t>
                </a:r>
                <a:r>
                  <a:rPr sz="2400" dirty="0" err="1"/>
                  <a:t>seu</a:t>
                </a:r>
                <a:r>
                  <a:rPr sz="2400" dirty="0"/>
                  <a:t> </a:t>
                </a:r>
                <a:r>
                  <a:rPr sz="2400" dirty="0" err="1"/>
                  <a:t>tamanho</a:t>
                </a:r>
                <a:r>
                  <a:rPr sz="2400" dirty="0"/>
                  <a:t> </a:t>
                </a:r>
                <a:r>
                  <a:rPr sz="2400" dirty="0" err="1"/>
                  <a:t>típico</a:t>
                </a:r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900000"/>
                <a:ext cx="10597140" cy="4167103"/>
              </a:xfrm>
              <a:prstGeom prst="rect">
                <a:avLst/>
              </a:prstGeom>
              <a:blipFill>
                <a:blip r:embed="rId2"/>
                <a:stretch>
                  <a:fillRect l="-921" b="-24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577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244" y="600741"/>
            <a:ext cx="10597140" cy="5642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1" dirty="0" err="1"/>
              <a:t>Tipos</a:t>
            </a:r>
            <a:r>
              <a:rPr sz="2400" b="1" dirty="0"/>
              <a:t> de </a:t>
            </a:r>
            <a:r>
              <a:rPr sz="2400" b="1" dirty="0" err="1"/>
              <a:t>amostragem</a:t>
            </a:r>
            <a:endParaRPr sz="2400" b="1" dirty="0"/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2400" dirty="0" err="1"/>
              <a:t>Queremos</a:t>
            </a:r>
            <a:r>
              <a:rPr sz="2400" dirty="0"/>
              <a:t> </a:t>
            </a:r>
            <a:r>
              <a:rPr sz="2400" dirty="0" err="1"/>
              <a:t>uma</a:t>
            </a:r>
            <a:r>
              <a:rPr sz="2400" dirty="0"/>
              <a:t> </a:t>
            </a:r>
            <a:r>
              <a:rPr sz="2400" dirty="0" err="1"/>
              <a:t>amostra</a:t>
            </a:r>
            <a:r>
              <a:rPr sz="2400" dirty="0"/>
              <a:t> </a:t>
            </a:r>
            <a:r>
              <a:rPr sz="2400" b="1" dirty="0" err="1"/>
              <a:t>representativa</a:t>
            </a:r>
            <a:r>
              <a:rPr sz="2400" dirty="0"/>
              <a:t> (a </a:t>
            </a:r>
            <a:r>
              <a:rPr sz="2400" dirty="0" err="1"/>
              <a:t>população</a:t>
            </a:r>
            <a:r>
              <a:rPr sz="2400" dirty="0"/>
              <a:t> </a:t>
            </a:r>
            <a:r>
              <a:rPr sz="2400" dirty="0" err="1"/>
              <a:t>em</a:t>
            </a:r>
            <a:r>
              <a:rPr sz="2400" dirty="0"/>
              <a:t> </a:t>
            </a:r>
            <a:r>
              <a:rPr sz="2400" dirty="0" err="1"/>
              <a:t>pequena</a:t>
            </a:r>
            <a:r>
              <a:rPr sz="2400" dirty="0"/>
              <a:t> </a:t>
            </a:r>
            <a:r>
              <a:rPr sz="2400" dirty="0" err="1"/>
              <a:t>escala</a:t>
            </a:r>
            <a:r>
              <a:rPr sz="2400" dirty="0"/>
              <a:t>); o </a:t>
            </a:r>
            <a:r>
              <a:rPr sz="2400" dirty="0" err="1"/>
              <a:t>melhor</a:t>
            </a:r>
            <a:r>
              <a:rPr sz="2400" dirty="0"/>
              <a:t> modo de </a:t>
            </a:r>
            <a:r>
              <a:rPr sz="2400" dirty="0" err="1"/>
              <a:t>garantir</a:t>
            </a:r>
            <a:r>
              <a:rPr sz="2400" dirty="0"/>
              <a:t> </a:t>
            </a:r>
            <a:r>
              <a:rPr sz="2400" dirty="0" err="1"/>
              <a:t>isso</a:t>
            </a:r>
            <a:r>
              <a:rPr sz="2400" dirty="0"/>
              <a:t> é o </a:t>
            </a:r>
            <a:r>
              <a:rPr sz="2400" dirty="0" err="1"/>
              <a:t>sorteio</a:t>
            </a:r>
            <a:r>
              <a:rPr sz="2400" dirty="0"/>
              <a:t>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sz="2400" b="1" dirty="0" err="1"/>
              <a:t>Probabilística</a:t>
            </a:r>
            <a:r>
              <a:rPr sz="2400" b="1" dirty="0"/>
              <a:t>: </a:t>
            </a:r>
            <a:r>
              <a:rPr sz="2400" dirty="0" err="1"/>
              <a:t>cada</a:t>
            </a:r>
            <a:r>
              <a:rPr sz="2400" dirty="0"/>
              <a:t> </a:t>
            </a:r>
            <a:r>
              <a:rPr sz="2400" dirty="0" err="1"/>
              <a:t>elemento</a:t>
            </a:r>
            <a:r>
              <a:rPr sz="2400" dirty="0"/>
              <a:t> da </a:t>
            </a:r>
            <a:r>
              <a:rPr sz="2400" dirty="0" err="1"/>
              <a:t>população</a:t>
            </a:r>
            <a:r>
              <a:rPr sz="2400" dirty="0"/>
              <a:t> </a:t>
            </a:r>
            <a:r>
              <a:rPr sz="2400" dirty="0" err="1"/>
              <a:t>tem</a:t>
            </a:r>
            <a:r>
              <a:rPr sz="2400" dirty="0"/>
              <a:t> </a:t>
            </a:r>
            <a:r>
              <a:rPr sz="2400" dirty="0" err="1"/>
              <a:t>probabilidade</a:t>
            </a:r>
            <a:r>
              <a:rPr sz="2400" dirty="0"/>
              <a:t> </a:t>
            </a:r>
            <a:r>
              <a:rPr sz="2400" b="1" dirty="0" err="1"/>
              <a:t>conhecida</a:t>
            </a:r>
            <a:r>
              <a:rPr sz="2400" b="1" dirty="0"/>
              <a:t> e </a:t>
            </a:r>
            <a:r>
              <a:rPr sz="2400" b="1" dirty="0" err="1"/>
              <a:t>não</a:t>
            </a:r>
            <a:r>
              <a:rPr sz="2400" b="1" dirty="0"/>
              <a:t> </a:t>
            </a:r>
            <a:r>
              <a:rPr sz="2400" b="1" dirty="0" err="1"/>
              <a:t>nula</a:t>
            </a:r>
            <a:r>
              <a:rPr sz="2400" dirty="0"/>
              <a:t> de </a:t>
            </a:r>
            <a:r>
              <a:rPr sz="2400" dirty="0" err="1"/>
              <a:t>entrar</a:t>
            </a:r>
            <a:r>
              <a:rPr sz="2400" dirty="0"/>
              <a:t> </a:t>
            </a:r>
            <a:r>
              <a:rPr sz="2400" dirty="0" err="1"/>
              <a:t>na</a:t>
            </a:r>
            <a:r>
              <a:rPr sz="2400" dirty="0"/>
              <a:t> </a:t>
            </a:r>
            <a:r>
              <a:rPr sz="2400" dirty="0" err="1"/>
              <a:t>amostra</a:t>
            </a:r>
            <a:r>
              <a:rPr sz="2400" dirty="0"/>
              <a:t>. Ex.: </a:t>
            </a:r>
            <a:r>
              <a:rPr sz="2400" dirty="0" err="1"/>
              <a:t>aleatória</a:t>
            </a:r>
            <a:r>
              <a:rPr sz="2400" dirty="0"/>
              <a:t> simples, </a:t>
            </a:r>
            <a:r>
              <a:rPr sz="2400" dirty="0" err="1"/>
              <a:t>estratificada</a:t>
            </a:r>
            <a:r>
              <a:rPr sz="2400" dirty="0"/>
              <a:t>, 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conglomerados</a:t>
            </a:r>
            <a:r>
              <a:rPr sz="2400" dirty="0"/>
              <a:t>, </a:t>
            </a:r>
            <a:r>
              <a:rPr sz="2400" dirty="0" err="1"/>
              <a:t>sistemática</a:t>
            </a:r>
            <a:r>
              <a:rPr sz="2400" dirty="0"/>
              <a:t>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sz="2400" b="1" dirty="0" err="1"/>
              <a:t>Não</a:t>
            </a:r>
            <a:r>
              <a:rPr sz="2400" b="1" dirty="0"/>
              <a:t> </a:t>
            </a:r>
            <a:r>
              <a:rPr sz="2400" b="1" dirty="0" err="1"/>
              <a:t>probabilística</a:t>
            </a:r>
            <a:r>
              <a:rPr sz="2400" b="1" dirty="0"/>
              <a:t>: </a:t>
            </a:r>
            <a:r>
              <a:rPr sz="2400" dirty="0"/>
              <a:t>a </a:t>
            </a:r>
            <a:r>
              <a:rPr sz="2400" dirty="0" err="1"/>
              <a:t>probabilidade</a:t>
            </a:r>
            <a:r>
              <a:rPr sz="2400" dirty="0"/>
              <a:t> de </a:t>
            </a:r>
            <a:r>
              <a:rPr sz="2400" dirty="0" err="1"/>
              <a:t>seleção</a:t>
            </a:r>
            <a:r>
              <a:rPr sz="2400" dirty="0"/>
              <a:t> é </a:t>
            </a:r>
            <a:r>
              <a:rPr sz="2400" b="1" dirty="0" err="1"/>
              <a:t>desconhecida</a:t>
            </a:r>
            <a:r>
              <a:rPr sz="2400" dirty="0"/>
              <a:t>. Ex.: </a:t>
            </a:r>
            <a:r>
              <a:rPr sz="2400" dirty="0" err="1"/>
              <a:t>voluntários</a:t>
            </a:r>
            <a:r>
              <a:rPr sz="2400" dirty="0"/>
              <a:t>, </a:t>
            </a:r>
            <a:r>
              <a:rPr sz="2400" dirty="0" err="1"/>
              <a:t>conveniência</a:t>
            </a:r>
            <a:r>
              <a:rPr sz="2400" dirty="0"/>
              <a:t> (</a:t>
            </a:r>
            <a:r>
              <a:rPr sz="2400" dirty="0" err="1"/>
              <a:t>os</a:t>
            </a:r>
            <a:r>
              <a:rPr sz="2400" dirty="0"/>
              <a:t> </a:t>
            </a:r>
            <a:r>
              <a:rPr sz="2400" dirty="0" err="1"/>
              <a:t>mais</a:t>
            </a:r>
            <a:r>
              <a:rPr sz="2400" dirty="0"/>
              <a:t> </a:t>
            </a:r>
            <a:r>
              <a:rPr sz="2400" dirty="0" err="1"/>
              <a:t>fáceis</a:t>
            </a:r>
            <a:r>
              <a:rPr sz="2400" dirty="0"/>
              <a:t> de </a:t>
            </a:r>
            <a:r>
              <a:rPr sz="2400" dirty="0" err="1"/>
              <a:t>alcançar</a:t>
            </a:r>
            <a:r>
              <a:rPr sz="2400" dirty="0"/>
              <a:t>), </a:t>
            </a:r>
            <a:r>
              <a:rPr sz="2400" dirty="0" err="1"/>
              <a:t>intencional</a:t>
            </a:r>
            <a:r>
              <a:rPr sz="2400" dirty="0"/>
              <a:t> (</a:t>
            </a:r>
            <a:r>
              <a:rPr sz="2400" dirty="0" err="1"/>
              <a:t>escolhidos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um </a:t>
            </a:r>
            <a:r>
              <a:rPr sz="2400" dirty="0" err="1"/>
              <a:t>especialista</a:t>
            </a:r>
            <a:r>
              <a:rPr sz="2400" dirty="0"/>
              <a:t>).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2400" i="1" dirty="0"/>
              <a:t>Só a </a:t>
            </a:r>
            <a:r>
              <a:rPr sz="2400" i="1" dirty="0" err="1"/>
              <a:t>amostra</a:t>
            </a:r>
            <a:r>
              <a:rPr sz="2400" i="1" dirty="0"/>
              <a:t> </a:t>
            </a:r>
            <a:r>
              <a:rPr sz="2400" i="1" dirty="0" err="1"/>
              <a:t>probabilística</a:t>
            </a:r>
            <a:r>
              <a:rPr sz="2400" i="1" dirty="0"/>
              <a:t> </a:t>
            </a:r>
            <a:r>
              <a:rPr sz="2400" i="1" dirty="0" err="1"/>
              <a:t>permite</a:t>
            </a:r>
            <a:r>
              <a:rPr sz="2400" i="1" dirty="0"/>
              <a:t> </a:t>
            </a:r>
            <a:r>
              <a:rPr sz="2400" i="1" dirty="0" err="1"/>
              <a:t>medir</a:t>
            </a:r>
            <a:r>
              <a:rPr sz="2400" i="1" dirty="0"/>
              <a:t> a </a:t>
            </a:r>
            <a:r>
              <a:rPr sz="2400" i="1" dirty="0" err="1"/>
              <a:t>precisão</a:t>
            </a:r>
            <a:r>
              <a:rPr sz="2400" i="1" dirty="0"/>
              <a:t> da </a:t>
            </a:r>
            <a:r>
              <a:rPr sz="2400" i="1" dirty="0" err="1"/>
              <a:t>estimativa</a:t>
            </a:r>
            <a:r>
              <a:rPr sz="2400" i="1" dirty="0"/>
              <a:t> com a </a:t>
            </a:r>
            <a:r>
              <a:rPr sz="2400" i="1" dirty="0" err="1"/>
              <a:t>própria</a:t>
            </a:r>
            <a:r>
              <a:rPr sz="2400" i="1" dirty="0"/>
              <a:t> </a:t>
            </a:r>
            <a:r>
              <a:rPr sz="2400" i="1" dirty="0" err="1"/>
              <a:t>amostra</a:t>
            </a:r>
            <a:r>
              <a:rPr sz="2400" i="1" dirty="0"/>
              <a:t>.</a:t>
            </a:r>
            <a:endParaRPr lang="pt-BR" sz="24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618" y="550865"/>
            <a:ext cx="1059714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400" b="1" dirty="0" err="1"/>
              <a:t>Viés</a:t>
            </a:r>
            <a:r>
              <a:rPr sz="2400" b="1" dirty="0"/>
              <a:t> (</a:t>
            </a:r>
            <a:r>
              <a:rPr sz="2400" b="1" dirty="0" err="1"/>
              <a:t>ou</a:t>
            </a:r>
            <a:r>
              <a:rPr sz="2400" b="1" dirty="0"/>
              <a:t> </a:t>
            </a:r>
            <a:r>
              <a:rPr sz="2400" b="1" dirty="0" err="1"/>
              <a:t>vício</a:t>
            </a:r>
            <a:r>
              <a:rPr sz="2400" b="1" dirty="0"/>
              <a:t>)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2400" dirty="0" err="1"/>
              <a:t>Viés</a:t>
            </a:r>
            <a:r>
              <a:rPr sz="2400" dirty="0"/>
              <a:t> é um </a:t>
            </a:r>
            <a:r>
              <a:rPr sz="2400" dirty="0" err="1"/>
              <a:t>erro</a:t>
            </a:r>
            <a:r>
              <a:rPr sz="2400" dirty="0"/>
              <a:t> </a:t>
            </a:r>
            <a:r>
              <a:rPr sz="2400" b="1" dirty="0" err="1"/>
              <a:t>sistemático</a:t>
            </a:r>
            <a:r>
              <a:rPr sz="2400" dirty="0"/>
              <a:t>: </a:t>
            </a:r>
            <a:r>
              <a:rPr sz="2400" dirty="0" err="1"/>
              <a:t>puxa</a:t>
            </a:r>
            <a:r>
              <a:rPr sz="2400" dirty="0"/>
              <a:t> o </a:t>
            </a:r>
            <a:r>
              <a:rPr sz="2400" dirty="0" err="1"/>
              <a:t>resultado</a:t>
            </a:r>
            <a:r>
              <a:rPr sz="2400" dirty="0"/>
              <a:t> sempre para o </a:t>
            </a:r>
            <a:r>
              <a:rPr sz="2400" dirty="0" err="1"/>
              <a:t>mesmo</a:t>
            </a:r>
            <a:r>
              <a:rPr sz="2400" dirty="0"/>
              <a:t> </a:t>
            </a:r>
            <a:r>
              <a:rPr sz="2400" dirty="0" err="1"/>
              <a:t>lado</a:t>
            </a:r>
            <a:r>
              <a:rPr sz="2400" dirty="0"/>
              <a:t>. </a:t>
            </a:r>
            <a:r>
              <a:rPr sz="2400" dirty="0" err="1"/>
              <a:t>Pode</a:t>
            </a:r>
            <a:r>
              <a:rPr sz="2400" dirty="0"/>
              <a:t> </a:t>
            </a:r>
            <a:r>
              <a:rPr sz="2400" dirty="0" err="1"/>
              <a:t>aparecer</a:t>
            </a:r>
            <a:r>
              <a:rPr sz="2400" dirty="0"/>
              <a:t> </a:t>
            </a:r>
            <a:r>
              <a:rPr sz="2400" dirty="0" err="1"/>
              <a:t>em</a:t>
            </a:r>
            <a:r>
              <a:rPr sz="2400" dirty="0"/>
              <a:t> </a:t>
            </a:r>
            <a:r>
              <a:rPr sz="2400" dirty="0" err="1"/>
              <a:t>três</a:t>
            </a:r>
            <a:r>
              <a:rPr sz="2400" dirty="0"/>
              <a:t> </a:t>
            </a:r>
            <a:r>
              <a:rPr sz="2400" dirty="0" err="1"/>
              <a:t>lugares</a:t>
            </a:r>
            <a:r>
              <a:rPr sz="2400" dirty="0"/>
              <a:t>: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Font typeface="Arial"/>
              <a:buChar char="•"/>
            </a:pPr>
            <a:r>
              <a:rPr sz="2400" b="1" dirty="0" err="1"/>
              <a:t>Viés</a:t>
            </a:r>
            <a:r>
              <a:rPr sz="2400" b="1" dirty="0"/>
              <a:t> de </a:t>
            </a:r>
            <a:r>
              <a:rPr sz="2400" b="1" dirty="0" err="1"/>
              <a:t>seleção</a:t>
            </a:r>
            <a:r>
              <a:rPr sz="2400" b="1" dirty="0"/>
              <a:t>: </a:t>
            </a:r>
            <a:r>
              <a:rPr sz="2400" dirty="0"/>
              <a:t>o modo de </a:t>
            </a:r>
            <a:r>
              <a:rPr sz="2400" dirty="0" err="1"/>
              <a:t>escolher</a:t>
            </a:r>
            <a:r>
              <a:rPr sz="2400" dirty="0"/>
              <a:t> a </a:t>
            </a:r>
            <a:r>
              <a:rPr sz="2400" dirty="0" err="1"/>
              <a:t>amostra</a:t>
            </a:r>
            <a:r>
              <a:rPr sz="2400" dirty="0"/>
              <a:t> </a:t>
            </a:r>
            <a:r>
              <a:rPr sz="2400" dirty="0" err="1"/>
              <a:t>favorece</a:t>
            </a:r>
            <a:r>
              <a:rPr sz="2400" dirty="0"/>
              <a:t> </a:t>
            </a:r>
            <a:r>
              <a:rPr sz="2400" dirty="0" err="1"/>
              <a:t>uma</a:t>
            </a:r>
            <a:r>
              <a:rPr sz="2400" dirty="0"/>
              <a:t> </a:t>
            </a:r>
            <a:r>
              <a:rPr sz="2400" dirty="0" err="1"/>
              <a:t>parte</a:t>
            </a:r>
            <a:r>
              <a:rPr sz="2400" dirty="0"/>
              <a:t> da </a:t>
            </a:r>
            <a:r>
              <a:rPr sz="2400" dirty="0" err="1"/>
              <a:t>população</a:t>
            </a:r>
            <a:r>
              <a:rPr sz="2400" dirty="0"/>
              <a:t> (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exemplo</a:t>
            </a:r>
            <a:r>
              <a:rPr sz="2400" dirty="0"/>
              <a:t>, </a:t>
            </a:r>
            <a:r>
              <a:rPr sz="2400" dirty="0" err="1"/>
              <a:t>só</a:t>
            </a:r>
            <a:r>
              <a:rPr sz="2400" dirty="0"/>
              <a:t> </a:t>
            </a:r>
            <a:r>
              <a:rPr sz="2400" dirty="0" err="1"/>
              <a:t>quem</a:t>
            </a:r>
            <a:r>
              <a:rPr sz="2400" dirty="0"/>
              <a:t> </a:t>
            </a:r>
            <a:r>
              <a:rPr sz="2400" dirty="0" err="1"/>
              <a:t>quis</a:t>
            </a:r>
            <a:r>
              <a:rPr sz="2400" dirty="0"/>
              <a:t> responder). O </a:t>
            </a:r>
            <a:r>
              <a:rPr sz="2400" dirty="0" err="1"/>
              <a:t>sorteio</a:t>
            </a:r>
            <a:r>
              <a:rPr sz="2400" dirty="0"/>
              <a:t> </a:t>
            </a:r>
            <a:r>
              <a:rPr sz="2400" dirty="0" err="1"/>
              <a:t>evita</a:t>
            </a:r>
            <a:r>
              <a:rPr sz="2400" dirty="0"/>
              <a:t> </a:t>
            </a:r>
            <a:r>
              <a:rPr sz="2400" dirty="0" err="1"/>
              <a:t>esse</a:t>
            </a:r>
            <a:r>
              <a:rPr sz="2400" dirty="0"/>
              <a:t> </a:t>
            </a:r>
            <a:r>
              <a:rPr sz="2400" dirty="0" err="1"/>
              <a:t>viés</a:t>
            </a:r>
            <a:r>
              <a:rPr sz="2400" dirty="0"/>
              <a:t>.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Font typeface="Arial"/>
              <a:buChar char="•"/>
            </a:pPr>
            <a:r>
              <a:rPr sz="2400" b="1" dirty="0" err="1"/>
              <a:t>Viés</a:t>
            </a:r>
            <a:r>
              <a:rPr sz="2400" b="1" dirty="0"/>
              <a:t> de coleta de dados: </a:t>
            </a:r>
            <a:r>
              <a:rPr sz="2400" dirty="0"/>
              <a:t>o modo de </a:t>
            </a:r>
            <a:r>
              <a:rPr sz="2400" dirty="0" err="1"/>
              <a:t>medir</a:t>
            </a:r>
            <a:r>
              <a:rPr sz="2400" dirty="0"/>
              <a:t> </a:t>
            </a:r>
            <a:r>
              <a:rPr sz="2400" dirty="0" err="1"/>
              <a:t>ou</a:t>
            </a:r>
            <a:r>
              <a:rPr sz="2400" dirty="0"/>
              <a:t> de </a:t>
            </a:r>
            <a:r>
              <a:rPr sz="2400" dirty="0" err="1"/>
              <a:t>perguntar</a:t>
            </a:r>
            <a:r>
              <a:rPr sz="2400" dirty="0"/>
              <a:t> </a:t>
            </a:r>
            <a:r>
              <a:rPr sz="2400" dirty="0" err="1"/>
              <a:t>distorce</a:t>
            </a:r>
            <a:r>
              <a:rPr sz="2400" dirty="0"/>
              <a:t> a </a:t>
            </a:r>
            <a:r>
              <a:rPr sz="2400" dirty="0" err="1"/>
              <a:t>resposta</a:t>
            </a:r>
            <a:r>
              <a:rPr sz="2400" dirty="0"/>
              <a:t> (</a:t>
            </a:r>
            <a:r>
              <a:rPr sz="2400" dirty="0" err="1"/>
              <a:t>pergunta</a:t>
            </a:r>
            <a:r>
              <a:rPr sz="2400" dirty="0"/>
              <a:t> </a:t>
            </a:r>
            <a:r>
              <a:rPr sz="2400" dirty="0" err="1"/>
              <a:t>tendenciosa</a:t>
            </a:r>
            <a:r>
              <a:rPr sz="2400" dirty="0"/>
              <a:t>, </a:t>
            </a:r>
            <a:r>
              <a:rPr sz="2400" dirty="0" err="1"/>
              <a:t>instrumento</a:t>
            </a:r>
            <a:r>
              <a:rPr sz="2400" dirty="0"/>
              <a:t> mal </a:t>
            </a:r>
            <a:r>
              <a:rPr sz="2400" dirty="0" err="1"/>
              <a:t>calibrado</a:t>
            </a:r>
            <a:r>
              <a:rPr sz="2400" dirty="0"/>
              <a:t>, </a:t>
            </a:r>
            <a:r>
              <a:rPr sz="2400" dirty="0" err="1"/>
              <a:t>troca</a:t>
            </a:r>
            <a:r>
              <a:rPr sz="2400" dirty="0"/>
              <a:t> de </a:t>
            </a:r>
            <a:r>
              <a:rPr sz="2400" dirty="0" err="1"/>
              <a:t>quem</a:t>
            </a:r>
            <a:r>
              <a:rPr sz="2400" dirty="0"/>
              <a:t> </a:t>
            </a:r>
            <a:r>
              <a:rPr sz="2400" dirty="0" err="1"/>
              <a:t>não</a:t>
            </a:r>
            <a:r>
              <a:rPr sz="2400" dirty="0"/>
              <a:t> </a:t>
            </a:r>
            <a:r>
              <a:rPr sz="2400" dirty="0" err="1"/>
              <a:t>respondeu</a:t>
            </a:r>
            <a:r>
              <a:rPr sz="2400" dirty="0"/>
              <a:t>).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Font typeface="Arial"/>
              <a:buChar char="•"/>
            </a:pPr>
            <a:r>
              <a:rPr sz="2400" b="1" dirty="0" err="1"/>
              <a:t>Viés</a:t>
            </a:r>
            <a:r>
              <a:rPr sz="2400" b="1" dirty="0"/>
              <a:t> de </a:t>
            </a:r>
            <a:r>
              <a:rPr sz="2400" b="1" dirty="0" err="1"/>
              <a:t>estimação</a:t>
            </a:r>
            <a:r>
              <a:rPr sz="2400" b="1" dirty="0"/>
              <a:t>: </a:t>
            </a:r>
            <a:r>
              <a:rPr sz="2400" dirty="0"/>
              <a:t>o </a:t>
            </a:r>
            <a:r>
              <a:rPr sz="2400" dirty="0" err="1"/>
              <a:t>estimador</a:t>
            </a:r>
            <a:r>
              <a:rPr sz="2400" dirty="0"/>
              <a:t> </a:t>
            </a:r>
            <a:r>
              <a:rPr sz="2400" dirty="0" err="1"/>
              <a:t>erra</a:t>
            </a:r>
            <a:r>
              <a:rPr sz="2400" dirty="0"/>
              <a:t> </a:t>
            </a:r>
            <a:r>
              <a:rPr sz="2400" dirty="0" err="1"/>
              <a:t>sistematicamente</a:t>
            </a:r>
            <a:r>
              <a:rPr sz="2400" dirty="0"/>
              <a:t> para o </a:t>
            </a:r>
            <a:r>
              <a:rPr sz="2400" dirty="0" err="1"/>
              <a:t>mesmo</a:t>
            </a:r>
            <a:r>
              <a:rPr sz="2400" dirty="0"/>
              <a:t> </a:t>
            </a:r>
            <a:r>
              <a:rPr sz="2400" dirty="0" err="1"/>
              <a:t>lado</a:t>
            </a:r>
            <a:r>
              <a:rPr sz="2400" dirty="0"/>
              <a:t> (volta </a:t>
            </a:r>
            <a:r>
              <a:rPr sz="2400" dirty="0" err="1"/>
              <a:t>na</a:t>
            </a:r>
            <a:r>
              <a:rPr sz="2400" dirty="0"/>
              <a:t> Aula 16).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244" y="600741"/>
            <a:ext cx="10597140" cy="577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</a:t>
            </a:r>
            <a:r>
              <a:rPr lang="pt-BR" sz="2400" dirty="0"/>
              <a:t>. Uma rede de cinemas quer saber que nota o público dá ao novo filme de super-heróis.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Probabilística</a:t>
            </a:r>
            <a:r>
              <a:rPr lang="pt-BR" sz="2400" dirty="0"/>
              <a:t>: sorteia 400 compradores de ingresso cadastrados no aplicativo.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Voluntários</a:t>
            </a:r>
            <a:r>
              <a:rPr lang="pt-BR" sz="2400" dirty="0"/>
              <a:t>: usa as notas deixadas no site por quem quis avaliar (quem amou ou odiou o filme): viés de seleção.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Conveniência</a:t>
            </a:r>
            <a:r>
              <a:rPr lang="pt-BR" sz="2400" dirty="0"/>
              <a:t>: entrevista quem sai da sessão de estreia, à meia-noite (quase todos fãs): viés de seleção, puxando a nota para cima.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Intencional</a:t>
            </a:r>
            <a:r>
              <a:rPr lang="pt-BR" sz="2400" dirty="0"/>
              <a:t>: escolhe 10 críticos de cinema, que não representam o público.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Só a primeira permite medir a precisão da estimativa com a própria amostra.</a:t>
            </a:r>
            <a:endParaRPr lang="pt-BR" sz="2400" i="1" dirty="0"/>
          </a:p>
        </p:txBody>
      </p:sp>
    </p:spTree>
    <p:extLst>
      <p:ext uri="{BB962C8B-B14F-4D97-AF65-F5344CB8AC3E}">
        <p14:creationId xmlns:p14="http://schemas.microsoft.com/office/powerpoint/2010/main" val="2280935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687" y="900000"/>
            <a:ext cx="10597140" cy="3461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 err="1"/>
              <a:t>Exemplo</a:t>
            </a:r>
            <a:r>
              <a:rPr sz="2400" b="1" dirty="0"/>
              <a:t>. </a:t>
            </a:r>
            <a:r>
              <a:rPr sz="2400" dirty="0"/>
              <a:t>Um </a:t>
            </a:r>
            <a:r>
              <a:rPr sz="2400" dirty="0" err="1"/>
              <a:t>estúdio</a:t>
            </a:r>
            <a:r>
              <a:rPr sz="2400" dirty="0"/>
              <a:t> </a:t>
            </a:r>
            <a:r>
              <a:rPr sz="2400" dirty="0" err="1"/>
              <a:t>lançou</a:t>
            </a:r>
            <a:r>
              <a:rPr sz="2400" dirty="0"/>
              <a:t> um </a:t>
            </a:r>
            <a:r>
              <a:rPr sz="2400" dirty="0" err="1"/>
              <a:t>jogo</a:t>
            </a:r>
            <a:r>
              <a:rPr sz="2400" dirty="0"/>
              <a:t> que </a:t>
            </a:r>
            <a:r>
              <a:rPr sz="2400" dirty="0" err="1"/>
              <a:t>já</a:t>
            </a:r>
            <a:r>
              <a:rPr sz="2400" dirty="0"/>
              <a:t> </a:t>
            </a:r>
            <a:r>
              <a:rPr sz="2400" dirty="0" err="1"/>
              <a:t>tem</a:t>
            </a:r>
            <a:r>
              <a:rPr sz="2400" dirty="0"/>
              <a:t> 400 mil </a:t>
            </a:r>
            <a:r>
              <a:rPr sz="2400" dirty="0" err="1"/>
              <a:t>jogadores</a:t>
            </a:r>
            <a:r>
              <a:rPr sz="2400" dirty="0"/>
              <a:t>. Para saber a </a:t>
            </a:r>
            <a:r>
              <a:rPr sz="2400" dirty="0" err="1"/>
              <a:t>proporção</a:t>
            </a:r>
            <a:r>
              <a:rPr sz="2400" dirty="0"/>
              <a:t> de </a:t>
            </a:r>
            <a:r>
              <a:rPr sz="2400" dirty="0" err="1"/>
              <a:t>jogadores</a:t>
            </a:r>
            <a:r>
              <a:rPr sz="2400" dirty="0"/>
              <a:t> que </a:t>
            </a:r>
            <a:r>
              <a:rPr sz="2400" dirty="0" err="1"/>
              <a:t>recomendam</a:t>
            </a:r>
            <a:r>
              <a:rPr sz="2400" dirty="0"/>
              <a:t> o </a:t>
            </a:r>
            <a:r>
              <a:rPr sz="2400" dirty="0" err="1"/>
              <a:t>jogo</a:t>
            </a:r>
            <a:r>
              <a:rPr sz="2400" dirty="0"/>
              <a:t>, o time de dados </a:t>
            </a:r>
            <a:r>
              <a:rPr sz="2400" dirty="0" err="1"/>
              <a:t>sorteia</a:t>
            </a:r>
            <a:r>
              <a:rPr sz="2400" dirty="0"/>
              <a:t> 1.000 </a:t>
            </a:r>
            <a:r>
              <a:rPr sz="2400" dirty="0" err="1"/>
              <a:t>jogadores</a:t>
            </a:r>
            <a:r>
              <a:rPr sz="2400" dirty="0"/>
              <a:t> e </a:t>
            </a:r>
            <a:r>
              <a:rPr sz="2400" dirty="0" err="1"/>
              <a:t>envia</a:t>
            </a:r>
            <a:r>
              <a:rPr sz="2400" dirty="0"/>
              <a:t> </a:t>
            </a:r>
            <a:r>
              <a:rPr sz="2400" dirty="0" err="1"/>
              <a:t>uma</a:t>
            </a:r>
            <a:r>
              <a:rPr sz="2400" dirty="0"/>
              <a:t> </a:t>
            </a:r>
            <a:r>
              <a:rPr sz="2400" dirty="0" err="1"/>
              <a:t>pergunta</a:t>
            </a:r>
            <a:r>
              <a:rPr sz="2400" dirty="0"/>
              <a:t> </a:t>
            </a:r>
            <a:r>
              <a:rPr sz="2400" dirty="0" err="1"/>
              <a:t>dentro</a:t>
            </a:r>
            <a:r>
              <a:rPr sz="2400" dirty="0"/>
              <a:t> do </a:t>
            </a:r>
            <a:r>
              <a:rPr sz="2400" dirty="0" err="1"/>
              <a:t>jogo</a:t>
            </a:r>
            <a:r>
              <a:rPr sz="2400" dirty="0"/>
              <a:t>. Dos 1.000, 780 </a:t>
            </a:r>
            <a:r>
              <a:rPr sz="2400" dirty="0" err="1"/>
              <a:t>responderam</a:t>
            </a:r>
            <a:r>
              <a:rPr sz="2400" dirty="0"/>
              <a:t> que </a:t>
            </a:r>
            <a:r>
              <a:rPr sz="2400" dirty="0" err="1"/>
              <a:t>recomendam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2400" dirty="0" err="1"/>
              <a:t>Identifique</a:t>
            </a:r>
            <a:r>
              <a:rPr sz="2400" dirty="0"/>
              <a:t> a </a:t>
            </a:r>
            <a:r>
              <a:rPr sz="2400" dirty="0" err="1"/>
              <a:t>população</a:t>
            </a:r>
            <a:r>
              <a:rPr sz="2400" dirty="0"/>
              <a:t>, a </a:t>
            </a:r>
            <a:r>
              <a:rPr sz="2400" dirty="0" err="1"/>
              <a:t>amostra</a:t>
            </a:r>
            <a:r>
              <a:rPr sz="2400" dirty="0"/>
              <a:t>, a </a:t>
            </a:r>
            <a:r>
              <a:rPr sz="2400" dirty="0" err="1"/>
              <a:t>variável</a:t>
            </a:r>
            <a:r>
              <a:rPr sz="2400" dirty="0"/>
              <a:t>, o </a:t>
            </a:r>
            <a:r>
              <a:rPr sz="2400" dirty="0" err="1"/>
              <a:t>parâmetro</a:t>
            </a:r>
            <a:r>
              <a:rPr sz="2400" dirty="0"/>
              <a:t>, o </a:t>
            </a:r>
            <a:r>
              <a:rPr sz="2400" dirty="0" err="1"/>
              <a:t>estimador</a:t>
            </a:r>
            <a:r>
              <a:rPr sz="2400" dirty="0"/>
              <a:t> e a </a:t>
            </a:r>
            <a:r>
              <a:rPr sz="2400" dirty="0" err="1"/>
              <a:t>estimativa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7430" y="525928"/>
                <a:ext cx="10597140" cy="5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sz="2600" b="1" dirty="0" err="1"/>
                  <a:t>Resolução</a:t>
                </a:r>
                <a:endParaRPr sz="2600" b="1" dirty="0"/>
              </a:p>
              <a:p>
                <a:pPr marL="342900" indent="-342900">
                  <a:lnSpc>
                    <a:spcPct val="130000"/>
                  </a:lnSpc>
                  <a:buFont typeface="Arial"/>
                  <a:buChar char="•"/>
                </a:pPr>
                <a:r>
                  <a:rPr sz="2400" b="1" dirty="0" err="1"/>
                  <a:t>População</a:t>
                </a:r>
                <a:r>
                  <a:rPr sz="2400" b="1" dirty="0"/>
                  <a:t>: </a:t>
                </a:r>
                <a:r>
                  <a:rPr sz="2400" dirty="0" err="1"/>
                  <a:t>os</a:t>
                </a:r>
                <a:r>
                  <a:rPr sz="2400" dirty="0"/>
                  <a:t> 400 mil </a:t>
                </a:r>
                <a:r>
                  <a:rPr sz="2400" dirty="0" err="1"/>
                  <a:t>jogadores</a:t>
                </a:r>
                <a:r>
                  <a:rPr sz="2400" dirty="0"/>
                  <a:t>. </a:t>
                </a:r>
                <a:r>
                  <a:rPr sz="2400" b="1" dirty="0" err="1"/>
                  <a:t>Amostra</a:t>
                </a:r>
                <a:r>
                  <a:rPr sz="2400" b="1" dirty="0"/>
                  <a:t>: </a:t>
                </a:r>
                <a:r>
                  <a:rPr sz="2400" dirty="0" err="1"/>
                  <a:t>os</a:t>
                </a:r>
                <a:r>
                  <a:rPr sz="2400" dirty="0"/>
                  <a:t> 1.000 </a:t>
                </a:r>
                <a:r>
                  <a:rPr sz="2400" dirty="0" err="1"/>
                  <a:t>sorteados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30000"/>
                  </a:lnSpc>
                  <a:buFont typeface="Arial"/>
                  <a:buChar char="•"/>
                </a:pPr>
                <a:r>
                  <a:rPr sz="2400" b="1" dirty="0" err="1"/>
                  <a:t>Variável</a:t>
                </a:r>
                <a:r>
                  <a:rPr sz="2400" b="1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𝑋</m:t>
                    </m:r>
                    <m:r>
                      <a:rPr lang="pt-BR" sz="2400">
                        <a:latin typeface="Cambria Math"/>
                      </a:rPr>
                      <m:t>=1</m:t>
                    </m:r>
                  </m:oMath>
                </a14:m>
                <a:r>
                  <a:rPr sz="2400" dirty="0"/>
                  <a:t> se o </a:t>
                </a:r>
                <a:r>
                  <a:rPr sz="2400" dirty="0" err="1"/>
                  <a:t>jogador</a:t>
                </a:r>
                <a:r>
                  <a:rPr sz="2400" dirty="0"/>
                  <a:t> </a:t>
                </a:r>
                <a:r>
                  <a:rPr sz="2400" dirty="0" err="1"/>
                  <a:t>recomenda</a:t>
                </a:r>
                <a:r>
                  <a:rPr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𝑋</m:t>
                    </m:r>
                    <m:r>
                      <a:rPr lang="pt-BR" sz="2400">
                        <a:latin typeface="Cambria Math"/>
                      </a:rPr>
                      <m:t>=0</m:t>
                    </m:r>
                  </m:oMath>
                </a14:m>
                <a:r>
                  <a:rPr sz="2400" dirty="0"/>
                  <a:t> se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recomenda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30000"/>
                  </a:lnSpc>
                  <a:buFont typeface="Arial"/>
                  <a:buChar char="•"/>
                </a:pPr>
                <a:r>
                  <a:rPr sz="2400" b="1" dirty="0" err="1"/>
                  <a:t>Parâmetro</a:t>
                </a:r>
                <a:r>
                  <a:rPr sz="2400" b="1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 dirty="0"/>
                  <a:t> = </a:t>
                </a:r>
                <a:r>
                  <a:rPr sz="2400" dirty="0" err="1"/>
                  <a:t>proporção</a:t>
                </a:r>
                <a:r>
                  <a:rPr sz="2400" dirty="0"/>
                  <a:t> de </a:t>
                </a:r>
                <a:r>
                  <a:rPr sz="2400" i="1" dirty="0" err="1"/>
                  <a:t>todos</a:t>
                </a:r>
                <a:r>
                  <a:rPr sz="2400" dirty="0"/>
                  <a:t> </a:t>
                </a:r>
                <a:r>
                  <a:rPr sz="2400" dirty="0" err="1"/>
                  <a:t>os</a:t>
                </a:r>
                <a:r>
                  <a:rPr sz="2400" dirty="0"/>
                  <a:t> </a:t>
                </a:r>
                <a:r>
                  <a:rPr sz="2400" dirty="0" err="1"/>
                  <a:t>jogadores</a:t>
                </a:r>
                <a:r>
                  <a:rPr sz="2400" dirty="0"/>
                  <a:t> que </a:t>
                </a:r>
                <a:r>
                  <a:rPr sz="2400" dirty="0" err="1"/>
                  <a:t>recomendam</a:t>
                </a:r>
                <a:r>
                  <a:rPr sz="2400" dirty="0"/>
                  <a:t>. É </a:t>
                </a:r>
                <a:r>
                  <a:rPr sz="2400" dirty="0" err="1"/>
                  <a:t>desconhecido</a:t>
                </a:r>
                <a:r>
                  <a:rPr sz="2400" dirty="0"/>
                  <a:t>: é o que </a:t>
                </a:r>
                <a:r>
                  <a:rPr sz="2400" dirty="0" err="1"/>
                  <a:t>queremos</a:t>
                </a:r>
                <a:r>
                  <a:rPr sz="2400" dirty="0"/>
                  <a:t> </a:t>
                </a:r>
                <a:r>
                  <a:rPr sz="2400" dirty="0" err="1"/>
                  <a:t>descobrir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30000"/>
                  </a:lnSpc>
                  <a:buFont typeface="Arial"/>
                  <a:buChar char="•"/>
                </a:pPr>
                <a:r>
                  <a:rPr sz="2400" b="1" dirty="0" err="1"/>
                  <a:t>Estimador</a:t>
                </a:r>
                <a:r>
                  <a:rPr sz="2400" b="1" dirty="0"/>
                  <a:t>: </a:t>
                </a:r>
                <a:r>
                  <a:rPr sz="2400" dirty="0"/>
                  <a:t>a </a:t>
                </a:r>
                <a:r>
                  <a:rPr sz="2400" dirty="0" err="1"/>
                  <a:t>proporção</a:t>
                </a:r>
                <a:r>
                  <a:rPr sz="2400" dirty="0"/>
                  <a:t> </a:t>
                </a:r>
                <a:r>
                  <a:rPr sz="2400" dirty="0" err="1"/>
                  <a:t>amostral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ú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mero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de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sim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na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>
                            <a:latin typeface="Cambria Math"/>
                          </a:rPr>
                          <m:t>amostra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dirty="0"/>
                  <a:t> — </a:t>
                </a:r>
                <a:r>
                  <a:rPr sz="2400" dirty="0" err="1"/>
                  <a:t>uma</a:t>
                </a:r>
                <a:r>
                  <a:rPr sz="2400" dirty="0"/>
                  <a:t> </a:t>
                </a:r>
                <a:r>
                  <a:rPr sz="2400" dirty="0" err="1"/>
                  <a:t>regra</a:t>
                </a:r>
                <a:r>
                  <a:rPr sz="2400" dirty="0"/>
                  <a:t> que vale para </a:t>
                </a:r>
                <a:r>
                  <a:rPr sz="2400" dirty="0" err="1"/>
                  <a:t>qualquer</a:t>
                </a:r>
                <a:r>
                  <a:rPr sz="2400" dirty="0"/>
                  <a:t> </a:t>
                </a:r>
                <a:r>
                  <a:rPr sz="2400" dirty="0" err="1"/>
                  <a:t>amostra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30000"/>
                  </a:lnSpc>
                  <a:buFont typeface="Arial"/>
                  <a:buChar char="•"/>
                </a:pPr>
                <a:r>
                  <a:rPr sz="2400" b="1" dirty="0" err="1"/>
                  <a:t>Estimativa</a:t>
                </a:r>
                <a:r>
                  <a:rPr sz="2400" b="1" dirty="0"/>
                  <a:t>: </a:t>
                </a:r>
                <a:r>
                  <a:rPr sz="2400" dirty="0"/>
                  <a:t>o valor do </a:t>
                </a:r>
                <a:r>
                  <a:rPr sz="2400" dirty="0" err="1"/>
                  <a:t>estimador</a:t>
                </a:r>
                <a:r>
                  <a:rPr sz="2400" dirty="0"/>
                  <a:t> </a:t>
                </a:r>
                <a:r>
                  <a:rPr sz="2400" dirty="0" err="1"/>
                  <a:t>nesta</a:t>
                </a:r>
                <a:r>
                  <a:rPr sz="2400" dirty="0"/>
                  <a:t> </a:t>
                </a:r>
                <a:r>
                  <a:rPr sz="2400" dirty="0" err="1"/>
                  <a:t>amostra</a:t>
                </a:r>
                <a:r>
                  <a:rPr sz="24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780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1000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=0,78</m:t>
                    </m:r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30000"/>
                  </a:lnSpc>
                  <a:spcBef>
                    <a:spcPts val="800"/>
                  </a:spcBef>
                </a:pPr>
                <a:r>
                  <a:rPr sz="2400" b="1" dirty="0" err="1"/>
                  <a:t>Erro</a:t>
                </a:r>
                <a:r>
                  <a:rPr sz="2400" b="1" dirty="0"/>
                  <a:t> </a:t>
                </a:r>
                <a:r>
                  <a:rPr sz="2400" b="1" dirty="0" err="1"/>
                  <a:t>amostral</a:t>
                </a:r>
                <a:r>
                  <a:rPr sz="2400" b="1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𝜖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 dirty="0"/>
                  <a:t>.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dá</a:t>
                </a:r>
                <a:r>
                  <a:rPr sz="2400" dirty="0"/>
                  <a:t> para </a:t>
                </a:r>
                <a:r>
                  <a:rPr sz="2400" dirty="0" err="1"/>
                  <a:t>calcular</a:t>
                </a:r>
                <a:r>
                  <a:rPr sz="2400" dirty="0"/>
                  <a:t>, </a:t>
                </a:r>
                <a:r>
                  <a:rPr sz="2400" dirty="0" err="1"/>
                  <a:t>porque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 dirty="0"/>
                  <a:t> é </a:t>
                </a:r>
                <a:r>
                  <a:rPr sz="2400" dirty="0" err="1"/>
                  <a:t>desconhecido</a:t>
                </a:r>
                <a:r>
                  <a:rPr sz="2400" dirty="0"/>
                  <a:t>. Se um </a:t>
                </a:r>
                <a:r>
                  <a:rPr sz="2400" dirty="0" err="1"/>
                  <a:t>levantamento</a:t>
                </a:r>
                <a:r>
                  <a:rPr sz="2400" dirty="0"/>
                  <a:t> </a:t>
                </a:r>
                <a:r>
                  <a:rPr sz="2400" dirty="0" err="1"/>
                  <a:t>completo</a:t>
                </a:r>
                <a:r>
                  <a:rPr sz="2400" dirty="0"/>
                  <a:t> </a:t>
                </a:r>
                <a:r>
                  <a:rPr sz="2400" dirty="0" err="1"/>
                  <a:t>mostrasse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  <m:r>
                      <a:rPr lang="pt-BR" sz="2400">
                        <a:latin typeface="Cambria Math"/>
                      </a:rPr>
                      <m:t>=0,80</m:t>
                    </m:r>
                  </m:oMath>
                </a14:m>
                <a:r>
                  <a:rPr sz="2400" dirty="0"/>
                  <a:t>, o </a:t>
                </a:r>
                <a:r>
                  <a:rPr sz="2400" dirty="0" err="1"/>
                  <a:t>erro</a:t>
                </a:r>
                <a:r>
                  <a:rPr sz="2400" dirty="0"/>
                  <a:t> seria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0,78−0,80=−0,02</m:t>
                    </m:r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30" y="525928"/>
                <a:ext cx="10597140" cy="5400000"/>
              </a:xfrm>
              <a:prstGeom prst="rect">
                <a:avLst/>
              </a:prstGeom>
              <a:blipFill>
                <a:blip r:embed="rId2"/>
                <a:stretch>
                  <a:fillRect l="-1036" b="-33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7430" y="658931"/>
                <a:ext cx="10597140" cy="5405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Amostragem</a:t>
                </a:r>
                <a:r>
                  <a:rPr sz="2400" b="1" dirty="0"/>
                  <a:t> </a:t>
                </a:r>
                <a:r>
                  <a:rPr sz="2400" b="1" dirty="0" err="1"/>
                  <a:t>aleatória</a:t>
                </a:r>
                <a:r>
                  <a:rPr sz="2400" b="1" dirty="0"/>
                  <a:t> simples (AAS)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dirty="0"/>
                  <a:t>Todo </a:t>
                </a:r>
                <a:r>
                  <a:rPr sz="2400" dirty="0" err="1"/>
                  <a:t>elemento</a:t>
                </a:r>
                <a:r>
                  <a:rPr sz="2400" dirty="0"/>
                  <a:t> da </a:t>
                </a:r>
                <a:r>
                  <a:rPr sz="2400" dirty="0" err="1"/>
                  <a:t>população</a:t>
                </a:r>
                <a:r>
                  <a:rPr sz="2400" dirty="0"/>
                  <a:t> </a:t>
                </a:r>
                <a:r>
                  <a:rPr sz="2400" dirty="0" err="1"/>
                  <a:t>tem</a:t>
                </a:r>
                <a:r>
                  <a:rPr sz="2400" dirty="0"/>
                  <a:t> a </a:t>
                </a:r>
                <a:r>
                  <a:rPr sz="2400" dirty="0" err="1"/>
                  <a:t>mesma</a:t>
                </a:r>
                <a:r>
                  <a:rPr sz="2400" dirty="0"/>
                  <a:t> chance de ser </a:t>
                </a:r>
                <a:r>
                  <a:rPr sz="2400" dirty="0" err="1"/>
                  <a:t>sorteado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sz="2400" b="1" dirty="0"/>
                  <a:t>Com </a:t>
                </a:r>
                <a:r>
                  <a:rPr sz="2400" b="1" dirty="0" err="1"/>
                  <a:t>reposição</a:t>
                </a:r>
                <a:r>
                  <a:rPr sz="2400" b="1" dirty="0"/>
                  <a:t>: </a:t>
                </a:r>
                <a:r>
                  <a:rPr sz="2400" dirty="0"/>
                  <a:t>o </a:t>
                </a:r>
                <a:r>
                  <a:rPr sz="2400" dirty="0" err="1"/>
                  <a:t>elemento</a:t>
                </a:r>
                <a:r>
                  <a:rPr sz="2400" dirty="0"/>
                  <a:t> </a:t>
                </a:r>
                <a:r>
                  <a:rPr sz="2400" dirty="0" err="1"/>
                  <a:t>sorteado</a:t>
                </a:r>
                <a:r>
                  <a:rPr sz="2400" dirty="0"/>
                  <a:t> volta e </a:t>
                </a:r>
                <a:r>
                  <a:rPr sz="2400" dirty="0" err="1"/>
                  <a:t>pode</a:t>
                </a:r>
                <a:r>
                  <a:rPr sz="2400" dirty="0"/>
                  <a:t> </a:t>
                </a:r>
                <a:r>
                  <a:rPr sz="2400" dirty="0" err="1"/>
                  <a:t>sair</a:t>
                </a:r>
                <a:r>
                  <a:rPr sz="2400" dirty="0"/>
                  <a:t> de novo.</a:t>
                </a:r>
                <a:r>
                  <a:rPr lang="pt-BR" sz="2400" dirty="0"/>
                  <a:t> Em cada retirada, cada elemento tem chance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ar-AE" sz="2400"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r>
                  <a:rPr lang="pt-BR" sz="2400" dirty="0"/>
                  <a:t>.</a:t>
                </a:r>
                <a:r>
                  <a:rPr sz="2400" dirty="0"/>
                  <a:t> </a:t>
                </a: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sz="2400" b="1" dirty="0"/>
                  <a:t>Sem </a:t>
                </a:r>
                <a:r>
                  <a:rPr sz="2400" b="1" dirty="0" err="1"/>
                  <a:t>reposição</a:t>
                </a:r>
                <a:r>
                  <a:rPr sz="2400" b="1" dirty="0"/>
                  <a:t>: </a:t>
                </a:r>
                <a:r>
                  <a:rPr sz="2400" dirty="0" err="1"/>
                  <a:t>cada</a:t>
                </a:r>
                <a:r>
                  <a:rPr sz="2400" dirty="0"/>
                  <a:t> </a:t>
                </a:r>
                <a:r>
                  <a:rPr sz="2400" dirty="0" err="1"/>
                  <a:t>elemento</a:t>
                </a:r>
                <a:r>
                  <a:rPr sz="2400" dirty="0"/>
                  <a:t> </a:t>
                </a:r>
                <a:r>
                  <a:rPr sz="2400" dirty="0" err="1"/>
                  <a:t>sai</a:t>
                </a:r>
                <a:r>
                  <a:rPr sz="2400" dirty="0"/>
                  <a:t> no </a:t>
                </a:r>
                <a:r>
                  <a:rPr sz="2400" dirty="0" err="1"/>
                  <a:t>máximo</a:t>
                </a:r>
                <a:r>
                  <a:rPr sz="2400" dirty="0"/>
                  <a:t> </a:t>
                </a:r>
                <a:r>
                  <a:rPr sz="2400" dirty="0" err="1"/>
                  <a:t>uma</a:t>
                </a:r>
                <a:r>
                  <a:rPr sz="2400" dirty="0"/>
                  <a:t> </a:t>
                </a:r>
                <a:r>
                  <a:rPr sz="2400" dirty="0" err="1"/>
                  <a:t>vez</a:t>
                </a:r>
                <a:r>
                  <a:rPr sz="2400" dirty="0"/>
                  <a:t>.</a:t>
                </a:r>
                <a:r>
                  <a:rPr lang="pt-BR" sz="2400" dirty="0"/>
                  <a:t> A</a:t>
                </a:r>
                <a:r>
                  <a:rPr sz="2400" dirty="0"/>
                  <a:t> chance de um </a:t>
                </a:r>
                <a:r>
                  <a:rPr sz="2400" dirty="0" err="1"/>
                  <a:t>elemento</a:t>
                </a:r>
                <a:r>
                  <a:rPr sz="2400" dirty="0"/>
                  <a:t> </a:t>
                </a:r>
                <a:r>
                  <a:rPr sz="2400" dirty="0" err="1"/>
                  <a:t>específico</a:t>
                </a:r>
                <a:r>
                  <a:rPr sz="2400" dirty="0"/>
                  <a:t> </a:t>
                </a:r>
                <a:r>
                  <a:rPr sz="2400" dirty="0" err="1"/>
                  <a:t>estar</a:t>
                </a:r>
                <a:r>
                  <a:rPr sz="2400" dirty="0"/>
                  <a:t> </a:t>
                </a:r>
                <a:r>
                  <a:rPr sz="2400" dirty="0" err="1"/>
                  <a:t>na</a:t>
                </a:r>
                <a:r>
                  <a:rPr sz="2400" dirty="0"/>
                  <a:t> </a:t>
                </a:r>
                <a:r>
                  <a:rPr sz="2400" dirty="0" err="1"/>
                  <a:t>amostra</a:t>
                </a:r>
                <a:r>
                  <a:rPr sz="2400" dirty="0"/>
                  <a:t> é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 dirty="0" err="1"/>
                  <a:t>Notação</a:t>
                </a:r>
                <a:r>
                  <a:rPr sz="2400" b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dirty="0"/>
                  <a:t> </a:t>
                </a:r>
                <a:r>
                  <a:rPr sz="2400" dirty="0" err="1"/>
                  <a:t>são</a:t>
                </a:r>
                <a:r>
                  <a:rPr sz="2400" dirty="0"/>
                  <a:t> </a:t>
                </a:r>
                <a:r>
                  <a:rPr sz="2400" dirty="0" err="1"/>
                  <a:t>os</a:t>
                </a:r>
                <a:r>
                  <a:rPr sz="2400" dirty="0"/>
                  <a:t> </a:t>
                </a:r>
                <a:r>
                  <a:rPr sz="2400" dirty="0" err="1"/>
                  <a:t>valores</a:t>
                </a:r>
                <a:r>
                  <a:rPr sz="2400" dirty="0"/>
                  <a:t> da 1ª, 2ª, …, n-</a:t>
                </a:r>
                <a:r>
                  <a:rPr sz="2400" dirty="0" err="1"/>
                  <a:t>ésima</a:t>
                </a:r>
                <a:r>
                  <a:rPr sz="2400" dirty="0"/>
                  <a:t> </a:t>
                </a:r>
                <a:r>
                  <a:rPr sz="2400" dirty="0" err="1"/>
                  <a:t>retirada</a:t>
                </a:r>
                <a:r>
                  <a:rPr sz="2400" dirty="0"/>
                  <a:t>. Com </a:t>
                </a:r>
                <a:r>
                  <a:rPr sz="2400" dirty="0" err="1"/>
                  <a:t>reposição</a:t>
                </a:r>
                <a:r>
                  <a:rPr sz="2400" dirty="0"/>
                  <a:t>, </a:t>
                </a:r>
                <a:r>
                  <a:rPr sz="2400" dirty="0" err="1"/>
                  <a:t>eles</a:t>
                </a:r>
                <a:r>
                  <a:rPr sz="2400" dirty="0"/>
                  <a:t> </a:t>
                </a:r>
                <a:r>
                  <a:rPr sz="2400" dirty="0" err="1"/>
                  <a:t>são</a:t>
                </a:r>
                <a:r>
                  <a:rPr sz="2400" dirty="0"/>
                  <a:t> </a:t>
                </a:r>
                <a:r>
                  <a:rPr sz="2400" dirty="0" err="1"/>
                  <a:t>independentes</a:t>
                </a:r>
                <a:r>
                  <a:rPr sz="2400" dirty="0"/>
                  <a:t> e </a:t>
                </a:r>
                <a:r>
                  <a:rPr sz="2400" dirty="0" err="1"/>
                  <a:t>cada</a:t>
                </a:r>
                <a:r>
                  <a:rPr sz="2400" dirty="0"/>
                  <a:t> um </a:t>
                </a:r>
                <a:r>
                  <a:rPr sz="2400" dirty="0" err="1"/>
                  <a:t>tem</a:t>
                </a:r>
                <a:r>
                  <a:rPr sz="2400" dirty="0"/>
                  <a:t> a </a:t>
                </a:r>
                <a:r>
                  <a:rPr sz="2400" dirty="0" err="1"/>
                  <a:t>mesma</a:t>
                </a:r>
                <a:r>
                  <a:rPr sz="2400" dirty="0"/>
                  <a:t> </a:t>
                </a:r>
                <a:r>
                  <a:rPr sz="2400" dirty="0" err="1"/>
                  <a:t>distribuição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𝑋</m:t>
                    </m:r>
                  </m:oMath>
                </a14:m>
                <a:r>
                  <a:rPr sz="2400" dirty="0"/>
                  <a:t> </a:t>
                </a:r>
                <a:r>
                  <a:rPr sz="2400" dirty="0" err="1"/>
                  <a:t>na</a:t>
                </a:r>
                <a:r>
                  <a:rPr sz="2400" dirty="0"/>
                  <a:t> </a:t>
                </a:r>
                <a:r>
                  <a:rPr sz="2400" dirty="0" err="1"/>
                  <a:t>população</a:t>
                </a:r>
                <a:r>
                  <a:rPr sz="2400" dirty="0"/>
                  <a:t>. É </a:t>
                </a:r>
                <a:r>
                  <a:rPr sz="2400" dirty="0" err="1"/>
                  <a:t>essa</a:t>
                </a:r>
                <a:r>
                  <a:rPr sz="2400" dirty="0"/>
                  <a:t> AAS que </a:t>
                </a:r>
                <a:r>
                  <a:rPr sz="2400" dirty="0" err="1"/>
                  <a:t>usaremos</a:t>
                </a:r>
                <a:r>
                  <a:rPr sz="2400" dirty="0"/>
                  <a:t> </a:t>
                </a:r>
                <a:r>
                  <a:rPr sz="2400" dirty="0" err="1"/>
                  <a:t>nas</a:t>
                </a:r>
                <a:r>
                  <a:rPr sz="2400" dirty="0"/>
                  <a:t> </a:t>
                </a:r>
                <a:r>
                  <a:rPr sz="2400" dirty="0" err="1"/>
                  <a:t>próximas</a:t>
                </a:r>
                <a:r>
                  <a:rPr sz="2400" dirty="0"/>
                  <a:t> aulas.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30" y="658931"/>
                <a:ext cx="10597140" cy="5405775"/>
              </a:xfrm>
              <a:prstGeom prst="rect">
                <a:avLst/>
              </a:prstGeom>
              <a:blipFill>
                <a:blip r:embed="rId2"/>
                <a:stretch>
                  <a:fillRect l="-921" r="-978" b="-2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79764" y="612844"/>
                <a:ext cx="10432472" cy="4829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b="1" dirty="0"/>
                  <a:t>Exemplo</a:t>
                </a:r>
                <a:r>
                  <a:rPr lang="pt-BR" sz="2200" dirty="0"/>
                  <a:t>. Considere a população formada pelos números de 1 a 9, com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pt-BR" sz="2200" dirty="0"/>
                  <a:t> elementos. O </a:t>
                </a:r>
                <a:r>
                  <a:rPr lang="pt-BR" sz="2200" b="1" dirty="0"/>
                  <a:t>parâmetro</a:t>
                </a:r>
                <a:r>
                  <a:rPr lang="pt-BR" sz="2200" dirty="0"/>
                  <a:t> é a média populacional: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1+2+⋯+9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200" b="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Sorteamos amostras de tamanho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200" dirty="0"/>
                  <a:t> por AAS e usamos como estimador a média amostral. Em cada amostra, o erro amostral é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̄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200" b="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Na AAS, todas as amostras possíveis têm a mesma probabilidade. Com reposição, há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9·9·9=729</m:t>
                    </m:r>
                  </m:oMath>
                </a14:m>
                <a:r>
                  <a:rPr lang="pt-BR" sz="2200" dirty="0"/>
                  <a:t> amostras ordenadas, cada uma com probabilidade: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1/729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Com reposição, um elemento pode sair mais de uma vez. As amostras com o maior erro são: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(1,1,1)⇒</m:t>
                    </m:r>
                    <m:acc>
                      <m:accPr>
                        <m:chr m:val="̄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=1⇒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=1−5=−4</m:t>
                    </m:r>
                  </m:oMath>
                </a14:m>
                <a:r>
                  <a:rPr lang="pt-BR" sz="2200" dirty="0"/>
                  <a:t> 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9,9,9</m:t>
                        </m:r>
                      </m:e>
                    </m:d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⇒</m:t>
                    </m:r>
                    <m:acc>
                      <m:accPr>
                        <m:chr m:val="̄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=9⇒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=9−5=4</m:t>
                    </m:r>
                  </m:oMath>
                </a14:m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 Logo, com reposição, o erro amostral fica entre −4 e 4: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|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|≤4</m:t>
                    </m:r>
                  </m:oMath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64" y="612844"/>
                <a:ext cx="10432472" cy="4829784"/>
              </a:xfrm>
              <a:prstGeom prst="rect">
                <a:avLst/>
              </a:prstGeom>
              <a:blipFill>
                <a:blip r:embed="rId2"/>
                <a:stretch>
                  <a:fillRect l="-759" r="-818" b="-16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81178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7430" y="710291"/>
                <a:ext cx="10597140" cy="3543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Sem reposição, cada elemento sai no máximo uma vez.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i="0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sz="2200" i="0" dirty="0" smtClean="0">
                        <a:latin typeface="Cambria Math" panose="02040503050406030204" pitchFamily="18" charset="0"/>
                      </a:rPr>
                      <m:t>á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9·8·7=504 </m:t>
                    </m:r>
                  </m:oMath>
                </a14:m>
                <a:r>
                  <a:rPr lang="pt-BR" sz="2200" dirty="0"/>
                  <a:t>amostras ordenadas, cada uma com probabilidade: 1/504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As amostras com o maior erro são: </a:t>
                </a:r>
              </a:p>
              <a:p>
                <a:pPr marL="800089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(1,2,3)⇒</m:t>
                    </m:r>
                    <m:acc>
                      <m:accPr>
                        <m:chr m:val="̄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=2⇒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=2−5=−3</m:t>
                    </m:r>
                  </m:oMath>
                </a14:m>
                <a:endParaRPr lang="pt-BR" sz="2200" dirty="0"/>
              </a:p>
              <a:p>
                <a:pPr marL="800089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(7,8,9)⇒</m:t>
                    </m:r>
                    <m:acc>
                      <m:accPr>
                        <m:chr m:val="̄"/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=8⇒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=8−5=3</m:t>
                    </m:r>
                  </m:oMath>
                </a14:m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Logo, sem reposição, o erro amostral fica entre −3 e 3:</a:t>
                </a:r>
                <a14:m>
                  <m:oMath xmlns:m="http://schemas.openxmlformats.org/officeDocument/2006/math">
                    <m:r>
                      <a:rPr lang="pt-BR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|≤3.</m:t>
                    </m:r>
                  </m:oMath>
                </a14:m>
                <a:endParaRPr lang="pt-BR" sz="2200" dirty="0"/>
              </a:p>
              <a:p>
                <a:pPr>
                  <a:lnSpc>
                    <a:spcPct val="130000"/>
                  </a:lnSpc>
                </a:pPr>
                <a:endParaRPr lang="pt-BR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30" y="710291"/>
                <a:ext cx="10597140" cy="3543919"/>
              </a:xfrm>
              <a:prstGeom prst="rect">
                <a:avLst/>
              </a:prstGeom>
              <a:blipFill>
                <a:blip r:embed="rId2"/>
                <a:stretch>
                  <a:fillRect l="-7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65556" y="442397"/>
                <a:ext cx="10939011" cy="5575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Amostragem estratificada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Dividimos a população, por uma variável critério, em grupos que não se sobrepõem: os estratos (campus, curso, tipo de cliente…).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Os estratos devem ser homogêneos por dentro e diferentes entre si.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Em cada estrato sorteamos uma AAS; a amostra final reúne todas.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tamanho da amostra em cada estrato pode ser igual para todos ou proporcional ao tamanho do estrato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56" y="442397"/>
                <a:ext cx="10939011" cy="5575501"/>
              </a:xfrm>
              <a:prstGeom prst="rect">
                <a:avLst/>
              </a:prstGeom>
              <a:blipFill>
                <a:blip r:embed="rId2"/>
                <a:stretch>
                  <a:fillRect l="-669" r="-1003" b="-1204"/>
                </a:stretch>
              </a:blipFill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pt-BR" sz="240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60884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3991" y="642083"/>
                <a:ext cx="10905761" cy="557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b="1" dirty="0"/>
                  <a:t>Exemplo.</a:t>
                </a:r>
                <a:r>
                  <a:rPr lang="pt-BR" sz="2200" dirty="0"/>
                  <a:t> Voltamos à população dos números de 1 a 9, com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pt-BR" sz="2200" dirty="0"/>
                  <a:t>. Usamos o próprio valor como variável critério e separamos a população em três estratos de 3 elementos: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4,5,6</m:t>
                          </m:r>
                        </m:e>
                      </m:d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={7,8,9}</m:t>
                      </m:r>
                    </m:oMath>
                  </m:oMathPara>
                </a14:m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As médias dos estratos são: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1+2+3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=2,  </m:t>
                      </m:r>
                      <m:sSub>
                        <m:sSub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4+5+6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=5,  </m:t>
                      </m:r>
                      <m:sSub>
                        <m:sSub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7+8+9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Observe que dentro de cada estrato os valores são parecidos, e de um estrato para outro são muito diferentes. É a situação ideal para estratificar.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Sorteamos uma amostra de tamanho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200" dirty="0"/>
                  <a:t> com um elemento de cada estrato (alocação igual).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Há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3·3·3=27</m:t>
                    </m:r>
                  </m:oMath>
                </a14:m>
                <a:r>
                  <a:rPr lang="pt-BR" sz="2200" dirty="0"/>
                  <a:t> amostras possíveis, cada uma com probabilidade: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1/27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91" y="642083"/>
                <a:ext cx="10905761" cy="5573834"/>
              </a:xfrm>
              <a:prstGeom prst="rect">
                <a:avLst/>
              </a:prstGeom>
              <a:blipFill>
                <a:blip r:embed="rId2"/>
                <a:stretch>
                  <a:fillRect l="-727" b="-13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86632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3991" y="642083"/>
                <a:ext cx="10905761" cy="27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As amostras com o maior erro pegam o menor ou o maior valor de cada estrato: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(1,4,7)⇒</m:t>
                    </m:r>
                    <m:acc>
                      <m:accPr>
                        <m:chr m:val="̄"/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1+4+7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=4⇒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=4−5=−1</m:t>
                    </m:r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(3,6,9)⇒</m:t>
                    </m:r>
                    <m:acc>
                      <m:accPr>
                        <m:chr m:val="̄"/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3+6+9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=6⇒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=6−5=1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Logo, na amostra estratificada, o erro amostral fica entre −1 e 1: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|≤1.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91" y="642083"/>
                <a:ext cx="10905761" cy="2712089"/>
              </a:xfrm>
              <a:prstGeom prst="rect">
                <a:avLst/>
              </a:prstGeom>
              <a:blipFill>
                <a:blip r:embed="rId2"/>
                <a:stretch>
                  <a:fillRect l="-838" b="-42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935289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9" y="459426"/>
            <a:ext cx="10597140" cy="4411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400" b="1" dirty="0" err="1"/>
              <a:t>Amostragem</a:t>
            </a:r>
            <a:r>
              <a:rPr sz="2400" b="1" dirty="0"/>
              <a:t> </a:t>
            </a:r>
            <a:r>
              <a:rPr sz="2400" b="1" dirty="0" err="1"/>
              <a:t>por</a:t>
            </a:r>
            <a:r>
              <a:rPr sz="2400" b="1" dirty="0"/>
              <a:t> </a:t>
            </a:r>
            <a:r>
              <a:rPr sz="2400" b="1" dirty="0" err="1"/>
              <a:t>conglomerados</a:t>
            </a:r>
            <a:endParaRPr sz="2400" b="1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2400" dirty="0"/>
              <a:t>A </a:t>
            </a:r>
            <a:r>
              <a:rPr sz="2400" dirty="0" err="1"/>
              <a:t>população</a:t>
            </a:r>
            <a:r>
              <a:rPr sz="2400" dirty="0"/>
              <a:t> é </a:t>
            </a:r>
            <a:r>
              <a:rPr sz="2400" dirty="0" err="1"/>
              <a:t>dividida</a:t>
            </a:r>
            <a:r>
              <a:rPr sz="2400" dirty="0"/>
              <a:t> </a:t>
            </a:r>
            <a:r>
              <a:rPr sz="2400" dirty="0" err="1"/>
              <a:t>em</a:t>
            </a:r>
            <a:r>
              <a:rPr sz="2400" dirty="0"/>
              <a:t> </a:t>
            </a:r>
            <a:r>
              <a:rPr sz="2400" dirty="0" err="1"/>
              <a:t>grupos</a:t>
            </a:r>
            <a:r>
              <a:rPr sz="2400" dirty="0"/>
              <a:t> (</a:t>
            </a:r>
            <a:r>
              <a:rPr sz="2400" dirty="0" err="1"/>
              <a:t>conglomerados</a:t>
            </a:r>
            <a:r>
              <a:rPr sz="2400" dirty="0"/>
              <a:t>): bairros, </a:t>
            </a:r>
            <a:r>
              <a:rPr sz="2400" dirty="0" err="1"/>
              <a:t>quadras</a:t>
            </a:r>
            <a:r>
              <a:rPr sz="2400" dirty="0"/>
              <a:t>, </a:t>
            </a:r>
            <a:r>
              <a:rPr sz="2400" dirty="0" err="1"/>
              <a:t>turmas</a:t>
            </a:r>
            <a:r>
              <a:rPr sz="2400" dirty="0"/>
              <a:t>, </a:t>
            </a:r>
            <a:r>
              <a:rPr sz="2400" dirty="0" err="1"/>
              <a:t>servidores</a:t>
            </a:r>
            <a:r>
              <a:rPr sz="2400" dirty="0"/>
              <a:t>…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2400" dirty="0" err="1"/>
              <a:t>Sorteamos</a:t>
            </a:r>
            <a:r>
              <a:rPr sz="2400" dirty="0"/>
              <a:t> </a:t>
            </a:r>
            <a:r>
              <a:rPr sz="2400" dirty="0" err="1"/>
              <a:t>alguns</a:t>
            </a:r>
            <a:r>
              <a:rPr sz="2400" dirty="0"/>
              <a:t> </a:t>
            </a:r>
            <a:r>
              <a:rPr sz="2400" dirty="0" err="1"/>
              <a:t>conglomerados</a:t>
            </a:r>
            <a:r>
              <a:rPr sz="2400" dirty="0"/>
              <a:t> e </a:t>
            </a:r>
            <a:r>
              <a:rPr sz="2400" dirty="0" err="1"/>
              <a:t>observamos</a:t>
            </a:r>
            <a:r>
              <a:rPr sz="2400" dirty="0"/>
              <a:t> </a:t>
            </a:r>
            <a:r>
              <a:rPr sz="2400" b="1" dirty="0" err="1"/>
              <a:t>todos</a:t>
            </a:r>
            <a:r>
              <a:rPr sz="2400" dirty="0"/>
              <a:t> </a:t>
            </a:r>
            <a:r>
              <a:rPr sz="2400" dirty="0" err="1"/>
              <a:t>os</a:t>
            </a:r>
            <a:r>
              <a:rPr sz="2400" dirty="0"/>
              <a:t> </a:t>
            </a:r>
            <a:r>
              <a:rPr sz="2400" dirty="0" err="1"/>
              <a:t>elementos</a:t>
            </a:r>
            <a:r>
              <a:rPr sz="2400" dirty="0"/>
              <a:t> deles. A </a:t>
            </a:r>
            <a:r>
              <a:rPr sz="2400" dirty="0" err="1"/>
              <a:t>unidade</a:t>
            </a:r>
            <a:r>
              <a:rPr sz="2400" dirty="0"/>
              <a:t> de </a:t>
            </a:r>
            <a:r>
              <a:rPr sz="2400" dirty="0" err="1"/>
              <a:t>sorteio</a:t>
            </a:r>
            <a:r>
              <a:rPr sz="2400" dirty="0"/>
              <a:t> </a:t>
            </a:r>
            <a:r>
              <a:rPr sz="2400" dirty="0" err="1"/>
              <a:t>passa</a:t>
            </a:r>
            <a:r>
              <a:rPr sz="2400" dirty="0"/>
              <a:t> a ser o </a:t>
            </a:r>
            <a:r>
              <a:rPr sz="2400" dirty="0" err="1"/>
              <a:t>grupo</a:t>
            </a:r>
            <a:r>
              <a:rPr sz="2400" dirty="0"/>
              <a:t>, </a:t>
            </a:r>
            <a:r>
              <a:rPr sz="2400" dirty="0" err="1"/>
              <a:t>não</a:t>
            </a:r>
            <a:r>
              <a:rPr sz="2400" dirty="0"/>
              <a:t> o </a:t>
            </a:r>
            <a:r>
              <a:rPr sz="2400" dirty="0" err="1"/>
              <a:t>elemento</a:t>
            </a:r>
            <a:r>
              <a:rPr sz="2400" dirty="0"/>
              <a:t>.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2400" dirty="0" err="1"/>
              <a:t>Funciona</a:t>
            </a:r>
            <a:r>
              <a:rPr sz="2400" dirty="0"/>
              <a:t> </a:t>
            </a:r>
            <a:r>
              <a:rPr sz="2400" dirty="0" err="1"/>
              <a:t>melhor</a:t>
            </a:r>
            <a:r>
              <a:rPr sz="2400" dirty="0"/>
              <a:t> </a:t>
            </a:r>
            <a:r>
              <a:rPr sz="2400" dirty="0" err="1"/>
              <a:t>quando</a:t>
            </a:r>
            <a:r>
              <a:rPr sz="2400" dirty="0"/>
              <a:t> </a:t>
            </a:r>
            <a:r>
              <a:rPr sz="2400" dirty="0" err="1"/>
              <a:t>cada</a:t>
            </a:r>
            <a:r>
              <a:rPr sz="2400" dirty="0"/>
              <a:t> </a:t>
            </a:r>
            <a:r>
              <a:rPr sz="2400" dirty="0" err="1"/>
              <a:t>conglomerado</a:t>
            </a:r>
            <a:r>
              <a:rPr sz="2400" dirty="0"/>
              <a:t> é </a:t>
            </a:r>
            <a:r>
              <a:rPr sz="2400" dirty="0" err="1"/>
              <a:t>heterogêneo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dentro</a:t>
            </a:r>
            <a:r>
              <a:rPr sz="2400" dirty="0"/>
              <a:t> (</a:t>
            </a:r>
            <a:r>
              <a:rPr sz="2400" dirty="0" err="1"/>
              <a:t>uma</a:t>
            </a:r>
            <a:r>
              <a:rPr sz="2400" dirty="0"/>
              <a:t> "</a:t>
            </a:r>
            <a:r>
              <a:rPr sz="2400" dirty="0" err="1"/>
              <a:t>miniatura</a:t>
            </a:r>
            <a:r>
              <a:rPr sz="2400" dirty="0"/>
              <a:t>" da </a:t>
            </a:r>
            <a:r>
              <a:rPr sz="2400" dirty="0" err="1"/>
              <a:t>população</a:t>
            </a:r>
            <a:r>
              <a:rPr sz="2400" dirty="0"/>
              <a:t>) e </a:t>
            </a:r>
            <a:r>
              <a:rPr sz="2400" dirty="0" err="1"/>
              <a:t>os</a:t>
            </a:r>
            <a:r>
              <a:rPr sz="2400" dirty="0"/>
              <a:t> </a:t>
            </a:r>
            <a:r>
              <a:rPr sz="2400" dirty="0" err="1"/>
              <a:t>conglomerados</a:t>
            </a:r>
            <a:r>
              <a:rPr sz="2400" dirty="0"/>
              <a:t> </a:t>
            </a:r>
            <a:r>
              <a:rPr sz="2400" dirty="0" err="1"/>
              <a:t>são</a:t>
            </a:r>
            <a:r>
              <a:rPr sz="2400" dirty="0"/>
              <a:t> </a:t>
            </a:r>
            <a:r>
              <a:rPr sz="2400" dirty="0" err="1"/>
              <a:t>parecidos</a:t>
            </a:r>
            <a:r>
              <a:rPr sz="2400" dirty="0"/>
              <a:t> entre </a:t>
            </a:r>
            <a:r>
              <a:rPr sz="2400" dirty="0" err="1"/>
              <a:t>si</a:t>
            </a:r>
            <a:r>
              <a:rPr sz="2400" dirty="0"/>
              <a:t> — o </a:t>
            </a:r>
            <a:r>
              <a:rPr sz="2400" dirty="0" err="1"/>
              <a:t>contrário</a:t>
            </a:r>
            <a:r>
              <a:rPr sz="2400" dirty="0"/>
              <a:t> dos </a:t>
            </a:r>
            <a:r>
              <a:rPr sz="2400" dirty="0" err="1"/>
              <a:t>estratos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9" y="459426"/>
            <a:ext cx="10597140" cy="521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Uma fábrica produz 50.000 parafusos por dia, embalados em 500 caixas de 100. O controle de qualidade quer estimar a proporção de parafusos defeituosos.</a:t>
            </a:r>
          </a:p>
          <a:p>
            <a:pPr>
              <a:lnSpc>
                <a:spcPct val="140000"/>
              </a:lnSpc>
            </a:pPr>
            <a:r>
              <a:rPr lang="pt-BR" sz="2400" dirty="0"/>
              <a:t>Para uma AAS, seria preciso numerar os 50.000 parafusos, abrir todas as caixas e procurar cada sorteado. Isso é caro e demorado.</a:t>
            </a:r>
          </a:p>
          <a:p>
            <a:pPr>
              <a:lnSpc>
                <a:spcPct val="140000"/>
              </a:lnSpc>
            </a:pPr>
            <a:endParaRPr lang="pt-BR" sz="2400" dirty="0"/>
          </a:p>
          <a:p>
            <a:pPr>
              <a:lnSpc>
                <a:spcPct val="140000"/>
              </a:lnSpc>
            </a:pPr>
            <a:r>
              <a:rPr lang="pt-BR" sz="2400" b="1" dirty="0"/>
              <a:t>Por conglomerados: </a:t>
            </a:r>
            <a:r>
              <a:rPr lang="pt-BR" sz="2400" dirty="0"/>
              <a:t>cada caixa é um conglomerado. Sorteamos 10 caixas e inspecionamos todos os 100 parafusos de cada uma, 1.000 no total.</a:t>
            </a:r>
          </a:p>
          <a:p>
            <a:pPr>
              <a:lnSpc>
                <a:spcPct val="140000"/>
              </a:lnSpc>
            </a:pPr>
            <a:endParaRPr lang="pt-BR" sz="2400" dirty="0"/>
          </a:p>
          <a:p>
            <a:pPr>
              <a:lnSpc>
                <a:spcPct val="140000"/>
              </a:lnSpc>
            </a:pPr>
            <a:r>
              <a:rPr lang="pt-BR" sz="2400" dirty="0"/>
              <a:t>A unidade de sorteio passa a ser a caixa, não o parafuso. Só precisamos da lista de caixas, que já existe no estoque.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34806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9" y="459426"/>
            <a:ext cx="1059714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Funciona bem se cada caixa mistura parafusos de várias máquinas e turnos, como uma "miniatura" da produção.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Se cada caixa vier de uma só máquina, o sorteio pode cair só em caixas da máquina com defeito, e a estimativa erra muito.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Vantagem: coleta mais barata. Custo: em geral, exige amostra maior que a AAS para a mesma precisão.</a:t>
            </a:r>
          </a:p>
        </p:txBody>
      </p:sp>
    </p:spTree>
    <p:extLst>
      <p:ext uri="{BB962C8B-B14F-4D97-AF65-F5344CB8AC3E}">
        <p14:creationId xmlns:p14="http://schemas.microsoft.com/office/powerpoint/2010/main" val="1393876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56996" y="741463"/>
                <a:ext cx="10067277" cy="5376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Amostragem sistemática</a:t>
                </a:r>
              </a:p>
              <a:p>
                <a:pPr>
                  <a:lnSpc>
                    <a:spcPct val="150000"/>
                  </a:lnSpc>
                </a:pP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Consideramos uma população de tamanho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400" dirty="0"/>
                  <a:t> e dela tiramos uma amostra de tamanho n. Definimos o fator de sistematização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 a população ordenada, sorteamos um número r entre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 e selecionamos os elementos da forma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 0≤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−1.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96" y="741463"/>
                <a:ext cx="10067277" cy="5376857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00047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56996" y="741463"/>
                <a:ext cx="10822633" cy="4146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</a:t>
                </a:r>
                <a:r>
                  <a:rPr lang="pt-BR" sz="2400" dirty="0"/>
                  <a:t>. Uma linha produz 1.000 peças por turno, numeradas na ordem de fabricação. O controle de qualidade quer inspecionar 100 peças.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Fator de sistematização: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Sorteamos o ponto de partida entre 1 e 10; digamos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pt-BR" sz="2400" dirty="0"/>
                  <a:t>. Inspecionamos as peças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994</m:t>
                    </m:r>
                  </m:oMath>
                </a14:m>
                <a:r>
                  <a:rPr lang="pt-BR" sz="2400" dirty="0"/>
                  <a:t>: uma a cada 10.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Vantagem: um único sorteio, e o operador só precisa contar as peças.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96" y="741463"/>
                <a:ext cx="10822633" cy="4146328"/>
              </a:xfrm>
              <a:prstGeom prst="rect">
                <a:avLst/>
              </a:prstGeom>
              <a:blipFill>
                <a:blip r:embed="rId2"/>
                <a:stretch>
                  <a:fillRect l="-845" b="-2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51269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687" y="900000"/>
            <a:ext cx="1059714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Resumo dos planos de amostragem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81687" y="1550000"/>
          <a:ext cx="106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000">
                <a:tc>
                  <a:txBody>
                    <a:bodyPr/>
                    <a:lstStyle/>
                    <a:p>
                      <a:r>
                        <a:rPr sz="2000" b="1"/>
                        <a:t>Plano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1"/>
                        <a:t>O que se sorteia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1"/>
                        <a:t>Quando é útil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sz="2000" b="1"/>
                        <a:t>Aleatória simples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0"/>
                        <a:t>os elementos, um a um, todos com a mesma chance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0"/>
                        <a:t>há uma lista da população; é o caso básico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sz="2000" b="1"/>
                        <a:t>Sistemática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0"/>
                        <a:t>só o primeiro (r); depois, de s em 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0"/>
                        <a:t>lista ordenada; prático. Cuidado com padrões que se repetem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sz="2000" b="1"/>
                        <a:t>Estratificada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0"/>
                        <a:t>uma AAS dentro de cada estrato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0"/>
                        <a:t>grupos diferentes entre si e homogêneos por dentro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sz="2000" b="1"/>
                        <a:t>Conglomerados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0"/>
                        <a:t>grupos inteiros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2000" b="0"/>
                        <a:t>não há lista dos elementos, mas há lista dos grupos; coleta mais barata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687" y="900000"/>
            <a:ext cx="10597140" cy="290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 err="1"/>
              <a:t>Exemplo</a:t>
            </a:r>
            <a:r>
              <a:rPr sz="2400" b="1" dirty="0"/>
              <a:t>. </a:t>
            </a:r>
            <a:r>
              <a:rPr sz="2400" dirty="0"/>
              <a:t>Um </a:t>
            </a:r>
            <a:r>
              <a:rPr sz="2400" dirty="0" err="1"/>
              <a:t>servidor</a:t>
            </a:r>
            <a:r>
              <a:rPr sz="2400" dirty="0"/>
              <a:t> </a:t>
            </a:r>
            <a:r>
              <a:rPr sz="2400" dirty="0" err="1"/>
              <a:t>registrou</a:t>
            </a:r>
            <a:r>
              <a:rPr sz="2400" dirty="0"/>
              <a:t> 10.000 </a:t>
            </a:r>
            <a:r>
              <a:rPr sz="2400" dirty="0" err="1"/>
              <a:t>requisições</a:t>
            </a:r>
            <a:r>
              <a:rPr sz="2400" dirty="0"/>
              <a:t> </a:t>
            </a:r>
            <a:r>
              <a:rPr sz="2400" dirty="0" err="1"/>
              <a:t>em</a:t>
            </a:r>
            <a:r>
              <a:rPr sz="2400" dirty="0"/>
              <a:t> um </a:t>
            </a:r>
            <a:r>
              <a:rPr sz="2400" dirty="0" err="1"/>
              <a:t>dia</a:t>
            </a:r>
            <a:r>
              <a:rPr sz="2400" dirty="0"/>
              <a:t>: 6.000 </a:t>
            </a:r>
            <a:r>
              <a:rPr sz="2400" dirty="0" err="1"/>
              <a:t>vieram</a:t>
            </a:r>
            <a:r>
              <a:rPr sz="2400" dirty="0"/>
              <a:t> do site, 3.000 do </a:t>
            </a:r>
            <a:r>
              <a:rPr sz="2400" dirty="0" err="1"/>
              <a:t>aplicativo</a:t>
            </a:r>
            <a:r>
              <a:rPr sz="2400" dirty="0"/>
              <a:t> e 1.000 de </a:t>
            </a:r>
            <a:r>
              <a:rPr sz="2400" dirty="0" err="1"/>
              <a:t>integrações</a:t>
            </a:r>
            <a:r>
              <a:rPr sz="2400" dirty="0"/>
              <a:t> com outros </a:t>
            </a:r>
            <a:r>
              <a:rPr sz="2400" dirty="0" err="1"/>
              <a:t>sistemas</a:t>
            </a:r>
            <a:r>
              <a:rPr sz="2400" dirty="0"/>
              <a:t> (API). A equipe </a:t>
            </a:r>
            <a:r>
              <a:rPr sz="2400" dirty="0" err="1"/>
              <a:t>quer</a:t>
            </a:r>
            <a:r>
              <a:rPr sz="2400" dirty="0"/>
              <a:t> </a:t>
            </a:r>
            <a:r>
              <a:rPr sz="2400" dirty="0" err="1"/>
              <a:t>auditar</a:t>
            </a:r>
            <a:r>
              <a:rPr sz="2400" dirty="0"/>
              <a:t> 200 </a:t>
            </a:r>
            <a:r>
              <a:rPr sz="2400" dirty="0" err="1"/>
              <a:t>requisições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2400" dirty="0"/>
              <a:t>Como </a:t>
            </a:r>
            <a:r>
              <a:rPr sz="2400" dirty="0" err="1"/>
              <a:t>sortear</a:t>
            </a:r>
            <a:r>
              <a:rPr sz="2400" dirty="0"/>
              <a:t> </a:t>
            </a:r>
            <a:r>
              <a:rPr sz="2400" dirty="0" err="1"/>
              <a:t>essa</a:t>
            </a:r>
            <a:r>
              <a:rPr sz="2400" dirty="0"/>
              <a:t> </a:t>
            </a:r>
            <a:r>
              <a:rPr sz="2400" dirty="0" err="1"/>
              <a:t>amostra</a:t>
            </a:r>
            <a:r>
              <a:rPr sz="2400" dirty="0"/>
              <a:t> </a:t>
            </a:r>
            <a:r>
              <a:rPr sz="2400" dirty="0" err="1"/>
              <a:t>em</a:t>
            </a:r>
            <a:r>
              <a:rPr sz="2400" dirty="0"/>
              <a:t> </a:t>
            </a:r>
            <a:r>
              <a:rPr sz="2400" dirty="0" err="1"/>
              <a:t>cada</a:t>
            </a:r>
            <a:r>
              <a:rPr sz="2400" dirty="0"/>
              <a:t> plano: </a:t>
            </a:r>
            <a:r>
              <a:rPr sz="2400" dirty="0" err="1"/>
              <a:t>amostragem</a:t>
            </a:r>
            <a:r>
              <a:rPr sz="2400" dirty="0"/>
              <a:t> </a:t>
            </a:r>
            <a:r>
              <a:rPr sz="2400" dirty="0" err="1"/>
              <a:t>aleatória</a:t>
            </a:r>
            <a:r>
              <a:rPr sz="2400" dirty="0"/>
              <a:t> simples, </a:t>
            </a:r>
            <a:r>
              <a:rPr sz="2400" dirty="0" err="1"/>
              <a:t>sistemática</a:t>
            </a:r>
            <a:r>
              <a:rPr sz="2400" dirty="0"/>
              <a:t>, </a:t>
            </a:r>
            <a:r>
              <a:rPr sz="2400" dirty="0" err="1"/>
              <a:t>estratificada</a:t>
            </a:r>
            <a:r>
              <a:rPr sz="2400" dirty="0"/>
              <a:t> e 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conglomerados</a:t>
            </a:r>
            <a:r>
              <a:rPr sz="2400" dirty="0"/>
              <a:t>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07613" y="567490"/>
                <a:ext cx="10980576" cy="55697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300" b="1" dirty="0" err="1"/>
                  <a:t>Resolução</a:t>
                </a:r>
                <a:endParaRPr sz="2300" b="1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300" b="1" dirty="0"/>
                  <a:t>AAS: </a:t>
                </a:r>
                <a:r>
                  <a:rPr sz="2300" dirty="0" err="1"/>
                  <a:t>numerar</a:t>
                </a:r>
                <a:r>
                  <a:rPr sz="2300" dirty="0"/>
                  <a:t> as </a:t>
                </a:r>
                <a:r>
                  <a:rPr sz="2300" dirty="0" err="1"/>
                  <a:t>requisições</a:t>
                </a:r>
                <a:r>
                  <a:rPr sz="2300" dirty="0"/>
                  <a:t> de 1 a 10.000 e </a:t>
                </a:r>
                <a:r>
                  <a:rPr sz="2300" dirty="0" err="1"/>
                  <a:t>sortear</a:t>
                </a:r>
                <a:r>
                  <a:rPr sz="2300" dirty="0"/>
                  <a:t> 200 </a:t>
                </a:r>
                <a:r>
                  <a:rPr sz="2300" dirty="0" err="1"/>
                  <a:t>números</a:t>
                </a:r>
                <a:r>
                  <a:rPr sz="2300" dirty="0"/>
                  <a:t> </a:t>
                </a:r>
                <a:r>
                  <a:rPr sz="2300" dirty="0" err="1"/>
                  <a:t>diferentes</a:t>
                </a:r>
                <a:r>
                  <a:rPr sz="2300" dirty="0"/>
                  <a:t> (</a:t>
                </a:r>
                <a:r>
                  <a:rPr sz="2300" dirty="0" err="1"/>
                  <a:t>sem</a:t>
                </a:r>
                <a:r>
                  <a:rPr sz="2300" dirty="0"/>
                  <a:t> </a:t>
                </a:r>
                <a:r>
                  <a:rPr sz="2300" dirty="0" err="1"/>
                  <a:t>reposição</a:t>
                </a:r>
                <a:r>
                  <a:rPr sz="2300" dirty="0"/>
                  <a:t>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300" b="1" dirty="0" err="1"/>
                  <a:t>Sistemática</a:t>
                </a:r>
                <a:r>
                  <a:rPr sz="2300" b="1" dirty="0"/>
                  <a:t>: </a:t>
                </a:r>
                <a14:m>
                  <m:oMath xmlns:m="http://schemas.openxmlformats.org/officeDocument/2006/math">
                    <m:r>
                      <a:rPr lang="pt-BR" sz="2300">
                        <a:latin typeface="Cambria Math"/>
                      </a:rPr>
                      <m:t>𝑠</m:t>
                    </m:r>
                    <m:r>
                      <a:rPr lang="pt-BR" sz="23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300">
                            <a:latin typeface="Cambria Math"/>
                          </a:rPr>
                          <m:t>10000</m:t>
                        </m:r>
                      </m:num>
                      <m:den>
                        <m:r>
                          <a:rPr lang="pt-BR" sz="2300">
                            <a:latin typeface="Cambria Math"/>
                          </a:rPr>
                          <m:t>200</m:t>
                        </m:r>
                      </m:den>
                    </m:f>
                    <m:r>
                      <a:rPr lang="pt-BR" sz="2300">
                        <a:latin typeface="Cambria Math"/>
                      </a:rPr>
                      <m:t>=</m:t>
                    </m:r>
                    <m:r>
                      <a:rPr lang="pt-BR" sz="2300">
                        <a:latin typeface="Cambria Math"/>
                      </a:rPr>
                      <m:t>50</m:t>
                    </m:r>
                  </m:oMath>
                </a14:m>
                <a:r>
                  <a:rPr sz="2300" dirty="0"/>
                  <a:t>; </a:t>
                </a:r>
                <a:r>
                  <a:rPr sz="2300" dirty="0" err="1"/>
                  <a:t>sortear</a:t>
                </a:r>
                <a:r>
                  <a:rPr sz="2300" dirty="0"/>
                  <a:t> </a:t>
                </a:r>
                <a14:m>
                  <m:oMath xmlns:m="http://schemas.openxmlformats.org/officeDocument/2006/math">
                    <m:r>
                      <a:rPr lang="pt-BR" sz="2300">
                        <a:latin typeface="Cambria Math"/>
                      </a:rPr>
                      <m:t>𝑟</m:t>
                    </m:r>
                  </m:oMath>
                </a14:m>
                <a:r>
                  <a:rPr sz="2300" dirty="0"/>
                  <a:t> entre 1 e 50 (</a:t>
                </a:r>
                <a:r>
                  <a:rPr sz="2300" dirty="0" err="1"/>
                  <a:t>por</a:t>
                </a:r>
                <a:r>
                  <a:rPr sz="2300" dirty="0"/>
                  <a:t> </a:t>
                </a:r>
                <a:r>
                  <a:rPr sz="2300" dirty="0" err="1"/>
                  <a:t>exemplo</a:t>
                </a:r>
                <a:r>
                  <a:rPr sz="2300" dirty="0"/>
                  <a:t>, 13) e </a:t>
                </a:r>
                <a:r>
                  <a:rPr sz="2300" dirty="0" err="1"/>
                  <a:t>pegar</a:t>
                </a:r>
                <a:r>
                  <a:rPr sz="2300" dirty="0"/>
                  <a:t> 13, 63, 113, …, 9.963.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300" b="1" dirty="0" err="1"/>
                  <a:t>Estratificada</a:t>
                </a:r>
                <a:r>
                  <a:rPr sz="2300" b="1" dirty="0"/>
                  <a:t> (</a:t>
                </a:r>
                <a:r>
                  <a:rPr sz="2300" b="1" dirty="0" err="1"/>
                  <a:t>proporcional</a:t>
                </a:r>
                <a:r>
                  <a:rPr sz="2300" b="1" dirty="0"/>
                  <a:t>): </a:t>
                </a:r>
                <a:r>
                  <a:rPr sz="2300" dirty="0"/>
                  <a:t>o site </a:t>
                </a:r>
                <a:r>
                  <a:rPr sz="2300" dirty="0" err="1"/>
                  <a:t>tem</a:t>
                </a:r>
                <a:r>
                  <a:rPr sz="2300" dirty="0"/>
                  <a:t> 60% das </a:t>
                </a:r>
                <a:r>
                  <a:rPr sz="2300" dirty="0" err="1"/>
                  <a:t>requisições</a:t>
                </a:r>
                <a:r>
                  <a:rPr sz="2300" dirty="0"/>
                  <a:t>, </a:t>
                </a:r>
                <a:r>
                  <a:rPr sz="2300" dirty="0" err="1"/>
                  <a:t>então</a:t>
                </a:r>
                <a:r>
                  <a:rPr sz="2300" dirty="0"/>
                  <a:t> </a:t>
                </a:r>
                <a14:m>
                  <m:oMath xmlns:m="http://schemas.openxmlformats.org/officeDocument/2006/math">
                    <m:r>
                      <a:rPr lang="pt-BR" sz="2300">
                        <a:latin typeface="Cambria Math"/>
                      </a:rPr>
                      <m:t>0</m:t>
                    </m:r>
                    <m:r>
                      <a:rPr lang="pt-BR" sz="2300">
                        <a:latin typeface="Cambria Math"/>
                      </a:rPr>
                      <m:t>,</m:t>
                    </m:r>
                    <m:r>
                      <a:rPr lang="pt-BR" sz="2300">
                        <a:latin typeface="Cambria Math"/>
                      </a:rPr>
                      <m:t>60</m:t>
                    </m:r>
                    <m:r>
                      <a:rPr lang="pt-BR" sz="2300">
                        <a:latin typeface="Cambria Math"/>
                      </a:rPr>
                      <m:t>·</m:t>
                    </m:r>
                    <m:r>
                      <a:rPr lang="pt-BR" sz="2300">
                        <a:latin typeface="Cambria Math"/>
                      </a:rPr>
                      <m:t>200</m:t>
                    </m:r>
                    <m:r>
                      <a:rPr lang="pt-BR" sz="2300">
                        <a:latin typeface="Cambria Math"/>
                      </a:rPr>
                      <m:t>=</m:t>
                    </m:r>
                    <m:r>
                      <a:rPr lang="pt-BR" sz="2300">
                        <a:latin typeface="Cambria Math"/>
                      </a:rPr>
                      <m:t>120</m:t>
                    </m:r>
                  </m:oMath>
                </a14:m>
                <a:r>
                  <a:rPr sz="2300" dirty="0"/>
                  <a:t>; o </a:t>
                </a:r>
                <a:r>
                  <a:rPr sz="2300" dirty="0" err="1"/>
                  <a:t>aplicativo</a:t>
                </a:r>
                <a:r>
                  <a:rPr sz="2300" dirty="0"/>
                  <a:t>, </a:t>
                </a:r>
                <a14:m>
                  <m:oMath xmlns:m="http://schemas.openxmlformats.org/officeDocument/2006/math">
                    <m:r>
                      <a:rPr lang="pt-BR" sz="2300">
                        <a:latin typeface="Cambria Math"/>
                      </a:rPr>
                      <m:t>0</m:t>
                    </m:r>
                    <m:r>
                      <a:rPr lang="pt-BR" sz="2300">
                        <a:latin typeface="Cambria Math"/>
                      </a:rPr>
                      <m:t>,</m:t>
                    </m:r>
                    <m:r>
                      <a:rPr lang="pt-BR" sz="2300">
                        <a:latin typeface="Cambria Math"/>
                      </a:rPr>
                      <m:t>30</m:t>
                    </m:r>
                    <m:r>
                      <a:rPr lang="pt-BR" sz="2300">
                        <a:latin typeface="Cambria Math"/>
                      </a:rPr>
                      <m:t>·</m:t>
                    </m:r>
                    <m:r>
                      <a:rPr lang="pt-BR" sz="2300">
                        <a:latin typeface="Cambria Math"/>
                      </a:rPr>
                      <m:t>200</m:t>
                    </m:r>
                    <m:r>
                      <a:rPr lang="pt-BR" sz="2300">
                        <a:latin typeface="Cambria Math"/>
                      </a:rPr>
                      <m:t>=</m:t>
                    </m:r>
                    <m:r>
                      <a:rPr lang="pt-BR" sz="2300">
                        <a:latin typeface="Cambria Math"/>
                      </a:rPr>
                      <m:t>60</m:t>
                    </m:r>
                  </m:oMath>
                </a14:m>
                <a:r>
                  <a:rPr sz="2300" dirty="0"/>
                  <a:t>; a API, </a:t>
                </a:r>
                <a14:m>
                  <m:oMath xmlns:m="http://schemas.openxmlformats.org/officeDocument/2006/math">
                    <m:r>
                      <a:rPr lang="pt-BR" sz="2300">
                        <a:latin typeface="Cambria Math"/>
                      </a:rPr>
                      <m:t>0</m:t>
                    </m:r>
                    <m:r>
                      <a:rPr lang="pt-BR" sz="2300">
                        <a:latin typeface="Cambria Math"/>
                      </a:rPr>
                      <m:t>,</m:t>
                    </m:r>
                    <m:r>
                      <a:rPr lang="pt-BR" sz="2300">
                        <a:latin typeface="Cambria Math"/>
                      </a:rPr>
                      <m:t>10</m:t>
                    </m:r>
                    <m:r>
                      <a:rPr lang="pt-BR" sz="2300">
                        <a:latin typeface="Cambria Math"/>
                      </a:rPr>
                      <m:t>·</m:t>
                    </m:r>
                    <m:r>
                      <a:rPr lang="pt-BR" sz="2300">
                        <a:latin typeface="Cambria Math"/>
                      </a:rPr>
                      <m:t>200</m:t>
                    </m:r>
                    <m:r>
                      <a:rPr lang="pt-BR" sz="2300">
                        <a:latin typeface="Cambria Math"/>
                      </a:rPr>
                      <m:t>=</m:t>
                    </m:r>
                    <m:r>
                      <a:rPr lang="pt-BR" sz="2300">
                        <a:latin typeface="Cambria Math"/>
                      </a:rPr>
                      <m:t>20</m:t>
                    </m:r>
                  </m:oMath>
                </a14:m>
                <a:r>
                  <a:rPr sz="2300" dirty="0"/>
                  <a:t>. </a:t>
                </a:r>
                <a:r>
                  <a:rPr sz="2300" dirty="0" err="1"/>
                  <a:t>Dentro</a:t>
                </a:r>
                <a:r>
                  <a:rPr sz="2300" dirty="0"/>
                  <a:t> de </a:t>
                </a:r>
                <a:r>
                  <a:rPr sz="2300" dirty="0" err="1"/>
                  <a:t>cada</a:t>
                </a:r>
                <a:r>
                  <a:rPr sz="2300" dirty="0"/>
                  <a:t> </a:t>
                </a:r>
                <a:r>
                  <a:rPr sz="2300" dirty="0" err="1"/>
                  <a:t>estrato</a:t>
                </a:r>
                <a:r>
                  <a:rPr sz="2300" dirty="0"/>
                  <a:t>, </a:t>
                </a:r>
                <a:r>
                  <a:rPr sz="2300" dirty="0" err="1"/>
                  <a:t>sorteio</a:t>
                </a:r>
                <a:r>
                  <a:rPr sz="2300" dirty="0"/>
                  <a:t> </a:t>
                </a:r>
                <a:r>
                  <a:rPr sz="2300" dirty="0" err="1"/>
                  <a:t>aleatório</a:t>
                </a:r>
                <a:r>
                  <a:rPr sz="23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300" b="1" dirty="0" err="1"/>
                  <a:t>Conglomerados</a:t>
                </a:r>
                <a:r>
                  <a:rPr sz="2300" b="1" dirty="0"/>
                  <a:t>: </a:t>
                </a:r>
                <a:r>
                  <a:rPr lang="pt-BR" sz="2300" dirty="0"/>
                  <a:t>dividir o dia em 144 blocos de 10 minutos (cerca de 70 requisições em cada) e sortear 3 blocos inteiros, auditando todas as requisições deles (cerca de 200).</a:t>
                </a:r>
                <a:endParaRPr sz="23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13" y="567490"/>
                <a:ext cx="10980576" cy="5569730"/>
              </a:xfrm>
              <a:prstGeom prst="rect">
                <a:avLst/>
              </a:prstGeom>
              <a:blipFill>
                <a:blip r:embed="rId2"/>
                <a:stretch>
                  <a:fillRect l="-777" r="-666" b="-14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73621" y="710348"/>
            <a:ext cx="10067277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10: 10.2, 10.4, 10.5, 10.6 e 10.14 (item 2, Planos probabilísticos)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7: 7.1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1: 1.1 (trecho sobre seleção da amostra); Cap. 7: 7.1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7: 7.1, 7.2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1934" y="735286"/>
            <a:ext cx="1006727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 (continuação)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10: Problemas 1 e 31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7: Exercícios da Seção 7.1, 1 e 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4990</TotalTime>
  <Words>2762</Words>
  <Application>Microsoft Office PowerPoint</Application>
  <PresentationFormat>Widescreen</PresentationFormat>
  <Paragraphs>203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População, Amostra e Parâmetros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210</cp:revision>
  <dcterms:created xsi:type="dcterms:W3CDTF">2020-07-20T19:35:15Z</dcterms:created>
  <dcterms:modified xsi:type="dcterms:W3CDTF">2026-10-12T15:41:14Z</dcterms:modified>
</cp:coreProperties>
</file>