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00" r:id="rId22"/>
    <p:sldId id="284" r:id="rId2"/>
    <p:sldId id="285" r:id="rId3"/>
    <p:sldId id="286" r:id="rId4"/>
    <p:sldId id="401" r:id="rId23"/>
    <p:sldId id="402" r:id="rId24"/>
    <p:sldId id="403" r:id="rId25"/>
    <p:sldId id="404" r:id="rId26"/>
    <p:sldId id="405" r:id="rId27"/>
    <p:sldId id="406" r:id="rId28"/>
    <p:sldId id="407" r:id="rId29"/>
    <p:sldId id="408" r:id="rId30"/>
    <p:sldId id="409" r:id="rId31"/>
    <p:sldId id="410" r:id="rId32"/>
    <p:sldId id="411" r:id="rId33"/>
    <p:sldId id="412" r:id="rId34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83" d="100"/>
          <a:sy n="83" d="100"/>
        </p:scale>
        <p:origin x="1992" y="1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23/09/2024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g_t_vs_normal.png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g_chi2_def.png"/><Relationship Id="rId5" Type="http://schemas.openxmlformats.org/officeDocument/2006/relationships/image" Target="../media/img_chi2_soma_z.png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g_chi2_curves.png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g_tabela_qui2.png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g_chi2_pc.png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g_t_chi2_relacao.png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5021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Distribuição da v.a. t-</a:t>
                </a:r>
                <a:r>
                  <a:rPr lang="pt-BR" sz="2800" b="1" dirty="0" err="1"/>
                  <a:t>student</a:t>
                </a:r>
                <a:endParaRPr lang="pt-BR" sz="2800" b="1" dirty="0"/>
              </a:p>
              <a:p>
                <a:endParaRPr lang="pt-BR" sz="2800" b="1" dirty="0"/>
              </a:p>
              <a:p>
                <a:r>
                  <a:rPr lang="pt-BR" sz="2800" dirty="0"/>
                  <a:t xml:space="preserve">Antes de apresentar o próximo teste precisamos conhecer a distribuição </a:t>
                </a:r>
                <a:r>
                  <a:rPr lang="pt-BR" sz="2800" i="1" dirty="0"/>
                  <a:t>t-</a:t>
                </a:r>
                <a:r>
                  <a:rPr lang="pt-BR" sz="2800" i="1" dirty="0" err="1"/>
                  <a:t>student</a:t>
                </a:r>
                <a:r>
                  <a:rPr lang="pt-BR" sz="2800" i="1" dirty="0"/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Suponha que estamos estudando uma distribuição normal com variância desconhecida.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Para isso usamos uma amostra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 xml:space="preserve">Usando ACS, supomos que cada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 xml:space="preserve"> é da forma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Vamos estimar a variância pela estatística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8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−1)</m:t>
                          </m:r>
                        </m:den>
                      </m:f>
                      <m:r>
                        <a:rPr lang="pt-BR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pt-BR" sz="28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8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pt-BR" sz="28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sSup>
                                <m:sSupPr>
                                  <m:ctrlPr>
                                    <a:rPr lang="pt-BR" sz="2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pt-BR" sz="28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8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pt-BR" sz="28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a:rPr lang="pt-BR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−1)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5021055"/>
              </a:xfrm>
              <a:prstGeom prst="rect">
                <a:avLst/>
              </a:prstGeom>
              <a:blipFill>
                <a:blip r:embed="rId2"/>
                <a:stretch>
                  <a:fillRect l="-1206" t="-1092" r="-16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291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81687" y="1506234"/>
                <a:ext cx="10618651" cy="41948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Podemos definir a variável padronizada</a:t>
                </a: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i="1" dirty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ad>
                            <m:radPr>
                              <m:degHide m:val="on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sz="2800" dirty="0"/>
              </a:p>
              <a:p>
                <a:endParaRPr lang="pt-BR" sz="2800" dirty="0"/>
              </a:p>
              <a:p>
                <a:r>
                  <a:rPr lang="pt-BR" sz="2800" dirty="0"/>
                  <a:t xml:space="preserve">Essa variável aleatória é chamada de </a:t>
                </a:r>
                <a:r>
                  <a:rPr lang="pt-BR" sz="2800" i="1" dirty="0"/>
                  <a:t>t-</a:t>
                </a:r>
                <a:r>
                  <a:rPr lang="pt-BR" sz="2800" i="1" dirty="0" err="1"/>
                  <a:t>student</a:t>
                </a:r>
                <a:r>
                  <a:rPr lang="pt-BR" sz="2800" i="1" dirty="0"/>
                  <a:t xml:space="preserve"> </a:t>
                </a:r>
                <a:r>
                  <a:rPr lang="pt-BR" sz="2800" dirty="0"/>
                  <a:t xml:space="preserve">e o seu parâmetro n − 1 é chamado de </a:t>
                </a:r>
                <a:r>
                  <a:rPr lang="pt-BR" sz="2800" i="1" dirty="0"/>
                  <a:t xml:space="preserve">grau de liberdade. </a:t>
                </a:r>
                <a:r>
                  <a:rPr lang="pt-BR" sz="2800" dirty="0"/>
                  <a:t xml:space="preserve">Denotaremos a variável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pt-BR" sz="28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i="1" dirty="0"/>
              </a:p>
              <a:p>
                <a:r>
                  <a:rPr lang="pt-BR" sz="2800" dirty="0"/>
                  <a:t>Assim como a v.a. Normal, não calcularemos a t-</a:t>
                </a:r>
                <a:r>
                  <a:rPr lang="pt-BR" sz="2800" dirty="0" err="1"/>
                  <a:t>student</a:t>
                </a:r>
                <a:r>
                  <a:rPr lang="pt-BR" sz="2800" dirty="0"/>
                  <a:t xml:space="preserve"> diretamente, usaremos uma tabela.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687" y="1506234"/>
                <a:ext cx="10618651" cy="4194866"/>
              </a:xfrm>
              <a:prstGeom prst="rect">
                <a:avLst/>
              </a:prstGeom>
              <a:blipFill>
                <a:blip r:embed="rId2"/>
                <a:stretch>
                  <a:fillRect l="-1206" t="-1308" b="-3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188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35433FF0-29C2-41ED-8E5D-0D802A439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697" y="1340760"/>
            <a:ext cx="7212575" cy="498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261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Distribuições 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1032608" y="1750000"/>
            <a:ext cx="10067277" cy="42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/>
              <a:t>Objetivos da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000" dirty="0"/>
              <a:t>Reconhecer quando a distribuição t-Student substitui a normal padrão em problemas de inferência.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000" dirty="0"/>
              <a:t>Utilizar a tabela t para obter valores críticos e probabilidades.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000" dirty="0"/>
              <a:t>Conhecer a distribuição qui-quadrado, suas propriedades e sua tabela de valores críticos.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000" dirty="0"/>
              <a:t>Relacionar as distribuições t, qui-quadrado e normal como base para os próximos testes de inferência.</a:t>
            </a:r>
          </a:p>
          <a:p>
            <a:r>
              <a:rPr lang="pt-BR" sz="2000" b="1" dirty="0"/>
              <a:t xml:space="preserve"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1800" dirty="0"/>
              <a:t xml:space="preserve">Bussab, Morettin. </a:t>
            </a:r>
            <a:r>
              <a:rPr lang="pt-BR" sz="1800" b="1" dirty="0"/>
              <a:t>Estatística Básica</a:t>
            </a:r>
            <a:r>
              <a:rPr lang="pt-BR" sz="1800" dirty="0"/>
              <a:t>, 9ed — Cap. 7 (7.7.2, 7.7.3)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1800" dirty="0"/>
              <a:t xml:space="preserve">Montgomery, Runger. </a:t>
            </a:r>
            <a:r>
              <a:rPr lang="pt-BR" sz="1800" b="1" dirty="0"/>
              <a:t>Applied Statistics and Probability for Engineers</a:t>
            </a:r>
            <a:r>
              <a:rPr lang="pt-BR" sz="1800" dirty="0"/>
              <a:t>, 7th ed — Cap. 8 (8.2.1)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1800" dirty="0"/>
              <a:t xml:space="preserve">Magalhães, Lima. </a:t>
            </a:r>
            <a:r>
              <a:rPr lang="pt-BR" sz="1800" b="1" dirty="0"/>
              <a:t>Noções de Probabilidade e Estatística</a:t>
            </a:r>
            <a:r>
              <a:rPr lang="pt-BR" sz="1800" dirty="0"/>
              <a:t>, 5ed — Cap. 7 (7.4); Cap. 8 (8.5)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1800" dirty="0"/>
              <a:t xml:space="preserve">Morettin. </a:t>
            </a:r>
            <a:r>
              <a:rPr lang="pt-BR" sz="1800" b="1" dirty="0"/>
              <a:t>Estatística Básica: Probabilidade e Inferência</a:t>
            </a:r>
            <a:r>
              <a:rPr lang="pt-BR" sz="1800" dirty="0"/>
              <a:t>, — Cap. 14 (14.1); Cap. 16 (16.1)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54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Como a t se compara à Normal?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A distribuição t-Student tem a mesma forma de sino e é simétrica em torno de zero, mas suas caudas são mais “pesadas” que as da Normal padrão — valores extremos são um pouco mais prováveis.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Quanto maior o número de graus de liberdade (n − 1), mais a curva t se aproxima da Normal padrão.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Para n − 1 &gt; 120, a diferença é desprezível e pode-se usar a tabela Normal.</a:t>
            </a:r>
          </a:p>
        </p:txBody>
      </p:sp>
      <p:pic>
        <p:nvPicPr>
          <p:cNvPr id="9" name="Gráfico t vs Norm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500000"/>
            <a:ext cx="4900000" cy="3050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Propriedades da distribuição t-Student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Simétrica em torno de zero, como a Normal padrão.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Definida por um único parâmetro: o número de graus de liberdade ν = n − 1.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Tem caudas mais pesadas que a Normal — reflete a incerteza extra de estimar σ por S numa amostra pequena.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Quando n → ∞ (ν → ∞), a distribuição t converge para a Normal padrão.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É usada sempre que a variância populacional σ² é desconhecida e precisa ser estimada pela amostra.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Exemplo: lendo a tabela t</a:t>
            </a:r>
          </a:p>
          <a:p>
            <a:endParaRPr lang="pt-BR" sz="1800" dirty="0"/>
          </a:p>
          <a:p>
            <a:pPr/>
            <a:r>
              <a:rPr lang="pt-BR" sz="1700" dirty="0"/>
              <a:t>Uma engenheira coletou uma amostra de n = 16 peças para estimar o tempo médio de vida de um componente, com variância populacional desconhecida.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Ela quer o valor crítico tᴄ tal que P(T &gt; tᴄ) = 0,05, com ν = n − 1 = 15 graus de liberdade.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Na tabela t, localiza a linha ν = 15 e a coluna p = 5%: o valor encontrado é tᴄ = 1,753.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Logo, RC = {T ∈ ℝ | T &gt; 1,753}.</a:t>
            </a:r>
          </a:p>
          <a:p>
            <a:endParaRPr lang="pt-BR" sz="1800" dirty="0"/>
          </a:p>
          <a:p>
            <a:pPr/>
            <a:r>
              <a:rPr lang="pt-BR" sz="1600" i="1" dirty="0"/>
              <a:t>Note que, para o mesmo p = 5%, o valor crítico da Normal padrão seria z = 1,645 — menor que tᴄ, refletindo a maior incerteza da t.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2000000"/>
            <a:ext cx="10800000" cy="34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200" b="1" dirty="0"/>
              <a:t>E quando o interesse é a variância?</a:t>
            </a:r>
          </a:p>
          <a:p>
            <a:endParaRPr lang="pt-BR" sz="1800" dirty="0"/>
          </a:p>
          <a:p>
            <a:pPr/>
            <a:r>
              <a:rPr lang="pt-BR" sz="1900" dirty="0"/>
              <a:t>Até agora usamos a t-Student para fazer inferência sobre a média quando σ² é desconhecida.</a:t>
            </a:r>
          </a:p>
          <a:p>
            <a:endParaRPr lang="pt-BR" sz="1800" dirty="0"/>
          </a:p>
          <a:p>
            <a:pPr/>
            <a:r>
              <a:rPr lang="pt-BR" sz="1900" dirty="0"/>
              <a:t>Para fazer inferência sobre a própria variância σ², precisamos de uma nova distribuição amostral: a distribuição qui-quadrado (χ²).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1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Distribuição Qui-Quadrado</a:t>
            </a:r>
          </a:p>
          <a:p>
            <a:pPr/>
            <a:r>
              <a:rPr lang="pt-BR" sz="1700" dirty="0"/>
              <a:t>Suponha X₁, X₂, ..., Xₙ uma amostra aleatória de uma Normal(μ, σ²). A estatística abaixo tem distribuição qui-quadrado com ν = n − 1 graus de liberdade:</a:t>
            </a:r>
          </a:p>
        </p:txBody>
      </p:sp>
      <p:pic>
        <p:nvPicPr>
          <p:cNvPr id="9" name="Definição qui-quadr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000" y="3050000"/>
            <a:ext cx="9100000" cy="940000"/>
          </a:xfrm>
          <a:prstGeom prst="rect">
            <a:avLst/>
          </a:prstGeom>
        </p:spPr>
      </p:pic>
      <p:pic>
        <p:nvPicPr>
          <p:cNvPr id="10" name="Definição alternativa qui-quadrad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000" y="4350000"/>
            <a:ext cx="9500000" cy="940000"/>
          </a:xfrm>
          <a:prstGeom prst="rect">
            <a:avLst/>
          </a:prstGeom>
        </p:spPr>
      </p:pic>
      <p:sp>
        <p:nvSpPr>
          <p:cNvPr id="11" name="Caixa"/>
          <p:cNvSpPr txBox="1"/>
          <p:nvPr/>
        </p:nvSpPr>
        <p:spPr>
          <a:xfrm>
            <a:off x="685800" y="5450000"/>
            <a:ext cx="10800000" cy="105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1600" i="1" dirty="0"/>
              <a:t>Assim como a t, não calculamos χ² diretamente — usamos uma tabela de valores críticos.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5400000" cy="4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O formato da curva χ²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Ao contrário da t, a distribuição qui-quadrado não é simétrica — só assume valores positivos (é soma de quadrados).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Para poucos graus de liberdade, a curva é bastante assimétrica à direita.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600" dirty="0"/>
              <a:t>À medida que ν cresce, a curva fica mais simétrica e se aproxima do formato de uma Normal.</a:t>
            </a:r>
          </a:p>
        </p:txBody>
      </p:sp>
      <p:pic>
        <p:nvPicPr>
          <p:cNvPr id="9" name="Curvas qui-quadr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500000"/>
            <a:ext cx="4900000" cy="3050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9" name="Tabela qui-quadr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000" y="1200000"/>
            <a:ext cx="9000000" cy="5477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39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Como usar a tabela qui-quadrado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Passo 1. Determine os graus de liberdade ν = n − 1.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Passo 2. Fixe a probabilidade de interesse p (ou α).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Passo 3. Localize a linha ν e a coluna p na tabela; o valor encontrado é χ²_c, tal que:</a:t>
            </a:r>
          </a:p>
        </p:txBody>
      </p:sp>
      <p:pic>
        <p:nvPicPr>
          <p:cNvPr id="9" name="P(chi2 &gt; chi2c) = alf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0000" y="4700000"/>
            <a:ext cx="5400000" cy="1150000"/>
          </a:xfrm>
          <a:prstGeom prst="rect">
            <a:avLst/>
          </a:prstGeom>
        </p:spPr>
      </p:pic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Exemplo: variância de um processo de fabricação</a:t>
            </a:r>
          </a:p>
          <a:p>
            <a:endParaRPr lang="pt-BR" sz="1800" dirty="0"/>
          </a:p>
          <a:p>
            <a:pPr/>
            <a:r>
              <a:rPr lang="pt-BR" sz="1700" dirty="0"/>
              <a:t>Uma fábrica de parafusos afirma que o diâmetro de suas peças tem desvio padrão de no máximo 0,04 mm. Uma amostra de n = 20 parafusos apresentou variância amostral S² = 0,0021 mm².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A estatística do teste é χ² = (n − 1)S² / σ²₀, com σ²₀ = 0,04² = 0,0016 e ν = 19 graus de liberdade.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Substituindo: χ² = 19 × 0,0021 / 0,0016 = 24,94.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Consultando a tabela com ν = 19 e p = 0,05, obtemos χ²_c = 30,144.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700" dirty="0"/>
              <a:t>Como χ² = 24,94 &lt; 30,144, o valor observado é compatível com a afirmação do fabricante — não há evidência de que a variabilidade seja maior que a declarada.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2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Como as três distribuições se conectam</a:t>
            </a:r>
          </a:p>
          <a:p>
            <a:pPr/>
            <a:r>
              <a:rPr lang="pt-BR" sz="1700" dirty="0"/>
              <a:t>A distribuição t-Student pode ser construída a partir de uma Normal padrão Z e de uma qui-quadrado independente:</a:t>
            </a:r>
          </a:p>
        </p:txBody>
      </p:sp>
      <p:pic>
        <p:nvPicPr>
          <p:cNvPr id="9" name="T = Z / raiz(chi2/(n-1)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000" y="3150000"/>
            <a:ext cx="6200000" cy="1300000"/>
          </a:xfrm>
          <a:prstGeom prst="rect">
            <a:avLst/>
          </a:prstGeom>
        </p:spPr>
      </p:pic>
      <p:sp>
        <p:nvSpPr>
          <p:cNvPr id="11" name="Caixa"/>
          <p:cNvSpPr txBox="1"/>
          <p:nvPr/>
        </p:nvSpPr>
        <p:spPr>
          <a:xfrm>
            <a:off x="685800" y="4750000"/>
            <a:ext cx="10800000" cy="17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1600" i="1" dirty="0"/>
              <a:t>Isso mostra por que a t tem caudas mais pesadas: ela “herda” a variabilidade extra de estimar σ² pela χ² amostral, além da própria variabilidade de Z.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685800" y="1150000"/>
            <a:ext cx="10800000" cy="5100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000" b="1" dirty="0"/>
              <a:t>Resumo da aula</a:t>
            </a:r>
          </a:p>
          <a:p>
            <a:endParaRPr lang="pt-BR" sz="1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Use a distribuição t-Student quando: a população é (aproximadamente) Normal, σ² é desconhecida, e o interesse é a média μ.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Use a distribuição qui-quadrado quando: a população é (aproximadamente) Normal e o interesse é a variância σ².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Ambas dependem apenas dos graus de liberdade ν = n − 1 e são consultadas por tabela, nunca calculadas diretamente em sala.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Quando ν é grande, a t se aproxima da Normal e a χ² fica mais simétrica.</a:t>
            </a:r>
          </a:p>
          <a:p>
            <a:endParaRPr lang="pt-BR" sz="1800" dirty="0"/>
          </a:p>
          <a:p>
            <a:pPr/>
            <a:r>
              <a:rPr lang="pt-BR" sz="1700" i="1" dirty="0"/>
              <a:t>Próximas aulas: vamos usar a t e a χ² para construir intervalos de confiança e testes de hipótese completos.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9000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1800" b="1" dirty="0"/>
              <a:t>T-Student e Qui-Quadrado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"/>
          <p:cNvSpPr txBox="1"/>
          <p:nvPr/>
        </p:nvSpPr>
        <p:spPr>
          <a:xfrm>
            <a:off x="881687" y="1506234"/>
            <a:ext cx="10618651" cy="502105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/>
            <a:r>
              <a:rPr lang="pt-BR" sz="2400" b="1" dirty="0"/>
              <a:t>Atividades referentes à aula</a:t>
            </a:r>
          </a:p>
          <a:p>
            <a:endParaRPr lang="pt-BR" sz="2400" dirty="0"/>
          </a:p>
          <a:p>
            <a:pPr/>
            <a:r>
              <a:rPr lang="pt-BR" sz="2000" b="1" dirty="0"/>
              <a:t>Leitura recomendada: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Bussab &amp; Morettin — Cap. 7: 7.7.2 e 7.7.3 (distribuições t e qui-quadrado)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Montgomery &amp; Runger — Cap. 8: 8.2.1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Magalhães &amp; Lima — Cap. 7: 7.4; Cap. 8: 8.5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Morettin (Prob. e Inf.) — Cap. 14: 14.1; Cap. 16: 16.1</a:t>
            </a:r>
          </a:p>
          <a:p>
            <a:endParaRPr lang="pt-BR" sz="1800" dirty="0"/>
          </a:p>
          <a:p>
            <a:pPr/>
            <a:r>
              <a:rPr lang="pt-BR" sz="2000" b="1" dirty="0"/>
              <a:t>Exercícios recomendados: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Pratique a leitura da tabela t e da tabela qui-quadrado para diferentes graus de liberdade e níveis de significância (α = 0,10; 0,05; 0,01).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dirty="0"/>
              <a:t>Refaça o exemplo do processo de fabricação com S² = 0,0030 mm² e compare a conclusão.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Logo UF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7016</TotalTime>
  <Words>762</Words>
  <Application>Microsoft Office PowerPoint</Application>
  <PresentationFormat>Widescreen</PresentationFormat>
  <Paragraphs>100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20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  <vt:lpstr>CEA055 – Estatística e Probabilidade T-Student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236</cp:revision>
  <dcterms:created xsi:type="dcterms:W3CDTF">2020-07-20T19:35:15Z</dcterms:created>
  <dcterms:modified xsi:type="dcterms:W3CDTF">2024-09-23T19:48:52Z</dcterms:modified>
</cp:coreProperties>
</file>