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1.xml" ContentType="application/vnd.openxmlformats-officedocument.presentationml.slide+xml"/>
  <Override PartName="/ppt/slides/slide52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900" r:id="rId44"/>
    <p:sldId id="267" r:id="rId2"/>
    <p:sldId id="270" r:id="rId3"/>
    <p:sldId id="269" r:id="rId4"/>
    <p:sldId id="271" r:id="rId5"/>
    <p:sldId id="272" r:id="rId6"/>
    <p:sldId id="273" r:id="rId7"/>
    <p:sldId id="274" r:id="rId8"/>
    <p:sldId id="297" r:id="rId9"/>
    <p:sldId id="284" r:id="rId10"/>
    <p:sldId id="286" r:id="rId11"/>
    <p:sldId id="298" r:id="rId12"/>
    <p:sldId id="278" r:id="rId13"/>
    <p:sldId id="300" r:id="rId14"/>
    <p:sldId id="301" r:id="rId15"/>
    <p:sldId id="901" r:id="rId45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83" d="100"/>
          <a:sy n="83" d="100"/>
        </p:scale>
        <p:origin x="1992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9" Type="http://schemas.openxmlformats.org/officeDocument/2006/relationships/commentAuthors" Target="commentAuthors.xml"/><Relationship Id="rId3" Type="http://schemas.openxmlformats.org/officeDocument/2006/relationships/slide" Target="slides/slide2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3" Type="http://schemas.openxmlformats.org/officeDocument/2006/relationships/tableStyles" Target="tableStyles.xml"/><Relationship Id="rId44" Type="http://schemas.openxmlformats.org/officeDocument/2006/relationships/slide" Target="slides/slide51.xml"/><Relationship Id="rId45" Type="http://schemas.openxmlformats.org/officeDocument/2006/relationships/slide" Target="slides/slide5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Distribuição Uniforme Discreta</a:t>
                </a:r>
              </a:p>
              <a:p>
                <a:pPr marL="285737" indent="-285737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r>
                  <a:rPr lang="pt-BR" sz="2800" b="1" dirty="0"/>
                  <a:t>Definição</a:t>
                </a:r>
              </a:p>
              <a:p>
                <a:r>
                  <a:rPr lang="pt-BR" sz="2800" dirty="0"/>
                  <a:t xml:space="preserve">A v.a. discreta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, assumindo os valores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i="1" dirty="0" err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sz="2800" dirty="0"/>
                  <a:t xml:space="preserve">, tem distribuição uniforme se, e somente se, 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 = </m:t>
                          </m:r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 = 1/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 xml:space="preserve">para todo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 1, 2, …,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b="1" dirty="0"/>
                  <a:t xml:space="preserve">Notação: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~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[1,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sz="2800" dirty="0"/>
                  <a:t xml:space="preserve"> (valores de 1 à k.)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832092"/>
              </a:xfrm>
              <a:prstGeom prst="rect">
                <a:avLst/>
              </a:prstGeom>
              <a:blipFill>
                <a:blip r:embed="rId2"/>
                <a:stretch>
                  <a:fillRect l="-1272" t="-1135" b="-26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371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17957"/>
                <a:ext cx="10067277" cy="4842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Distribuição Uniforme Discreta</a:t>
                </a:r>
              </a:p>
              <a:p>
                <a:pPr marL="285737" indent="-285737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Esperança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Variância</a:t>
                </a:r>
              </a:p>
              <a:p>
                <a:endParaRPr lang="pt-BR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pt-BR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pt-BR" sz="2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pt-BR" sz="2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pt-BR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28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28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17957"/>
                <a:ext cx="10067277" cy="4842672"/>
              </a:xfrm>
              <a:prstGeom prst="rect">
                <a:avLst/>
              </a:prstGeom>
              <a:blipFill>
                <a:blip r:embed="rId2"/>
                <a:stretch>
                  <a:fillRect l="-1272" t="-11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233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17957"/>
                <a:ext cx="10067277" cy="2259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Distribuição Uniforme Discreta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 err="1"/>
                  <a:t>F.d.a</a:t>
                </a:r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b="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17957"/>
                <a:ext cx="10067277" cy="2259721"/>
              </a:xfrm>
              <a:prstGeom prst="rect">
                <a:avLst/>
              </a:prstGeom>
              <a:blipFill>
                <a:blip r:embed="rId2"/>
                <a:stretch>
                  <a:fillRect l="-1272" t="-24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19A0F22-1899-404D-875F-98DF60E0D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8190" y="3777678"/>
            <a:ext cx="6609206" cy="271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822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17957"/>
                <a:ext cx="1006727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b="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17957"/>
                <a:ext cx="1006727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2AAFF76-8A79-4871-B97D-AD5CBC6BB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40" y="1233456"/>
            <a:ext cx="11086864" cy="431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035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Distribuição de Bernoulli</a:t>
                </a:r>
              </a:p>
              <a:p>
                <a:pPr marL="285737" indent="-285737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r>
                  <a:rPr lang="pt-BR" sz="2800" b="1" dirty="0"/>
                  <a:t>Definição</a:t>
                </a:r>
              </a:p>
              <a:p>
                <a:r>
                  <a:rPr lang="pt-BR" sz="2800" dirty="0"/>
                  <a:t xml:space="preserve">A variável aleatória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, que assume apenas os valores 0 e 1 (sucesso e fracasso), com função de probabilidade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pt-BR" sz="2800" dirty="0"/>
                  <a:t xml:space="preserve"> tal que: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(0) =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 = 0) = 1 –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(1) =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 = 1) =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>é chamada variável aleatória de Bernoulli.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401205"/>
              </a:xfrm>
              <a:prstGeom prst="rect">
                <a:avLst/>
              </a:prstGeom>
              <a:blipFill>
                <a:blip r:embed="rId2"/>
                <a:stretch>
                  <a:fillRect l="-1272" t="-1247" r="-61" b="-30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724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17957"/>
                <a:ext cx="10067277" cy="47353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Distribuição de Bernoulli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Esperança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Variância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 err="1"/>
                  <a:t>F.d.a</a:t>
                </a:r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e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</m:e>
                          </m:eqAr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&lt;0,</m:t>
                            </m:r>
                          </m:e>
                        </m:mr>
                        <m:m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𝑠𝑒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 0≤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≤ 1,</m:t>
                            </m:r>
                          </m:e>
                        </m:mr>
                        <m:m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𝑠𝑒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≥1.</m:t>
                            </m:r>
                          </m:e>
                        </m:mr>
                      </m:m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17957"/>
                <a:ext cx="10067277" cy="4735399"/>
              </a:xfrm>
              <a:prstGeom prst="rect">
                <a:avLst/>
              </a:prstGeom>
              <a:blipFill>
                <a:blip r:embed="rId2"/>
                <a:stretch>
                  <a:fillRect l="-1272" t="-11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17957"/>
            <a:ext cx="100672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Distribuição de Bernoulli</a:t>
            </a:r>
          </a:p>
          <a:p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7439BFF-9076-411A-A301-712C87E84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40" y="2097857"/>
            <a:ext cx="10067277" cy="433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177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17957"/>
                <a:ext cx="10067277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Exemplo.</a:t>
                </a:r>
                <a:r>
                  <a:rPr lang="pt-BR" sz="2800" b="0" dirty="0"/>
                  <a:t xml:space="preserve"> Uma urna tem 30 bolas brancas e 20 verdes. Retira-se uma bola dessa uma. Seja </a:t>
                </a: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b="0" dirty="0"/>
                  <a:t xml:space="preserve"> o número de bolas verdes, calcular </a:t>
                </a: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b="0" dirty="0"/>
                  <a:t xml:space="preserve"> e </a:t>
                </a: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𝑉𝐴𝑅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b="0" dirty="0"/>
                  <a:t xml:space="preserve"> e determinar </a:t>
                </a: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b="0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17957"/>
                <a:ext cx="10067277" cy="1384995"/>
              </a:xfrm>
              <a:prstGeom prst="rect">
                <a:avLst/>
              </a:prstGeom>
              <a:blipFill>
                <a:blip r:embed="rId2"/>
                <a:stretch>
                  <a:fillRect l="-1272" t="-3965" b="-118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149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17957"/>
                <a:ext cx="10067277" cy="4839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Distribuição Geométrica</a:t>
                </a:r>
              </a:p>
              <a:p>
                <a:endParaRPr lang="pt-BR" sz="2800" dirty="0"/>
              </a:p>
              <a:p>
                <a:r>
                  <a:rPr lang="pt-BR" sz="2800" b="1" dirty="0"/>
                  <a:t xml:space="preserve">Definição 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 xml:space="preserve">Interpretando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800" dirty="0"/>
                  <a:t xml:space="preserve"> como probabilidade de sucesso, a distribuição geométrica pode ser pensada como o número de ensaios de Bernoulli que precedem o primeiro sucesso.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 xml:space="preserve">Função de probabilidade: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17957"/>
                <a:ext cx="10067277" cy="4839786"/>
              </a:xfrm>
              <a:prstGeom prst="rect">
                <a:avLst/>
              </a:prstGeom>
              <a:blipFill>
                <a:blip r:embed="rId2"/>
                <a:stretch>
                  <a:fillRect l="-1272" t="-11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886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17957"/>
                <a:ext cx="10067277" cy="44416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Distribuição Geométrica</a:t>
                </a:r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Esperança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Variância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𝑉𝐴𝑅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17957"/>
                <a:ext cx="10067277" cy="4441601"/>
              </a:xfrm>
              <a:prstGeom prst="rect">
                <a:avLst/>
              </a:prstGeom>
              <a:blipFill>
                <a:blip r:embed="rId2"/>
                <a:stretch>
                  <a:fillRect l="-1272" t="-123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881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17957"/>
            <a:ext cx="1006727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 xml:space="preserve">Exemplo. </a:t>
            </a:r>
            <a:r>
              <a:rPr lang="pt-BR" sz="2800" dirty="0"/>
              <a:t xml:space="preserve">A probabilidade de se encontrar aberto o sinal de trânsito numa esquina é 0,20. Qual a probabilidade de que seja necessário passar pelo local 5 vezes para encontrar o sinal aberto pela primeira vez? </a:t>
            </a:r>
          </a:p>
          <a:p>
            <a:endParaRPr lang="pt-BR" sz="2800" dirty="0"/>
          </a:p>
          <a:p>
            <a:r>
              <a:rPr lang="pt-BR" sz="2800" b="1" dirty="0"/>
              <a:t xml:space="preserve">Exemplo. </a:t>
            </a:r>
            <a:r>
              <a:rPr lang="pt-BR" sz="2800" dirty="0"/>
              <a:t>Qual a probabilidade de que um dado deva ser lançado 15 vezes para que na 15ª vez ocorra a face 6 pela primeira vez?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126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17957"/>
            <a:ext cx="100672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DF8CC13-1F17-4EC3-90EF-982BD09392E0}"/>
                  </a:ext>
                </a:extLst>
              </p:cNvPr>
              <p:cNvSpPr txBox="1"/>
              <p:nvPr/>
            </p:nvSpPr>
            <p:spPr>
              <a:xfrm>
                <a:off x="743529" y="1334768"/>
                <a:ext cx="10966944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Distribuição de Pascal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 xml:space="preserve">Suponhamos que um experimento aleatório seja repetido independentemente até que um evento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800" dirty="0"/>
                  <a:t xml:space="preserve"> ocorra pela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pt-BR" sz="2800" dirty="0"/>
                  <a:t>-</a:t>
                </a:r>
                <a:r>
                  <a:rPr lang="pt-BR" sz="2800" dirty="0" err="1"/>
                  <a:t>ésima</a:t>
                </a:r>
                <a:r>
                  <a:rPr lang="pt-BR" sz="2800" dirty="0"/>
                  <a:t xml:space="preserve"> vez.</a:t>
                </a:r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Seja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800" dirty="0"/>
                  <a:t xml:space="preserve"> (sucesso)e P(A) = q (fracasso) em cada tentativa do experimento.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Seja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: número de repetições necessárias para que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800" dirty="0"/>
                  <a:t xml:space="preserve"> ocorra pela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pt-BR" sz="2800" dirty="0"/>
                  <a:t>-</a:t>
                </a:r>
                <a:r>
                  <a:rPr lang="pt-BR" sz="2800" dirty="0" err="1"/>
                  <a:t>ésima</a:t>
                </a:r>
                <a:r>
                  <a:rPr lang="pt-BR" sz="2800" dirty="0"/>
                  <a:t xml:space="preserve"> vez.</a:t>
                </a: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DF8CC13-1F17-4EC3-90EF-982BD0939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529" y="1334768"/>
                <a:ext cx="10966944" cy="4401205"/>
              </a:xfrm>
              <a:prstGeom prst="rect">
                <a:avLst/>
              </a:prstGeom>
              <a:blipFill>
                <a:blip r:embed="rId3"/>
                <a:stretch>
                  <a:fillRect l="-1167" t="-1385" b="-30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7614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17957"/>
            <a:ext cx="100672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DF8CC13-1F17-4EC3-90EF-982BD09392E0}"/>
                  </a:ext>
                </a:extLst>
              </p:cNvPr>
              <p:cNvSpPr txBox="1"/>
              <p:nvPr/>
            </p:nvSpPr>
            <p:spPr>
              <a:xfrm>
                <a:off x="743529" y="1334768"/>
                <a:ext cx="10966944" cy="38241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Distribuição de Pascal</a:t>
                </a:r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Se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 1</m:t>
                    </m:r>
                  </m:oMath>
                </a14:m>
                <a:r>
                  <a:rPr lang="pt-BR" sz="2800" dirty="0"/>
                  <a:t xml:space="preserve">,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 tem distribuição geométrica.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Se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800" dirty="0"/>
                  <a:t xml:space="preserve">=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sz="2800" dirty="0"/>
                  <a:t xml:space="preserve">, o evento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800" dirty="0"/>
                  <a:t xml:space="preserve"> ocorre pela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pt-BR" sz="2800" dirty="0"/>
                  <a:t>-</a:t>
                </a:r>
                <a:r>
                  <a:rPr lang="pt-BR" sz="2800" dirty="0" err="1"/>
                  <a:t>ésima</a:t>
                </a:r>
                <a:r>
                  <a:rPr lang="pt-BR" sz="2800" dirty="0"/>
                  <a:t xml:space="preserve"> vez na repetição de número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sz="2800" dirty="0"/>
                  <a:t xml:space="preserve">. Logo, A ocorre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−1) </m:t>
                    </m:r>
                  </m:oMath>
                </a14:m>
                <a:r>
                  <a:rPr lang="pt-BR" sz="2800" dirty="0"/>
                  <a:t xml:space="preserve">vezes nas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pt-BR" sz="2800" dirty="0"/>
                  <a:t xml:space="preserve"> repetições anteriores.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Portanto,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800" dirty="0"/>
                  <a:t xml:space="preserve"> para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DF8CC13-1F17-4EC3-90EF-982BD0939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529" y="1334768"/>
                <a:ext cx="10966944" cy="3824188"/>
              </a:xfrm>
              <a:prstGeom prst="rect">
                <a:avLst/>
              </a:prstGeom>
              <a:blipFill>
                <a:blip r:embed="rId3"/>
                <a:stretch>
                  <a:fillRect l="-1167" t="-1595" b="-1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9260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17957"/>
            <a:ext cx="100672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DF8CC13-1F17-4EC3-90EF-982BD09392E0}"/>
                  </a:ext>
                </a:extLst>
              </p:cNvPr>
              <p:cNvSpPr txBox="1"/>
              <p:nvPr/>
            </p:nvSpPr>
            <p:spPr>
              <a:xfrm>
                <a:off x="743529" y="1334768"/>
                <a:ext cx="10966944" cy="3950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 xml:space="preserve">Exemplo. </a:t>
                </a:r>
                <a:r>
                  <a:rPr lang="pt-BR" sz="2800" dirty="0"/>
                  <a:t xml:space="preserve">A probabilidade de que um sinal de trânsito esteja aberto numa esquina é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0,20</m:t>
                    </m:r>
                  </m:oMath>
                </a14:m>
                <a:r>
                  <a:rPr lang="pt-BR" sz="2800" dirty="0"/>
                  <a:t xml:space="preserve">. Qual a probabilidade de que seja necessário passar pelo local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10 </m:t>
                    </m:r>
                  </m:oMath>
                </a14:m>
                <a:r>
                  <a:rPr lang="pt-BR" sz="2800" dirty="0"/>
                  <a:t>vezes para encontrá-lo aberto pela 4ª vez?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𝑉𝐴𝑅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DF8CC13-1F17-4EC3-90EF-982BD0939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529" y="1334768"/>
                <a:ext cx="10966944" cy="3950440"/>
              </a:xfrm>
              <a:prstGeom prst="rect">
                <a:avLst/>
              </a:prstGeom>
              <a:blipFill>
                <a:blip r:embed="rId3"/>
                <a:stretch>
                  <a:fillRect l="-1167" t="-1543" r="-4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98099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Discretos I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Objetivos do aula: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Conhecer a distribuição uniforme discreta e a distribuição de Bernoulli.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Conhecer a distribuição geométrica e calcular suas probabilidades.</a:t>
            </a:r>
          </a:p>
          <a:p>
            <a:r>
              <a:rPr lang="pt-BR" sz="2400" b="1" dirty="0"/>
              <a:t xml:space="preserve">Referências: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Bussab, Morettin. </a:t>
            </a:r>
            <a:r>
              <a:rPr lang="pt-BR" sz="2000" b="1" dirty="0"/>
              <a:t>Estatística Básica</a:t>
            </a:r>
            <a:r>
              <a:rPr lang="pt-BR" sz="2000" dirty="0"/>
              <a:t>, 9ed — Cap. 6 (6.6.1, 6.6.2)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Montgomery, Runger. </a:t>
            </a:r>
            <a:r>
              <a:rPr lang="pt-BR" sz="2000" b="1" dirty="0"/>
              <a:t>Applied Statistics and Probability for Engineers</a:t>
            </a:r>
            <a:r>
              <a:rPr lang="pt-BR" sz="2000" dirty="0"/>
              <a:t>, 7th ed — Cap. 3 (3.4, 3.6)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Magalhães,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5ed — Cap. 3 (3.2, 3.3)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Morettin. </a:t>
            </a:r>
            <a:r>
              <a:rPr lang="pt-BR" sz="2000" b="1" dirty="0"/>
              <a:t>Estatística Básica: Probabilidade e Inferência</a:t>
            </a:r>
            <a:r>
              <a:rPr lang="pt-BR" sz="2000" dirty="0"/>
              <a:t xml:space="preserve"> — Cap. 4 (4.1, 4.2, 4.3)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Discretos I — Atividades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Atividades referentes à aula</a:t>
            </a:r>
          </a:p>
          <a:p>
            <a:r>
              <a:rPr lang="pt-BR" sz="2000" dirty="0"/>
              <a:t xml:space="preserve">Leitura recomendada: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 &amp; Morettin — Cap. 6: 6.6.1, 6.6.2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Montgomery &amp; Runger — Cap. 3: 3.4, 3.6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Magalhães &amp; Lima — Cap. 3: 3.2, 3.3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Morettin — Cap. 4: 4.1, 4.2, 4.3</a:t>
            </a:r>
          </a:p>
          <a:p>
            <a:r>
              <a:rPr lang="pt-BR" sz="2000" dirty="0"/>
              <a:t>Exercícios recomendados: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Bussab, Cap. 6: exercícios sobre distribuição uniforme discreta, Bernoulli e geométrica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4150</TotalTime>
  <Words>1951</Words>
  <Application>Microsoft Office PowerPoint</Application>
  <PresentationFormat>Widescreen</PresentationFormat>
  <Paragraphs>262</Paragraphs>
  <Slides>36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2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147</cp:revision>
  <dcterms:created xsi:type="dcterms:W3CDTF">2020-07-20T19:35:15Z</dcterms:created>
  <dcterms:modified xsi:type="dcterms:W3CDTF">2024-08-29T15:45:59Z</dcterms:modified>
</cp:coreProperties>
</file>