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Compreender a diferença entre estimação pontual e estimação por intervalo.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Construir e interpretar corretamente um intervalo de confiança para a média.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Calcular o IC da média quando a variância populacional é conhecida (usando a Normal) e quando é desconhecida (usando a t-Student).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11 (11.6)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8 (8.1, 8.2)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7 (7.4)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11 (11.1, 11.2); Cap. 14 (14.2)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Estimativa pontual vs. estimativa por intervalo</a:t>
            </a:r>
          </a:p>
          <a:p>
            <a:endParaRPr lang="pt-BR" sz="1800" dirty="0"/>
          </a:p>
          <a:p>
            <a:r>
              <a:rPr lang="pt-BR" sz="1800" dirty="0"/>
              <a:t>Até agora, estimamos parâmetros com um único número: X̄ estima μ, S² estima σ². Isso é uma estimativa pontual.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Problema: uma estimativa pontual não diz o quão confiável ela é. Duas amostras diferentes dão X̄ diferentes — qual é “certa”?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Solução: em vez de um único valor, construímos um intervalo de valores plausíveis para μ, acompanhado de um grau de confiança.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2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que é um intervalo de confiança</a:t>
            </a:r>
          </a:p>
          <a:p>
            <a:r>
              <a:rPr lang="pt-BR" sz="1700" dirty="0"/>
              <a:t>É um intervalo [L, U], calculado a partir da amostra, que contém o parâmetro μ com probabilidade (1 − α) — antes de observarmos os dados:</a:t>
            </a:r>
          </a:p>
        </p:txBody>
      </p:sp>
      <p:pic>
        <p:nvPicPr>
          <p:cNvPr id="9" name="Dedução do 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3300000"/>
            <a:ext cx="5990870" cy="665652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α é o nível de significância (ex.: 5%); (1 − α) é o nível de confiança (ex.: 95%).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Valores usuais de confiança: 90%, 95% e 99%.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média — variância conhecida</a:t>
            </a:r>
          </a:p>
          <a:p>
            <a:r>
              <a:rPr lang="pt-BR" sz="1700" dirty="0"/>
              <a:t>Se X₁,...,Xₙ é uma AAS de uma população Normal(μ, σ²), com σ² conhecida, o IC de nível (1 − α) para μ é:</a:t>
            </a:r>
          </a:p>
        </p:txBody>
      </p:sp>
      <p:pic>
        <p:nvPicPr>
          <p:cNvPr id="9" name="IC media conhec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" y="3200000"/>
            <a:ext cx="101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zα/2 é o valor crítico da Normal padrão tal que P(Z &gt; zα/2) = α/2 (mesma tabela usada desde a Aula 13).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O termo σ/√n é o erro padrão da média — a incerteza da estimativa X̄.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Valores críticos mais usados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90% (α = 0,10)  →  zα/2 = z₀,₀₅ = 1,645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95% (α = 0,05)  →  zα/2 = z₀,₀₂₅ = 1,960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99% (α = 0,01)  →  zα/2 = z₀,₀₀₅ = 2,576</a:t>
            </a:r>
          </a:p>
          <a:p>
            <a:endParaRPr lang="pt-BR" sz="1800" dirty="0"/>
          </a:p>
          <a:p>
            <a:r>
              <a:rPr lang="pt-BR" sz="1700" i="1" dirty="0"/>
              <a:t>Esses valores vêm da tabela Normal padrão: procuramos a área α/2 na cauda superior, como já fazemos com a Normal padrão desde a Aula 13.</a:t>
            </a:r>
          </a:p>
          <a:p>
            <a:r>
              <a:rPr lang="pt-BR" sz="1700" i="1" dirty="0"/>
              <a:t>Quanto maior a confiança exigida, maior o zα/2 — e portanto mais largo o intervalo.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tempo de resposta de um servidor</a:t>
            </a:r>
          </a:p>
          <a:p>
            <a:endParaRPr lang="pt-BR" sz="1800" dirty="0"/>
          </a:p>
          <a:p>
            <a:r>
              <a:rPr lang="pt-BR" sz="1700" dirty="0"/>
              <a:t>O tempo de resposta de um servidor web é conhecido por seguir distribuição aproximadamente Normal com desvio padrão σ = 8 ms (valor histórico bem estabelecido). Uma amostra de n = 36 requisições teve tempo médio X̄ = 120 ms.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o tempo médio de resposta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 95% de confiança, zα/2 = 1,960. O erro padrão é σ/√n = 8/√36 = 1,333.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Margem de erro: 1,960 × 1,333 = 2,613 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IC(μ; 95%) = [120 − 2,613 ; 120 + 2,613] = [117,39 ; 122,61] ms.</a:t>
            </a:r>
          </a:p>
          <a:p>
            <a:endParaRPr lang="pt-BR" sz="1800" dirty="0"/>
          </a:p>
          <a:p>
            <a:r>
              <a:rPr lang="pt-BR" sz="1600" i="1" dirty="0"/>
              <a:t>Interpretação: se repetíssemos esse processo de amostragem muitas vezes, cerca de 95% dos intervalos construídos conteriam o verdadeiro tempo médio μ.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que “95% de confiança” realmente significa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Errado: “Há 95% de chance de μ estar nesse intervalo específico” — μ é fixo, não é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Correto: se repetíssemos o processo de amostragem muitas vezes, cerca de 95% dos intervalos construídos conteriam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Ao lado: 20 amostras diferentes e seus IC de 95%. Apenas 1 (em vermelho) não contém o verdadeiro μ.</a:t>
            </a:r>
          </a:p>
        </p:txBody>
      </p:sp>
      <p:pic>
        <p:nvPicPr>
          <p:cNvPr id="9" name="Cobertura do 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300000"/>
            <a:ext cx="4900000" cy="30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que controla a amplitude do IC?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Amplitude = 2 × zα/2 × σ/√n.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Aumentar n reduz a amplitude (mais dados, mais precisão) — mas o ganho decai lentamente (fator √n).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Aumentar a confiança (1 − α) aumenta zα/2 e, portanto, aumenta a amplitude.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Existe um trade-off: mais confiança custa um intervalo mais largo (menos informativo).</a:t>
            </a:r>
          </a:p>
        </p:txBody>
      </p:sp>
      <p:pic>
        <p:nvPicPr>
          <p:cNvPr id="9" name="Amplitude vs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200" b="1" dirty="0"/>
              <a:t>E se não conhecermos σ?</a:t>
            </a:r>
          </a:p>
          <a:p>
            <a:endParaRPr lang="pt-BR" sz="1800" dirty="0"/>
          </a:p>
          <a:p>
            <a:r>
              <a:rPr lang="pt-BR" sz="1900" dirty="0"/>
              <a:t>Na prática, quase nunca conhecemos a variância populacional σ² — o exemplo do servidor, com histórico conhecido, é exceção, não regra.</a:t>
            </a:r>
          </a:p>
          <a:p>
            <a:endParaRPr lang="pt-BR" sz="1800" dirty="0"/>
          </a:p>
          <a:p>
            <a:r>
              <a:rPr lang="pt-BR" sz="1900" dirty="0"/>
              <a:t>Precisamos estimar σ pela amostra (usando S) — e, como vimos na </a:t>
            </a:r>
            <a:r>
              <a:rPr lang="pt-BR" sz="1900"/>
              <a:t>Aula 17, </a:t>
            </a:r>
            <a:r>
              <a:rPr lang="pt-BR" sz="1900" dirty="0"/>
              <a:t>isso introduz incerteza extra: entra em cena a distribuição t-Student.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média — variância desconhecida</a:t>
            </a:r>
          </a:p>
          <a:p>
            <a:r>
              <a:rPr lang="pt-BR" sz="1700" dirty="0"/>
              <a:t>Se σ² é desconhecida e é estimada pela amostra (S²), o IC de nível (1 − α) para μ passa a usar a distribuição t com n − 1 graus de liberdade:</a:t>
            </a:r>
          </a:p>
        </p:txBody>
      </p:sp>
      <p:pic>
        <p:nvPicPr>
          <p:cNvPr id="9" name="IC media desconhec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3200000"/>
            <a:ext cx="104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tα/2,(n−1) vem da tabela t (a mesma da </a:t>
            </a:r>
            <a:r>
              <a:rPr lang="pt-BR" sz="1700"/>
              <a:t>Aula 17), </a:t>
            </a:r>
            <a:r>
              <a:rPr lang="pt-BR" sz="1700" dirty="0"/>
              <a:t>na linha ν = n − 1 e coluna p = α/2.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 é o desvio padrão amostral, calculado normalmente a partir dos dados.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Por que usar t em vez de Normal?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Estimar σ por S adiciona uma fonte extra de incerteza — a distribuição t tem caudas mais pesadas para refletir isso (</a:t>
            </a:r>
            <a:r>
              <a:rPr lang="pt-BR" sz="1800"/>
              <a:t>Aula 17).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Consequência prática: tα/2,(n−1) &gt; zα/2 sempre, então o IC com t é um pouco mais largo que seria com z, para a mesma confiança.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n é grande (n − 1 &gt; 120), tα/2 ≈ zα/2 e a diferença se torna desprezível.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Regra prática: σ conhecida → z; σ desconhecida → t. Nunca misture as duas tabelas.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resistência de um novo material</a:t>
            </a:r>
          </a:p>
          <a:p>
            <a:endParaRPr lang="pt-BR" sz="1800" dirty="0"/>
          </a:p>
          <a:p>
            <a:r>
              <a:rPr lang="pt-BR" sz="1700" dirty="0"/>
              <a:t>Um engenheiro testou n = 12 corpos de prova de um novo compósito e obteve resistência média X̄ = 48,2 MPa e desvio padrão amostral S = 3,6 MPa. σ é desconhecida.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resistência média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Graus de liberdade: ν = n − 1 = 11. Na tabela t, t₀,₀₂₅;₁₁ = 2,201.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Erro padrão: S/√n = 3,6/√12 = 1,039. Margem de erro: 2,201 × 1,039 = 2,287 MPa.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IC(μ; 95%) = [48,2 − 2,287 ; 48,2 + 2,287] = [45,91 ; 50,49] MPa.</a:t>
            </a:r>
          </a:p>
          <a:p>
            <a:endParaRPr lang="pt-BR" sz="1800" dirty="0"/>
          </a:p>
          <a:p>
            <a:r>
              <a:rPr lang="pt-BR" sz="1600" i="1" dirty="0"/>
              <a:t>Compare com um IC via Normal (errado aqui): usaria z = 1,960, resultando em intervalo mais estreito e confiança superestimada.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Resumindo: qual fórmula usar?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σ² conhecida → use X̄ ± zα/2 · σ/√n, com z da tabela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σ² desconhecida → use X̄ ± tα/2,(n−1) · S/√n, com t da tabela t-Student.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Em ambos os casos, supomos população (aproximadamente) Normal, ou n grande o bastante para o TLC valer.</a:t>
            </a:r>
          </a:p>
          <a:p>
            <a:endParaRPr lang="pt-BR" sz="1800" dirty="0"/>
          </a:p>
          <a:p>
            <a:r>
              <a:rPr lang="pt-BR" sz="1800" i="1" dirty="0"/>
              <a:t>Pergunta-chave para decidir: “Eu sei o valor de σ, ou preciso estimá-lo pelos dados?”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IC fornece uma faixa plausível de valores para μ, junto com um grau de confiança — mais informativo que uma estimativa pontual.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amplitude do IC depende do tamanho da amostra e do nível de confiança escolhido: mais confiança custa mais amplitude.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escolha entre z e t depende de conhecermos ou não σ.</a:t>
            </a:r>
          </a:p>
          <a:p>
            <a:endParaRPr lang="pt-BR" sz="1800" dirty="0"/>
          </a:p>
          <a:p>
            <a:r>
              <a:rPr lang="pt-BR" sz="1700" i="1" dirty="0"/>
              <a:t>Próxima aula: IC para proporção, para variância, e como determinar o tamanho de amostra necessário antes de coletar os dados.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11: 11.6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8.1, 8.2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11: 11.1, 11.2; Cap. 14: 14.2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servidor com n = 100 e compare a amplitude do IC obtido.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compósito com confiança de 99% e compare com o resultado de 95%.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5638</TotalTime>
  <Words>1677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Tema do Office</vt:lpstr>
      <vt:lpstr>CEA055 – Estatística e Probabilidade Intervalo de Confiança para a Média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244</cp:revision>
  <dcterms:created xsi:type="dcterms:W3CDTF">2020-07-20T19:35:15Z</dcterms:created>
  <dcterms:modified xsi:type="dcterms:W3CDTF">2026-10-28T12:40:54Z</dcterms:modified>
</cp:coreProperties>
</file>