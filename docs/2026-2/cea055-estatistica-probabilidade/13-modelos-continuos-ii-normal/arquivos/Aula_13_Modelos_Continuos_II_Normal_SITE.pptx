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900" r:id="rId2"/>
    <p:sldId id="273" r:id="rId3"/>
    <p:sldId id="274" r:id="rId4"/>
    <p:sldId id="276" r:id="rId5"/>
    <p:sldId id="277" r:id="rId6"/>
    <p:sldId id="278" r:id="rId7"/>
    <p:sldId id="279" r:id="rId8"/>
    <p:sldId id="280" r:id="rId9"/>
    <p:sldId id="298" r:id="rId10"/>
    <p:sldId id="299" r:id="rId11"/>
    <p:sldId id="300" r:id="rId12"/>
    <p:sldId id="301" r:id="rId13"/>
    <p:sldId id="289" r:id="rId14"/>
    <p:sldId id="909" r:id="rId15"/>
    <p:sldId id="910" r:id="rId16"/>
    <p:sldId id="318" r:id="rId17"/>
    <p:sldId id="911" r:id="rId18"/>
    <p:sldId id="912" r:id="rId19"/>
    <p:sldId id="902" r:id="rId20"/>
    <p:sldId id="903" r:id="rId21"/>
    <p:sldId id="288" r:id="rId22"/>
    <p:sldId id="319" r:id="rId23"/>
    <p:sldId id="913" r:id="rId24"/>
    <p:sldId id="917" r:id="rId25"/>
    <p:sldId id="914" r:id="rId26"/>
    <p:sldId id="290" r:id="rId27"/>
    <p:sldId id="315" r:id="rId28"/>
    <p:sldId id="916" r:id="rId29"/>
    <p:sldId id="905" r:id="rId30"/>
    <p:sldId id="906" r:id="rId31"/>
    <p:sldId id="901" r:id="rId32"/>
    <p:sldId id="908" r:id="rId33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II: Distribuição Normal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75061" y="1340760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normal e a distribuição normal padrão.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Padronizar variáveis normais e utilizar a tabela da normal padrão.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Morettin. </a:t>
            </a:r>
            <a:r>
              <a:rPr lang="pt-BR" sz="2400" b="1" dirty="0"/>
              <a:t>Estatística Básica</a:t>
            </a:r>
            <a:r>
              <a:rPr lang="pt-BR" sz="2400" dirty="0"/>
              <a:t>, 9ed — Cap. 7 (7.4.2)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Montgomery, Runger</a:t>
            </a:r>
            <a:r>
              <a:rPr lang="pt-BR" sz="2400"/>
              <a:t>. </a:t>
            </a:r>
            <a:r>
              <a:rPr lang="pt-BR" sz="2400" b="1"/>
              <a:t>Estatística Aplicada e Probabilidade para Engenheiros</a:t>
            </a:r>
            <a:r>
              <a:rPr lang="pt-BR" sz="2400"/>
              <a:t>, 7ª ed. — </a:t>
            </a:r>
            <a:r>
              <a:rPr lang="pt-BR" sz="2400" dirty="0"/>
              <a:t>Cap. 4 (4.5)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Magalhães, Lima. </a:t>
            </a:r>
            <a:r>
              <a:rPr lang="pt-BR" sz="2400" b="1" dirty="0"/>
              <a:t>Noções de Probabilidade e Estatística</a:t>
            </a:r>
            <a:r>
              <a:rPr lang="pt-BR" sz="2400" dirty="0"/>
              <a:t>, 5ed — Cap. 6 (6.2)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Morettin. </a:t>
            </a:r>
            <a:r>
              <a:rPr lang="pt-BR" sz="2400" b="1" dirty="0"/>
              <a:t>Estatística Básica: Probabilidade e Inferência</a:t>
            </a:r>
            <a:r>
              <a:rPr lang="pt-BR" sz="2400" dirty="0"/>
              <a:t> — Cap. 5 (5.2)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AA24BE42-8D6B-2301-DEED-4AFFAAF67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0120" y="730982"/>
                <a:ext cx="10571759" cy="5144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>
                    <a:cs typeface="Calibri" panose="020F0502020204030204" pitchFamily="34" charset="0"/>
                  </a:rPr>
                  <a:t>Modelo</a:t>
                </a:r>
                <a:r>
                  <a:rPr lang="pt-BR" sz="2400" b="1" dirty="0"/>
                  <a:t> Normal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: Dizemos que a v.a.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distribuição normal com parâmetros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se a sua densidade é dada por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–</m:t>
                          </m:r>
                          <m:f>
                            <m:f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 – </m:t>
                                      </m:r>
                                      <m:r>
                                        <a:rPr lang="pt-BR" sz="2400" i="1" dirty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–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&lt;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parâmetros devem satisfazer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∞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&lt;+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pt-BR" sz="24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400" dirty="0"/>
                  <a:t>e</a:t>
                </a:r>
                <a:r>
                  <a:rPr lang="pt-BR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&lt; </m:t>
                    </m:r>
                    <m:sSup>
                      <m:sSup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0" y="730982"/>
                <a:ext cx="10571759" cy="5144293"/>
              </a:xfrm>
              <a:prstGeom prst="rect">
                <a:avLst/>
              </a:prstGeom>
              <a:blipFill>
                <a:blip r:embed="rId2"/>
                <a:stretch>
                  <a:fillRect l="-923" r="-634" b="-17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4996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61542" y="593319"/>
            <a:ext cx="105717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cs typeface="Calibri" panose="020F0502020204030204" pitchFamily="34" charset="0"/>
              </a:rPr>
              <a:t>Gráfico</a:t>
            </a:r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0A8CDA-9092-4FF7-B1C7-5F578CCA0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971" y="1415097"/>
            <a:ext cx="7073094" cy="444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7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08800" y="691225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Notação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00" y="691225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090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4980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02174" y="651469"/>
                <a:ext cx="10067277" cy="1259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F.d.a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74" y="651469"/>
                <a:ext cx="10067277" cy="1259704"/>
              </a:xfrm>
              <a:prstGeom prst="rect">
                <a:avLst/>
              </a:prstGeom>
              <a:blipFill>
                <a:blip r:embed="rId2"/>
                <a:stretch>
                  <a:fillRect l="-848" t="-38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5F3CB6-4F9B-41C0-A131-AF3B59C10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228" y="2378076"/>
            <a:ext cx="5089167" cy="347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6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0120" y="856878"/>
                <a:ext cx="10571759" cy="5107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>
                    <a:cs typeface="Calibri" panose="020F0502020204030204" pitchFamily="34" charset="0"/>
                  </a:rPr>
                  <a:t>Modelo</a:t>
                </a:r>
                <a:r>
                  <a:rPr lang="pt-BR" sz="2400" b="1" dirty="0"/>
                  <a:t> Normal padrão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  <a:r>
                  <a:rPr lang="pt-BR" sz="2400" dirty="0"/>
                  <a:t>: Dizemos que a v.a.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distribuição normal padrão se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</a:t>
                </a:r>
                <a:r>
                  <a:rPr lang="pt-BR" sz="2400" u="sng" dirty="0"/>
                  <a:t>distribuição normal </a:t>
                </a:r>
                <a:r>
                  <a:rPr lang="pt-BR" sz="2400" dirty="0"/>
                  <a:t>com parâmetros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400" dirty="0"/>
                  <a:t>. Logo,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–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pt-B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–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&lt;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Daqui em diante nos referiremos à normal padrão pela letra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Notação: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0" y="856878"/>
                <a:ext cx="10571759" cy="5107937"/>
              </a:xfrm>
              <a:prstGeom prst="rect">
                <a:avLst/>
              </a:prstGeom>
              <a:blipFill>
                <a:blip r:embed="rId2"/>
                <a:stretch>
                  <a:fillRect l="-923" b="-19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5666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0120" y="631591"/>
            <a:ext cx="105717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cs typeface="Calibri" panose="020F0502020204030204" pitchFamily="34" charset="0"/>
              </a:rPr>
              <a:t>Gráfico</a:t>
            </a:r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C30F28-F79A-4DC6-83A2-07440152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60" y="1242678"/>
            <a:ext cx="5273577" cy="457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0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61809" y="750860"/>
                <a:ext cx="10067277" cy="5371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F.d.a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i="1" dirty="0" err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  <m:e>
                          <m:f>
                            <m:f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 err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09" y="750860"/>
                <a:ext cx="10067277" cy="5371855"/>
              </a:xfrm>
              <a:prstGeom prst="rect">
                <a:avLst/>
              </a:prstGeom>
              <a:blipFill>
                <a:blip r:embed="rId2"/>
                <a:stretch>
                  <a:fillRect l="-10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8775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8922" y="757486"/>
            <a:ext cx="100672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Para calcularmos probabilidades envolvendo a normal padrão, usaremos uma tabela. </a:t>
            </a:r>
          </a:p>
          <a:p>
            <a:endParaRPr lang="pt-BR" sz="2400" dirty="0"/>
          </a:p>
          <a:p>
            <a:r>
              <a:rPr lang="pt-BR" sz="2400" dirty="0"/>
              <a:t>A tabela apresenta os valores da área sob o gráfico da curva da normal. Temos vários tipos de tabela. </a:t>
            </a:r>
          </a:p>
          <a:p>
            <a:endParaRPr lang="pt-BR" sz="2400" dirty="0"/>
          </a:p>
          <a:p>
            <a:r>
              <a:rPr lang="pt-BR" sz="2400" dirty="0"/>
              <a:t>A seguir, apresentaremos alguns exemplos.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6802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26" name="Picture 2" descr="Tabela da distribuição Normal Padrão">
            <a:extLst>
              <a:ext uri="{FF2B5EF4-FFF2-40B4-BE49-F238E27FC236}">
                <a16:creationId xmlns:a16="http://schemas.microsoft.com/office/drawing/2014/main" id="{272C8788-33BD-4B8D-2364-2AECD301C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2" y="69122"/>
            <a:ext cx="5082344" cy="640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7D7CAB6-1CA1-606B-96B3-38D95D39266E}"/>
                  </a:ext>
                </a:extLst>
              </p:cNvPr>
              <p:cNvSpPr txBox="1"/>
              <p:nvPr/>
            </p:nvSpPr>
            <p:spPr>
              <a:xfrm>
                <a:off x="6042992" y="509723"/>
                <a:ext cx="5661328" cy="5852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Esta tabela dá a área entre o centro da curva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pt-BR" sz="2400" dirty="0"/>
                  <a:t> e o valor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400" dirty="0"/>
                  <a:t>. Ela vai de 0 a 0,5, porque cada metade da curva tem área 0,5. </a:t>
                </a:r>
                <a:r>
                  <a:rPr lang="pt-BR" sz="2000" dirty="0">
                    <a:solidFill>
                      <a:srgbClr val="FF0000"/>
                    </a:solidFill>
                  </a:rPr>
                  <a:t>Nas linhas, a parte inteira e o primeiro dígito depois da vírgula (ex.: 1,2); nas colunas, o segundo dígito (ex.: 0,05).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(0≤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≤1,25)=0,3944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a área à esquerda de z, some a metade esquerda: P(Z ≤ 1,25) = 0,5 + 0,3944 = 0,8944.</a:t>
                </a: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7D7CAB6-1CA1-606B-96B3-38D95D392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992" y="509723"/>
                <a:ext cx="5661328" cy="5852051"/>
              </a:xfrm>
              <a:prstGeom prst="rect">
                <a:avLst/>
              </a:prstGeom>
              <a:blipFill>
                <a:blip r:embed="rId3"/>
                <a:stretch>
                  <a:fillRect l="-1615" r="-2045" b="-14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3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3658E0-6145-244A-01D3-735BB26B5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1" y="0"/>
            <a:ext cx="4941668" cy="650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C357185-3A1A-E5B1-0FDF-1FEBD10B80BE}"/>
                  </a:ext>
                </a:extLst>
              </p:cNvPr>
              <p:cNvSpPr txBox="1"/>
              <p:nvPr/>
            </p:nvSpPr>
            <p:spPr>
              <a:xfrm>
                <a:off x="6042992" y="509723"/>
                <a:ext cx="5445758" cy="5021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Esta tabela dá a área à esquerda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400" dirty="0"/>
                  <a:t>, isto é, a probabilidade acumulada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≤1,25)=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(1,25)=0,8944.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a área à direita, use o complementar: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≥1,25)=1−0,8944=0,1056.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C357185-3A1A-E5B1-0FDF-1FEBD10B8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992" y="509723"/>
                <a:ext cx="5445758" cy="5021055"/>
              </a:xfrm>
              <a:prstGeom prst="rect">
                <a:avLst/>
              </a:prstGeom>
              <a:blipFill>
                <a:blip r:embed="rId3"/>
                <a:stretch>
                  <a:fillRect l="-1678" r="-22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331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485857-3E91-3DE5-DAD6-9DAD161A1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" y="12806"/>
            <a:ext cx="5000283" cy="649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1D238C9C-5D32-DD6F-954A-301C418B69CF}"/>
                  </a:ext>
                </a:extLst>
              </p:cNvPr>
              <p:cNvSpPr txBox="1"/>
              <p:nvPr/>
            </p:nvSpPr>
            <p:spPr>
              <a:xfrm>
                <a:off x="6042992" y="509723"/>
                <a:ext cx="544575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pt-BR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Esta tabela dá a área à direita de z, a “cauda” da curva. Ela é útil quando a pergunta é sobre valores grandes, como “passar de um limite”.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≥ 1,25) = 0,1056.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a área à esquerda, use o complementar: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≤1,25)=1−0,1056=0,8944.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1D238C9C-5D32-DD6F-954A-301C418B6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992" y="509723"/>
                <a:ext cx="5445758" cy="5632311"/>
              </a:xfrm>
              <a:prstGeom prst="rect">
                <a:avLst/>
              </a:prstGeom>
              <a:blipFill>
                <a:blip r:embed="rId3"/>
                <a:stretch>
                  <a:fillRect l="-1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331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2661" y="598460"/>
                <a:ext cx="1006727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Exemplo: </a:t>
                </a: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400" dirty="0"/>
                  <a:t>. Calcule:</a:t>
                </a:r>
              </a:p>
              <a:p>
                <a:endParaRPr lang="pt-BR" sz="2400" b="1" dirty="0"/>
              </a:p>
              <a:p>
                <a:r>
                  <a:rPr lang="pt-BR" sz="2400" dirty="0"/>
                  <a:t>Dica: em cada caso, desenhe a área procurada abaixo da </a:t>
                </a:r>
                <a:r>
                  <a:rPr lang="pt-BR" sz="2400" dirty="0" err="1"/>
                  <a:t>f.d.p</a:t>
                </a:r>
                <a:r>
                  <a:rPr lang="pt-BR" sz="2400" dirty="0"/>
                  <a:t>. antes de usar a tabela</a:t>
                </a:r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pt-BR" sz="2400" b="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b="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b="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b="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b="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b="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&lt;−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" y="598460"/>
                <a:ext cx="10067277" cy="5632311"/>
              </a:xfrm>
              <a:prstGeom prst="rect">
                <a:avLst/>
              </a:prstGeom>
              <a:blipFill>
                <a:blip r:embed="rId2"/>
                <a:stretch>
                  <a:fillRect l="-969" t="-866" b="-1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7524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6401" y="369913"/>
                <a:ext cx="10597140" cy="5250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Resolução</a:t>
                </a:r>
                <a:r>
                  <a:rPr sz="24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sz="2400" dirty="0"/>
                  <a:t>A </a:t>
                </a:r>
                <a:r>
                  <a:rPr sz="2400" dirty="0" err="1"/>
                  <a:t>tabela</a:t>
                </a:r>
                <a:r>
                  <a:rPr sz="2400" dirty="0"/>
                  <a:t> </a:t>
                </a:r>
                <a:r>
                  <a:rPr sz="2400" dirty="0" err="1"/>
                  <a:t>dá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 dirty="0"/>
                  <a:t>, a </a:t>
                </a:r>
                <a:r>
                  <a:rPr sz="2400" dirty="0" err="1"/>
                  <a:t>área</a:t>
                </a:r>
                <a:r>
                  <a:rPr sz="2400" dirty="0"/>
                  <a:t> entre 0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</m:oMath>
                </a14:m>
                <a:r>
                  <a:rPr sz="2400" dirty="0"/>
                  <a:t>. </a:t>
                </a:r>
                <a:r>
                  <a:rPr sz="2400" dirty="0" err="1"/>
                  <a:t>Cada</a:t>
                </a:r>
                <a:r>
                  <a:rPr sz="2400" dirty="0"/>
                  <a:t> </a:t>
                </a:r>
                <a:r>
                  <a:rPr sz="2400" dirty="0" err="1"/>
                  <a:t>metade</a:t>
                </a:r>
                <a:r>
                  <a:rPr sz="2400" dirty="0"/>
                  <a:t> da curva </a:t>
                </a:r>
                <a:r>
                  <a:rPr sz="2400" dirty="0" err="1"/>
                  <a:t>tem</a:t>
                </a:r>
                <a:r>
                  <a:rPr sz="2400" dirty="0"/>
                  <a:t> </a:t>
                </a:r>
                <a:r>
                  <a:rPr sz="2400" dirty="0" err="1"/>
                  <a:t>área</a:t>
                </a:r>
                <a:r>
                  <a:rPr sz="2400" dirty="0"/>
                  <a:t> 0,5.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/>
                  <a:t>a) </a:t>
                </a:r>
                <a:r>
                  <a:rPr sz="2400" dirty="0"/>
                  <a:t>A curva é </a:t>
                </a:r>
                <a:r>
                  <a:rPr sz="2400" dirty="0" err="1"/>
                  <a:t>simétrica</a:t>
                </a:r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torno</a:t>
                </a:r>
                <a:r>
                  <a:rPr sz="2400" dirty="0"/>
                  <a:t> de 0: </a:t>
                </a:r>
                <a:r>
                  <a:rPr sz="2400" dirty="0" err="1"/>
                  <a:t>metade</a:t>
                </a:r>
                <a:r>
                  <a:rPr sz="2400" dirty="0"/>
                  <a:t> da </a:t>
                </a:r>
                <a:r>
                  <a:rPr sz="2400" dirty="0" err="1"/>
                  <a:t>área</a:t>
                </a:r>
                <a:r>
                  <a:rPr sz="2400" dirty="0"/>
                  <a:t> de </a:t>
                </a:r>
                <a:r>
                  <a:rPr sz="2400" dirty="0" err="1"/>
                  <a:t>cada</a:t>
                </a:r>
                <a:r>
                  <a:rPr sz="2400" dirty="0"/>
                  <a:t> </a:t>
                </a:r>
                <a:r>
                  <a:rPr sz="2400" dirty="0" err="1"/>
                  <a:t>lado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≥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</m:oMath>
                </a14:m>
                <a:r>
                  <a:rPr sz="2400" dirty="0"/>
                  <a:t>.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/>
                  <a:t>b) </a:t>
                </a:r>
                <a:r>
                  <a:rPr sz="2400" dirty="0" err="1"/>
                  <a:t>Área</a:t>
                </a:r>
                <a:r>
                  <a:rPr sz="2400" dirty="0"/>
                  <a:t> à </a:t>
                </a:r>
                <a:r>
                  <a:rPr sz="2400" dirty="0" err="1"/>
                  <a:t>direita</a:t>
                </a:r>
                <a:r>
                  <a:rPr sz="2400" dirty="0"/>
                  <a:t> de 1 = </a:t>
                </a:r>
                <a:r>
                  <a:rPr sz="2400" dirty="0" err="1"/>
                  <a:t>metade</a:t>
                </a:r>
                <a:r>
                  <a:rPr sz="2400" dirty="0"/>
                  <a:t> </a:t>
                </a:r>
                <a:r>
                  <a:rPr sz="2400" dirty="0" err="1"/>
                  <a:t>direita</a:t>
                </a:r>
                <a:r>
                  <a:rPr sz="2400" dirty="0"/>
                  <a:t> </a:t>
                </a:r>
                <a:r>
                  <a:rPr sz="2400" dirty="0" err="1"/>
                  <a:t>menos</a:t>
                </a:r>
                <a:r>
                  <a:rPr sz="2400" dirty="0"/>
                  <a:t> o </a:t>
                </a:r>
                <a:r>
                  <a:rPr sz="2400" dirty="0" err="1"/>
                  <a:t>pedaço</a:t>
                </a:r>
                <a:r>
                  <a:rPr sz="2400" dirty="0"/>
                  <a:t> entre 0 e 1: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≥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3413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1587</m:t>
                    </m:r>
                  </m:oMath>
                </a14:m>
                <a:r>
                  <a:rPr sz="2400" dirty="0"/>
                  <a:t>.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/>
                  <a:t>c) </a:t>
                </a:r>
                <a:r>
                  <a:rPr sz="2400" dirty="0"/>
                  <a:t>Entre 0 e 1 é </a:t>
                </a:r>
                <a:r>
                  <a:rPr sz="2400" dirty="0" err="1"/>
                  <a:t>exatamente</a:t>
                </a:r>
                <a:r>
                  <a:rPr sz="2400" dirty="0"/>
                  <a:t> o que a </a:t>
                </a:r>
                <a:r>
                  <a:rPr sz="2400" dirty="0" err="1"/>
                  <a:t>tabela</a:t>
                </a:r>
                <a:r>
                  <a:rPr sz="2400" dirty="0"/>
                  <a:t> </a:t>
                </a:r>
                <a:r>
                  <a:rPr sz="2400" dirty="0" err="1"/>
                  <a:t>dá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3413</m:t>
                    </m:r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01" y="369913"/>
                <a:ext cx="10597140" cy="5250925"/>
              </a:xfrm>
              <a:prstGeom prst="rect">
                <a:avLst/>
              </a:prstGeom>
              <a:blipFill>
                <a:blip r:embed="rId2"/>
                <a:stretch>
                  <a:fillRect l="-921" b="-17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2661" y="575322"/>
                <a:ext cx="10597140" cy="3493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 dirty="0"/>
                  <a:t>d) </a:t>
                </a:r>
                <a:r>
                  <a:rPr sz="2400" dirty="0"/>
                  <a:t>Entre −0,5 e 0,5. Pela </a:t>
                </a:r>
                <a:r>
                  <a:rPr sz="2400" dirty="0" err="1"/>
                  <a:t>simetria</a:t>
                </a:r>
                <a:r>
                  <a:rPr sz="2400" dirty="0"/>
                  <a:t>, a </a:t>
                </a:r>
                <a:r>
                  <a:rPr sz="2400" dirty="0" err="1"/>
                  <a:t>área</a:t>
                </a:r>
                <a:r>
                  <a:rPr sz="2400" dirty="0"/>
                  <a:t> de −0,5 a 0 é </a:t>
                </a:r>
                <a:r>
                  <a:rPr sz="2400" dirty="0" err="1"/>
                  <a:t>igual</a:t>
                </a:r>
                <a:r>
                  <a:rPr sz="2400" dirty="0"/>
                  <a:t> à de 0 a 0,5: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(−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·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1915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3830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/>
                  <a:t>e) </a:t>
                </a:r>
                <a:r>
                  <a:rPr sz="2400" dirty="0" err="1"/>
                  <a:t>Área</a:t>
                </a:r>
                <a:r>
                  <a:rPr sz="2400" dirty="0"/>
                  <a:t> à </a:t>
                </a:r>
                <a:r>
                  <a:rPr sz="2400" dirty="0" err="1"/>
                  <a:t>esquerda</a:t>
                </a:r>
                <a:r>
                  <a:rPr sz="2400" dirty="0"/>
                  <a:t> de −2. Pela </a:t>
                </a:r>
                <a:r>
                  <a:rPr sz="2400" dirty="0" err="1"/>
                  <a:t>simetria</a:t>
                </a:r>
                <a:r>
                  <a:rPr sz="2400" dirty="0"/>
                  <a:t>, é </a:t>
                </a:r>
                <a:r>
                  <a:rPr sz="2400" dirty="0" err="1"/>
                  <a:t>igual</a:t>
                </a:r>
                <a:r>
                  <a:rPr sz="2400" dirty="0"/>
                  <a:t> à </a:t>
                </a:r>
                <a:r>
                  <a:rPr sz="2400" dirty="0" err="1"/>
                  <a:t>área</a:t>
                </a:r>
                <a:r>
                  <a:rPr sz="2400" dirty="0"/>
                  <a:t> à </a:t>
                </a:r>
                <a:r>
                  <a:rPr sz="2400" dirty="0" err="1"/>
                  <a:t>direita</a:t>
                </a:r>
                <a:r>
                  <a:rPr sz="2400" dirty="0"/>
                  <a:t> de 2: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&lt;−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&gt;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−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−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4772</m:t>
                      </m:r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0228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" y="575322"/>
                <a:ext cx="10597140" cy="3493264"/>
              </a:xfrm>
              <a:prstGeom prst="rect">
                <a:avLst/>
              </a:prstGeom>
              <a:blipFill>
                <a:blip r:embed="rId2"/>
                <a:stretch>
                  <a:fillRect l="-9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5914" y="677973"/>
                <a:ext cx="10067277" cy="3847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Exemplo: </a:t>
                </a: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400" dirty="0"/>
                  <a:t>. Encontre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tal que:</a:t>
                </a:r>
              </a:p>
              <a:p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pt-BR" sz="2400" b="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b="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b="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≤−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14" y="677973"/>
                <a:ext cx="10067277" cy="3847207"/>
              </a:xfrm>
              <a:prstGeom prst="rect">
                <a:avLst/>
              </a:prstGeom>
              <a:blipFill>
                <a:blip r:embed="rId2"/>
                <a:stretch>
                  <a:fillRect l="-969" t="-12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478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5913" y="615078"/>
                <a:ext cx="10597140" cy="5173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Resolução:</a:t>
                </a:r>
              </a:p>
              <a:p>
                <a:pPr>
                  <a:lnSpc>
                    <a:spcPct val="130000"/>
                  </a:lnSpc>
                </a:pPr>
                <a:r>
                  <a:rPr sz="2400" dirty="0"/>
                  <a:t>Agora a </a:t>
                </a:r>
                <a:r>
                  <a:rPr sz="2400" b="1" dirty="0" err="1"/>
                  <a:t>área</a:t>
                </a:r>
                <a:r>
                  <a:rPr sz="2400" dirty="0"/>
                  <a:t> é dada e o </a:t>
                </a:r>
                <a:r>
                  <a:rPr sz="2400" b="1" dirty="0"/>
                  <a:t>valor</a:t>
                </a:r>
                <a:r>
                  <a:rPr sz="2400" dirty="0"/>
                  <a:t> é que </a:t>
                </a:r>
                <a:r>
                  <a:rPr sz="2400" dirty="0" err="1"/>
                  <a:t>falta</a:t>
                </a:r>
                <a:r>
                  <a:rPr sz="2400" dirty="0"/>
                  <a:t>. </a:t>
                </a:r>
                <a:r>
                  <a:rPr sz="2400" dirty="0" err="1"/>
                  <a:t>Roteiro</a:t>
                </a:r>
                <a:r>
                  <a:rPr sz="2400" dirty="0"/>
                  <a:t>: (1) </a:t>
                </a:r>
                <a:r>
                  <a:rPr sz="2400" dirty="0" err="1"/>
                  <a:t>escrever</a:t>
                </a:r>
                <a:r>
                  <a:rPr sz="2400" dirty="0"/>
                  <a:t> a </a:t>
                </a:r>
                <a:r>
                  <a:rPr sz="2400" dirty="0" err="1"/>
                  <a:t>área</a:t>
                </a:r>
                <a:r>
                  <a:rPr sz="2400" dirty="0"/>
                  <a:t> </a:t>
                </a:r>
                <a:r>
                  <a:rPr sz="2400" dirty="0" err="1"/>
                  <a:t>pedida</a:t>
                </a:r>
                <a:r>
                  <a:rPr sz="2400" dirty="0"/>
                  <a:t> </a:t>
                </a:r>
                <a:r>
                  <a:rPr sz="2400" dirty="0" err="1"/>
                  <a:t>como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)=…</m:t>
                    </m:r>
                  </m:oMath>
                </a14:m>
                <a:r>
                  <a:rPr sz="2400" dirty="0"/>
                  <a:t>; (2) </a:t>
                </a:r>
                <a:r>
                  <a:rPr sz="2400" dirty="0" err="1"/>
                  <a:t>procurar</a:t>
                </a:r>
                <a:r>
                  <a:rPr sz="2400" dirty="0"/>
                  <a:t> </a:t>
                </a:r>
                <a:r>
                  <a:rPr sz="2400" dirty="0" err="1"/>
                  <a:t>esse</a:t>
                </a:r>
                <a:r>
                  <a:rPr sz="2400" dirty="0"/>
                  <a:t> </a:t>
                </a:r>
                <a:r>
                  <a:rPr sz="2400" dirty="0" err="1"/>
                  <a:t>número</a:t>
                </a:r>
                <a:r>
                  <a:rPr sz="2400" dirty="0"/>
                  <a:t> no </a:t>
                </a:r>
                <a:r>
                  <a:rPr sz="2400" b="1" dirty="0" err="1"/>
                  <a:t>meio</a:t>
                </a:r>
                <a:r>
                  <a:rPr sz="2400" dirty="0"/>
                  <a:t> da </a:t>
                </a:r>
                <a:r>
                  <a:rPr sz="2400" dirty="0" err="1"/>
                  <a:t>tabela</a:t>
                </a:r>
                <a:r>
                  <a:rPr sz="2400" dirty="0"/>
                  <a:t>; (3) </a:t>
                </a:r>
                <a:r>
                  <a:rPr sz="2400" dirty="0" err="1"/>
                  <a:t>ler</a:t>
                </a:r>
                <a:r>
                  <a:rPr sz="2400" dirty="0"/>
                  <a:t> 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</m:oMath>
                </a14:m>
                <a:r>
                  <a:rPr sz="2400" dirty="0"/>
                  <a:t> </a:t>
                </a:r>
                <a:r>
                  <a:rPr sz="2400" dirty="0" err="1"/>
                  <a:t>na</a:t>
                </a:r>
                <a:r>
                  <a:rPr sz="2400" dirty="0"/>
                  <a:t> </a:t>
                </a:r>
                <a:r>
                  <a:rPr sz="2400" dirty="0" err="1"/>
                  <a:t>margem</a:t>
                </a:r>
                <a:r>
                  <a:rPr sz="2400" dirty="0"/>
                  <a:t>.</a:t>
                </a:r>
                <a:endParaRPr lang="pt-BR" sz="2400" dirty="0"/>
              </a:p>
              <a:p>
                <a:pPr>
                  <a:lnSpc>
                    <a:spcPct val="130000"/>
                  </a:lnSpc>
                </a:pPr>
                <a:endParaRPr sz="2400" dirty="0"/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sz="2400" b="1" dirty="0"/>
                  <a:t>a)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≥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3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⇒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3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⇒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2</m:t>
                    </m:r>
                  </m:oMath>
                </a14:m>
                <a:endParaRPr sz="2400" b="1" dirty="0"/>
              </a:p>
              <a:p>
                <a:pPr>
                  <a:lnSpc>
                    <a:spcPct val="130000"/>
                  </a:lnSpc>
                </a:pPr>
                <a:r>
                  <a:rPr sz="2400" dirty="0"/>
                  <a:t>Na </a:t>
                </a:r>
                <a:r>
                  <a:rPr sz="2400" dirty="0" err="1"/>
                  <a:t>tabela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52</m:t>
                    </m:r>
                    <m:r>
                      <a:rPr lang="pt-BR" sz="2400">
                        <a:latin typeface="Cambria Math"/>
                      </a:rPr>
                      <m:t>→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1985</m:t>
                    </m:r>
                  </m:oMath>
                </a14:m>
                <a:r>
                  <a:rPr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53</m:t>
                    </m:r>
                    <m:r>
                      <a:rPr lang="pt-BR" sz="2400">
                        <a:latin typeface="Cambria Math"/>
                      </a:rPr>
                      <m:t>→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2019</m:t>
                    </m:r>
                  </m:oMath>
                </a14:m>
                <a:r>
                  <a:rPr sz="2400" dirty="0"/>
                  <a:t>. O </a:t>
                </a:r>
                <a:r>
                  <a:rPr sz="2400" dirty="0" err="1"/>
                  <a:t>mais</a:t>
                </a:r>
                <a:r>
                  <a:rPr sz="2400" dirty="0"/>
                  <a:t> </a:t>
                </a:r>
                <a:r>
                  <a:rPr sz="2400" dirty="0" err="1"/>
                  <a:t>próximo</a:t>
                </a:r>
                <a:r>
                  <a:rPr sz="2400" dirty="0"/>
                  <a:t> de 0,2 é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≈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52</m:t>
                    </m:r>
                  </m:oMath>
                </a14:m>
                <a:r>
                  <a:rPr sz="2400" dirty="0"/>
                  <a:t>.</a:t>
                </a:r>
                <a:endParaRPr lang="pt-BR" sz="2400" dirty="0"/>
              </a:p>
              <a:p>
                <a:pPr>
                  <a:lnSpc>
                    <a:spcPct val="130000"/>
                  </a:lnSpc>
                </a:pPr>
                <a:endParaRPr sz="2400" dirty="0"/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sz="2400" b="1" dirty="0"/>
                  <a:t>b)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(−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8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⇒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2</m:t>
                    </m:r>
                    <m:r>
                      <a:rPr lang="pt-BR" sz="2400">
                        <a:latin typeface="Cambria Math"/>
                      </a:rPr>
                      <m:t>·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8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⇒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4</m:t>
                    </m:r>
                  </m:oMath>
                </a14:m>
                <a:endParaRPr sz="2400" b="1" dirty="0"/>
              </a:p>
              <a:p>
                <a:pPr>
                  <a:lnSpc>
                    <a:spcPct val="130000"/>
                  </a:lnSpc>
                </a:pPr>
                <a:r>
                  <a:rPr sz="2400" dirty="0"/>
                  <a:t>Na </a:t>
                </a:r>
                <a:r>
                  <a:rPr sz="2400" dirty="0" err="1"/>
                  <a:t>tabela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28</m:t>
                    </m:r>
                    <m:r>
                      <a:rPr lang="pt-BR" sz="2400">
                        <a:latin typeface="Cambria Math"/>
                      </a:rPr>
                      <m:t>→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3997</m:t>
                    </m:r>
                  </m:oMath>
                </a14:m>
                <a:r>
                  <a:rPr sz="2400" dirty="0"/>
                  <a:t>, </a:t>
                </a:r>
                <a:r>
                  <a:rPr sz="2400" dirty="0" err="1"/>
                  <a:t>então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≈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28</m:t>
                    </m:r>
                  </m:oMath>
                </a14:m>
                <a:r>
                  <a:rPr sz="2400" dirty="0"/>
                  <a:t>.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13" y="615078"/>
                <a:ext cx="10597140" cy="5173980"/>
              </a:xfrm>
              <a:prstGeom prst="rect">
                <a:avLst/>
              </a:prstGeom>
              <a:blipFill>
                <a:blip r:embed="rId2"/>
                <a:stretch>
                  <a:fillRect l="-1208" b="-17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9531" y="542191"/>
                <a:ext cx="10597140" cy="4602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</a:p>
              <a:p>
                <a:pPr>
                  <a:lnSpc>
                    <a:spcPct val="130000"/>
                  </a:lnSpc>
                </a:pPr>
                <a:r>
                  <a:rPr sz="2400" b="1" dirty="0"/>
                  <a:t>c)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(0≤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)=0,25</m:t>
                    </m:r>
                  </m:oMath>
                </a14:m>
                <a:r>
                  <a:rPr sz="2400" dirty="0"/>
                  <a:t> </a:t>
                </a:r>
                <a:r>
                  <a:rPr sz="2400" dirty="0" err="1"/>
                  <a:t>já</a:t>
                </a:r>
                <a:r>
                  <a:rPr sz="2400" dirty="0"/>
                  <a:t> é a </a:t>
                </a:r>
                <a:r>
                  <a:rPr sz="2400" dirty="0" err="1"/>
                  <a:t>área</a:t>
                </a:r>
                <a:r>
                  <a:rPr sz="2400" dirty="0"/>
                  <a:t> da </a:t>
                </a:r>
                <a:r>
                  <a:rPr sz="2400" dirty="0" err="1"/>
                  <a:t>tabela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sz="2400" dirty="0"/>
                  <a:t>Na </a:t>
                </a:r>
                <a:r>
                  <a:rPr sz="2400" dirty="0" err="1"/>
                  <a:t>tabela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0,67→0,2486</m:t>
                    </m:r>
                  </m:oMath>
                </a14:m>
                <a:r>
                  <a:rPr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0,68→0,2517</m:t>
                    </m:r>
                  </m:oMath>
                </a14:m>
                <a:r>
                  <a:rPr sz="2400" dirty="0"/>
                  <a:t>, </a:t>
                </a:r>
                <a:r>
                  <a:rPr sz="2400" dirty="0" err="1"/>
                  <a:t>então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≈0,67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sz="2400" b="1" dirty="0"/>
                  <a:t>d)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≤−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)=0,1</m:t>
                    </m:r>
                  </m:oMath>
                </a14:m>
                <a:r>
                  <a:rPr sz="2400" dirty="0"/>
                  <a:t>. Pela </a:t>
                </a:r>
                <a:r>
                  <a:rPr sz="2400" dirty="0" err="1"/>
                  <a:t>simetria</a:t>
                </a:r>
                <a:r>
                  <a:rPr sz="2400" dirty="0"/>
                  <a:t>, a </a:t>
                </a:r>
                <a:r>
                  <a:rPr sz="2400" dirty="0" err="1"/>
                  <a:t>área</a:t>
                </a:r>
                <a:r>
                  <a:rPr sz="2400" dirty="0"/>
                  <a:t> à </a:t>
                </a:r>
                <a:r>
                  <a:rPr sz="2400" dirty="0" err="1"/>
                  <a:t>esquerda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𝑧</m:t>
                    </m:r>
                  </m:oMath>
                </a14:m>
                <a:r>
                  <a:rPr sz="2400" dirty="0"/>
                  <a:t> é </a:t>
                </a:r>
                <a:r>
                  <a:rPr sz="2400" dirty="0" err="1"/>
                  <a:t>igual</a:t>
                </a:r>
                <a:r>
                  <a:rPr sz="2400" dirty="0"/>
                  <a:t> à </a:t>
                </a:r>
                <a:r>
                  <a:rPr sz="2400" dirty="0" err="1"/>
                  <a:t>área</a:t>
                </a:r>
                <a:r>
                  <a:rPr sz="2400" dirty="0"/>
                  <a:t> à </a:t>
                </a:r>
                <a:r>
                  <a:rPr sz="2400" dirty="0" err="1"/>
                  <a:t>direita</a:t>
                </a:r>
                <a:r>
                  <a:rPr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</m:oMath>
                </a14:m>
                <a:r>
                  <a:rPr sz="2400" dirty="0"/>
                  <a:t>: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≥</m:t>
                      </m:r>
                      <m:r>
                        <a:rPr lang="pt-BR" sz="2400">
                          <a:latin typeface="Cambria Math"/>
                        </a:rPr>
                        <m:t>𝑧</m:t>
                      </m:r>
                      <m:r>
                        <a:rPr lang="pt-BR" sz="2400">
                          <a:latin typeface="Cambria Math"/>
                        </a:rPr>
                        <m:t>)=0,1</m:t>
                      </m:r>
                      <m:r>
                        <m:rPr>
                          <m:nor/>
                        </m:rPr>
                        <a:rPr lang="pt-BR" sz="2400">
                          <a:latin typeface="Cambria Math"/>
                        </a:rPr>
                        <m:t> </m:t>
                      </m:r>
                      <m:r>
                        <a:rPr lang="pt-BR" sz="2400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pt-BR" sz="2400">
                          <a:latin typeface="Cambria Math"/>
                        </a:rPr>
                        <m:t> </m:t>
                      </m:r>
                      <m:r>
                        <a:rPr lang="pt-BR" sz="2400">
                          <a:latin typeface="Cambria Math"/>
                        </a:rPr>
                        <m:t>0,5−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(0≤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𝑧</m:t>
                      </m:r>
                      <m:r>
                        <a:rPr lang="pt-BR" sz="2400">
                          <a:latin typeface="Cambria Math"/>
                        </a:rPr>
                        <m:t>)=0,1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pt-BR" sz="2400">
                          <a:latin typeface="Cambria Math"/>
                        </a:rPr>
                        <m:t> 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(0≤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𝑧</m:t>
                      </m:r>
                      <m:r>
                        <a:rPr lang="pt-BR" sz="2400">
                          <a:latin typeface="Cambria Math"/>
                        </a:rPr>
                        <m:t>)=0,4</m:t>
                      </m:r>
                      <m:r>
                        <m:rPr>
                          <m:nor/>
                        </m:rPr>
                        <a:rPr lang="pt-BR" sz="2400">
                          <a:latin typeface="Cambria Math"/>
                        </a:rPr>
                        <m:t> </m:t>
                      </m:r>
                      <m:r>
                        <a:rPr lang="pt-BR" sz="2400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pt-BR" sz="2400">
                          <a:latin typeface="Cambria Math"/>
                        </a:rPr>
                        <m:t> </m:t>
                      </m:r>
                      <m:r>
                        <a:rPr lang="pt-BR" sz="2400">
                          <a:latin typeface="Cambria Math"/>
                        </a:rPr>
                        <m:t>𝑧</m:t>
                      </m:r>
                      <m:r>
                        <a:rPr lang="pt-BR" sz="2400">
                          <a:latin typeface="Cambria Math"/>
                        </a:rPr>
                        <m:t>≈1,28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sz="2400" b="1" dirty="0" err="1"/>
                  <a:t>Repare</a:t>
                </a:r>
                <a:r>
                  <a:rPr sz="2400" b="1" dirty="0"/>
                  <a:t>: </a:t>
                </a:r>
                <a:r>
                  <a:rPr sz="2400" dirty="0" err="1"/>
                  <a:t>os</a:t>
                </a:r>
                <a:r>
                  <a:rPr sz="2400" dirty="0"/>
                  <a:t> </a:t>
                </a:r>
                <a:r>
                  <a:rPr sz="2400" dirty="0" err="1"/>
                  <a:t>itens</a:t>
                </a:r>
                <a:r>
                  <a:rPr sz="2400" dirty="0"/>
                  <a:t> b) e d) </a:t>
                </a:r>
                <a:r>
                  <a:rPr sz="2400" dirty="0" err="1"/>
                  <a:t>dão</a:t>
                </a:r>
                <a:r>
                  <a:rPr sz="2400" dirty="0"/>
                  <a:t> o </a:t>
                </a:r>
                <a:r>
                  <a:rPr sz="2400" dirty="0" err="1"/>
                  <a:t>mesmo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</m:oMath>
                </a14:m>
                <a:r>
                  <a:rPr sz="2400" dirty="0"/>
                  <a:t> — </a:t>
                </a:r>
                <a:r>
                  <a:rPr sz="2400" dirty="0" err="1"/>
                  <a:t>nos</a:t>
                </a:r>
                <a:r>
                  <a:rPr sz="2400" dirty="0"/>
                  <a:t> </a:t>
                </a:r>
                <a:r>
                  <a:rPr sz="2400" dirty="0" err="1"/>
                  <a:t>dois</a:t>
                </a:r>
                <a:r>
                  <a:rPr sz="2400" dirty="0"/>
                  <a:t> </a:t>
                </a:r>
                <a:r>
                  <a:rPr sz="2400" dirty="0" err="1"/>
                  <a:t>sobra</a:t>
                </a:r>
                <a:r>
                  <a:rPr sz="2400" dirty="0"/>
                  <a:t> 0,1 de </a:t>
                </a:r>
                <a:r>
                  <a:rPr sz="2400" dirty="0" err="1"/>
                  <a:t>área</a:t>
                </a:r>
                <a:r>
                  <a:rPr sz="2400" dirty="0"/>
                  <a:t> do </a:t>
                </a:r>
                <a:r>
                  <a:rPr sz="2400" dirty="0" err="1"/>
                  <a:t>lado</a:t>
                </a:r>
                <a:r>
                  <a:rPr sz="2400" dirty="0"/>
                  <a:t> de fora.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1" y="542191"/>
                <a:ext cx="10597140" cy="4602478"/>
              </a:xfrm>
              <a:prstGeom prst="rect">
                <a:avLst/>
              </a:prstGeom>
              <a:blipFill>
                <a:blip r:embed="rId2"/>
                <a:stretch>
                  <a:fillRect l="-863" b="-21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536390"/>
                <a:ext cx="10597140" cy="3666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Exemplo</a:t>
                </a:r>
                <a:r>
                  <a:rPr sz="2400" b="1" dirty="0"/>
                  <a:t>. </a:t>
                </a:r>
                <a:r>
                  <a:rPr sz="2400" dirty="0"/>
                  <a:t>Um </a:t>
                </a:r>
                <a:r>
                  <a:rPr sz="2400" dirty="0" err="1"/>
                  <a:t>sistema</a:t>
                </a:r>
                <a:r>
                  <a:rPr sz="2400" dirty="0"/>
                  <a:t> de </a:t>
                </a:r>
                <a:r>
                  <a:rPr sz="2400" dirty="0" err="1"/>
                  <a:t>monitoramento</a:t>
                </a:r>
                <a:r>
                  <a:rPr sz="2400" dirty="0"/>
                  <a:t> </a:t>
                </a:r>
                <a:r>
                  <a:rPr sz="2400" dirty="0" err="1"/>
                  <a:t>acompanha</a:t>
                </a:r>
                <a:r>
                  <a:rPr sz="2400" dirty="0"/>
                  <a:t> o tempo de </a:t>
                </a:r>
                <a:r>
                  <a:rPr sz="2400" dirty="0" err="1"/>
                  <a:t>resposta</a:t>
                </a:r>
                <a:r>
                  <a:rPr sz="2400" dirty="0"/>
                  <a:t> de </a:t>
                </a:r>
                <a:r>
                  <a:rPr sz="2400" dirty="0" err="1"/>
                  <a:t>cada</a:t>
                </a:r>
                <a:r>
                  <a:rPr sz="2400" dirty="0"/>
                  <a:t> </a:t>
                </a:r>
                <a:r>
                  <a:rPr sz="2400" dirty="0" err="1"/>
                  <a:t>requisição</a:t>
                </a:r>
                <a:r>
                  <a:rPr sz="2400" dirty="0"/>
                  <a:t> a um </a:t>
                </a:r>
                <a:r>
                  <a:rPr sz="2400" dirty="0" err="1"/>
                  <a:t>servidor</a:t>
                </a:r>
                <a:r>
                  <a:rPr sz="2400" dirty="0"/>
                  <a:t> e o </a:t>
                </a:r>
                <a:r>
                  <a:rPr sz="2400" b="1" dirty="0" err="1"/>
                  <a:t>padroniza</a:t>
                </a:r>
                <a:r>
                  <a:rPr sz="2400" dirty="0"/>
                  <a:t>. </a:t>
                </a:r>
                <a:r>
                  <a:rPr sz="2400" dirty="0" err="1"/>
                  <a:t>Pelo</a:t>
                </a:r>
                <a:r>
                  <a:rPr sz="2400" dirty="0"/>
                  <a:t> </a:t>
                </a:r>
                <a:r>
                  <a:rPr sz="2400" dirty="0" err="1"/>
                  <a:t>histórico</a:t>
                </a:r>
                <a:r>
                  <a:rPr sz="2400" dirty="0"/>
                  <a:t>, o tempo </a:t>
                </a:r>
                <a:r>
                  <a:rPr sz="2400" dirty="0" err="1"/>
                  <a:t>padronizado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r>
                      <a:rPr lang="pt-BR" sz="2400">
                        <a:latin typeface="Cambria Math"/>
                      </a:rPr>
                      <m:t>(0,1)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sz="2400" dirty="0"/>
                  <a:t>A </a:t>
                </a:r>
                <a:r>
                  <a:rPr sz="2400" dirty="0" err="1"/>
                  <a:t>requisição</a:t>
                </a:r>
                <a:r>
                  <a:rPr sz="2400" dirty="0"/>
                  <a:t> é </a:t>
                </a:r>
                <a:r>
                  <a:rPr sz="2400" dirty="0" err="1"/>
                  <a:t>marcada</a:t>
                </a:r>
                <a:r>
                  <a:rPr sz="2400" dirty="0"/>
                  <a:t> </a:t>
                </a:r>
                <a:r>
                  <a:rPr sz="2400" dirty="0" err="1"/>
                  <a:t>como</a:t>
                </a:r>
                <a:r>
                  <a:rPr sz="2400" dirty="0"/>
                  <a:t> </a:t>
                </a:r>
                <a:r>
                  <a:rPr sz="2400" b="1" dirty="0" err="1"/>
                  <a:t>anômala</a:t>
                </a:r>
                <a:r>
                  <a:rPr sz="2400" dirty="0"/>
                  <a:t> </a:t>
                </a:r>
                <a:r>
                  <a:rPr sz="2400" dirty="0" err="1"/>
                  <a:t>quando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&gt;2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sz="2400" dirty="0"/>
                  <a:t>Qual a </a:t>
                </a:r>
                <a:r>
                  <a:rPr sz="2400" dirty="0" err="1"/>
                  <a:t>proporção</a:t>
                </a:r>
                <a:r>
                  <a:rPr sz="2400" dirty="0"/>
                  <a:t> de </a:t>
                </a:r>
                <a:r>
                  <a:rPr sz="2400" dirty="0" err="1"/>
                  <a:t>requisições</a:t>
                </a:r>
                <a:r>
                  <a:rPr sz="2400" dirty="0"/>
                  <a:t> </a:t>
                </a:r>
                <a:r>
                  <a:rPr sz="2400" dirty="0" err="1"/>
                  <a:t>marcadas</a:t>
                </a:r>
                <a:r>
                  <a:rPr sz="2400" dirty="0"/>
                  <a:t> </a:t>
                </a:r>
                <a:r>
                  <a:rPr sz="2400" dirty="0" err="1"/>
                  <a:t>como</a:t>
                </a:r>
                <a:r>
                  <a:rPr sz="2400" dirty="0"/>
                  <a:t> </a:t>
                </a:r>
                <a:r>
                  <a:rPr sz="2400" dirty="0" err="1"/>
                  <a:t>anômalas</a:t>
                </a:r>
                <a:r>
                  <a:rPr sz="2400" dirty="0"/>
                  <a:t>? E a </a:t>
                </a:r>
                <a:r>
                  <a:rPr sz="2400" dirty="0" err="1"/>
                  <a:t>proporção</a:t>
                </a:r>
                <a:r>
                  <a:rPr sz="2400" dirty="0"/>
                  <a:t>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</m:oMath>
                </a14:m>
                <a:r>
                  <a:rPr sz="2400" dirty="0"/>
                  <a:t> entre −1 e 1?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36390"/>
                <a:ext cx="10597140" cy="3666838"/>
              </a:xfrm>
              <a:prstGeom prst="rect">
                <a:avLst/>
              </a:prstGeom>
              <a:blipFill>
                <a:blip r:embed="rId2"/>
                <a:stretch>
                  <a:fillRect l="-921" b="-28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42539" y="516512"/>
                <a:ext cx="10597140" cy="4143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Resolução</a:t>
                </a:r>
                <a:r>
                  <a:rPr sz="2400" b="1" dirty="0"/>
                  <a:t>: </a:t>
                </a:r>
                <a:r>
                  <a:rPr sz="2400" dirty="0"/>
                  <a:t>pela </a:t>
                </a:r>
                <a:r>
                  <a:rPr sz="2400" dirty="0" err="1"/>
                  <a:t>tabela</a:t>
                </a:r>
                <a:r>
                  <a:rPr sz="2400" dirty="0"/>
                  <a:t>,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(0≤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≤2)=0,4772</m:t>
                    </m:r>
                  </m:oMath>
                </a14:m>
                <a:r>
                  <a:rPr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(0≤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≤1)=0,3413</m:t>
                    </m:r>
                  </m:oMath>
                </a14:m>
                <a:r>
                  <a:rPr sz="2400" dirty="0"/>
                  <a:t>.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sz="2400" dirty="0"/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 b="1" dirty="0" err="1"/>
                  <a:t>Anômalas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&gt;2)=0,5−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(0≤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≤2)=0,5−0,4772=0,0228</m:t>
                    </m:r>
                  </m:oMath>
                </a14:m>
                <a:r>
                  <a:rPr sz="2400" dirty="0"/>
                  <a:t>, </a:t>
                </a:r>
                <a:r>
                  <a:rPr sz="2400" dirty="0" err="1"/>
                  <a:t>cerca</a:t>
                </a:r>
                <a:r>
                  <a:rPr sz="2400" dirty="0"/>
                  <a:t> de 2,3% das </a:t>
                </a:r>
                <a:r>
                  <a:rPr sz="2400" dirty="0" err="1"/>
                  <a:t>requisições</a:t>
                </a:r>
                <a:r>
                  <a:rPr sz="2400" dirty="0"/>
                  <a:t>.</a:t>
                </a: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endParaRPr sz="2400" dirty="0"/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 b="1" dirty="0"/>
                  <a:t>Entre −1 e 1: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(−1≤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≤1)=2·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(0≤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≤1)=2(0,3413)=0,6826</m:t>
                    </m:r>
                  </m:oMath>
                </a14:m>
                <a:r>
                  <a:rPr sz="2400" dirty="0"/>
                  <a:t>, </a:t>
                </a:r>
                <a:r>
                  <a:rPr sz="2400" dirty="0" err="1"/>
                  <a:t>cerca</a:t>
                </a:r>
                <a:r>
                  <a:rPr sz="2400" dirty="0"/>
                  <a:t> de 68%.</a:t>
                </a:r>
                <a:endParaRPr lang="pt-BR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9" y="516512"/>
                <a:ext cx="10597140" cy="4143891"/>
              </a:xfrm>
              <a:prstGeom prst="rect">
                <a:avLst/>
              </a:prstGeom>
              <a:blipFill>
                <a:blip r:embed="rId2"/>
                <a:stretch>
                  <a:fillRect l="-921" r="-403" b="-2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25573"/>
                <a:ext cx="10067277" cy="3738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Mudança da variável normal para normal padrão</a:t>
                </a:r>
              </a:p>
              <a:p>
                <a:endParaRPr lang="pt-BR" sz="2400" b="1" dirty="0"/>
              </a:p>
              <a:p>
                <a:r>
                  <a:rPr lang="pt-BR" sz="2400" dirty="0"/>
                  <a:t>Dada uma variável normal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defina a variável</a:t>
                </a:r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pt-BR" sz="2400" b="0" dirty="0"/>
              </a:p>
              <a:p>
                <a:endParaRPr lang="pt-BR" sz="2400" dirty="0"/>
              </a:p>
              <a:p>
                <a:r>
                  <a:rPr lang="pt-BR" sz="2400" dirty="0"/>
                  <a:t>Então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 variável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pt-BR" sz="2400" dirty="0"/>
                  <a:t> é chamada de </a:t>
                </a:r>
                <a:r>
                  <a:rPr lang="pt-BR" sz="2400" b="1" dirty="0"/>
                  <a:t>normal padrão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25573"/>
                <a:ext cx="10067277" cy="3738396"/>
              </a:xfrm>
              <a:prstGeom prst="rect">
                <a:avLst/>
              </a:prstGeom>
              <a:blipFill>
                <a:blip r:embed="rId2"/>
                <a:stretch>
                  <a:fillRect l="-969" t="-1305" b="-27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94215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96156" y="578581"/>
                <a:ext cx="1006727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Exemplo: </a:t>
                </a: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</m:oMath>
                </a14:m>
                <a:r>
                  <a:rPr lang="pt-BR" sz="2400" dirty="0"/>
                  <a:t>. Calcule:</a:t>
                </a:r>
              </a:p>
              <a:p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106</m:t>
                        </m:r>
                      </m:e>
                    </m:d>
                  </m:oMath>
                </a14:m>
                <a:endParaRPr lang="pt-BR" sz="2400" b="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89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107</m:t>
                        </m:r>
                      </m:e>
                    </m:d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</m:d>
                  </m:oMath>
                </a14:m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4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</m:d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56" y="578581"/>
                <a:ext cx="10067277" cy="3416320"/>
              </a:xfrm>
              <a:prstGeom prst="rect">
                <a:avLst/>
              </a:prstGeom>
              <a:blipFill>
                <a:blip r:embed="rId2"/>
                <a:stretch>
                  <a:fillRect l="-969" t="-1429" b="-32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3287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7430" y="489182"/>
                <a:ext cx="10597140" cy="5254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Passo 1. Identificamos a variância e a média. </a:t>
                </a:r>
                <a:r>
                  <a:rPr lang="pt-BR" sz="2400" dirty="0"/>
                  <a:t>Pelo enunciado, a variância é 25, logo o desvio padrão é 5, e a média é 100.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Passo 2. Anotamos qual será a mudança utilizada. Basta escrever a fórmula da mudança: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24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>
                    <a:solidFill>
                      <a:srgbClr val="FF0000"/>
                    </a:solidFill>
                  </a:rPr>
                  <a:t> Ou seja, vamos subtrair a média e dividir pelo desvio padrão.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400" dirty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Passo 3. Usar a tabela. 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30" y="489182"/>
                <a:ext cx="10597140" cy="5254002"/>
              </a:xfrm>
              <a:prstGeom prst="rect">
                <a:avLst/>
              </a:prstGeom>
              <a:blipFill>
                <a:blip r:embed="rId2"/>
                <a:stretch>
                  <a:fillRect l="-921" r="-1496" b="-16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7430" y="489182"/>
                <a:ext cx="10584673" cy="4913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AutoNum type="alphaLcParenR"/>
                </a:pPr>
                <a:r>
                  <a:rPr lang="pt-BR" sz="2200" dirty="0"/>
                  <a:t>Queremos calcular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106</m:t>
                        </m:r>
                      </m:e>
                    </m:d>
                  </m:oMath>
                </a14:m>
                <a:r>
                  <a:rPr lang="ar-AE" sz="22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20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200">
                              <a:latin typeface="Cambria Math"/>
                            </a:rPr>
                            <m:t>100</m:t>
                          </m:r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r>
                            <a:rPr lang="ar-AE" sz="2200">
                              <a:latin typeface="Cambria Math"/>
                            </a:rPr>
                            <m:t>𝑋</m:t>
                          </m:r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r>
                            <a:rPr lang="ar-AE" sz="2200">
                              <a:latin typeface="Cambria Math"/>
                            </a:rPr>
                            <m:t>106</m:t>
                          </m:r>
                        </m:e>
                      </m:d>
                      <m:r>
                        <a:rPr lang="ar-AE" sz="2200">
                          <a:latin typeface="Cambria Math"/>
                        </a:rPr>
                        <m:t>=</m:t>
                      </m:r>
                      <m:r>
                        <a:rPr lang="ar-AE" sz="220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>
                                  <a:latin typeface="Cambria Math"/>
                                </a:rPr>
                                <m:t>100</m:t>
                              </m:r>
                              <m:r>
                                <a:rPr lang="ar-AE" sz="2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>
                                  <a:latin typeface="Cambria Math"/>
                                </a:rPr>
                                <m:t>106</m:t>
                              </m:r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t-BR" sz="22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200" b="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20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200">
                              <a:latin typeface="Cambria Math"/>
                            </a:rPr>
                            <m:t>0</m:t>
                          </m:r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r>
                            <a:rPr lang="ar-AE" sz="2200">
                              <a:latin typeface="Cambria Math"/>
                            </a:rPr>
                            <m:t>𝑍</m:t>
                          </m:r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r>
                            <a:rPr lang="ar-AE" sz="2200">
                              <a:latin typeface="Cambria Math"/>
                            </a:rPr>
                            <m:t>1</m:t>
                          </m:r>
                          <m:r>
                            <a:rPr lang="ar-AE" sz="2200">
                              <a:latin typeface="Cambria Math"/>
                            </a:rPr>
                            <m:t>,</m:t>
                          </m:r>
                          <m:r>
                            <a:rPr lang="ar-AE" sz="2200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ar-AE" sz="2200">
                          <a:latin typeface="Cambria Math"/>
                        </a:rPr>
                        <m:t>=</m:t>
                      </m:r>
                      <m:r>
                        <a:rPr lang="ar-AE" sz="2200">
                          <a:latin typeface="Cambria Math"/>
                        </a:rPr>
                        <m:t>0</m:t>
                      </m:r>
                      <m:r>
                        <a:rPr lang="ar-AE" sz="2200">
                          <a:latin typeface="Cambria Math"/>
                        </a:rPr>
                        <m:t>,</m:t>
                      </m:r>
                      <m:r>
                        <a:rPr lang="ar-AE" sz="2200">
                          <a:latin typeface="Cambria Math"/>
                        </a:rPr>
                        <m:t>3849</m:t>
                      </m:r>
                      <m:r>
                        <a:rPr lang="pt-BR" sz="22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pt-BR" sz="2200" b="0" i="0" smtClean="0">
                          <a:latin typeface="Cambria Math" panose="02040503050406030204" pitchFamily="18" charset="0"/>
                        </a:rPr>
                        <m:t>tabela</m:t>
                      </m:r>
                      <m:r>
                        <a:rPr lang="pt-BR" sz="2200" b="0" i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ar-AE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b) Queremos calcular </a:t>
                </a:r>
                <a14:m>
                  <m:oMath xmlns:m="http://schemas.openxmlformats.org/officeDocument/2006/math">
                    <m:r>
                      <a:rPr lang="ar-AE" sz="2200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0" smtClean="0">
                            <a:latin typeface="Cambria Math" panose="02040503050406030204" pitchFamily="18" charset="0"/>
                          </a:rPr>
                          <m:t>89</m:t>
                        </m:r>
                        <m:r>
                          <a:rPr lang="ar-AE" sz="2200">
                            <a:latin typeface="Cambria Math"/>
                          </a:rPr>
                          <m:t>≤</m:t>
                        </m:r>
                        <m:r>
                          <a:rPr lang="ar-AE" sz="2200">
                            <a:latin typeface="Cambria Math"/>
                          </a:rPr>
                          <m:t>𝑋</m:t>
                        </m:r>
                        <m:r>
                          <a:rPr lang="ar-AE" sz="2200">
                            <a:latin typeface="Cambria Math"/>
                          </a:rPr>
                          <m:t>≤</m:t>
                        </m:r>
                        <m:r>
                          <a:rPr lang="ar-AE" sz="2200">
                            <a:latin typeface="Cambria Math"/>
                          </a:rPr>
                          <m:t>10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lang="pt-BR" sz="2200" dirty="0"/>
                  <a:t>: </a:t>
                </a:r>
                <a:endParaRPr lang="pt-BR" sz="2200" dirty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20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89</m:t>
                          </m:r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r>
                            <a:rPr lang="ar-AE" sz="2200">
                              <a:latin typeface="Cambria Math"/>
                            </a:rPr>
                            <m:t>𝑋</m:t>
                          </m:r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r>
                            <a:rPr lang="ar-AE" sz="2200">
                              <a:latin typeface="Cambria Math"/>
                            </a:rPr>
                            <m:t>10</m:t>
                          </m:r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ar-AE" sz="2200">
                          <a:latin typeface="Cambria Math"/>
                        </a:rPr>
                        <m:t>=</m:t>
                      </m:r>
                      <m:r>
                        <a:rPr lang="ar-AE" sz="220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89</m:t>
                              </m:r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ar-AE" sz="220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>
                                  <a:latin typeface="Cambria Math"/>
                                </a:rPr>
                                <m:t>10</m:t>
                              </m:r>
                              <m: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2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t-BR" sz="2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Por simetria, podemos escrever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>
                          <a:latin typeface="Cambria Math"/>
                        </a:rPr>
                        <m:t>𝑃</m:t>
                      </m:r>
                      <m:r>
                        <a:rPr lang="pt-BR" sz="2200">
                          <a:latin typeface="Cambria Math"/>
                        </a:rPr>
                        <m:t>(</m:t>
                      </m:r>
                      <m:r>
                        <a:rPr lang="pt-BR" sz="2200">
                          <a:latin typeface="Cambria Math"/>
                        </a:rPr>
                        <m:t>89</m:t>
                      </m:r>
                      <m:r>
                        <a:rPr lang="pt-BR" sz="2200">
                          <a:latin typeface="Cambria Math"/>
                        </a:rPr>
                        <m:t>≤</m:t>
                      </m:r>
                      <m:r>
                        <a:rPr lang="pt-BR" sz="2200">
                          <a:latin typeface="Cambria Math"/>
                        </a:rPr>
                        <m:t>𝑋</m:t>
                      </m:r>
                      <m:r>
                        <a:rPr lang="pt-BR" sz="2200">
                          <a:latin typeface="Cambria Math"/>
                        </a:rPr>
                        <m:t>≤</m:t>
                      </m:r>
                      <m:r>
                        <a:rPr lang="pt-BR" sz="2200">
                          <a:latin typeface="Cambria Math"/>
                        </a:rPr>
                        <m:t>107</m:t>
                      </m:r>
                      <m:r>
                        <a:rPr lang="pt-BR" sz="2200">
                          <a:latin typeface="Cambria Math"/>
                        </a:rPr>
                        <m:t>)=</m:t>
                      </m:r>
                      <m:r>
                        <a:rPr lang="pt-BR" sz="2200">
                          <a:latin typeface="Cambria Math"/>
                        </a:rPr>
                        <m:t>𝑃</m:t>
                      </m:r>
                      <m:r>
                        <a:rPr lang="pt-BR" sz="2200">
                          <a:latin typeface="Cambria Math"/>
                        </a:rPr>
                        <m:t>(</m:t>
                      </m:r>
                      <m:r>
                        <a:rPr lang="pt-BR" sz="2200">
                          <a:latin typeface="Cambria Math"/>
                        </a:rPr>
                        <m:t>0</m:t>
                      </m:r>
                      <m:r>
                        <a:rPr lang="pt-BR" sz="2200">
                          <a:latin typeface="Cambria Math"/>
                        </a:rPr>
                        <m:t>≤</m:t>
                      </m:r>
                      <m:r>
                        <a:rPr lang="pt-BR" sz="2200">
                          <a:latin typeface="Cambria Math"/>
                        </a:rPr>
                        <m:t>𝑍</m:t>
                      </m:r>
                      <m:r>
                        <a:rPr lang="pt-BR" sz="2200">
                          <a:latin typeface="Cambria Math"/>
                        </a:rPr>
                        <m:t>≤</m:t>
                      </m:r>
                      <m:r>
                        <a:rPr lang="pt-BR" sz="2200">
                          <a:latin typeface="Cambria Math"/>
                        </a:rPr>
                        <m:t>2</m:t>
                      </m:r>
                      <m:r>
                        <a:rPr lang="pt-BR" sz="2200">
                          <a:latin typeface="Cambria Math"/>
                        </a:rPr>
                        <m:t>,</m:t>
                      </m:r>
                      <m:r>
                        <a:rPr lang="pt-BR" sz="2200">
                          <a:latin typeface="Cambria Math"/>
                        </a:rPr>
                        <m:t>2</m:t>
                      </m:r>
                      <m:r>
                        <a:rPr lang="pt-BR" sz="2200">
                          <a:latin typeface="Cambria Math"/>
                        </a:rPr>
                        <m:t>)+</m:t>
                      </m:r>
                      <m:r>
                        <a:rPr lang="pt-BR" sz="2200">
                          <a:latin typeface="Cambria Math"/>
                        </a:rPr>
                        <m:t>𝑃</m:t>
                      </m:r>
                      <m:r>
                        <a:rPr lang="pt-BR" sz="2200">
                          <a:latin typeface="Cambria Math"/>
                        </a:rPr>
                        <m:t>(</m:t>
                      </m:r>
                      <m:r>
                        <a:rPr lang="pt-BR" sz="2200">
                          <a:latin typeface="Cambria Math"/>
                        </a:rPr>
                        <m:t>0</m:t>
                      </m:r>
                      <m:r>
                        <a:rPr lang="pt-BR" sz="2200">
                          <a:latin typeface="Cambria Math"/>
                        </a:rPr>
                        <m:t>≤</m:t>
                      </m:r>
                      <m:r>
                        <a:rPr lang="pt-BR" sz="2200">
                          <a:latin typeface="Cambria Math"/>
                        </a:rPr>
                        <m:t>𝑍</m:t>
                      </m:r>
                      <m:r>
                        <a:rPr lang="pt-BR" sz="2200">
                          <a:latin typeface="Cambria Math"/>
                        </a:rPr>
                        <m:t>≤</m:t>
                      </m:r>
                      <m:r>
                        <a:rPr lang="pt-BR" sz="2200">
                          <a:latin typeface="Cambria Math"/>
                        </a:rPr>
                        <m:t>1</m:t>
                      </m:r>
                      <m:r>
                        <a:rPr lang="pt-BR" sz="2200">
                          <a:latin typeface="Cambria Math"/>
                        </a:rPr>
                        <m:t>,</m:t>
                      </m:r>
                      <m:r>
                        <a:rPr lang="pt-BR" sz="2200">
                          <a:latin typeface="Cambria Math"/>
                        </a:rPr>
                        <m:t>4</m:t>
                      </m:r>
                      <m:r>
                        <a:rPr lang="pt-BR" sz="2200">
                          <a:latin typeface="Cambria Math"/>
                        </a:rPr>
                        <m:t>)=</m:t>
                      </m:r>
                      <m:r>
                        <a:rPr lang="pt-BR" sz="2200">
                          <a:latin typeface="Cambria Math"/>
                        </a:rPr>
                        <m:t>0</m:t>
                      </m:r>
                      <m:r>
                        <a:rPr lang="pt-BR" sz="2200">
                          <a:latin typeface="Cambria Math"/>
                        </a:rPr>
                        <m:t>,</m:t>
                      </m:r>
                      <m:r>
                        <a:rPr lang="pt-BR" sz="2200">
                          <a:latin typeface="Cambria Math"/>
                        </a:rPr>
                        <m:t>4861</m:t>
                      </m:r>
                      <m:r>
                        <a:rPr lang="pt-BR" sz="2200">
                          <a:latin typeface="Cambria Math"/>
                        </a:rPr>
                        <m:t>+</m:t>
                      </m:r>
                      <m:r>
                        <a:rPr lang="pt-BR" sz="2200">
                          <a:latin typeface="Cambria Math"/>
                        </a:rPr>
                        <m:t>0</m:t>
                      </m:r>
                      <m:r>
                        <a:rPr lang="pt-BR" sz="2200">
                          <a:latin typeface="Cambria Math"/>
                        </a:rPr>
                        <m:t>,</m:t>
                      </m:r>
                      <m:r>
                        <a:rPr lang="pt-BR" sz="2200">
                          <a:latin typeface="Cambria Math"/>
                        </a:rPr>
                        <m:t>4192</m:t>
                      </m:r>
                      <m:r>
                        <a:rPr lang="pt-BR" sz="2200">
                          <a:latin typeface="Cambria Math"/>
                        </a:rPr>
                        <m:t>=</m:t>
                      </m:r>
                      <m:r>
                        <a:rPr lang="pt-BR" sz="2200">
                          <a:latin typeface="Cambria Math"/>
                        </a:rPr>
                        <m:t>0</m:t>
                      </m:r>
                      <m:r>
                        <a:rPr lang="pt-BR" sz="2200">
                          <a:latin typeface="Cambria Math"/>
                        </a:rPr>
                        <m:t>,</m:t>
                      </m:r>
                      <m:r>
                        <a:rPr lang="pt-BR" sz="2200">
                          <a:latin typeface="Cambria Math"/>
                        </a:rPr>
                        <m:t>9053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30" y="489182"/>
                <a:ext cx="10584673" cy="4913653"/>
              </a:xfrm>
              <a:prstGeom prst="rect">
                <a:avLst/>
              </a:prstGeom>
              <a:blipFill>
                <a:blip r:embed="rId2"/>
                <a:stretch>
                  <a:fillRect l="-8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41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70261" y="522313"/>
                <a:ext cx="10597140" cy="5905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c) Queremos calcular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Por simetria, podemos escrever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4772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0228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d) Queremos calcular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108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108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108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Como a metade da direita tem área 0,5, podemos escrever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108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4452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0548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61" y="522313"/>
                <a:ext cx="10597140" cy="5905848"/>
              </a:xfrm>
              <a:prstGeom prst="rect">
                <a:avLst/>
              </a:prstGeom>
              <a:blipFill>
                <a:blip r:embed="rId2"/>
                <a:stretch>
                  <a:fillRect l="-9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95547" y="803869"/>
                <a:ext cx="10067277" cy="5691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</a:t>
                </a: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3,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Calcule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(2≤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≤4)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Resolução: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Passo 1.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ar-AE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sz="2400">
                        <a:latin typeface="Cambria Math"/>
                      </a:rPr>
                      <m:t>=</m:t>
                    </m:r>
                    <m:r>
                      <a:rPr lang="ar-AE" sz="2400">
                        <a:latin typeface="Cambria Math"/>
                      </a:rPr>
                      <m:t>4</m:t>
                    </m:r>
                  </m:oMath>
                </a14:m>
                <a:r>
                  <a:rPr lang="ar-AE" sz="2400" dirty="0"/>
                  <a:t>, </a:t>
                </a:r>
                <a:r>
                  <a:rPr lang="pt-BR" sz="2400" dirty="0" err="1"/>
                  <a:t>então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𝜎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2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/>
                          </a:rPr>
                          <m:t>𝑋</m:t>
                        </m:r>
                        <m:r>
                          <a:rPr lang="ar-AE" sz="2400">
                            <a:latin typeface="Cambria Math"/>
                          </a:rPr>
                          <m:t>−</m:t>
                        </m:r>
                        <m:r>
                          <a:rPr lang="ar-AE" sz="240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ar-AE" sz="240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ar-AE" sz="2400">
                        <a:latin typeface="Cambria Math"/>
                      </a:rPr>
                      <m:t>~</m:t>
                    </m:r>
                    <m:r>
                      <a:rPr lang="ar-AE" sz="2400">
                        <a:latin typeface="Cambria Math"/>
                      </a:rPr>
                      <m:t>𝑁</m:t>
                    </m:r>
                    <m:r>
                      <a:rPr lang="ar-AE" sz="2400">
                        <a:latin typeface="Cambria Math"/>
                      </a:rPr>
                      <m:t>(</m:t>
                    </m:r>
                    <m:r>
                      <a:rPr lang="ar-AE" sz="2400">
                        <a:latin typeface="Cambria Math"/>
                      </a:rPr>
                      <m:t>0</m:t>
                    </m:r>
                    <m:r>
                      <a:rPr lang="ar-AE" sz="2400">
                        <a:latin typeface="Cambria Math"/>
                      </a:rPr>
                      <m:t>,</m:t>
                    </m:r>
                    <m:r>
                      <a:rPr lang="ar-AE" sz="2400">
                        <a:latin typeface="Cambria Math"/>
                      </a:rPr>
                      <m:t>1</m:t>
                    </m:r>
                    <m:r>
                      <a:rPr lang="ar-AE" sz="2400">
                        <a:latin typeface="Cambria Math"/>
                      </a:rPr>
                      <m:t>)</m:t>
                    </m:r>
                  </m:oMath>
                </a14:m>
                <a:r>
                  <a:rPr lang="ar-AE"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b="1" dirty="0" err="1"/>
                  <a:t>Passo</a:t>
                </a:r>
                <a:r>
                  <a:rPr lang="pt-BR" sz="2400" b="1" dirty="0"/>
                  <a:t> 2. </a:t>
                </a:r>
                <a:r>
                  <a:rPr lang="pt-BR" sz="2400" dirty="0" err="1"/>
                  <a:t>Padronizar</a:t>
                </a:r>
                <a:r>
                  <a:rPr lang="pt-BR" sz="2400" dirty="0"/>
                  <a:t> </a:t>
                </a:r>
                <a:r>
                  <a:rPr lang="pt-BR" sz="2400" dirty="0" err="1"/>
                  <a:t>os</a:t>
                </a:r>
                <a:r>
                  <a:rPr lang="pt-BR" sz="2400" dirty="0"/>
                  <a:t> </a:t>
                </a:r>
                <a:r>
                  <a:rPr lang="pt-BR" sz="2400" dirty="0" err="1"/>
                  <a:t>limites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/>
                          </a:rPr>
                          <m:t>2</m:t>
                        </m:r>
                        <m:r>
                          <a:rPr lang="ar-AE" sz="2400">
                            <a:latin typeface="Cambria Math"/>
                          </a:rPr>
                          <m:t>−</m:t>
                        </m:r>
                        <m:r>
                          <a:rPr lang="ar-AE" sz="240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ar-AE" sz="240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ar-AE" sz="2400">
                        <a:latin typeface="Cambria Math"/>
                      </a:rPr>
                      <m:t>=−</m:t>
                    </m:r>
                    <m:r>
                      <a:rPr lang="ar-AE" sz="2400">
                        <a:latin typeface="Cambria Math"/>
                      </a:rPr>
                      <m:t>0</m:t>
                    </m:r>
                    <m:r>
                      <a:rPr lang="ar-AE" sz="2400">
                        <a:latin typeface="Cambria Math"/>
                      </a:rPr>
                      <m:t>,</m:t>
                    </m:r>
                    <m:r>
                      <a:rPr lang="ar-AE" sz="2400">
                        <a:latin typeface="Cambria Math"/>
                      </a:rPr>
                      <m:t>5</m:t>
                    </m:r>
                  </m:oMath>
                </a14:m>
                <a:r>
                  <a:rPr lang="ar-AE" sz="2400" dirty="0"/>
                  <a:t> </a:t>
                </a:r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>
                            <a:latin typeface="Cambria Math"/>
                          </a:rPr>
                          <m:t>4</m:t>
                        </m:r>
                        <m:r>
                          <a:rPr lang="ar-AE" sz="2400">
                            <a:latin typeface="Cambria Math"/>
                          </a:rPr>
                          <m:t>−</m:t>
                        </m:r>
                        <m:r>
                          <a:rPr lang="ar-AE" sz="240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ar-AE" sz="240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ar-AE" sz="2400">
                        <a:latin typeface="Cambria Math"/>
                      </a:rPr>
                      <m:t>=</m:t>
                    </m:r>
                    <m:r>
                      <a:rPr lang="ar-AE" sz="2400">
                        <a:latin typeface="Cambria Math"/>
                      </a:rPr>
                      <m:t>0</m:t>
                    </m:r>
                    <m:r>
                      <a:rPr lang="ar-AE" sz="2400">
                        <a:latin typeface="Cambria Math"/>
                      </a:rPr>
                      <m:t>,</m:t>
                    </m:r>
                    <m:r>
                      <a:rPr lang="ar-AE" sz="2400">
                        <a:latin typeface="Cambria Math"/>
                      </a:rPr>
                      <m:t>5</m:t>
                    </m:r>
                  </m:oMath>
                </a14:m>
                <a:r>
                  <a:rPr lang="ar-AE"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b="1" dirty="0" err="1"/>
                  <a:t>Passo</a:t>
                </a:r>
                <a:r>
                  <a:rPr lang="pt-BR" sz="2400" b="1" dirty="0"/>
                  <a:t> 3. </a:t>
                </a:r>
                <a:r>
                  <a:rPr lang="pt-BR" sz="2400" dirty="0"/>
                  <a:t>O </a:t>
                </a:r>
                <a:r>
                  <a:rPr lang="pt-BR" sz="2400" dirty="0" err="1"/>
                  <a:t>intervalo</a:t>
                </a:r>
                <a:r>
                  <a:rPr lang="pt-BR" sz="2400" dirty="0"/>
                  <a:t> é </a:t>
                </a:r>
                <a:r>
                  <a:rPr lang="pt-BR" sz="2400" dirty="0" err="1"/>
                  <a:t>simétrico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em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torno</a:t>
                </a:r>
                <a:r>
                  <a:rPr lang="pt-BR" sz="2400" dirty="0"/>
                  <a:t> de 0, </a:t>
                </a:r>
                <a:r>
                  <a:rPr lang="pt-BR" sz="2400" dirty="0" err="1"/>
                  <a:t>então</a:t>
                </a:r>
                <a:r>
                  <a:rPr lang="pt-BR" sz="2400" dirty="0"/>
                  <a:t> é o dobro da </a:t>
                </a:r>
                <a:r>
                  <a:rPr lang="pt-BR" sz="2400" dirty="0" err="1"/>
                  <a:t>área</a:t>
                </a:r>
                <a:r>
                  <a:rPr lang="pt-BR" sz="2400" dirty="0"/>
                  <a:t> da </a:t>
                </a:r>
                <a:r>
                  <a:rPr lang="pt-BR" sz="2400" dirty="0" err="1"/>
                  <a:t>tabela</a:t>
                </a:r>
                <a:r>
                  <a:rPr lang="pt-BR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𝑋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4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(−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·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2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1915</m:t>
                      </m:r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3830</m:t>
                      </m:r>
                    </m:oMath>
                  </m:oMathPara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47" y="803869"/>
                <a:ext cx="10067277" cy="5691494"/>
              </a:xfrm>
              <a:prstGeom prst="rect">
                <a:avLst/>
              </a:prstGeom>
              <a:blipFill>
                <a:blip r:embed="rId2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15591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76887" y="611712"/>
            <a:ext cx="1059714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</a:t>
            </a:r>
            <a:r>
              <a:rPr lang="pt-BR" sz="2400" dirty="0"/>
              <a:t> Doentes, sofrendo de certa moléstia, são submetidos a um tratamento intensivo cujo tempo de cura foi modelado por uma função densidade Normal, de média 15 e desvio-padrão 2 (em dias). Seja X o tempo de cura. Que proporção dos pacientes estará curada em até 20 dias?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81803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76887" y="482557"/>
                <a:ext cx="10597140" cy="430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</a:p>
              <a:p>
                <a:pPr>
                  <a:lnSpc>
                    <a:spcPct val="150000"/>
                  </a:lnSpc>
                </a:pPr>
                <a:r>
                  <a:rPr sz="2400" b="1" dirty="0" err="1"/>
                  <a:t>Modelo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r>
                      <a:rPr lang="pt-BR" sz="2400">
                        <a:latin typeface="Cambria Math"/>
                      </a:rPr>
                      <m:t>(15,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 dirty="0"/>
                  <a:t> — </a:t>
                </a:r>
                <a:r>
                  <a:rPr sz="2400" dirty="0" err="1"/>
                  <a:t>média</a:t>
                </a:r>
                <a:r>
                  <a:rPr sz="2400" dirty="0"/>
                  <a:t> 15 e </a:t>
                </a:r>
                <a:r>
                  <a:rPr sz="2400" dirty="0" err="1"/>
                  <a:t>desvio</a:t>
                </a:r>
                <a:r>
                  <a:rPr sz="2400" dirty="0"/>
                  <a:t> </a:t>
                </a:r>
                <a:r>
                  <a:rPr sz="2400" dirty="0" err="1"/>
                  <a:t>padrão</a:t>
                </a:r>
                <a:r>
                  <a:rPr sz="2400" dirty="0"/>
                  <a:t> 2 </a:t>
                </a:r>
                <a:r>
                  <a:rPr sz="2400" dirty="0" err="1"/>
                  <a:t>dias</a:t>
                </a:r>
                <a:r>
                  <a:rPr sz="2400" dirty="0"/>
                  <a:t>. "</a:t>
                </a:r>
                <a:r>
                  <a:rPr sz="2400" dirty="0" err="1"/>
                  <a:t>Curado</a:t>
                </a:r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20 </a:t>
                </a:r>
                <a:r>
                  <a:rPr sz="2400" dirty="0" err="1"/>
                  <a:t>dias</a:t>
                </a:r>
                <a:r>
                  <a:rPr sz="2400" dirty="0"/>
                  <a:t>" é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≤20</m:t>
                    </m:r>
                  </m:oMath>
                </a14:m>
                <a:r>
                  <a:rPr sz="2400" dirty="0"/>
                  <a:t>.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sz="2400" b="1" dirty="0" err="1"/>
                  <a:t>Passo</a:t>
                </a:r>
                <a:r>
                  <a:rPr sz="2400" b="1" dirty="0"/>
                  <a:t> 1. </a:t>
                </a:r>
                <a:r>
                  <a:rPr sz="2400" dirty="0" err="1"/>
                  <a:t>Padronizar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𝑧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20−15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=2,5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 err="1"/>
                  <a:t>Passo</a:t>
                </a:r>
                <a:r>
                  <a:rPr sz="2400" b="1" dirty="0"/>
                  <a:t> 2. </a:t>
                </a:r>
                <a:r>
                  <a:rPr sz="2400" dirty="0"/>
                  <a:t>A </a:t>
                </a:r>
                <a:r>
                  <a:rPr sz="2400" dirty="0" err="1"/>
                  <a:t>área</a:t>
                </a:r>
                <a:r>
                  <a:rPr sz="2400" dirty="0"/>
                  <a:t> à </a:t>
                </a:r>
                <a:r>
                  <a:rPr sz="2400" dirty="0" err="1"/>
                  <a:t>esquerda</a:t>
                </a:r>
                <a:r>
                  <a:rPr sz="2400" dirty="0"/>
                  <a:t> de 2,5 é a </a:t>
                </a:r>
                <a:r>
                  <a:rPr sz="2400" dirty="0" err="1"/>
                  <a:t>metade</a:t>
                </a:r>
                <a:r>
                  <a:rPr sz="2400" dirty="0"/>
                  <a:t> </a:t>
                </a:r>
                <a:r>
                  <a:rPr sz="2400" dirty="0" err="1"/>
                  <a:t>esquerda</a:t>
                </a:r>
                <a:r>
                  <a:rPr sz="2400" dirty="0"/>
                  <a:t> </a:t>
                </a:r>
                <a:r>
                  <a:rPr sz="2400" dirty="0" err="1"/>
                  <a:t>mais</a:t>
                </a:r>
                <a:r>
                  <a:rPr sz="2400" dirty="0"/>
                  <a:t> o </a:t>
                </a:r>
                <a:r>
                  <a:rPr sz="2400" dirty="0" err="1"/>
                  <a:t>pedaço</a:t>
                </a:r>
                <a:r>
                  <a:rPr sz="2400" dirty="0"/>
                  <a:t> entre 0 e 2,5: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𝑋</m:t>
                      </m:r>
                      <m:r>
                        <a:rPr lang="pt-BR" sz="2400">
                          <a:latin typeface="Cambria Math"/>
                        </a:rPr>
                        <m:t>≤20)=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≤2,5)=0,5+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(0≤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≤2,5)=0,5+0,4938=0,9938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b="1" dirty="0" err="1"/>
                  <a:t>Resposta</a:t>
                </a:r>
                <a:r>
                  <a:rPr sz="2400" b="1" dirty="0"/>
                  <a:t>: </a:t>
                </a:r>
                <a:r>
                  <a:rPr sz="2400" dirty="0" err="1"/>
                  <a:t>cerca</a:t>
                </a:r>
                <a:r>
                  <a:rPr sz="2400" dirty="0"/>
                  <a:t> de 99,4% dos </a:t>
                </a:r>
                <a:r>
                  <a:rPr sz="2400" dirty="0" err="1"/>
                  <a:t>pacientes</a:t>
                </a:r>
                <a:r>
                  <a:rPr sz="2400" dirty="0"/>
                  <a:t> </a:t>
                </a:r>
                <a:r>
                  <a:rPr sz="2400" dirty="0" err="1"/>
                  <a:t>estão</a:t>
                </a:r>
                <a:r>
                  <a:rPr sz="2400" dirty="0"/>
                  <a:t> </a:t>
                </a:r>
                <a:r>
                  <a:rPr sz="2400" dirty="0" err="1"/>
                  <a:t>curados</a:t>
                </a:r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até</a:t>
                </a:r>
                <a:r>
                  <a:rPr sz="2400" dirty="0"/>
                  <a:t> 20 </a:t>
                </a:r>
                <a:r>
                  <a:rPr sz="2400" dirty="0" err="1"/>
                  <a:t>dias</a:t>
                </a:r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87" y="482557"/>
                <a:ext cx="10597140" cy="4304320"/>
              </a:xfrm>
              <a:prstGeom prst="rect">
                <a:avLst/>
              </a:prstGeom>
              <a:blipFill>
                <a:blip r:embed="rId2"/>
                <a:stretch>
                  <a:fillRect l="-921" r="-518" b="-22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96156" y="470130"/>
                <a:ext cx="10597140" cy="2558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Exemplo</a:t>
                </a:r>
                <a:r>
                  <a:rPr sz="2400" b="1" dirty="0"/>
                  <a:t>. </a:t>
                </a:r>
                <a:r>
                  <a:rPr sz="2400" dirty="0"/>
                  <a:t>Em um </a:t>
                </a:r>
                <a:r>
                  <a:rPr sz="2400" dirty="0" err="1"/>
                  <a:t>jogo</a:t>
                </a:r>
                <a:r>
                  <a:rPr sz="2400" dirty="0"/>
                  <a:t> online, a </a:t>
                </a:r>
                <a:r>
                  <a:rPr sz="2400" dirty="0" err="1"/>
                  <a:t>latência</a:t>
                </a:r>
                <a:r>
                  <a:rPr sz="2400" dirty="0"/>
                  <a:t> (ping) de um </a:t>
                </a:r>
                <a:r>
                  <a:rPr sz="2400" dirty="0" err="1"/>
                  <a:t>jogador</a:t>
                </a:r>
                <a:r>
                  <a:rPr sz="2400" dirty="0"/>
                  <a:t>,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milissegundos</a:t>
                </a:r>
                <a:r>
                  <a:rPr sz="2400" dirty="0"/>
                  <a:t>, segue </a:t>
                </a:r>
                <a:r>
                  <a:rPr sz="2400" dirty="0" err="1"/>
                  <a:t>uma</a:t>
                </a:r>
                <a:r>
                  <a:rPr sz="2400" dirty="0"/>
                  <a:t> normal com </a:t>
                </a:r>
                <a:r>
                  <a:rPr sz="2400" dirty="0" err="1"/>
                  <a:t>média</a:t>
                </a:r>
                <a:r>
                  <a:rPr sz="2400" dirty="0"/>
                  <a:t> 60 </a:t>
                </a:r>
                <a:r>
                  <a:rPr sz="2400" dirty="0" err="1"/>
                  <a:t>ms</a:t>
                </a:r>
                <a:r>
                  <a:rPr sz="2400" dirty="0"/>
                  <a:t> e </a:t>
                </a:r>
                <a:r>
                  <a:rPr sz="2400" dirty="0" err="1"/>
                  <a:t>desvio</a:t>
                </a:r>
                <a:r>
                  <a:rPr sz="2400" dirty="0"/>
                  <a:t> </a:t>
                </a:r>
                <a:r>
                  <a:rPr sz="2400" dirty="0" err="1"/>
                  <a:t>padrão</a:t>
                </a:r>
                <a:r>
                  <a:rPr sz="2400" dirty="0"/>
                  <a:t> 10 </a:t>
                </a:r>
                <a:r>
                  <a:rPr sz="2400" dirty="0" err="1"/>
                  <a:t>ms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r>
                      <a:rPr lang="pt-BR" sz="2400">
                        <a:latin typeface="Cambria Math"/>
                      </a:rPr>
                      <m:t>(60,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sz="2400" dirty="0" err="1"/>
                  <a:t>Acima</a:t>
                </a:r>
                <a:r>
                  <a:rPr sz="2400" dirty="0"/>
                  <a:t> de 75 </a:t>
                </a:r>
                <a:r>
                  <a:rPr sz="2400" dirty="0" err="1"/>
                  <a:t>ms</a:t>
                </a:r>
                <a:r>
                  <a:rPr sz="2400" dirty="0"/>
                  <a:t> o </a:t>
                </a:r>
                <a:r>
                  <a:rPr sz="2400" dirty="0" err="1"/>
                  <a:t>jogador</a:t>
                </a:r>
                <a:r>
                  <a:rPr sz="2400" dirty="0"/>
                  <a:t> sente </a:t>
                </a:r>
                <a:r>
                  <a:rPr sz="2400" i="1" dirty="0"/>
                  <a:t>lag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sz="2400" dirty="0"/>
                  <a:t>Em que </a:t>
                </a:r>
                <a:r>
                  <a:rPr sz="2400" dirty="0" err="1"/>
                  <a:t>fração</a:t>
                </a:r>
                <a:r>
                  <a:rPr sz="2400" dirty="0"/>
                  <a:t> do tempo o ping </a:t>
                </a:r>
                <a:r>
                  <a:rPr sz="2400" dirty="0" err="1"/>
                  <a:t>passa</a:t>
                </a:r>
                <a:r>
                  <a:rPr sz="2400" dirty="0"/>
                  <a:t> de 75 </a:t>
                </a:r>
                <a:r>
                  <a:rPr sz="2400" dirty="0" err="1"/>
                  <a:t>ms</a:t>
                </a:r>
                <a:r>
                  <a:rPr sz="2400" dirty="0"/>
                  <a:t>? E </a:t>
                </a:r>
                <a:r>
                  <a:rPr sz="2400" dirty="0" err="1"/>
                  <a:t>em</a:t>
                </a:r>
                <a:r>
                  <a:rPr sz="2400" dirty="0"/>
                  <a:t> que </a:t>
                </a:r>
                <a:r>
                  <a:rPr sz="2400" dirty="0" err="1"/>
                  <a:t>fração</a:t>
                </a:r>
                <a:r>
                  <a:rPr sz="2400" dirty="0"/>
                  <a:t> </a:t>
                </a:r>
                <a:r>
                  <a:rPr sz="2400" dirty="0" err="1"/>
                  <a:t>fica</a:t>
                </a:r>
                <a:r>
                  <a:rPr sz="2400" dirty="0"/>
                  <a:t>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até</a:t>
                </a:r>
                <a:r>
                  <a:rPr sz="2400" dirty="0"/>
                  <a:t> 50 </a:t>
                </a:r>
                <a:r>
                  <a:rPr sz="2400" dirty="0" err="1"/>
                  <a:t>ms</a:t>
                </a:r>
                <a:r>
                  <a:rPr sz="2400" dirty="0"/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56" y="470130"/>
                <a:ext cx="10597140" cy="2558842"/>
              </a:xfrm>
              <a:prstGeom prst="rect">
                <a:avLst/>
              </a:prstGeom>
              <a:blipFill>
                <a:blip r:embed="rId2"/>
                <a:stretch>
                  <a:fillRect l="-863" r="-805" b="-45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2905" y="589399"/>
                <a:ext cx="10597140" cy="5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Resolução: </a:t>
                </a:r>
                <a:r>
                  <a:rPr sz="2400"/>
                  <a:t>padronizamos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  <m:r>
                          <a:rPr lang="pt-BR" sz="2400">
                            <a:latin typeface="Cambria Math"/>
                          </a:rPr>
                          <m:t>−</m:t>
                        </m:r>
                        <m:r>
                          <a:rPr lang="pt-BR" sz="2400">
                            <a:latin typeface="Cambria Math"/>
                          </a:rPr>
                          <m:t>60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 b="1"/>
                  <a:t>Lag: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&gt;</m:t>
                    </m:r>
                    <m:r>
                      <a:rPr lang="pt-BR" sz="2400">
                        <a:latin typeface="Cambria Math"/>
                      </a:rPr>
                      <m:t>75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&gt;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−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4332</m:t>
                      </m:r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0668</m:t>
                      </m:r>
                    </m:oMath>
                  </m:oMathPara>
                </a14:m>
                <a:endParaRPr sz="2400" b="1"/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 b="1"/>
                  <a:t>Até 50 ms: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𝑋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50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≤−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≥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5</m:t>
                    </m:r>
                    <m:r>
                      <a:rPr lang="pt-BR" sz="2400">
                        <a:latin typeface="Cambria Math"/>
                      </a:rPr>
                      <m:t>−</m:t>
                    </m:r>
                    <m:r>
                      <a:rPr lang="pt-BR" sz="2400">
                        <a:latin typeface="Cambria Math"/>
                      </a:rPr>
                      <m:t>𝑃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≤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endParaRPr sz="2400" b="1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5</m:t>
                      </m:r>
                      <m:r>
                        <a:rPr lang="pt-BR" sz="2400">
                          <a:latin typeface="Cambria Math"/>
                        </a:rPr>
                        <m:t>−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3413</m:t>
                      </m:r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0</m:t>
                      </m:r>
                      <m:r>
                        <a:rPr lang="pt-BR" sz="2400">
                          <a:latin typeface="Cambria Math"/>
                        </a:rPr>
                        <m:t>,</m:t>
                      </m:r>
                      <m:r>
                        <a:rPr lang="pt-BR" sz="2400">
                          <a:latin typeface="Cambria Math"/>
                        </a:rPr>
                        <m:t>1587</m:t>
                      </m:r>
                    </m:oMath>
                  </m:oMathPara>
                </a14:m>
                <a:endParaRPr sz="2400" b="1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/>
                  <a:t>O jogador sente lag em cerca de 6,7% do tempo.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682905" y="589399"/>
                <a:ext cx="10597140" cy="50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Resolução: </a:t>
                </a:r>
                <a:r>
                  <a:rPr sz="2400"/>
                  <a:t>padronizamos com </a:t>
                </a:r>
                <a:r>
                  <a:rPr sz="2400"/>
                  <a:t>.</a:t>
                </a: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 b="1"/>
                  <a:t>Lag: </a:t>
                </a:r>
              </a:p>
              <a:p>
                <a:pPr>
                  <a:lnSpc>
                    <a:spcPct val="150000"/>
                  </a:lnSpc>
                </a:pPr>
              </a:p>
              <a:p>
                <a:pPr marL="342900" indent="-342900">
                  <a:lnSpc>
                    <a:spcPct val="150000"/>
                  </a:lnSpc>
                  <a:spcBef>
                    <a:spcPts val="600"/>
                  </a:spcBef>
                  <a:buFont typeface="Arial"/>
                  <a:buChar char="•"/>
                </a:pPr>
                <a:r>
                  <a:rPr sz="2400" b="1"/>
                  <a:t>Até 50 ms: </a:t>
                </a:r>
              </a:p>
              <a:p>
                <a:pPr>
                  <a:lnSpc>
                    <a:spcPct val="150000"/>
                  </a:lnSpc>
                </a:p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/>
                  <a:t>O jogador sente lag em cerca de 6,7% do tempo.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2661" y="580477"/>
            <a:ext cx="1006727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7.4.2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4.5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6: 6.2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5: 5.2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8922" y="772633"/>
            <a:ext cx="1006727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Problemas 14, 15, 16, 17, 18, 19 e 20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 (6.3 Exercícios): 25, 26, 32 e 33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4.5.1, 4.5.2, 4.5.3, 4.5.4, 4.5.5, 4.5.6, 4.5.7, 4.5.8 e 4.5.9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6: Exercícios 1 e 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4886</TotalTime>
  <Words>2544</Words>
  <Application>Microsoft Office PowerPoint</Application>
  <PresentationFormat>Widescreen</PresentationFormat>
  <Paragraphs>233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Contínuos II: Distribuição Normal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196</cp:revision>
  <dcterms:created xsi:type="dcterms:W3CDTF">2020-07-20T19:35:15Z</dcterms:created>
  <dcterms:modified xsi:type="dcterms:W3CDTF">2026-10-22T11:30:35Z</dcterms:modified>
</cp:coreProperties>
</file>