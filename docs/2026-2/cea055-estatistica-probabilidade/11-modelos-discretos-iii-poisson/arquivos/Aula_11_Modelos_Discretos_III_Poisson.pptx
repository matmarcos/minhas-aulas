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1.xml" ContentType="application/vnd.openxmlformats-officedocument.presentationml.slide+xml"/>
  <Override PartName="/ppt/slides/slide52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900" r:id="rId44"/>
    <p:sldId id="987" r:id="rId27"/>
    <p:sldId id="988" r:id="rId28"/>
    <p:sldId id="989" r:id="rId29"/>
    <p:sldId id="990" r:id="rId30"/>
    <p:sldId id="991" r:id="rId31"/>
    <p:sldId id="992" r:id="rId32"/>
    <p:sldId id="993" r:id="rId33"/>
    <p:sldId id="994" r:id="rId34"/>
    <p:sldId id="995" r:id="rId35"/>
    <p:sldId id="996" r:id="rId36"/>
    <p:sldId id="997" r:id="rId37"/>
    <p:sldId id="901" r:id="rId45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83" d="100"/>
          <a:sy n="83" d="100"/>
        </p:scale>
        <p:origin x="1992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39" Type="http://schemas.openxmlformats.org/officeDocument/2006/relationships/commentAuthors" Target="commentAuthors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31" Type="http://schemas.openxmlformats.org/officeDocument/2006/relationships/slide" Target="slides/slide30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44" Type="http://schemas.openxmlformats.org/officeDocument/2006/relationships/slide" Target="slides/slide51.xml"/><Relationship Id="rId45" Type="http://schemas.openxmlformats.org/officeDocument/2006/relationships/slide" Target="slides/slide5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89C7-0D7F-4B10-AF98-1416A21C67FE}" type="slidenum">
              <a:rPr lang="pt-BR" smtClean="0"/>
              <a:t>36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65132360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29/08/2024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8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0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17957"/>
                <a:ext cx="10277702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Distribuição Poisson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 xml:space="preserve">O modelo de Poisson é utilizado em experimentos onde a frequência média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pt-BR" sz="2800" dirty="0"/>
                  <a:t xml:space="preserve"> é esperada, ou seja, que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pt-BR" sz="2800" dirty="0"/>
                  <a:t xml:space="preserve"> ocorrências aconteceram num determinado intervalo de tempo.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17957"/>
                <a:ext cx="10277702" cy="2246769"/>
              </a:xfrm>
              <a:prstGeom prst="rect">
                <a:avLst/>
              </a:prstGeom>
              <a:blipFill>
                <a:blip r:embed="rId2"/>
                <a:stretch>
                  <a:fillRect l="-1246" t="-2439" r="-119" b="-67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7986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17957"/>
                <a:ext cx="10067277" cy="3994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Distribuição Poisson</a:t>
                </a:r>
              </a:p>
              <a:p>
                <a:endParaRPr lang="pt-BR" sz="2800" dirty="0"/>
              </a:p>
              <a:p>
                <a:r>
                  <a:rPr lang="pt-BR" sz="2800" b="1" dirty="0"/>
                  <a:t>Definição</a:t>
                </a:r>
              </a:p>
              <a:p>
                <a:r>
                  <a:rPr lang="pt-BR" sz="2800" dirty="0"/>
                  <a:t xml:space="preserve">Dizemos que a v.a. 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 tem uma distribuição de Poisson, com parâmetro 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 &gt; 0,</m:t>
                    </m:r>
                  </m:oMath>
                </a14:m>
                <a:r>
                  <a:rPr lang="pt-BR" sz="2800" dirty="0"/>
                  <a:t xml:space="preserve"> se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pt-BR" sz="2800" b="0" i="0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  <a:p>
                <a:r>
                  <a:rPr lang="pt-BR" sz="2800" dirty="0"/>
                  <a:t xml:space="preserve">para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 0, 1, 2, …</m:t>
                    </m:r>
                  </m:oMath>
                </a14:m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17957"/>
                <a:ext cx="10067277" cy="3994620"/>
              </a:xfrm>
              <a:prstGeom prst="rect">
                <a:avLst/>
              </a:prstGeom>
              <a:blipFill>
                <a:blip r:embed="rId2"/>
                <a:stretch>
                  <a:fillRect l="-1272" t="-13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5006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17957"/>
                <a:ext cx="10067277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Distribuição Poisson</a:t>
                </a:r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Esperança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Variância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b="0" dirty="0"/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 xml:space="preserve">Notação: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𝑃𝑜𝑖𝑠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17957"/>
                <a:ext cx="10067277" cy="4832092"/>
              </a:xfrm>
              <a:prstGeom prst="rect">
                <a:avLst/>
              </a:prstGeom>
              <a:blipFill>
                <a:blip r:embed="rId2"/>
                <a:stretch>
                  <a:fillRect l="-1272" t="-1135" b="-26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8430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578F948-CB14-46CA-ABBB-35FABF89E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39" y="1340760"/>
            <a:ext cx="10822049" cy="122852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AB6DF27-806C-4185-99E1-8C1C8B594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37" y="2569283"/>
            <a:ext cx="10822049" cy="314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4804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17957"/>
            <a:ext cx="100672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 xml:space="preserve">Exemplo: </a:t>
            </a:r>
            <a:r>
              <a:rPr lang="pt-BR" sz="2800" dirty="0"/>
              <a:t>Num livro de 800 páginas há 800 erros de impressão. Qual a probabilidade de que uma página contenha pelo menos 3 erros?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3869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17957"/>
            <a:ext cx="1006727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 xml:space="preserve">Exemplo: </a:t>
            </a:r>
            <a:r>
              <a:rPr lang="pt-BR" sz="2800" dirty="0"/>
              <a:t>Numa central telefônica chegam 300 telefonemas por hora. Qual a probabilidade de que:</a:t>
            </a:r>
          </a:p>
          <a:p>
            <a:pPr marL="514350" indent="-514350">
              <a:buFont typeface="+mj-lt"/>
              <a:buAutoNum type="alphaLcParenR"/>
            </a:pPr>
            <a:r>
              <a:rPr lang="pt-BR" sz="2800" dirty="0"/>
              <a:t>Num minuto não haja nenhum chamado?</a:t>
            </a:r>
          </a:p>
          <a:p>
            <a:pPr marL="514350" indent="-514350">
              <a:buFont typeface="+mj-lt"/>
              <a:buAutoNum type="alphaLcParenR"/>
            </a:pPr>
            <a:r>
              <a:rPr lang="pt-BR" sz="2800" dirty="0"/>
              <a:t>Em 2 minutos haja 2 chamados?</a:t>
            </a:r>
          </a:p>
          <a:p>
            <a:pPr marL="514350" indent="-514350">
              <a:buFont typeface="+mj-lt"/>
              <a:buAutoNum type="alphaLcParenR"/>
            </a:pPr>
            <a:r>
              <a:rPr lang="pt-BR" sz="2800" dirty="0"/>
              <a:t>Em t minutos não haja chamados?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7786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17957"/>
                <a:ext cx="10067277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Aproximação da distribuição binomial pela distribuição de Poisson</a:t>
                </a:r>
              </a:p>
              <a:p>
                <a:endParaRPr lang="pt-BR" sz="2800" b="1" dirty="0"/>
              </a:p>
              <a:p>
                <a:r>
                  <a:rPr lang="pt-BR" sz="2800" dirty="0"/>
                  <a:t xml:space="preserve">Muitas vezes, no uso da binomial, acontece que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 xml:space="preserve"> é muito grande (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pt-BR" sz="2800" dirty="0"/>
                  <a:t xml:space="preserve">), 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800" dirty="0"/>
                  <a:t xml:space="preserve"> é muito pequeno (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pt-BR" sz="2800" dirty="0"/>
                  <a:t xml:space="preserve">). 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Nesses casos, não encontramos o valor em tabelas, ou então o cálculo torna-se muito difícil, sendo necessário o uso de uso de computador.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Podemos então fazer uma aproximação da binomial pela distribuição de Poisson.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17957"/>
                <a:ext cx="10067277" cy="4832092"/>
              </a:xfrm>
              <a:prstGeom prst="rect">
                <a:avLst/>
              </a:prstGeom>
              <a:blipFill>
                <a:blip r:embed="rId2"/>
                <a:stretch>
                  <a:fillRect l="-1272" t="-1135" r="-61" b="-26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986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17957"/>
                <a:ext cx="10067277" cy="3994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Observe que no caso da binomial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𝑛𝑝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 xml:space="preserve">Para a distribuição de Poisson a média é dada por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 xml:space="preserve">Nestes casos, podemos considerar </a:t>
                </a:r>
                <a:endParaRPr lang="pt-BR" sz="2800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pt-BR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17957"/>
                <a:ext cx="10067277" cy="3994620"/>
              </a:xfrm>
              <a:prstGeom prst="rect">
                <a:avLst/>
              </a:prstGeom>
              <a:blipFill>
                <a:blip r:embed="rId2"/>
                <a:stretch>
                  <a:fillRect l="-1272" t="-13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8288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17957"/>
                <a:ext cx="10067277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Exemplo.</a:t>
                </a:r>
                <a:r>
                  <a:rPr lang="pt-BR" sz="2800" dirty="0"/>
                  <a:t xml:space="preserve"> Seja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(200;0,01 ).</m:t>
                    </m:r>
                  </m:oMath>
                </a14:m>
                <a:r>
                  <a:rPr lang="pt-BR" sz="2800" dirty="0"/>
                  <a:t xml:space="preserve"> Calcular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=10)</m:t>
                    </m:r>
                  </m:oMath>
                </a14:m>
                <a:r>
                  <a:rPr lang="pt-BR" sz="2800" dirty="0"/>
                  <a:t xml:space="preserve"> usando binomial e aproximação pela Poisson.</a:t>
                </a:r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17957"/>
                <a:ext cx="10067277" cy="1384995"/>
              </a:xfrm>
              <a:prstGeom prst="rect">
                <a:avLst/>
              </a:prstGeom>
              <a:blipFill>
                <a:blip r:embed="rId2"/>
                <a:stretch>
                  <a:fillRect l="-1272" t="-39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0110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17957"/>
                <a:ext cx="10067277" cy="3851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Exemplo.</a:t>
                </a:r>
                <a:r>
                  <a:rPr lang="pt-BR" sz="2800" dirty="0"/>
                  <a:t xml:space="preserve"> Seja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(200;0,01 ).</m:t>
                    </m:r>
                  </m:oMath>
                </a14:m>
                <a:r>
                  <a:rPr lang="pt-BR" sz="2800" dirty="0"/>
                  <a:t xml:space="preserve"> Calcular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=10)</m:t>
                    </m:r>
                  </m:oMath>
                </a14:m>
                <a:r>
                  <a:rPr lang="pt-BR" sz="2800" dirty="0"/>
                  <a:t xml:space="preserve"> usando binomial e aproximação pela Poisson.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pt-BR" sz="2800" b="0" i="1" dirty="0" smtClean="0"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dirty="0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0,01</m:t>
                          </m:r>
                        </m:e>
                        <m:sup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sSup>
                        <m:sSup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0,99</m:t>
                              </m:r>
                            </m:e>
                          </m:d>
                        </m:e>
                        <m:sup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190</m:t>
                          </m:r>
                        </m:sup>
                      </m:sSup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=0,000033</m:t>
                      </m:r>
                    </m:oMath>
                  </m:oMathPara>
                </a14:m>
                <a:endParaRPr lang="pt-BR" sz="2800" dirty="0"/>
              </a:p>
              <a:p>
                <a:r>
                  <a:rPr lang="pt-BR" sz="2800" dirty="0"/>
                  <a:t xml:space="preserve">Seja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=0,01∗200=2</m:t>
                    </m:r>
                  </m:oMath>
                </a14:m>
                <a:endParaRPr lang="pt-BR" sz="2800" dirty="0"/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pt-BR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p>
                        </m:num>
                        <m:den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pt-BR" sz="2800" i="1" dirty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=0,000038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17957"/>
                <a:ext cx="10067277" cy="3851311"/>
              </a:xfrm>
              <a:prstGeom prst="rect">
                <a:avLst/>
              </a:prstGeom>
              <a:blipFill>
                <a:blip r:embed="rId2"/>
                <a:stretch>
                  <a:fillRect l="-1272" t="-142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6088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2"/>
            <a:ext cx="10827959" cy="1641228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de v.a. Discretas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A34B6DD-B04E-45E9-94F0-530A0A455B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5"/>
            <a:ext cx="970464" cy="2027284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1032611" y="2041869"/>
            <a:ext cx="1082795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Atividades referentes a aula:</a:t>
            </a:r>
          </a:p>
          <a:p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Leia as seções 3.1 à 3.5.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Leia os exercícios resolvidos a partir da página 109: Exercícios: 1 ao 21.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Resolva os exercícios da página 120: Exercícios: 1 ao 27.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88668"/>
            <a:ext cx="2348848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>
                <a:solidFill>
                  <a:schemeClr val="bg1"/>
                </a:solidFill>
              </a:rPr>
              <a:t>Professor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493953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Discretos III: Distribuição de Poisson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Objetivos do aula: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Conhecer a distribuição de Poisson e reconhecer situações de aplicação.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Calcular probabilidades usando o modelo de Poisson.</a:t>
            </a:r>
          </a:p>
          <a:p>
            <a:r>
              <a:rPr lang="pt-BR" sz="2400" b="1" dirty="0"/>
              <a:t xml:space="preserve">Referências: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6 (6.6.5, 6.7)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Montgomery, Runger. </a:t>
            </a:r>
            <a:r>
              <a:rPr lang="pt-BR" sz="2000" b="1" dirty="0"/>
              <a:t>Applied Statistics and Probability for Engineers</a:t>
            </a:r>
            <a:r>
              <a:rPr lang="pt-BR" sz="2000" dirty="0"/>
              <a:t>, 7th ed — Cap. 3 (3.8)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3 (3.3)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 xml:space="preserve"> — Cap. 4 (4.7)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Distribuição de Poisson — Atividades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Atividades referentes à aula</a:t>
            </a:r>
          </a:p>
          <a:p>
            <a:r>
              <a:rPr lang="pt-BR" sz="2000" dirty="0"/>
              <a:t xml:space="preserve">Leitura recomendada: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 &amp; Morettin — Cap. 6: 6.6.5, 6.7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Montgomery &amp; Runger — Cap. 3: 3.8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Magalhães &amp; Lima — Cap. 3: 3.3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Morettin — Cap. 4: 4.7</a:t>
            </a:r>
          </a:p>
          <a:p>
            <a:r>
              <a:rPr lang="pt-BR" sz="2000" dirty="0"/>
              <a:t>Exercícios recomendados: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Bussab, Cap. 6: exercícios sobre distribuição de Poisson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4150</TotalTime>
  <Words>1951</Words>
  <Application>Microsoft Office PowerPoint</Application>
  <PresentationFormat>Widescreen</PresentationFormat>
  <Paragraphs>262</Paragraphs>
  <Slides>36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2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  <vt:lpstr>CEA055 – Estatística e Probabilidade Modelos de v.a. Discretas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147</cp:revision>
  <dcterms:created xsi:type="dcterms:W3CDTF">2020-07-20T19:35:15Z</dcterms:created>
  <dcterms:modified xsi:type="dcterms:W3CDTF">2024-08-29T15:45:59Z</dcterms:modified>
</cp:coreProperties>
</file>