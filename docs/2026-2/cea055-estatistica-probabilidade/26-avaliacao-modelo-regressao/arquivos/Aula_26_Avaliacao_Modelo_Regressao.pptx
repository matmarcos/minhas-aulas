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1300" r:id="rId2"/>
    <p:sldId id="1301" r:id="rId3"/>
    <p:sldId id="1302" r:id="rId4"/>
    <p:sldId id="1303" r:id="rId5"/>
    <p:sldId id="1304" r:id="rId6"/>
    <p:sldId id="1305" r:id="rId7"/>
    <p:sldId id="1306" r:id="rId8"/>
    <p:sldId id="1307" r:id="rId9"/>
    <p:sldId id="1308" r:id="rId10"/>
    <p:sldId id="1309" r:id="rId11"/>
    <p:sldId id="1310" r:id="rId12"/>
    <p:sldId id="1311" r:id="rId13"/>
    <p:sldId id="1312" r:id="rId14"/>
    <p:sldId id="1313" r:id="rId15"/>
  </p:sldIdLst>
  <p:sldSz cx="12192000" cy="6858000"/>
  <p:notesSz cx="6858000" cy="9144000"/>
  <p:defaultTextStyle>
    <a:defPPr>
      <a:defRPr lang="pt-BR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cos Goulart Lima" initials="MGL" lastIdx="1" clrIdx="0">
    <p:extLst>
      <p:ext uri="{19B8F6BF-5375-455C-9EA6-DF929625EA0E}">
        <p15:presenceInfo xmlns:p15="http://schemas.microsoft.com/office/powerpoint/2012/main" userId="809befc0d8c5dfd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 autoAdjust="0"/>
  </p:normalViewPr>
  <p:slideViewPr>
    <p:cSldViewPr snapToGrid="0">
      <p:cViewPr varScale="1">
        <p:scale>
          <a:sx n="65" d="100"/>
          <a:sy n="65" d="100"/>
        </p:scale>
        <p:origin x="48" y="451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4690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623A65-BD25-40B6-8815-498297225DF7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7F89C7-0D7F-4B10-AF98-1416A21C67F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9212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B549B-B83A-404E-9BD8-A560AB294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7CE2CF-ACA4-4F2F-B0E6-62AA8A4CA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15145D-ED8E-485D-AFAA-0637E3DDC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10A484-EBAA-4375-B22B-EB352202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BFC011-A4F5-4C4D-B328-90D3A1C70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32127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C2C77-41CB-40C6-8592-F2323898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2E0EDC-CFA2-4EB2-951C-00B6285C6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7430C6-C7CB-4882-8EDC-12D186CAC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44677D-F5A4-4226-8F80-D16E10238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AB1963-7DC3-48C6-816F-DB898EB17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906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9C7D4-175E-4544-B2C7-10CBDC0B0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345EC1-929C-4442-826F-033EE789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04775A-17A7-4EC4-9798-1A34FD10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42EA98-8D10-4ED3-B93F-FC711F0CD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9B97DE-6B04-4B6F-86E9-1D88F55F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312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BAA362-A45A-480A-9074-096724BCA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7FAB7C-66B6-413A-A532-7B4B35F4FB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E989473-C5DE-4037-A42E-A0EACF667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249F76-8985-4102-AAA2-0AF7D18B3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9E6D85-4300-4D4B-9EF8-C400BC246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2F353B-CB0E-4E22-9F25-903B9054A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4893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0DC1B8-1341-4AB7-B041-922244C5C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8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3C1DFC-5D65-46F4-994E-FD066564E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CD66570-19DA-43E0-B668-A0064803D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031A902-2182-44D2-92A6-7D350E01E0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F11DEC4-4ED6-4D01-8E2F-F8DFBFBB0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251D8EF-D452-4BEB-B271-9A45BCDDD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874A662-49D6-4C3B-B580-C42ED1EC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B64F4DA-4AAA-4F61-9D50-9FBA731D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6527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5CE28C-348A-4584-BBD8-F7D4E80AC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27A591-6069-48B6-9538-6A690479E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F4B20B4-5872-4798-8273-172F9B79B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0218E22-3A9A-4526-9A35-8F67CBEA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9807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8C9ED03-39FE-4839-912F-74079DC07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2202958-2868-421E-B634-EC4F79F44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A1E4208-F91B-406F-93C9-909632019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6385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3AC6E-A8A4-484F-AB72-E01568BAD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52402C-474E-4A4C-BBB4-72C4459FD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5932530-DB56-4B02-AAD7-0B0DAE05A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269F7A-8509-44B5-A449-BA774B8D6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AC7A0F7-9932-436F-9AE3-AFF4AA2B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EED5AD-F121-4389-805A-1761D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4605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E0AC3B-59EE-40F2-994F-F86E662CE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38B4DB5-6F6C-4DA5-9A20-AC29F12332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E271B5-C93D-4796-9358-1D1489AD9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70EE369-01D5-4D19-9174-7B158A7B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D9A84F-D4C0-4CF0-B94A-BD00C58C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C5E872-5A54-4124-AFFF-F672D0693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709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82B53-B921-43B0-B70C-89461FC53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CD7C9CB-B075-433C-911D-C898E41105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6A9F18-28DC-4676-99F1-455FE41D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122BC6-1417-41C0-ABAB-3814030C5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D411FB-88FD-4753-AD8A-28F528B3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699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7E2BA7-069E-46BC-89D6-D7C2DC18A2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6"/>
            <a:ext cx="2628900" cy="581183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D25537-8E8B-46D8-8D94-91EDEBEF2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6"/>
            <a:ext cx="7734300" cy="581183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151BBF-6817-43B4-9E70-9E5D97182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27DCBE-1398-4403-B8D9-E76E3BB1A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7CFCFD-A47F-4C7B-B8FA-ADA430CE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6169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60000"/>
                <a:lumOff val="40000"/>
              </a:schemeClr>
            </a:gs>
            <a:gs pos="19000">
              <a:schemeClr val="bg1"/>
            </a:gs>
            <a:gs pos="95000">
              <a:schemeClr val="bg1"/>
            </a:gs>
            <a:gs pos="100000">
              <a:schemeClr val="accent5">
                <a:lumMod val="40000"/>
                <a:lumOff val="6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4E2DD83-FDEA-4717-875C-AE246EAB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8727906-6A75-4D24-84E2-D534D8BE7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73EF87-9823-417E-B531-F5CFE53CC6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5E566-B383-4B2D-B951-1136FD38326E}" type="datetimeFigureOut">
              <a:rPr lang="pt-BR" smtClean="0"/>
              <a:t>28/10/2026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912461-C5F3-4639-9852-55C185CA8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549E10-6FAB-43E0-BE2A-E81BCD879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1590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Avaliação do Modelo de Regressão Linear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"/>
          <p:cNvSpPr txBox="1"/>
          <p:nvPr/>
        </p:nvSpPr>
        <p:spPr>
          <a:xfrm>
            <a:off x="1032608" y="1750000"/>
            <a:ext cx="10067277" cy="42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Objetivos da aula: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dirty="0"/>
              <a:t>Definir resíduos e usá-los para diagnosticar problemas no modelo ajustado.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dirty="0"/>
              <a:t>Compreender a decomposição da variação total em variação explicada e não explicada.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900" dirty="0"/>
              <a:t>Calcular e interpretar o coeficiente de determinação R².</a:t>
            </a:r>
          </a:p>
          <a:p>
            <a:r>
              <a:rPr lang="pt-BR" sz="2000" b="1" dirty="0"/>
              <a:t>Referências: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Bussab, Morettin. Estatística Básica, 9ed — Cap. 16 (16.3 a 16.5)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Montgomery, Runger. Applied Statistics..., 7th ed — Cap. 11 (11.7)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Magalhães, Lima. Noções de Probabilidade e Estatística, 5ed — Cap. 9 (9.5, exercícios)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Logo UFO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600000"/>
            <a:ext cx="10800000" cy="45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O modelo ajustado é bom?</a:t>
            </a:r>
          </a:p>
          <a:p>
            <a:endParaRPr lang="pt-BR" sz="1800" dirty="0"/>
          </a:p>
          <a:p>
            <a:r>
              <a:rPr lang="pt-BR" sz="1800" dirty="0"/>
              <a:t>Na </a:t>
            </a:r>
            <a:r>
              <a:rPr lang="pt-BR" sz="1800"/>
              <a:t>Aula 25 </a:t>
            </a:r>
            <a:r>
              <a:rPr lang="pt-BR" sz="1800" dirty="0"/>
              <a:t>ajustamos uma reta aos dados de publicidade e vendas. Mas ajustar uma reta é sempre possível — a pergunta que falta responder é: essa reta é um bom resumo dos dados?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Hoje vamos ver duas ferramentas de diagnóstico: a análise de resíduos (qualitativa) e o coeficiente de determinação R² (quantitativa).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1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O que é um resíduo</a:t>
            </a:r>
          </a:p>
          <a:p>
            <a:r>
              <a:rPr lang="pt-BR" sz="1700" dirty="0"/>
              <a:t>O resíduo da observação i é a diferença entre o valor observado e o valor previsto pelo modelo:</a:t>
            </a:r>
          </a:p>
        </p:txBody>
      </p:sp>
      <p:pic>
        <p:nvPicPr>
          <p:cNvPr id="9" name="Definicao residu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0000" y="3200000"/>
            <a:ext cx="4000000" cy="900000"/>
          </a:xfrm>
          <a:prstGeom prst="rect">
            <a:avLst/>
          </a:prstGeom>
        </p:spPr>
      </p:pic>
      <p:sp>
        <p:nvSpPr>
          <p:cNvPr id="11" name="Caixa"/>
          <p:cNvSpPr txBox="1"/>
          <p:nvPr/>
        </p:nvSpPr>
        <p:spPr>
          <a:xfrm>
            <a:off x="685800" y="4500000"/>
            <a:ext cx="10800000" cy="17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Resíduo grande (em módulo) → a reta previu mal aquele ponto específico.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Os resíduos são nossa melhor estimativa dos erros eᵢ do modelo (</a:t>
            </a:r>
            <a:r>
              <a:rPr lang="pt-BR" sz="1700"/>
              <a:t>Aula 25) </a:t>
            </a:r>
            <a:r>
              <a:rPr lang="pt-BR" sz="1700" dirty="0"/>
              <a:t>— é neles que vamos checar as suposições.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Propriedades dos resíduos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Pela própria forma como α̂ e β̂ são calculados (mínimos quadrados), os resíduos SEMPRE somam zero: Σeᵢ = 0.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Isso vale para QUALQUER conjunto de dados ajustado por mínimos quadrados — não é evidência de bom ajuste, é uma propriedade matemática garantida.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O que realmente importa observar é o PADRÃO dos resíduos: eles parecem aleatórios, ou seguem alguma tendência sistemática?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51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Resíduos no exemplo da publicidade</a:t>
            </a:r>
          </a:p>
          <a:p>
            <a:endParaRPr lang="pt-BR" sz="1800" dirty="0"/>
          </a:p>
          <a:p>
            <a:r>
              <a:rPr lang="pt-BR" sz="1650" dirty="0"/>
              <a:t>Usando Ŷ = 6,631 + 2,226·X (</a:t>
            </a:r>
            <a:r>
              <a:rPr lang="pt-BR" sz="1650"/>
              <a:t>Aula 25) </a:t>
            </a:r>
            <a:r>
              <a:rPr lang="pt-BR" sz="1650" dirty="0"/>
              <a:t>para cada ponto observado: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X=2: Y=11, Ŷ=11,08, e=−0,08     X=3: Y=14, Ŷ=13,31, e=0,69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X=4: Y=15, Ŷ=15,54, e=−0,54     X=5: Y=18, Ŷ=17,76, e=0,24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X=6: Y=20, Ŷ=19,99, e=0,01     X=7: Y=21, Ŷ=22,21, e=−1,21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X=8: Y=25, Ŷ=24,44, e=0,56     X=9: Y=27, Ŷ=26,67, e=0,33</a:t>
            </a:r>
          </a:p>
          <a:p>
            <a:endParaRPr lang="pt-BR" sz="1800" dirty="0"/>
          </a:p>
          <a:p>
            <a:r>
              <a:rPr lang="pt-BR" sz="1550" i="1" dirty="0"/>
              <a:t>Soma dos resíduos: ≈0,00, como esperado.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54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1900" b="1" dirty="0"/>
              <a:t>O gráfico de resíduos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50" dirty="0"/>
              <a:t>Colocamos X no eixo horizontal e o resíduo eᵢ no eixo vertical: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50" dirty="0"/>
              <a:t>Bom sinal: pontos espalhados aleatoriamente ao redor de zero, sem padrão visível.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50" dirty="0"/>
              <a:t>No nosso exemplo, os resíduos parecem razoavelmente aleatórios — bom indício de que o modelo linear é adequado.</a:t>
            </a:r>
          </a:p>
        </p:txBody>
      </p:sp>
      <p:pic>
        <p:nvPicPr>
          <p:cNvPr id="9" name="Grafico de residuo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000" y="1500000"/>
            <a:ext cx="4900000" cy="3050000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16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Quando o gráfico de resíduos acende um alerta</a:t>
            </a:r>
          </a:p>
          <a:p>
            <a:r>
              <a:rPr lang="pt-BR" sz="1700" dirty="0"/>
              <a:t>Padrões sistemáticos indicam que o modelo não está capturando toda a estrutura dos dados:</a:t>
            </a:r>
          </a:p>
        </p:txBody>
      </p:sp>
      <p:pic>
        <p:nvPicPr>
          <p:cNvPr id="9" name="Padroes problematico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900000"/>
            <a:ext cx="10800000" cy="2900000"/>
          </a:xfrm>
          <a:prstGeom prst="rect">
            <a:avLst/>
          </a:prstGeom>
        </p:spPr>
      </p:pic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1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Decompondo a variação total</a:t>
            </a:r>
          </a:p>
          <a:p>
            <a:r>
              <a:rPr lang="pt-BR" sz="1700" dirty="0"/>
              <a:t>A variação total de Y pode ser separada em uma parte explicada pelo modelo e uma parte não explicada (resíduos):</a:t>
            </a:r>
          </a:p>
        </p:txBody>
      </p:sp>
      <p:pic>
        <p:nvPicPr>
          <p:cNvPr id="9" name="SQT=SQR+SQ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0000" y="3050000"/>
            <a:ext cx="4600000" cy="850000"/>
          </a:xfrm>
          <a:prstGeom prst="rect">
            <a:avLst/>
          </a:prstGeom>
        </p:spPr>
      </p:pic>
      <p:pic>
        <p:nvPicPr>
          <p:cNvPr id="11" name="Definicoes SQT SQR SQ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4300000"/>
            <a:ext cx="10800000" cy="700000"/>
          </a:xfrm>
          <a:prstGeom prst="rect">
            <a:avLst/>
          </a:prstGeom>
        </p:spPr>
      </p:pic>
      <p:sp>
        <p:nvSpPr>
          <p:cNvPr id="12" name="Caixa"/>
          <p:cNvSpPr txBox="1"/>
          <p:nvPr/>
        </p:nvSpPr>
        <p:spPr>
          <a:xfrm>
            <a:off x="685800" y="5350000"/>
            <a:ext cx="10800000" cy="13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600" dirty="0"/>
              <a:t>SQT = variação total; SQR = explicada pela reta; SQE = residual (não explicada).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1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Coeficiente de determinação R²</a:t>
            </a:r>
          </a:p>
          <a:p>
            <a:r>
              <a:rPr lang="pt-BR" sz="1700" dirty="0"/>
              <a:t>A proporção da variação total de Y que é explicada pelo modelo:</a:t>
            </a:r>
          </a:p>
        </p:txBody>
      </p:sp>
      <p:pic>
        <p:nvPicPr>
          <p:cNvPr id="9" name="Definicao R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0000" y="3200000"/>
            <a:ext cx="4600000" cy="900000"/>
          </a:xfrm>
          <a:prstGeom prst="rect">
            <a:avLst/>
          </a:prstGeom>
        </p:spPr>
      </p:pic>
      <p:sp>
        <p:nvSpPr>
          <p:cNvPr id="11" name="Caixa"/>
          <p:cNvSpPr txBox="1"/>
          <p:nvPr/>
        </p:nvSpPr>
        <p:spPr>
          <a:xfrm>
            <a:off x="685800" y="4600000"/>
            <a:ext cx="10800000" cy="17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00" dirty="0"/>
              <a:t>0 ≤ R² ≤ 1 sempre. R² = 1 significa que a reta explica 100% da variação (ajuste perfeito).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51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Calculando R² no exemplo da publicidade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50" dirty="0"/>
              <a:t>A partir dos resíduos calculados: SQE = Σeᵢ² = 2,73.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50" dirty="0"/>
              <a:t>SQT = Sᵧᵧ = 210,875 (já calculado na </a:t>
            </a:r>
            <a:r>
              <a:rPr lang="pt-BR" sz="1750"/>
              <a:t>Aula 25).</a:t>
            </a:r>
            <a:endParaRPr lang="pt-BR" sz="175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750" dirty="0"/>
              <a:t>SQR = SQT − SQE = 210,875 − 2,73 = 208,15.</a:t>
            </a:r>
          </a:p>
          <a:p>
            <a:r>
              <a:rPr lang="pt-BR" sz="1900" b="1" dirty="0"/>
              <a:t>R² = SQR/SQT = 208,15/210,875 = 0,987.</a:t>
            </a:r>
          </a:p>
          <a:p>
            <a:endParaRPr lang="pt-BR" sz="1800" dirty="0"/>
          </a:p>
          <a:p>
            <a:r>
              <a:rPr lang="pt-BR" sz="1650" i="1" dirty="0"/>
              <a:t>Interpretação: o modelo linear explica 98,7% da variação nas vendas entre as lojas — um ajuste excelente.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Interpretando R² e sua relação com r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Na regressão linear SIMPLES (uma única variável explicativa), vale a relação R² = r² — o quadrado do coeficiente de correlação (</a:t>
            </a:r>
            <a:r>
              <a:rPr lang="pt-BR" sz="1800"/>
              <a:t>Aula 25).</a:t>
            </a:r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Verificação: r = 0,994 (</a:t>
            </a:r>
            <a:r>
              <a:rPr lang="pt-BR" sz="1800"/>
              <a:t>Aula 25) </a:t>
            </a:r>
            <a:r>
              <a:rPr lang="pt-BR" sz="1800" dirty="0"/>
              <a:t>→ r² = 0,994² = 0,988 ≈ R² = 0,987 (pequena diferença por arredondamento). ✓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R² costuma ser relatado em “%”: aqui, dizemos que 98,7% da variabilidade das vendas é explicada pelo investimento em publicidade.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Limitações do R² — o que ele NÃO garante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R² alto não garante que a relação seja realmente linear — sempre confirme com o gráfico de resíduos.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R² alto não implica causalidade (mesmo alerta da </a:t>
            </a:r>
            <a:r>
              <a:rPr lang="pt-BR" sz="1800"/>
              <a:t>Aula 24 </a:t>
            </a:r>
            <a:r>
              <a:rPr lang="pt-BR" sz="1800" dirty="0"/>
              <a:t>sobre correlação).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Adicionar mais variáveis explicativas SEMPRE aumenta (ou mantém) o R², mesmo que sejam irrelevantes — cuidado ao comparar modelos com R² bruto (existe uma versão “ajustada” para isso, fora do escopo aqui).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R² baixo não significa que não há relação — pode haver uma relação não linear forte que a reta simplesmente não captura.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685800" y="1150000"/>
            <a:ext cx="10800000" cy="490000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000" b="1" dirty="0"/>
              <a:t>Resumo: encerrando o bloco de regressão</a:t>
            </a:r>
          </a:p>
          <a:p>
            <a:endParaRPr lang="pt-BR" sz="1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Resíduos revelam se o modelo captura bem o padrão dos dados — sempre inspecione o gráfico antes de confiar no modelo.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R² quantifica o quanto da variação de Y é explicada pelo modelo, entre 0 e 1 (ou 0% e 100%).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Um bom modelo de regressão combina: R² razoavelmente alto E resíduos sem padrão sistemático.</a:t>
            </a:r>
          </a:p>
          <a:p>
            <a:endParaRPr lang="pt-BR" sz="1800" dirty="0"/>
          </a:p>
          <a:p>
            <a:r>
              <a:rPr lang="pt-BR" sz="1700" i="1" dirty="0"/>
              <a:t>Com isso, encerramos o percurso do curso: da estatística descritiva à probabilidade, das distribuições à inferência, e da correlação à regressão — as ferramentas centrais da Estatística aplicada.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"/>
          <p:cNvSpPr txBox="1"/>
          <p:nvPr/>
        </p:nvSpPr>
        <p:spPr>
          <a:xfrm>
            <a:off x="881687" y="1506234"/>
            <a:ext cx="10618651" cy="502105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pt-BR" sz="2400" b="1" dirty="0"/>
              <a:t>Atividades referentes à aula</a:t>
            </a:r>
          </a:p>
          <a:p>
            <a:endParaRPr lang="pt-BR" sz="2400" dirty="0"/>
          </a:p>
          <a:p>
            <a:r>
              <a:rPr lang="pt-BR" sz="2000" b="1" dirty="0"/>
              <a:t>Leitura recomendada: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Bussab &amp; Morettin — Cap. 16: 16.3 a 16.5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Montgomery &amp; Runger — Cap. 11: 11.7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Magalhães &amp; Lima — Cap. 9: 9.5 (exercícios)</a:t>
            </a:r>
          </a:p>
          <a:p>
            <a:endParaRPr lang="pt-BR" sz="1800" dirty="0"/>
          </a:p>
          <a:p>
            <a:r>
              <a:rPr lang="pt-BR" sz="2000" b="1" dirty="0"/>
              <a:t>Exercícios recomendados: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Confirme a soma dos resíduos do exemplo (deve dar aproximadamente zero) somando os 8 valores calculados.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dirty="0"/>
              <a:t>Colete seus próprios dados (ou use o exercício da </a:t>
            </a:r>
            <a:r>
              <a:rPr lang="pt-BR" sz="1800"/>
              <a:t>Aula 25) </a:t>
            </a:r>
            <a:r>
              <a:rPr lang="pt-BR" sz="1800" dirty="0"/>
              <a:t>e calcule o R² do seu ajuste.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6164</TotalTime>
  <Words>1223</Words>
  <Application>Microsoft Office PowerPoint</Application>
  <PresentationFormat>Widescreen</PresentationFormat>
  <Paragraphs>95</Paragraphs>
  <Slides>14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19" baseType="lpstr">
      <vt:lpstr>AlternateGothic2 BT</vt:lpstr>
      <vt:lpstr>Arial</vt:lpstr>
      <vt:lpstr>Calibri</vt:lpstr>
      <vt:lpstr>Calibri Light</vt:lpstr>
      <vt:lpstr>Tema do Office</vt:lpstr>
      <vt:lpstr>CEA055 – Estatística e Probabilidade Avaliação do Modelo de Regressão Linear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Goulart Lima</dc:creator>
  <cp:lastModifiedBy>Marcos Goulart Lima</cp:lastModifiedBy>
  <cp:revision>230</cp:revision>
  <dcterms:created xsi:type="dcterms:W3CDTF">2020-07-20T19:35:15Z</dcterms:created>
  <dcterms:modified xsi:type="dcterms:W3CDTF">2026-10-28T12:40:57Z</dcterms:modified>
</cp:coreProperties>
</file>