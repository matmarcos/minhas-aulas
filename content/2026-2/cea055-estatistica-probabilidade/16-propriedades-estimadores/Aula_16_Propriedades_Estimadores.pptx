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900" r:id="rId2"/>
    <p:sldId id="902" r:id="rId3"/>
    <p:sldId id="903" r:id="rId4"/>
    <p:sldId id="904" r:id="rId5"/>
    <p:sldId id="905" r:id="rId6"/>
    <p:sldId id="906" r:id="rId7"/>
    <p:sldId id="907" r:id="rId8"/>
    <p:sldId id="908" r:id="rId9"/>
    <p:sldId id="909" r:id="rId10"/>
    <p:sldId id="910" r:id="rId11"/>
    <p:sldId id="911" r:id="rId12"/>
    <p:sldId id="912" r:id="rId13"/>
    <p:sldId id="913" r:id="rId14"/>
    <p:sldId id="914" r:id="rId15"/>
    <p:sldId id="915" r:id="rId16"/>
    <p:sldId id="916" r:id="rId17"/>
    <p:sldId id="917" r:id="rId18"/>
    <p:sldId id="918" r:id="rId19"/>
    <p:sldId id="919" r:id="rId20"/>
    <p:sldId id="920" r:id="rId21"/>
    <p:sldId id="921" r:id="rId22"/>
    <p:sldId id="922" r:id="rId23"/>
    <p:sldId id="923" r:id="rId24"/>
    <p:sldId id="924" r:id="rId25"/>
    <p:sldId id="925" r:id="rId26"/>
    <p:sldId id="926" r:id="rId27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Propriedades dos Estimadores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sz="2000" b="1"/>
              <a:t>Objetivos da aula: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Entender o que torna um estimador bom: ausência de viés, consistência e eficiência.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Conhecer a variância amostral S².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Justificar por que usaremos X̄, p̂ e S² nas próximas aulas.</a:t>
            </a:r>
          </a:p>
          <a:p>
            <a:pPr>
              <a:lnSpc>
                <a:spcPct val="125000"/>
              </a:lnSpc>
            </a:pPr>
            <a:r>
              <a:rPr sz="2000" b="1"/>
              <a:t>Referências: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Bussab, Morettin. </a:t>
            </a:r>
            <a:r>
              <a:rPr sz="2000" b="1"/>
              <a:t>Estatística Básica</a:t>
            </a:r>
            <a:r>
              <a:rPr sz="2000"/>
              <a:t>, 9ª ed. — Cap. 11 (11.1, 11.2)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Montgomery, Runger. </a:t>
            </a:r>
            <a:r>
              <a:rPr sz="2000" b="1"/>
              <a:t>Estatística Aplicada e Probabilidade para Engenheiros</a:t>
            </a:r>
            <a:r>
              <a:rPr sz="2000"/>
              <a:t>, 7ª ed. — Cap. 7 (7.3.1, 7.3.2)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Magalhães, Lima. </a:t>
            </a:r>
            <a:r>
              <a:rPr sz="2000" b="1"/>
              <a:t>Noções de Probabilidade e Estatística</a:t>
            </a:r>
            <a:r>
              <a:rPr sz="2000"/>
              <a:t>, 5ª ed. — Cap. 7 (7.2)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000"/>
              <a:t>Morettin. </a:t>
            </a:r>
            <a:r>
              <a:rPr sz="2000" b="1"/>
              <a:t>Estatística Básica: Probabilidade e Inferência</a:t>
            </a:r>
            <a:r>
              <a:rPr sz="2000"/>
              <a:t> — Cap. 10 (10.3)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O que já sabemos (Aulas 14 e 15)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Parâmetro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: número que descreve a população; em geral, é desconhecido. Exemplos: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,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/>
                  <a:t>: fórmula aplicada à amostra para estimar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. Exemplos: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. Como a amostra é sorteada, o estimador é uma </a:t>
                </a:r>
                <a:r>
                  <a:rPr sz="2400" b="1"/>
                  <a:t>variável aleatória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Estimativa</a:t>
                </a:r>
                <a:r>
                  <a:rPr sz="2400"/>
                  <a:t>: o valor do estimador em uma amostra específica. Exemplo: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𝑥</m:t>
                        </m:r>
                      </m:e>
                    </m:bar>
                    <m:r>
                      <a:rPr lang="pt-BR" sz="2400">
                        <a:latin typeface="Cambria Math"/>
                      </a:rPr>
                      <m:t>=31</m:t>
                    </m:r>
                  </m:oMath>
                </a14:m>
                <a:r>
                  <a:rPr sz="2400"/>
                  <a:t> min.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Distribuição amostral</a:t>
                </a:r>
                <a:r>
                  <a:rPr sz="2400"/>
                  <a:t>: como o estimador varia de uma amostra para outra.</a:t>
                </a: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sz="2400" b="1"/>
                  <a:t>Pergunta desta aula: </a:t>
                </a:r>
                <a:r>
                  <a:rPr sz="2400"/>
                  <a:t>para o mesmo parâmetro há várias fórmulas possíveis. Como saber qual é a melhor?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O que já sabemos (Aulas 14 e 15)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Parâmetro </a:t>
                </a:r>
                <a:r>
                  <a:rPr sz="2400"/>
                  <a:t>: </a:t>
                </a:r>
                <a:r>
                  <a:rPr sz="2400"/>
                  <a:t>número que descreve a população; em geral, é desconhecido. Exemplos: </a:t>
                </a:r>
                <a:r>
                  <a:rPr sz="2400"/>
                  <a:t>, </a:t>
                </a:r>
                <a:r>
                  <a:rPr sz="2400"/>
                  <a:t>,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Estimador </a:t>
                </a:r>
                <a:r>
                  <a:rPr sz="2400"/>
                  <a:t>: </a:t>
                </a:r>
                <a:r>
                  <a:rPr sz="2400"/>
                  <a:t>fórmula aplicada à amostra para estimar </a:t>
                </a:r>
                <a:r>
                  <a:rPr sz="2400"/>
                  <a:t>. Exemplos: </a:t>
                </a:r>
                <a:r>
                  <a:rPr sz="2400"/>
                  <a:t>, </a:t>
                </a:r>
                <a:r>
                  <a:rPr sz="2400"/>
                  <a:t>. Como a amostra é sorteada, o estimador é uma </a:t>
                </a:r>
                <a:r>
                  <a:rPr sz="2400" b="1"/>
                  <a:t>variável aleatória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Estimativa</a:t>
                </a:r>
                <a:r>
                  <a:rPr sz="2400"/>
                  <a:t>: o valor do estimador em uma amostra específica. Exemplo: </a:t>
                </a:r>
                <a:r>
                  <a:rPr sz="2400"/>
                  <a:t> min.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Distribuição amostral</a:t>
                </a:r>
                <a:r>
                  <a:rPr sz="2400"/>
                  <a:t>: como o estimador varia de uma amostra para outra.</a:t>
                </a: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sz="2400" b="1"/>
                  <a:t>Pergunta desta aula: </a:t>
                </a:r>
                <a:r>
                  <a:rPr sz="2400"/>
                  <a:t>para o mesmo parâmetro há várias fórmulas possíveis. Como saber qual é a melhor?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1 — Quatro regras para estimar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𝜇</m:t>
                    </m:r>
                  </m:oMath>
                </a14:m>
                <a:endParaRPr sz="2400" b="1"/>
              </a:p>
              <a:p>
                <a:pPr>
                  <a:lnSpc>
                    <a:spcPct val="150000"/>
                  </a:lnSpc>
                </a:pPr>
                <a:r>
                  <a:rPr sz="2400"/>
                  <a:t>Um app de entregas quer estimar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, o </a:t>
                </a:r>
                <a:r>
                  <a:rPr sz="2400" b="1"/>
                  <a:t>tempo médio de entrega</a:t>
                </a:r>
                <a:r>
                  <a:rPr sz="2400"/>
                  <a:t> de todos os seus pedidos. A equipe sorteou 5 pedidos, com tempos de </a:t>
                </a:r>
                <a:r>
                  <a:rPr sz="2400" b="1"/>
                  <a:t>22, 38, 31, 27 e 37 min</a:t>
                </a:r>
                <a:r>
                  <a:rPr sz="2400"/>
                  <a:t>. Quatro analistas propõem regras diferentes: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Ana: </a:t>
                </a:r>
                <a:r>
                  <a:rPr sz="2400"/>
                  <a:t>a média dos tempos sorteados.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Bruno: </a:t>
                </a:r>
                <a:r>
                  <a:rPr sz="2400"/>
                  <a:t>a mediana dos tempos sorteados.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Carla: </a:t>
                </a:r>
                <a:r>
                  <a:rPr sz="2400"/>
                  <a:t>só o tempo do primeiro pedido sorteado.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Davi: </a:t>
                </a:r>
                <a:r>
                  <a:rPr sz="2400"/>
                  <a:t>o maior dos tempos sorteados.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Calcule a estimativa de cada analista.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Dá para saber qual regra é a melhor olhando só esta amostra?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1 — Quatro regras para estimar 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Um app de entregas quer estimar </a:t>
                </a:r>
                <a:r>
                  <a:rPr sz="2400"/>
                  <a:t>, o </a:t>
                </a:r>
                <a:r>
                  <a:rPr sz="2400" b="1"/>
                  <a:t>tempo médio de entrega</a:t>
                </a:r>
                <a:r>
                  <a:rPr sz="2400"/>
                  <a:t> de todos os seus pedidos. A equipe sorteou 5 pedidos, com tempos de </a:t>
                </a:r>
                <a:r>
                  <a:rPr sz="2400" b="1"/>
                  <a:t>22, 38, 31, 27 e 37 min</a:t>
                </a:r>
                <a:r>
                  <a:rPr sz="2400"/>
                  <a:t>. Quatro analistas propõem regras diferentes: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Ana: </a:t>
                </a:r>
                <a:r>
                  <a:rPr sz="2400"/>
                  <a:t>a média dos tempos sorteados.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Bruno: </a:t>
                </a:r>
                <a:r>
                  <a:rPr sz="2400"/>
                  <a:t>a mediana dos tempos sorteados.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Carla: </a:t>
                </a:r>
                <a:r>
                  <a:rPr sz="2400"/>
                  <a:t>só o tempo do primeiro pedido sorteado.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Davi: </a:t>
                </a:r>
                <a:r>
                  <a:rPr sz="2400"/>
                  <a:t>o maior dos tempos sorteados.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Calcule a estimativa de cada analista.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Dá para saber qual regra é a melhor olhando só esta amostra?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Resolução do Exemplo 1</a:t>
            </a:r>
          </a:p>
          <a:p>
            <a:pPr>
              <a:lnSpc>
                <a:spcPct val="150000"/>
              </a:lnSpc>
            </a:pPr>
            <a:r>
              <a:rPr sz="2400" b="1"/>
              <a:t>(a) </a:t>
            </a:r>
            <a:r>
              <a:rPr sz="2400"/>
              <a:t>Em ordem crescente, os tempos são 22, 27, 31, 37, 38.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96000" y="1700000"/>
          <a:ext cx="92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Analista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Regra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Estimativa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Ana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média: 155 ÷ 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31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Bruno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mediana: o 3º valor em ordem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31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Carla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primeiro pedido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22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Davi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maior valor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38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3800000"/>
                <a:ext cx="10733426" cy="25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Não. Como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 é desconhecido, não sabemos quem chegou mais perto. E outra amostra daria outras estimativas.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Para comparar as regras, é preciso ver como cada uma se comporta </a:t>
                </a:r>
                <a:r>
                  <a:rPr sz="2400" b="1"/>
                  <a:t>em muitas amostras</a:t>
                </a:r>
                <a:r>
                  <a:rPr sz="2400"/>
                  <a:t>, ou seja, olhar a distribuição amostral de cada estimador.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3800000"/>
                <a:ext cx="10733426" cy="25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Não. Como </a:t>
                </a:r>
                <a:r>
                  <a:rPr sz="2400"/>
                  <a:t> é desconhecido, não sabemos quem chegou mais perto. E outra amostra daria outras estimativas.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Para comparar as regras, é preciso ver como cada uma se comporta </a:t>
                </a:r>
                <a:r>
                  <a:rPr sz="2400" b="1"/>
                  <a:t>em muitas amostras</a:t>
                </a:r>
                <a:r>
                  <a:rPr sz="2400"/>
                  <a:t>, ou seja, olhar a distribuição amostral de cada estimador.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Exemplo 2 — Os rifles (Bussab, Exemplo 11.2)</a:t>
            </a:r>
          </a:p>
          <a:p>
            <a:pPr>
              <a:lnSpc>
                <a:spcPct val="150000"/>
              </a:lnSpc>
            </a:pPr>
            <a:r>
              <a:rPr sz="2400"/>
              <a:t>Para comprar um rifle, quatro modelos foram testados. Cada um foi preso a um cavalete, mirou o centro do alvo e disparou 15 tiros.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46000" y="2400000"/>
          <a:ext cx="97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Rifle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Em média, os tiros acertam o centro?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Os tiros ficam espalhados?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A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sim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muito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não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muito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C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sim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pouco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D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não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pouco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400000"/>
                <a:ext cx="10733426" cy="2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Qual rifle você compraria?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Resolução: </a:t>
                </a:r>
                <a:r>
                  <a:rPr sz="2400"/>
                  <a:t>o </a:t>
                </a:r>
                <a:r>
                  <a:rPr sz="2400" b="1"/>
                  <a:t>C</a:t>
                </a:r>
                <a:r>
                  <a:rPr sz="2400"/>
                  <a:t>, que acerta em média e espalha pouco. Com estimadores é igual: </a:t>
                </a:r>
                <a:r>
                  <a:rPr sz="2400" b="1"/>
                  <a:t>o centro do alvo é o parâmetro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𝜃</m:t>
                    </m:r>
                  </m:oMath>
                </a14:m>
                <a:r>
                  <a:rPr sz="2400" b="1"/>
                  <a:t> e cada tiro é uma estimativa</a:t>
                </a:r>
                <a:r>
                  <a:rPr sz="240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400000"/>
                <a:ext cx="10733426" cy="2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Qual rifle você compraria?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Resolução: </a:t>
                </a:r>
                <a:r>
                  <a:rPr sz="2400"/>
                  <a:t>o </a:t>
                </a:r>
                <a:r>
                  <a:rPr sz="2400" b="1"/>
                  <a:t>C</a:t>
                </a:r>
                <a:r>
                  <a:rPr sz="2400"/>
                  <a:t>, que acerta em média e espalha pouco. Com estimadores é igual: </a:t>
                </a:r>
                <a:r>
                  <a:rPr sz="2400" b="1"/>
                  <a:t>o centro do alvo é o parâmetro </a:t>
                </a:r>
                <a:r>
                  <a:rPr sz="2400" b="1"/>
                  <a:t> e cada tiro é uma estimativa</a:t>
                </a:r>
                <a:r>
                  <a:rPr sz="2400"/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3 — As regras acertam em média?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restaurante, o tempo de entrega é </a:t>
                </a:r>
                <a:r>
                  <a:rPr sz="2400" b="1"/>
                  <a:t>20, 30 ou 40 min</a:t>
                </a:r>
                <a:r>
                  <a:rPr sz="2400"/>
                  <a:t>, com probabilidade 1/3 cada (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𝜇</m:t>
                    </m:r>
                    <m:r>
                      <a:rPr lang="pt-BR" sz="2400" b="1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min). Sorteamos </a:t>
                </a:r>
                <a:r>
                  <a:rPr sz="2400" b="1"/>
                  <a:t>2 pedidos</a:t>
                </a:r>
                <a:r>
                  <a:rPr sz="2400"/>
                  <a:t> e estimamos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 com três regras: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Ana: </a:t>
                </a:r>
                <a:r>
                  <a:rPr sz="2400"/>
                  <a:t>a média dos 2 tempos.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Carla: </a:t>
                </a:r>
                <a:r>
                  <a:rPr sz="2400"/>
                  <a:t>só o tempo do primeiro pedido.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Davi: </a:t>
                </a:r>
                <a:r>
                  <a:rPr sz="2400"/>
                  <a:t>o maior dos 2 tempos.</a:t>
                </a:r>
              </a:p>
              <a:p>
                <a:pPr>
                  <a:lnSpc>
                    <a:spcPct val="150000"/>
                  </a:lnSpc>
                </a:pPr>
                <a:r>
                  <a:rPr sz="2000" i="1"/>
                  <a:t>(Com 2 pedidos, a mediana é igual à média; por isso, a regra do Bruno não entra aqui.)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Liste as 9 amostras possíveis e a estimativa de cada analista em cada uma.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Calcule a média das 9 estimativas de cada analista. Quem acerta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em média?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3 — As regras acertam em média?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restaurante, o tempo de entrega é </a:t>
                </a:r>
                <a:r>
                  <a:rPr sz="2400" b="1"/>
                  <a:t>20, 30 ou 40 min</a:t>
                </a:r>
                <a:r>
                  <a:rPr sz="2400"/>
                  <a:t>, com probabilidade 1/3 cada (</a:t>
                </a:r>
                <a:r>
                  <a:rPr sz="2400"/>
                  <a:t> min). Sorteamos </a:t>
                </a:r>
                <a:r>
                  <a:rPr sz="2400" b="1"/>
                  <a:t>2 pedidos</a:t>
                </a:r>
                <a:r>
                  <a:rPr sz="2400"/>
                  <a:t> e estimamos </a:t>
                </a:r>
                <a:r>
                  <a:rPr sz="2400"/>
                  <a:t> com três regras: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Ana: </a:t>
                </a:r>
                <a:r>
                  <a:rPr sz="2400"/>
                  <a:t>a média dos 2 tempos.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Carla: </a:t>
                </a:r>
                <a:r>
                  <a:rPr sz="2400"/>
                  <a:t>só o tempo do primeiro pedido.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Davi: </a:t>
                </a:r>
                <a:r>
                  <a:rPr sz="2400"/>
                  <a:t>o maior dos 2 tempos.</a:t>
                </a:r>
              </a:p>
              <a:p>
                <a:pPr>
                  <a:lnSpc>
                    <a:spcPct val="150000"/>
                  </a:lnSpc>
                </a:pPr>
                <a:r>
                  <a:rPr sz="2000" i="1"/>
                  <a:t>(Com 2 pedidos, a mediana é igual à média; por isso, a regra do Bruno não entra aqui.)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Liste as 9 amostras possíveis e a estimativa de cada analista em cada uma.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Calcule a média das 9 estimativas de cada analista. Quem acerta </a:t>
                </a:r>
                <a:r>
                  <a:rPr sz="2400"/>
                  <a:t> em média?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Resolução do Exemplo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6000" y="1000000"/>
          <a:ext cx="10800000" cy="390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Amostra (1º, 2º)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 (média)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Carla (1º pedido)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Davi (maior)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 e 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 e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 e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 e 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 e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 e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Média das 9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270 ÷ 9 =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270 ÷ 9 =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310 ÷ 9 ≈ 34,4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900000"/>
                <a:ext cx="10733426" cy="1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/>
                  <a:t>Ana e Carla acertam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em média. Davi erra, em média, 4,4 min para cima.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900000"/>
                <a:ext cx="10733426" cy="1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/>
                  <a:t>Ana e Carla acertam </a:t>
                </a:r>
                <a:r>
                  <a:rPr sz="2400"/>
                  <a:t> em média. Davi erra, em média, 4,4 min para cima.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Análise do Exemplo 3: acertar em média não basta</a:t>
            </a:r>
          </a:p>
          <a:p>
            <a:pPr>
              <a:lnSpc>
                <a:spcPct val="150000"/>
              </a:lnSpc>
            </a:pPr>
            <a:r>
              <a:rPr sz="2400"/>
              <a:t>Ana e Carla acertam em média, mas as estimativas da Carla ficam mais espalhadas: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6000" y="1617833"/>
          <a:ext cx="10900000" cy="1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 (média)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Carla (1º pedido)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Estimativas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20, 25, 30, 25, 30, 35, 30, 35, 40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20, 20, 20, 30, 30, 30, 40, 40, 40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Média das 9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Erro de até 5 min (25 a 35)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 de 9 amostras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 de 9 amostras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9287" y="3467833"/>
            <a:ext cx="10733426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Carla usa só um pedido e despreza o outro: é como o </a:t>
            </a:r>
            <a:r>
              <a:rPr sz="2400" b="1"/>
              <a:t>rifle A</a:t>
            </a:r>
            <a:r>
              <a:rPr sz="2400"/>
              <a:t>, que acerta em média com os tiros espalhados.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 b="1"/>
              <a:t>Acertar em média é o primeiro teste</a:t>
            </a:r>
            <a:r>
              <a:rPr sz="2400"/>
              <a:t>, mas não basta. A consistência e a eficiência medem o espalhamento.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638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Estimador</a:t>
                </a:r>
                <a:r>
                  <a:rPr sz="2400" b="1" dirty="0"/>
                  <a:t> </a:t>
                </a:r>
                <a:r>
                  <a:rPr sz="2400" b="1" dirty="0" err="1"/>
                  <a:t>não</a:t>
                </a:r>
                <a:r>
                  <a:rPr sz="2400" b="1" dirty="0"/>
                  <a:t> </a:t>
                </a:r>
                <a:r>
                  <a:rPr sz="2400" b="1" dirty="0" err="1"/>
                  <a:t>viesado</a:t>
                </a:r>
                <a:endParaRPr sz="2400" b="1" dirty="0"/>
              </a:p>
              <a:p>
                <a:pPr>
                  <a:lnSpc>
                    <a:spcPct val="150000"/>
                  </a:lnSpc>
                </a:pPr>
                <a:r>
                  <a:rPr sz="2400" b="1" dirty="0" err="1"/>
                  <a:t>Definição</a:t>
                </a:r>
                <a:r>
                  <a:rPr sz="2400" b="1" dirty="0"/>
                  <a:t>. </a:t>
                </a:r>
                <a:r>
                  <a:rPr sz="2400" dirty="0"/>
                  <a:t>O </a:t>
                </a:r>
                <a:r>
                  <a:rPr sz="2400" dirty="0" err="1"/>
                  <a:t>estimador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 dirty="0"/>
                  <a:t> é </a:t>
                </a:r>
                <a:r>
                  <a:rPr sz="2400" b="1" dirty="0" err="1"/>
                  <a:t>não</a:t>
                </a:r>
                <a:r>
                  <a:rPr sz="2400" b="1" dirty="0"/>
                  <a:t> </a:t>
                </a:r>
                <a:r>
                  <a:rPr sz="2400" b="1" dirty="0" err="1"/>
                  <a:t>viesado</a:t>
                </a:r>
                <a:r>
                  <a:rPr sz="2400" dirty="0"/>
                  <a:t> para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 dirty="0"/>
                  <a:t> se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 dirty="0"/>
                  <a:t>. Se </a:t>
                </a:r>
                <a:r>
                  <a:rPr sz="2400" dirty="0" err="1"/>
                  <a:t>isso</a:t>
                </a:r>
                <a:r>
                  <a:rPr sz="2400" dirty="0"/>
                  <a:t>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valer</a:t>
                </a:r>
                <a:r>
                  <a:rPr sz="24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 dirty="0"/>
                  <a:t> é </a:t>
                </a:r>
                <a:r>
                  <a:rPr sz="2400" b="1" dirty="0" err="1"/>
                  <a:t>viesado</a:t>
                </a:r>
                <a:r>
                  <a:rPr sz="2400" dirty="0"/>
                  <a:t>, e o </a:t>
                </a:r>
                <a:r>
                  <a:rPr sz="2400" b="1" dirty="0" err="1"/>
                  <a:t>viés</a:t>
                </a:r>
                <a:r>
                  <a:rPr sz="2400" dirty="0"/>
                  <a:t> é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)−</m:t>
                    </m:r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 dirty="0"/>
                  <a:t> é a </a:t>
                </a:r>
                <a:r>
                  <a:rPr sz="2400" dirty="0" err="1"/>
                  <a:t>média</a:t>
                </a:r>
                <a:r>
                  <a:rPr sz="2400" dirty="0"/>
                  <a:t> das </a:t>
                </a:r>
                <a:r>
                  <a:rPr sz="2400" dirty="0" err="1"/>
                  <a:t>estimativas</a:t>
                </a:r>
                <a:r>
                  <a:rPr sz="2400" dirty="0"/>
                  <a:t>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todas</a:t>
                </a:r>
                <a:r>
                  <a:rPr sz="2400" dirty="0"/>
                  <a:t> as </a:t>
                </a:r>
                <a:r>
                  <a:rPr sz="2400" dirty="0" err="1"/>
                  <a:t>amostras</a:t>
                </a:r>
                <a:r>
                  <a:rPr sz="2400" dirty="0"/>
                  <a:t> </a:t>
                </a:r>
                <a:r>
                  <a:rPr sz="2400" dirty="0" err="1"/>
                  <a:t>possíveis</a:t>
                </a:r>
                <a:r>
                  <a:rPr sz="2400" dirty="0"/>
                  <a:t>, </a:t>
                </a:r>
                <a:r>
                  <a:rPr sz="2400" dirty="0" err="1"/>
                  <a:t>ponderada</a:t>
                </a:r>
                <a:r>
                  <a:rPr sz="2400" dirty="0"/>
                  <a:t> </a:t>
                </a:r>
                <a:r>
                  <a:rPr sz="2400" dirty="0" err="1"/>
                  <a:t>pelas</a:t>
                </a:r>
                <a:r>
                  <a:rPr sz="2400" dirty="0"/>
                  <a:t> </a:t>
                </a:r>
                <a:r>
                  <a:rPr sz="2400" dirty="0" err="1"/>
                  <a:t>probabilidades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/>
                  <a:t>No </a:t>
                </a:r>
                <a:r>
                  <a:rPr sz="2400" dirty="0" err="1"/>
                  <a:t>Exemplo</a:t>
                </a:r>
                <a:r>
                  <a:rPr sz="2400" dirty="0"/>
                  <a:t> 3, Ana e Carla </a:t>
                </a:r>
                <a:r>
                  <a:rPr sz="2400" dirty="0" err="1"/>
                  <a:t>são</a:t>
                </a:r>
                <a:r>
                  <a:rPr sz="2400" dirty="0"/>
                  <a:t>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viesadas</a:t>
                </a:r>
                <a:r>
                  <a:rPr sz="2400" dirty="0"/>
                  <a:t>; Davi é </a:t>
                </a:r>
                <a:r>
                  <a:rPr sz="2400" dirty="0" err="1"/>
                  <a:t>viesado</a:t>
                </a:r>
                <a:r>
                  <a:rPr sz="2400" dirty="0"/>
                  <a:t>, com </a:t>
                </a:r>
                <a:r>
                  <a:rPr sz="2400" dirty="0" err="1"/>
                  <a:t>viés</a:t>
                </a:r>
                <a:r>
                  <a:rPr sz="2400" dirty="0"/>
                  <a:t> ≈ 34,4 − 30 = 4,4 min.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 dirty="0" err="1"/>
                  <a:t>Atenção</a:t>
                </a:r>
                <a:r>
                  <a:rPr sz="2400" b="1" dirty="0"/>
                  <a:t>: </a:t>
                </a:r>
                <a:r>
                  <a:rPr sz="2400" dirty="0"/>
                  <a:t>o </a:t>
                </a:r>
                <a:r>
                  <a:rPr sz="2400" dirty="0" err="1"/>
                  <a:t>viés</a:t>
                </a:r>
                <a:r>
                  <a:rPr sz="2400" dirty="0"/>
                  <a:t> de </a:t>
                </a:r>
                <a:r>
                  <a:rPr sz="2400" dirty="0" err="1"/>
                  <a:t>seleção</a:t>
                </a:r>
                <a:r>
                  <a:rPr sz="2400" dirty="0"/>
                  <a:t> (Aula 14) </a:t>
                </a:r>
                <a:r>
                  <a:rPr sz="2400" dirty="0" err="1"/>
                  <a:t>vem</a:t>
                </a:r>
                <a:r>
                  <a:rPr sz="2400" dirty="0"/>
                  <a:t> do modo de </a:t>
                </a:r>
                <a:r>
                  <a:rPr sz="2400" dirty="0" err="1"/>
                  <a:t>sortear</a:t>
                </a:r>
                <a:r>
                  <a:rPr sz="2400" dirty="0"/>
                  <a:t> a </a:t>
                </a:r>
                <a:r>
                  <a:rPr sz="2400" dirty="0" err="1"/>
                  <a:t>amostra</a:t>
                </a:r>
                <a:r>
                  <a:rPr sz="2400" dirty="0"/>
                  <a:t>; </a:t>
                </a:r>
                <a:r>
                  <a:rPr sz="2400" dirty="0" err="1"/>
                  <a:t>aqui</a:t>
                </a:r>
                <a:r>
                  <a:rPr sz="2400" dirty="0"/>
                  <a:t>, o </a:t>
                </a:r>
                <a:r>
                  <a:rPr sz="2400" dirty="0" err="1"/>
                  <a:t>viés</a:t>
                </a:r>
                <a:r>
                  <a:rPr sz="2400" dirty="0"/>
                  <a:t> </a:t>
                </a:r>
                <a:r>
                  <a:rPr sz="2400" dirty="0" err="1"/>
                  <a:t>vem</a:t>
                </a:r>
                <a:r>
                  <a:rPr sz="2400" dirty="0"/>
                  <a:t> </a:t>
                </a:r>
                <a:r>
                  <a:rPr sz="2400" b="1" dirty="0"/>
                  <a:t>da </a:t>
                </a:r>
                <a:r>
                  <a:rPr sz="2400" b="1" dirty="0" err="1"/>
                  <a:t>fórmula</a:t>
                </a:r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000" i="1" dirty="0"/>
                  <a:t>Outros </a:t>
                </a:r>
                <a:r>
                  <a:rPr sz="2000" i="1" dirty="0" err="1"/>
                  <a:t>nomes</a:t>
                </a:r>
                <a:r>
                  <a:rPr sz="2000" i="1" dirty="0"/>
                  <a:t>: </a:t>
                </a:r>
                <a:r>
                  <a:rPr sz="2000" i="1" dirty="0" err="1"/>
                  <a:t>não</a:t>
                </a:r>
                <a:r>
                  <a:rPr sz="2000" i="1" dirty="0"/>
                  <a:t> </a:t>
                </a:r>
                <a:r>
                  <a:rPr sz="2000" i="1" dirty="0" err="1"/>
                  <a:t>viciado</a:t>
                </a:r>
                <a:r>
                  <a:rPr sz="2000" i="1" dirty="0"/>
                  <a:t> (</a:t>
                </a:r>
                <a:r>
                  <a:rPr sz="2000" i="1" dirty="0" err="1"/>
                  <a:t>Magalhães</a:t>
                </a:r>
                <a:r>
                  <a:rPr sz="2000" i="1" dirty="0"/>
                  <a:t>), </a:t>
                </a:r>
                <a:r>
                  <a:rPr sz="2000" i="1" dirty="0" err="1"/>
                  <a:t>não</a:t>
                </a:r>
                <a:r>
                  <a:rPr sz="2000" i="1" dirty="0"/>
                  <a:t> </a:t>
                </a:r>
                <a:r>
                  <a:rPr sz="2000" i="1" dirty="0" err="1"/>
                  <a:t>tendencioso</a:t>
                </a:r>
                <a:r>
                  <a:rPr sz="2000" i="1" dirty="0"/>
                  <a:t> (Montgomery).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638851"/>
              </a:xfrm>
              <a:prstGeom prst="rect">
                <a:avLst/>
              </a:prstGeom>
              <a:blipFill>
                <a:blip r:embed="rId2"/>
                <a:stretch>
                  <a:fillRect l="-909" r="-1250" b="-9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Variância amostral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sz="2400" b="1"/>
              </a:p>
              <a:p>
                <a:pPr>
                  <a:lnSpc>
                    <a:spcPct val="150000"/>
                  </a:lnSpc>
                </a:pPr>
                <a:r>
                  <a:rPr sz="2400"/>
                  <a:t>Na Aula 2, a variância dividia a soma dos quadrados dos desvios por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. Para </a:t>
                </a:r>
                <a:r>
                  <a:rPr sz="2400" b="1"/>
                  <a:t>estimar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/>
                  <a:t> com uma amostra</a:t>
                </a:r>
                <a:r>
                  <a:rPr sz="2400"/>
                  <a:t>, usa-se a </a:t>
                </a:r>
                <a:r>
                  <a:rPr sz="2400" b="1"/>
                  <a:t>variância amostral</a:t>
                </a:r>
                <a:r>
                  <a:rPr sz="2400"/>
                  <a:t>, que divide por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−1</m:t>
                    </m:r>
                  </m:oMath>
                </a14:m>
                <a:r>
                  <a:rPr sz="240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pt-BR" sz="240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40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r>
                              <a:rPr lang="pt-BR" sz="240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240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400">
                                <a:latin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</m:bar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240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  <m:r>
                          <a:rPr lang="pt-BR" sz="2400">
                            <a:latin typeface="Cambria Math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/>
                  <a:t>         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𝑆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/>
                  <a:t> (desvio padrão amostral)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A fórmula que divide por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será chamada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Numa amostra específica, os valores são escritos em minúscula: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𝑠</m:t>
                    </m:r>
                  </m:oMath>
                </a14:m>
                <a:r>
                  <a:rPr sz="2400"/>
                  <a:t> (como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sz="2400"/>
                  <a:t>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Por que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−1</m:t>
                    </m:r>
                  </m:oMath>
                </a14:m>
                <a:r>
                  <a:rPr sz="2400"/>
                  <a:t>? É o que o Exemplo 4 responde.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Variância amostral 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Na Aula 2, a variância dividia a soma dos quadrados dos desvios por </a:t>
                </a:r>
                <a:r>
                  <a:rPr sz="2400"/>
                  <a:t>. Para </a:t>
                </a:r>
                <a:r>
                  <a:rPr sz="2400" b="1"/>
                  <a:t>estimar </a:t>
                </a:r>
                <a:r>
                  <a:rPr sz="2400" b="1"/>
                  <a:t> com uma amostra</a:t>
                </a:r>
                <a:r>
                  <a:rPr sz="2400"/>
                  <a:t>, usa-se a </a:t>
                </a:r>
                <a:r>
                  <a:rPr sz="2400" b="1"/>
                  <a:t>variância amostral</a:t>
                </a:r>
                <a:r>
                  <a:rPr sz="2400"/>
                  <a:t>, que divide por </a:t>
                </a:r>
                <a:r>
                  <a:rPr sz="240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sz="2400"/>
                  <a:t>          </a:t>
                </a:r>
                <a:r>
                  <a:rPr sz="2400"/>
                  <a:t> (desvio padrão amostral)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A fórmula que divide por </a:t>
                </a:r>
                <a:r>
                  <a:rPr sz="2400"/>
                  <a:t> será chamada de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Numa amostra específica, os valores são escritos em minúscula: </a:t>
                </a:r>
                <a:r>
                  <a:rPr sz="2400"/>
                  <a:t> e </a:t>
                </a:r>
                <a:r>
                  <a:rPr sz="2400"/>
                  <a:t> (como </a:t>
                </a:r>
                <a:r>
                  <a:rPr sz="2400"/>
                  <a:t>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Por que </a:t>
                </a:r>
                <a:r>
                  <a:rPr sz="2400"/>
                  <a:t>? É o que o Exemplo 4 responde.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4 — Dividir por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sz="2400" b="1"/>
                  <a:t> ou por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  <m:r>
                      <a:rPr lang="pt-BR" sz="2400" b="1">
                        <a:latin typeface="Cambria Math"/>
                      </a:rPr>
                      <m:t>−1</m:t>
                    </m:r>
                  </m:oMath>
                </a14:m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restaurante, o tempo de entrega é de </a:t>
                </a:r>
                <a:r>
                  <a:rPr sz="2400" b="1"/>
                  <a:t>20, 30 ou 40 min</a:t>
                </a:r>
                <a:r>
                  <a:rPr sz="2400"/>
                  <a:t>, cada um com probabilidade 1/3; o tempo médio é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min. Sorteamos </a:t>
                </a:r>
                <a:r>
                  <a:rPr sz="2400" b="1"/>
                  <a:t>2 pedidos</a:t>
                </a:r>
                <a:r>
                  <a:rPr sz="2400"/>
                  <a:t>. As 9 amostras possíveis são: 20 e 20; 20 e 30; 20 e 40; 30 e 20; 30 e 30; 30 e 40; 40 e 20; 40 e 30; 40 e 40.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Calcule a variância da população,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Em cada amostra, calcule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(divide por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=2</m:t>
                    </m:r>
                  </m:oMath>
                </a14:m>
                <a:r>
                  <a:rPr sz="2400"/>
                  <a:t>)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(divide por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−1=1</m:t>
                    </m:r>
                  </m:oMath>
                </a14:m>
                <a:r>
                  <a:rPr sz="240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(c) </a:t>
                </a:r>
                <a:r>
                  <a:rPr sz="2400"/>
                  <a:t>Calcule a média das 9 estimativas de cada fórmula. Qual delas é não viesada?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4 — Dividir por </a:t>
                </a:r>
                <a:r>
                  <a:rPr sz="2400" b="1"/>
                  <a:t> ou por </a:t>
                </a:r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restaurante, o tempo de entrega é de </a:t>
                </a:r>
                <a:r>
                  <a:rPr sz="2400" b="1"/>
                  <a:t>20, 30 ou 40 min</a:t>
                </a:r>
                <a:r>
                  <a:rPr sz="2400"/>
                  <a:t>, cada um com probabilidade 1/3; o tempo médio é </a:t>
                </a:r>
                <a:r>
                  <a:rPr sz="2400"/>
                  <a:t> min. Sorteamos </a:t>
                </a:r>
                <a:r>
                  <a:rPr sz="2400" b="1"/>
                  <a:t>2 pedidos</a:t>
                </a:r>
                <a:r>
                  <a:rPr sz="2400"/>
                  <a:t>. As 9 amostras possíveis são: 20 e 20; 20 e 30; 20 e 40; 30 e 20; 30 e 30; 30 e 40; 40 e 20; 40 e 30; 40 e 40.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/>
                  <a:t>(a) </a:t>
                </a:r>
                <a:r>
                  <a:rPr sz="2400"/>
                  <a:t>Calcule a variância da população, </a:t>
                </a:r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Em cada amostra, calcule </a:t>
                </a:r>
                <a:r>
                  <a:rPr sz="2400"/>
                  <a:t> (divide por </a:t>
                </a:r>
                <a:r>
                  <a:rPr sz="2400"/>
                  <a:t>) e </a:t>
                </a:r>
                <a:r>
                  <a:rPr sz="2400"/>
                  <a:t> (divide por </a:t>
                </a:r>
                <a:r>
                  <a:rPr sz="240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(c) </a:t>
                </a:r>
                <a:r>
                  <a:rPr sz="2400"/>
                  <a:t>Calcule a média das 9 estimativas de cada fórmula. Qual delas é não viesada?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7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4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(20−30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sz="2400">
                            <a:latin typeface="Cambria Math"/>
                          </a:rPr>
                          <m:t>+(30−30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BR" sz="2400">
                            <a:latin typeface="Cambria Math"/>
                          </a:rPr>
                          <m:t>+(40−30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40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200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≈66,7</m:t>
                    </m:r>
                  </m:oMath>
                </a14:m>
                <a:r>
                  <a:rPr sz="2400"/>
                  <a:t>  (Aula 7)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Exemplo: 20 e 30 têm média 25 e desvios −5 e 5; a soma dos quadrados é 50. Logo,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=50÷2=25</m:t>
                    </m:r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=50÷1=50</m:t>
                    </m:r>
                  </m:oMath>
                </a14:m>
                <a:r>
                  <a:rPr sz="240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7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4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  (Aula 7)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Exemplo: 20 e 30 têm média 25 e desvios −5 e 5; a soma dos quadrados é 50. Logo, </a:t>
                </a:r>
                <a:r>
                  <a:rPr sz="2400"/>
                  <a:t> e </a:t>
                </a:r>
                <a:r>
                  <a:rPr sz="2400"/>
                  <a:t>.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46000" y="3167833"/>
          <a:ext cx="103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Amostras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Quantas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σ̂² (÷ 2)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s² (÷ 1)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20; 30 e 30; 40 e 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30; 30 e 20; 30 e 40; 40 e 30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50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 e 40; 40 e 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100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817833"/>
                <a:ext cx="10733426" cy="1140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/>
                  <a:t>(c) </a:t>
                </a:r>
                <a:r>
                  <a:rPr lang="pt-BR" sz="2400" b="1" dirty="0"/>
                  <a:t>   </a:t>
                </a:r>
                <a:r>
                  <a:rPr sz="2400" dirty="0" err="1"/>
                  <a:t>Média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: (4 × 25 + 2 × 100) ÷ 9 = 300 ÷ 9 ≈ </a:t>
                </a:r>
                <a:r>
                  <a:rPr sz="2400" b="1" dirty="0"/>
                  <a:t>33,3</a:t>
                </a:r>
                <a:r>
                  <a:rPr sz="2400" dirty="0"/>
                  <a:t>. </a:t>
                </a: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         </a:t>
                </a:r>
                <a:r>
                  <a:rPr sz="2400" dirty="0" err="1"/>
                  <a:t>Média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: (4 × 50 + 2 × 200) ÷ 9 = 600 ÷ 9 ≈ </a:t>
                </a:r>
                <a:r>
                  <a:rPr sz="2400" b="1" dirty="0"/>
                  <a:t>66,7</a:t>
                </a:r>
                <a:r>
                  <a:rPr sz="24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817833"/>
                <a:ext cx="10733426" cy="1140569"/>
              </a:xfrm>
              <a:prstGeom prst="rect">
                <a:avLst/>
              </a:prstGeom>
              <a:blipFill>
                <a:blip r:embed="rId2"/>
                <a:stretch>
                  <a:fillRect l="-909" b="-117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06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/>
                  <a:t>Por que </a:t>
                </a:r>
                <a:r>
                  <a:rPr sz="2400" b="1" dirty="0" err="1"/>
                  <a:t>usamos</a:t>
                </a:r>
                <a:r>
                  <a:rPr sz="24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sz="2400" b="1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/>
                  <a:t>No </a:t>
                </a:r>
                <a:r>
                  <a:rPr sz="2400" dirty="0" err="1"/>
                  <a:t>Exemplo</a:t>
                </a:r>
                <a:r>
                  <a:rPr sz="2400" dirty="0"/>
                  <a:t> 4,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</a:t>
                </a:r>
                <a:r>
                  <a:rPr sz="2400" dirty="0" err="1"/>
                  <a:t>acertou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média</a:t>
                </a:r>
                <a:r>
                  <a:rPr sz="2400" dirty="0"/>
                  <a:t>: é </a:t>
                </a:r>
                <a:r>
                  <a:rPr sz="2400" b="1" dirty="0" err="1"/>
                  <a:t>não</a:t>
                </a:r>
                <a:r>
                  <a:rPr sz="2400" b="1" dirty="0"/>
                  <a:t> </a:t>
                </a:r>
                <a:r>
                  <a:rPr sz="2400" b="1" dirty="0" err="1"/>
                  <a:t>viesado</a:t>
                </a:r>
                <a:r>
                  <a:rPr sz="2400" dirty="0"/>
                  <a:t>. </a:t>
                </a:r>
                <a:r>
                  <a:rPr sz="2400" dirty="0" err="1"/>
                  <a:t>Já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</a:t>
                </a:r>
                <a:r>
                  <a:rPr sz="2400" dirty="0" err="1"/>
                  <a:t>deu</a:t>
                </a:r>
                <a:r>
                  <a:rPr sz="2400" dirty="0"/>
                  <a:t> </a:t>
                </a:r>
                <a:r>
                  <a:rPr sz="2400" dirty="0" err="1"/>
                  <a:t>só</a:t>
                </a:r>
                <a:r>
                  <a:rPr sz="2400" dirty="0"/>
                  <a:t> a </a:t>
                </a:r>
                <a:r>
                  <a:rPr sz="2400" dirty="0" err="1"/>
                  <a:t>metade</a:t>
                </a:r>
                <a:r>
                  <a:rPr sz="2400" dirty="0"/>
                  <a:t>: é </a:t>
                </a:r>
                <a:r>
                  <a:rPr sz="2400" b="1" dirty="0" err="1"/>
                  <a:t>viesado</a:t>
                </a:r>
                <a:r>
                  <a:rPr sz="2400" dirty="0"/>
                  <a:t> e </a:t>
                </a:r>
                <a:r>
                  <a:rPr sz="2400" b="1" dirty="0" err="1"/>
                  <a:t>subestima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 err="1"/>
                  <a:t>Não</a:t>
                </a:r>
                <a:r>
                  <a:rPr sz="2400" dirty="0"/>
                  <a:t> é </a:t>
                </a:r>
                <a:r>
                  <a:rPr sz="2400" dirty="0" err="1"/>
                  <a:t>coincidência</a:t>
                </a:r>
                <a:r>
                  <a:rPr sz="2400" dirty="0"/>
                  <a:t>. </a:t>
                </a:r>
                <a:r>
                  <a:rPr sz="2400" dirty="0" err="1"/>
                  <a:t>Pode</a:t>
                </a:r>
                <a:r>
                  <a:rPr sz="2400" dirty="0"/>
                  <a:t>-se </a:t>
                </a:r>
                <a:r>
                  <a:rPr sz="2400" dirty="0" err="1"/>
                  <a:t>mostrar</a:t>
                </a:r>
                <a:r>
                  <a:rPr sz="2400" dirty="0"/>
                  <a:t> (</a:t>
                </a:r>
                <a:r>
                  <a:rPr sz="2400" dirty="0" err="1"/>
                  <a:t>Bussab</a:t>
                </a:r>
                <a:r>
                  <a:rPr sz="2400" dirty="0"/>
                  <a:t>, 11.2) que, para </a:t>
                </a:r>
                <a:r>
                  <a:rPr sz="2400" dirty="0" err="1"/>
                  <a:t>qualquer</a:t>
                </a:r>
                <a:r>
                  <a:rPr sz="2400" dirty="0"/>
                  <a:t> </a:t>
                </a:r>
                <a:r>
                  <a:rPr sz="2400" dirty="0" err="1"/>
                  <a:t>população</a:t>
                </a:r>
                <a:r>
                  <a:rPr sz="2400" dirty="0"/>
                  <a:t> e </a:t>
                </a:r>
                <a:r>
                  <a:rPr sz="2400" dirty="0" err="1"/>
                  <a:t>qualquer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       e       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(1−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endParaRPr sz="2400" dirty="0"/>
              </a:p>
              <a:p>
                <a:pPr algn="ctr">
                  <a:lnSpc>
                    <a:spcPct val="150000"/>
                  </a:lnSpc>
                </a:pPr>
                <a:r>
                  <a:rPr sz="2000" dirty="0" err="1"/>
                  <a:t>Confira</a:t>
                </a:r>
                <a:r>
                  <a:rPr sz="2000" dirty="0"/>
                  <a:t> com </a:t>
                </a:r>
                <a14:m>
                  <m:oMath xmlns:m="http://schemas.openxmlformats.org/officeDocument/2006/math">
                    <m:r>
                      <a:rPr lang="pt-BR" sz="2000">
                        <a:latin typeface="Cambria Math"/>
                      </a:rPr>
                      <m:t>𝑛</m:t>
                    </m:r>
                    <m:r>
                      <a:rPr lang="pt-BR" sz="2000">
                        <a:latin typeface="Cambria Math"/>
                      </a:rPr>
                      <m:t>=2</m:t>
                    </m:r>
                  </m:oMath>
                </a14:m>
                <a:r>
                  <a:rPr sz="2000" dirty="0"/>
                  <a:t>: 66,7 × (1 − 1/2) ≈ 33,3, o valor do </a:t>
                </a:r>
                <a:r>
                  <a:rPr sz="2000" dirty="0" err="1"/>
                  <a:t>Exemplo</a:t>
                </a:r>
                <a:r>
                  <a:rPr sz="2000" dirty="0"/>
                  <a:t> 4.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060855"/>
              </a:xfrm>
              <a:prstGeom prst="rect">
                <a:avLst/>
              </a:prstGeom>
              <a:blipFill>
                <a:blip r:embed="rId2"/>
                <a:stretch>
                  <a:fillRect l="-909" b="-18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5 — As regras melhoram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min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𝜎</m:t>
                    </m:r>
                    <m:r>
                      <a:rPr lang="pt-BR" sz="2400">
                        <a:latin typeface="Cambria Math"/>
                      </a:rPr>
                      <m:t>=8</m:t>
                    </m:r>
                  </m:oMath>
                </a14:m>
                <a:r>
                  <a:rPr sz="2400"/>
                  <a:t> min. Ana (média), Bruno (mediana), Carla (1º pedido) e Davi (maior tempo) estimam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. Numa simulação, o computador sorteia 100.000 amostras de </a:t>
                </a:r>
                <a:r>
                  <a:rPr sz="2400" b="1"/>
                  <a:t>5, 25 e 100 pedidos</a:t>
                </a:r>
                <a:r>
                  <a:rPr sz="2400"/>
                  <a:t> e conta em quantas a estimativa ficou </a:t>
                </a:r>
                <a:r>
                  <a:rPr sz="2400" b="1"/>
                  <a:t>entre 28 e 32 min</a:t>
                </a:r>
                <a:r>
                  <a:rPr sz="2400"/>
                  <a:t> (erro de até 2 min):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5 — As regras melhoram com </a:t>
                </a:r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</a:t>
                </a:r>
                <a:r>
                  <a:rPr sz="2400"/>
                  <a:t> min e </a:t>
                </a:r>
                <a:r>
                  <a:rPr sz="2400"/>
                  <a:t> min. Ana (média), Bruno (mediana), Carla (1º pedido) e Davi (maior tempo) estimam </a:t>
                </a:r>
                <a:r>
                  <a:rPr sz="2400"/>
                  <a:t>. Numa simulação, o computador sorteia 100.000 amostras de </a:t>
                </a:r>
                <a:r>
                  <a:rPr sz="2400" b="1"/>
                  <a:t>5, 25 e 100 pedidos</a:t>
                </a:r>
                <a:r>
                  <a:rPr sz="2400"/>
                  <a:t> e conta em quantas a estimativa ficou </a:t>
                </a:r>
                <a:r>
                  <a:rPr sz="2400" b="1"/>
                  <a:t>entre 28 e 32 min</a:t>
                </a:r>
                <a:r>
                  <a:rPr sz="2400"/>
                  <a:t> (erro de até 2 min):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46000" y="3317833"/>
          <a:ext cx="87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Analista (regra)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 = 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 = 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 = 100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Ana (média)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42%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79%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99%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Bruno (mediana)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36%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69%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96%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Carla (1º pedido)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Davi (maior tempo)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0%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777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Análise</a:t>
                </a:r>
                <a:r>
                  <a:rPr sz="2400" b="1" dirty="0"/>
                  <a:t> do </a:t>
                </a:r>
                <a:r>
                  <a:rPr sz="2400" b="1" dirty="0" err="1"/>
                  <a:t>Exemplo</a:t>
                </a:r>
                <a:r>
                  <a:rPr sz="2400" b="1" dirty="0"/>
                  <a:t> 5: </a:t>
                </a:r>
                <a:r>
                  <a:rPr sz="2400" b="1" dirty="0" err="1"/>
                  <a:t>por</a:t>
                </a:r>
                <a:r>
                  <a:rPr sz="2400" b="1" dirty="0"/>
                  <a:t> que a </a:t>
                </a:r>
                <a:r>
                  <a:rPr sz="2400" b="1" dirty="0" err="1"/>
                  <a:t>tabela</a:t>
                </a:r>
                <a:r>
                  <a:rPr sz="2400" b="1" dirty="0"/>
                  <a:t> </a:t>
                </a:r>
                <a:r>
                  <a:rPr sz="2400" b="1" dirty="0" err="1"/>
                  <a:t>fica</a:t>
                </a:r>
                <a:r>
                  <a:rPr sz="2400" b="1" dirty="0"/>
                  <a:t> </a:t>
                </a:r>
                <a:r>
                  <a:rPr sz="2400" b="1" dirty="0" err="1"/>
                  <a:t>assim</a:t>
                </a:r>
                <a:endParaRPr sz="2400" b="1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 dirty="0"/>
                  <a:t>Ana e Bruno</a:t>
                </a:r>
                <a:r>
                  <a:rPr sz="2400" dirty="0"/>
                  <a:t> </a:t>
                </a:r>
                <a:r>
                  <a:rPr sz="2400" dirty="0" err="1"/>
                  <a:t>usam</a:t>
                </a:r>
                <a:r>
                  <a:rPr sz="2400" dirty="0"/>
                  <a:t> </a:t>
                </a:r>
                <a:r>
                  <a:rPr sz="2400" dirty="0" err="1"/>
                  <a:t>todos</a:t>
                </a:r>
                <a:r>
                  <a:rPr sz="2400" dirty="0"/>
                  <a:t> </a:t>
                </a:r>
                <a:r>
                  <a:rPr sz="2400" dirty="0" err="1"/>
                  <a:t>os</a:t>
                </a:r>
                <a:r>
                  <a:rPr sz="2400" dirty="0"/>
                  <a:t> </a:t>
                </a:r>
                <a:r>
                  <a:rPr sz="2400" dirty="0" err="1"/>
                  <a:t>pedidos</a:t>
                </a:r>
                <a:r>
                  <a:rPr sz="2400" dirty="0"/>
                  <a:t>. Com </a:t>
                </a:r>
                <a:r>
                  <a:rPr sz="2400" dirty="0" err="1"/>
                  <a:t>mais</a:t>
                </a:r>
                <a:r>
                  <a:rPr sz="2400" dirty="0"/>
                  <a:t> </a:t>
                </a:r>
                <a:r>
                  <a:rPr sz="2400" dirty="0" err="1"/>
                  <a:t>pedidos</a:t>
                </a:r>
                <a:r>
                  <a:rPr sz="2400" dirty="0"/>
                  <a:t>, </a:t>
                </a:r>
                <a:r>
                  <a:rPr sz="2400" dirty="0" err="1"/>
                  <a:t>os</a:t>
                </a:r>
                <a:r>
                  <a:rPr sz="2400" dirty="0"/>
                  <a:t> </a:t>
                </a:r>
                <a:r>
                  <a:rPr sz="2400" dirty="0" err="1"/>
                  <a:t>erros</a:t>
                </a:r>
                <a:r>
                  <a:rPr sz="2400" dirty="0"/>
                  <a:t> para </a:t>
                </a:r>
                <a:r>
                  <a:rPr sz="2400" dirty="0" err="1"/>
                  <a:t>cima</a:t>
                </a:r>
                <a:r>
                  <a:rPr sz="2400" dirty="0"/>
                  <a:t> e para </a:t>
                </a:r>
                <a:r>
                  <a:rPr sz="2400" dirty="0" err="1"/>
                  <a:t>baixo</a:t>
                </a:r>
                <a:r>
                  <a:rPr sz="2400" dirty="0"/>
                  <a:t> se </a:t>
                </a:r>
                <a:r>
                  <a:rPr sz="2400" dirty="0" err="1"/>
                  <a:t>compensam</a:t>
                </a:r>
                <a:r>
                  <a:rPr sz="2400" dirty="0"/>
                  <a:t> </a:t>
                </a:r>
                <a:r>
                  <a:rPr sz="2400" dirty="0" err="1"/>
                  <a:t>mais</a:t>
                </a:r>
                <a:r>
                  <a:rPr sz="2400" dirty="0"/>
                  <a:t>, e as </a:t>
                </a:r>
                <a:r>
                  <a:rPr sz="2400" dirty="0" err="1"/>
                  <a:t>estimativas</a:t>
                </a:r>
                <a:r>
                  <a:rPr sz="2400" dirty="0"/>
                  <a:t> se </a:t>
                </a:r>
                <a:r>
                  <a:rPr sz="2400" dirty="0" err="1"/>
                  <a:t>concentram</a:t>
                </a:r>
                <a:r>
                  <a:rPr sz="2400" dirty="0"/>
                  <a:t> </a:t>
                </a:r>
                <a:r>
                  <a:rPr sz="2400" dirty="0" err="1"/>
                  <a:t>perto</a:t>
                </a:r>
                <a:r>
                  <a:rPr sz="2400" dirty="0"/>
                  <a:t> de 30 (de 42%</a:t>
                </a:r>
                <a:r>
                  <a:rPr lang="pt-BR" sz="2400" dirty="0"/>
                  <a:t> </a:t>
                </a:r>
                <a:r>
                  <a:rPr sz="2400" dirty="0"/>
                  <a:t>para 99%, no </a:t>
                </a:r>
                <a:r>
                  <a:rPr sz="2400" dirty="0" err="1"/>
                  <a:t>caso</a:t>
                </a:r>
                <a:r>
                  <a:rPr sz="2400" dirty="0"/>
                  <a:t> da Ana). Para a </a:t>
                </a:r>
                <a:r>
                  <a:rPr sz="2400" dirty="0" err="1"/>
                  <a:t>média</a:t>
                </a:r>
                <a:r>
                  <a:rPr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  <m:r>
                      <a:rPr lang="pt-BR" sz="2400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dirty="0"/>
                  <a:t> </a:t>
                </a:r>
                <a:r>
                  <a:rPr sz="2400" dirty="0" err="1"/>
                  <a:t>diminui</a:t>
                </a:r>
                <a:r>
                  <a:rPr sz="2400" dirty="0"/>
                  <a:t> </a:t>
                </a:r>
                <a:r>
                  <a:rPr sz="2400" dirty="0" err="1"/>
                  <a:t>quando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 </a:t>
                </a:r>
                <a:r>
                  <a:rPr sz="2400" dirty="0" err="1"/>
                  <a:t>cresce</a:t>
                </a:r>
                <a:r>
                  <a:rPr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 dirty="0"/>
                  <a:t>Carla</a:t>
                </a:r>
                <a:r>
                  <a:rPr sz="2400" dirty="0"/>
                  <a:t> </a:t>
                </a:r>
                <a:r>
                  <a:rPr sz="2400" dirty="0" err="1"/>
                  <a:t>usa</a:t>
                </a:r>
                <a:r>
                  <a:rPr sz="2400" dirty="0"/>
                  <a:t> </a:t>
                </a:r>
                <a:r>
                  <a:rPr sz="2400" dirty="0" err="1"/>
                  <a:t>só</a:t>
                </a:r>
                <a:r>
                  <a:rPr sz="2400" dirty="0"/>
                  <a:t> o </a:t>
                </a:r>
                <a:r>
                  <a:rPr sz="2400" dirty="0" err="1"/>
                  <a:t>primeiro</a:t>
                </a:r>
                <a:r>
                  <a:rPr sz="2400" dirty="0"/>
                  <a:t> </a:t>
                </a:r>
                <a:r>
                  <a:rPr sz="2400" dirty="0" err="1"/>
                  <a:t>pedido</a:t>
                </a:r>
                <a:r>
                  <a:rPr sz="2400" dirty="0"/>
                  <a:t>, </a:t>
                </a:r>
                <a:r>
                  <a:rPr sz="2400" dirty="0" err="1"/>
                  <a:t>qualquer</a:t>
                </a:r>
                <a:r>
                  <a:rPr sz="2400" dirty="0"/>
                  <a:t> que </a:t>
                </a:r>
                <a:r>
                  <a:rPr sz="2400" dirty="0" err="1"/>
                  <a:t>seja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: </a:t>
                </a:r>
                <a:r>
                  <a:rPr sz="2400" dirty="0" err="1"/>
                  <a:t>os</a:t>
                </a:r>
                <a:r>
                  <a:rPr sz="2400" dirty="0"/>
                  <a:t> outros </a:t>
                </a:r>
                <a:r>
                  <a:rPr sz="2400" dirty="0" err="1"/>
                  <a:t>pedidos</a:t>
                </a:r>
                <a:r>
                  <a:rPr sz="2400" dirty="0"/>
                  <a:t> </a:t>
                </a:r>
                <a:r>
                  <a:rPr sz="2400" dirty="0" err="1"/>
                  <a:t>não</a:t>
                </a:r>
                <a:r>
                  <a:rPr sz="2400" dirty="0"/>
                  <a:t> </a:t>
                </a:r>
                <a:r>
                  <a:rPr sz="2400" dirty="0" err="1"/>
                  <a:t>mudam</a:t>
                </a:r>
                <a:r>
                  <a:rPr sz="2400" dirty="0"/>
                  <a:t> nada, e </a:t>
                </a:r>
                <a:r>
                  <a:rPr sz="2400" dirty="0" err="1"/>
                  <a:t>ela</a:t>
                </a:r>
                <a:r>
                  <a:rPr sz="2400" dirty="0"/>
                  <a:t> </a:t>
                </a:r>
                <a:r>
                  <a:rPr sz="2400" dirty="0" err="1"/>
                  <a:t>fica</a:t>
                </a:r>
                <a:r>
                  <a:rPr sz="2400" dirty="0"/>
                  <a:t> </a:t>
                </a:r>
                <a:r>
                  <a:rPr sz="2400" dirty="0" err="1"/>
                  <a:t>nos</a:t>
                </a:r>
                <a:r>
                  <a:rPr sz="2400" dirty="0"/>
                  <a:t> </a:t>
                </a:r>
                <a:r>
                  <a:rPr sz="2400" dirty="0" err="1"/>
                  <a:t>mesmos</a:t>
                </a:r>
                <a:r>
                  <a:rPr sz="2400" dirty="0"/>
                  <a:t> 20%.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 dirty="0"/>
                  <a:t>Davi</a:t>
                </a:r>
                <a:r>
                  <a:rPr sz="2400" dirty="0"/>
                  <a:t> </a:t>
                </a:r>
                <a:r>
                  <a:rPr sz="2400" dirty="0" err="1"/>
                  <a:t>pega</a:t>
                </a:r>
                <a:r>
                  <a:rPr sz="2400" dirty="0"/>
                  <a:t> o </a:t>
                </a:r>
                <a:r>
                  <a:rPr sz="2400" dirty="0" err="1"/>
                  <a:t>maior</a:t>
                </a:r>
                <a:r>
                  <a:rPr sz="2400" dirty="0"/>
                  <a:t> tempo. Com </a:t>
                </a:r>
                <a:r>
                  <a:rPr sz="2400" dirty="0" err="1"/>
                  <a:t>mais</a:t>
                </a:r>
                <a:r>
                  <a:rPr sz="2400" dirty="0"/>
                  <a:t> </a:t>
                </a:r>
                <a:r>
                  <a:rPr sz="2400" dirty="0" err="1"/>
                  <a:t>pedidos</a:t>
                </a:r>
                <a:r>
                  <a:rPr sz="2400" dirty="0"/>
                  <a:t>, </a:t>
                </a:r>
                <a:r>
                  <a:rPr sz="2400" dirty="0" err="1"/>
                  <a:t>aparece</a:t>
                </a:r>
                <a:r>
                  <a:rPr sz="2400" dirty="0"/>
                  <a:t> um tempo </a:t>
                </a:r>
                <a:r>
                  <a:rPr sz="2400" dirty="0" err="1"/>
                  <a:t>mais</a:t>
                </a:r>
                <a:r>
                  <a:rPr sz="2400" dirty="0"/>
                  <a:t> alto, e a </a:t>
                </a:r>
                <a:r>
                  <a:rPr sz="2400" dirty="0" err="1"/>
                  <a:t>estimativa</a:t>
                </a:r>
                <a:r>
                  <a:rPr sz="2400" dirty="0"/>
                  <a:t> se </a:t>
                </a:r>
                <a:r>
                  <a:rPr sz="2400" dirty="0" err="1"/>
                  <a:t>afasta</a:t>
                </a:r>
                <a:r>
                  <a:rPr sz="2400" dirty="0"/>
                  <a:t> de 30 (de 7% para 0%).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777142"/>
              </a:xfrm>
              <a:prstGeom prst="rect">
                <a:avLst/>
              </a:prstGeom>
              <a:blipFill>
                <a:blip r:embed="rId2"/>
                <a:stretch>
                  <a:fillRect l="-909" r="-682" b="-2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Estimador consistente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Definição. </a:t>
                </a:r>
                <a:r>
                  <a:rPr sz="2400"/>
                  <a:t>O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/>
                  <a:t> é </a:t>
                </a:r>
                <a:r>
                  <a:rPr sz="2400" b="1"/>
                  <a:t>consistente</a:t>
                </a:r>
                <a:r>
                  <a:rPr sz="2400"/>
                  <a:t> se,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cresce,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/>
                  <a:t> se aproxima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/>
                  <a:t> se aproxima de 0.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i="1"/>
                  <a:t>Em palavras: com amostras maiores, as estimativas ficam cada vez mais perto do parâmetro.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/>
                  <a:t>No Exemplo 5, Ana e Bruno são consistentes. Carla não é: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não diminui. Davi também não: nem acerta em média.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Carla mostra que um estimador pode ser </a:t>
                </a:r>
                <a:r>
                  <a:rPr sz="2400" b="1"/>
                  <a:t>não viesado e não consistente</a:t>
                </a:r>
                <a:r>
                  <a:rPr sz="240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Estimador consistente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Definição. </a:t>
                </a:r>
                <a:r>
                  <a:rPr sz="2400"/>
                  <a:t>O estimador </a:t>
                </a:r>
                <a:r>
                  <a:rPr sz="2400"/>
                  <a:t> é </a:t>
                </a:r>
                <a:r>
                  <a:rPr sz="2400" b="1"/>
                  <a:t>consistente</a:t>
                </a:r>
                <a:r>
                  <a:rPr sz="2400"/>
                  <a:t> se, quando </a:t>
                </a:r>
                <a:r>
                  <a:rPr sz="2400"/>
                  <a:t> cresce, </a:t>
                </a:r>
                <a:r>
                  <a:rPr sz="2400"/>
                  <a:t> se aproxima de </a:t>
                </a:r>
                <a:r>
                  <a:rPr sz="2400"/>
                  <a:t> e </a:t>
                </a:r>
                <a:r>
                  <a:rPr sz="2400"/>
                  <a:t> se aproxima de 0.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i="1"/>
                  <a:t>Em palavras: com amostras maiores, as estimativas ficam cada vez mais perto do parâmetro.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/>
                  <a:t>No Exemplo 5, Ana e Bruno são consistentes. Carla não é: </a:t>
                </a:r>
                <a:r>
                  <a:rPr sz="2400"/>
                  <a:t> não diminui. Davi também não: nem acerta em média.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Carla mostra que um estimador pode ser </a:t>
                </a:r>
                <a:r>
                  <a:rPr sz="2400" b="1"/>
                  <a:t>não viesado e não consistente</a:t>
                </a:r>
                <a:r>
                  <a:rPr sz="2400"/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6 — A proporção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endParaRPr sz="2400" b="1"/>
              </a:p>
              <a:p>
                <a:pPr>
                  <a:lnSpc>
                    <a:spcPct val="150000"/>
                  </a:lnSpc>
                </a:pPr>
                <a:r>
                  <a:rPr sz="2400"/>
                  <a:t>Um app de entregas sabe que </a:t>
                </a:r>
                <a:r>
                  <a:rPr sz="2400" b="1"/>
                  <a:t>10% dos seus pedidos chegam atrasados</a:t>
                </a:r>
                <a:r>
                  <a:rPr sz="2400"/>
                  <a:t> (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  <m:r>
                      <a:rPr lang="pt-BR" sz="2400">
                        <a:latin typeface="Cambria Math"/>
                      </a:rPr>
                      <m:t>=0,10</m:t>
                    </m:r>
                  </m:oMath>
                </a14:m>
                <a:r>
                  <a:rPr sz="2400"/>
                  <a:t>). Para estimar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/>
                  <a:t>, usa-se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, a proporção de pedidos atrasados entre os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pedidos sorteados. Numa simulação, o computador sorteia 100.000 amostras de cada tamanho e calcula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 em cada uma: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6 — A proporção 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Um app de entregas sabe que </a:t>
                </a:r>
                <a:r>
                  <a:rPr sz="2400" b="1"/>
                  <a:t>10% dos seus pedidos chegam atrasados</a:t>
                </a:r>
                <a:r>
                  <a:rPr sz="2400"/>
                  <a:t> (</a:t>
                </a:r>
                <a:r>
                  <a:rPr sz="2400"/>
                  <a:t>). Para estimar </a:t>
                </a:r>
                <a:r>
                  <a:rPr sz="2400"/>
                  <a:t>, usa-se </a:t>
                </a:r>
                <a:r>
                  <a:rPr sz="2400"/>
                  <a:t>, a proporção de pedidos atrasados entre os </a:t>
                </a:r>
                <a:r>
                  <a:rPr sz="2400"/>
                  <a:t> pedidos sorteados. Numa simulação, o computador sorteia 100.000 amostras de cada tamanho e calcula </a:t>
                </a:r>
                <a:r>
                  <a:rPr sz="2400"/>
                  <a:t> em cada uma: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6000" y="3317833"/>
          <a:ext cx="93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Média das estimativas p̂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Amostras com erro de até 0,03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0,10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29%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100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0,10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76%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0,10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96%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5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000" i="1"/>
                  <a:t>"Erro de até 0,03":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0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000" i="1"/>
                  <a:t> entre 0,07 e 0,13.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 é não viesado?    </a:t>
                </a:r>
                <a:r>
                  <a:rPr sz="2400" b="1"/>
                  <a:t>(b)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 é consistente?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5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000" i="1"/>
                  <a:t>"Erro de até 0,03": </a:t>
                </a:r>
                <a:r>
                  <a:rPr sz="2000" i="1"/>
                  <a:t> entre 0,07 e 0,13.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 é não viesado?    </a:t>
                </a:r>
                <a:r>
                  <a:rPr sz="2400" b="1"/>
                  <a:t>(b) </a:t>
                </a:r>
                <a:r>
                  <a:rPr sz="2400"/>
                  <a:t> é consistente?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6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Sim. A média das estimativas é 0,10 =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/>
                  <a:t>. Na Aula 15 vimos que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𝑝</m:t>
                    </m:r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Sim. A chance de errar no máximo 0,03 sobe de 29% para 96%, porque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  <m:r>
                          <a:rPr lang="pt-BR" sz="2400">
                            <a:latin typeface="Cambria Math"/>
                          </a:rPr>
                          <m:t>(1−</m:t>
                        </m:r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  <m:r>
                          <a:rPr lang="pt-BR" sz="240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/>
                  <a:t> vai a 0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/>
                  <a:t> é a média de 0s e 1s (Aula 15): por isso, tem as mesmas propriedades de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6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Sim. A média das estimativas é 0,10 = </a:t>
                </a:r>
                <a:r>
                  <a:rPr sz="2400"/>
                  <a:t>. Na Aula 15 vimos que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Sim. A chance de errar no máximo 0,03 sobe de 29% para 96%, porque </a:t>
                </a:r>
                <a:r>
                  <a:rPr sz="2400"/>
                  <a:t> vai a 0 quando </a:t>
                </a:r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 é a média de 0s e 1s (Aula 15): por isso, tem as mesmas propriedades de </a:t>
                </a:r>
                <a:r>
                  <a:rPr sz="2400"/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7 — A variância amostral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/>
                  <a:t> melhora com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média 30 min e desvio padrão 8 min, ou seja,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=64</m:t>
                    </m:r>
                  </m:oMath>
                </a14:m>
                <a:r>
                  <a:rPr sz="2400"/>
                  <a:t>. Para estimar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, usa-se a variância amostral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(divide por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−1</m:t>
                    </m:r>
                  </m:oMath>
                </a14:m>
                <a:r>
                  <a:rPr sz="2400"/>
                  <a:t>). Numa simulação, o computador sorteia 100.000 amostras de cada tamanho e calcula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em cada uma: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7 — A variância amostral </a:t>
                </a:r>
                <a:r>
                  <a:rPr sz="2400" b="1"/>
                  <a:t> melhora com </a:t>
                </a:r>
                <a:r>
                  <a:rPr sz="2400" b="1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média 30 min e desvio padrão 8 min, ou seja, </a:t>
                </a:r>
                <a:r>
                  <a:rPr sz="2400"/>
                  <a:t>. Para estimar </a:t>
                </a:r>
                <a:r>
                  <a:rPr sz="2400"/>
                  <a:t>, usa-se a variância amostral </a:t>
                </a:r>
                <a:r>
                  <a:rPr sz="2400"/>
                  <a:t> (divide por </a:t>
                </a:r>
                <a:r>
                  <a:rPr sz="2400"/>
                  <a:t>). Numa simulação, o computador sorteia 100.000 amostras de cada tamanho e calcula </a:t>
                </a:r>
                <a:r>
                  <a:rPr sz="2400"/>
                  <a:t> em cada uma: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96000" y="3317833"/>
          <a:ext cx="102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Média das estimativas S²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Amostras com S² entre 54 e 74 (erro de até 10)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64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17%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64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41%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100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64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73%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é não viesado?    </a:t>
                </a:r>
                <a:r>
                  <a:rPr sz="2400" b="1"/>
                  <a:t>(b)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é consistente?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 é não viesado?    </a:t>
                </a:r>
                <a:r>
                  <a:rPr sz="2400" b="1"/>
                  <a:t>(b) </a:t>
                </a:r>
                <a:r>
                  <a:rPr sz="2400"/>
                  <a:t> é consistente?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7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Sim. A média das estimativas é 64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para todo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Sim. A chance de errar no máximo 10 sobe de 17% para 73%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Atenção: </a:t>
                </a:r>
                <a:r>
                  <a:rPr sz="2400"/>
                  <a:t>com amostras pequenas,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 costuma ficar longe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/>
                  <a:t>.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=5</m:t>
                    </m:r>
                  </m:oMath>
                </a14:m>
                <a:r>
                  <a:rPr sz="2400"/>
                  <a:t>, só 17% das estimativas erram no máximo 10.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7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Sim. A média das estimativas é 64 = </a:t>
                </a:r>
                <a:r>
                  <a:rPr sz="2400"/>
                  <a:t> para todo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Sim. A chance de errar no máximo 10 sobe de 17% para 73% quando </a:t>
                </a:r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Atenção: </a:t>
                </a:r>
                <a:r>
                  <a:rPr sz="2400"/>
                  <a:t>com amostras pequenas, </a:t>
                </a:r>
                <a:r>
                  <a:rPr sz="2400"/>
                  <a:t> costuma ficar longe de </a:t>
                </a:r>
                <a:r>
                  <a:rPr sz="2400"/>
                  <a:t>. Com </a:t>
                </a:r>
                <a:r>
                  <a:rPr sz="2400"/>
                  <a:t>, só 17% das estimativas erram no máximo 10.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8 — Média ou mediana?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/>
                  <a:t> min e desvio padrão 8 min. Para estimar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, </a:t>
                </a:r>
                <a:r>
                  <a:rPr sz="2400" b="1"/>
                  <a:t>Ana usa a média</a:t>
                </a:r>
                <a:r>
                  <a:rPr sz="2400"/>
                  <a:t> e </a:t>
                </a:r>
                <a:r>
                  <a:rPr sz="2400" b="1"/>
                  <a:t>Bruno usa a mediana</a:t>
                </a:r>
                <a:r>
                  <a:rPr sz="2400"/>
                  <a:t>; as duas acertam em média e melhoram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cresce. Numa simulação com 100.000 amostras, o </a:t>
                </a:r>
                <a:r>
                  <a:rPr sz="2400" b="1"/>
                  <a:t>desvio padrão das estimativas</a:t>
                </a:r>
                <a:r>
                  <a:rPr sz="2400"/>
                  <a:t> de cada regra foi: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 8 — Média ou mediana?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Num app de entregas, os tempos seguem uma distribuição normal com </a:t>
                </a:r>
                <a:r>
                  <a:rPr sz="2400"/>
                  <a:t> min e desvio padrão 8 min. Para estimar </a:t>
                </a:r>
                <a:r>
                  <a:rPr sz="2400"/>
                  <a:t>, </a:t>
                </a:r>
                <a:r>
                  <a:rPr sz="2400" b="1"/>
                  <a:t>Ana usa a média</a:t>
                </a:r>
                <a:r>
                  <a:rPr sz="2400"/>
                  <a:t> e </a:t>
                </a:r>
                <a:r>
                  <a:rPr sz="2400" b="1"/>
                  <a:t>Bruno usa a mediana</a:t>
                </a:r>
                <a:r>
                  <a:rPr sz="2400"/>
                  <a:t>; as duas acertam em média e melhoram quando </a:t>
                </a:r>
                <a:r>
                  <a:rPr sz="2400"/>
                  <a:t> cresce. Numa simulação com 100.000 amostras, o </a:t>
                </a:r>
                <a:r>
                  <a:rPr sz="2400" b="1"/>
                  <a:t>desvio padrão das estimativas</a:t>
                </a:r>
                <a:r>
                  <a:rPr sz="2400"/>
                  <a:t> de cada regra foi: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6000" y="3317833"/>
          <a:ext cx="9300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Analista (regra)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n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Desvio padrão das estimativas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Ana (média)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1,6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Bruno (mediana)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25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2,0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Bruno (mediana)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40</a:t>
                      </a:r>
                    </a:p>
                  </a:txBody>
                  <a:tcPr marT="25000" marB="25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1,6 min</a:t>
                      </a:r>
                    </a:p>
                  </a:txBody>
                  <a:tcPr marT="25000" marB="25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=25</m:t>
                    </m:r>
                  </m:oMath>
                </a14:m>
                <a:r>
                  <a:rPr sz="2400"/>
                  <a:t>, qual regra tem estimativas mais concentradas em torno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Quantos pedidos Bruno precisa para empatar com Ana?</a:t>
                </a:r>
              </a:p>
            </p:txBody>
          </p:sp>
        </mc:Choice>
        <mc:Fallback xmlns="">
          <p:sp xmlns:a14="http://schemas.microsoft.com/office/drawing/2010/main">
            <p:nvSpPr>
              <p:cNvPr id="6" name="TextBox 5"/>
              <p:cNvSpPr txBox="1"/>
              <p:nvPr/>
            </p:nvSpPr>
            <p:spPr>
              <a:xfrm>
                <a:off x="729287" y="4917833"/>
                <a:ext cx="10733426" cy="14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(a) </a:t>
                </a:r>
                <a:r>
                  <a:rPr sz="2400"/>
                  <a:t>Com </a:t>
                </a:r>
                <a:r>
                  <a:rPr sz="2400"/>
                  <a:t>, qual regra tem estimativas mais concentradas em torno de </a:t>
                </a:r>
                <a:r>
                  <a:rPr sz="2400"/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(b) </a:t>
                </a:r>
                <a:r>
                  <a:rPr sz="2400"/>
                  <a:t>Quantos pedidos Bruno precisa para empatar com Ana?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8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Ana.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=25</m:t>
                    </m:r>
                  </m:oMath>
                </a14:m>
                <a:r>
                  <a:rPr sz="2400"/>
                  <a:t>, o desvio padrão da média é 1,6 min, contra 2,0 min da mediana: as estimativas da média ficam mais concentradas em torno de 30.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Cerca de 40 pedidos, quando o desvio padrão da mediana cai para 1,6 min. A mediana precisa de </a:t>
                </a:r>
                <a:r>
                  <a:rPr sz="2400" b="1"/>
                  <a:t>60% mais dados</a:t>
                </a:r>
                <a:r>
                  <a:rPr sz="2400"/>
                  <a:t> (40 ÷ 25 = 1,6).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Por quê? </a:t>
                </a:r>
                <a:r>
                  <a:rPr sz="2400"/>
                  <a:t>A mediana usa só o valor do meio; a média usa o valor de todos os pedidos. A média aproveita mais a informação da amostra.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 do Exemplo 8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(a) </a:t>
                </a:r>
                <a:r>
                  <a:rPr sz="2400"/>
                  <a:t>Ana. Com </a:t>
                </a:r>
                <a:r>
                  <a:rPr sz="2400"/>
                  <a:t>, o desvio padrão da média é 1,6 min, contra 2,0 min da mediana: as estimativas da média ficam mais concentradas em torno de 30.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(b) </a:t>
                </a:r>
                <a:r>
                  <a:rPr sz="2400"/>
                  <a:t>Cerca de 40 pedidos, quando o desvio padrão da mediana cai para 1,6 min. A mediana precisa de </a:t>
                </a:r>
                <a:r>
                  <a:rPr sz="2400" b="1"/>
                  <a:t>60% mais dados</a:t>
                </a:r>
                <a:r>
                  <a:rPr sz="2400"/>
                  <a:t> (40 ÷ 25 = 1,6).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Por quê? </a:t>
                </a:r>
                <a:r>
                  <a:rPr sz="2400"/>
                  <a:t>A mediana usa só o valor do meio; a média usa o valor de todos os pedidos. A média aproveita mais a informação da amostra.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Estimador mais eficiente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Definição. </a:t>
                </a:r>
                <a:r>
                  <a:rPr sz="2400"/>
                  <a:t>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/>
                  <a:t> são não viesados para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)&lt;</m:t>
                    </m:r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/>
                  <a:t>, então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</m:oMath>
                </a14:m>
                <a:r>
                  <a:rPr sz="2400"/>
                  <a:t> é </a:t>
                </a:r>
                <a:r>
                  <a:rPr sz="2400" b="1"/>
                  <a:t>mais eficiente</a:t>
                </a:r>
                <a:r>
                  <a:rPr sz="2400"/>
                  <a:t>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i="1"/>
                  <a:t>Em palavras: entre dois estimadores que acertam em média, fica o mais concentrado (o rifle C). O desvio padrão é a raiz da variância, então comparar um é comparar o outro.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/>
                  <a:t>No Exemplo 8, a média é mais eficiente que a mediana. Em populações normais, isso sempre vale (Bussab, Exemplo 11.7).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Estimador mais eficiente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/>
                  <a:t>Definição. </a:t>
                </a:r>
                <a:r>
                  <a:rPr sz="2400"/>
                  <a:t>Se </a:t>
                </a:r>
                <a:r>
                  <a:rPr sz="2400"/>
                  <a:t> e </a:t>
                </a:r>
                <a:r>
                  <a:rPr sz="2400"/>
                  <a:t> são não viesados para </a:t>
                </a:r>
                <a:r>
                  <a:rPr sz="2400"/>
                  <a:t> e </a:t>
                </a:r>
                <a:r>
                  <a:rPr sz="2400"/>
                  <a:t>, então </a:t>
                </a:r>
                <a:r>
                  <a:rPr sz="2400"/>
                  <a:t> é </a:t>
                </a:r>
                <a:r>
                  <a:rPr sz="2400" b="1"/>
                  <a:t>mais eficiente</a:t>
                </a:r>
                <a:r>
                  <a:rPr sz="2400"/>
                  <a:t> que </a:t>
                </a:r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i="1"/>
                  <a:t>Em palavras: entre dois estimadores que acertam em média, fica o mais concentrado (o rifle C). O desvio padrão é a raiz da variância, então comparar um é comparar o outro.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/>
                  <a:t>No Exemplo 8, a média é mais eficiente que a mediana. Em populações normais, isso sempre vale (Bussab, Exemplo 11.7).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Por que usaremos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 b="1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 b="1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1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1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1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 b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sz="2400" b="1"/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Por que usaremos </a:t>
                </a:r>
                <a:r>
                  <a:rPr sz="2400" b="1"/>
                  <a:t>, </a:t>
                </a:r>
                <a:r>
                  <a:rPr sz="2400" b="1"/>
                  <a:t> e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704827"/>
                  </p:ext>
                </p:extLst>
              </p:nvPr>
            </p:nvGraphicFramePr>
            <p:xfrm>
              <a:off x="846000" y="1200000"/>
              <a:ext cx="10500000" cy="19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Estimador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Estima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Não viesado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Consistente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̄"/>
                                    <m:ctrlP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μ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sim: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̄"/>
                                  <m:ctrlPr>
                                    <a:rPr lang="ar-A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ar-AE" sz="2000" b="0" i="1" dirty="0" smtClean="0">
                                  <a:latin typeface="Cambria Math" panose="02040503050406030204" pitchFamily="18" charset="0"/>
                                </a:rPr>
                                <m:t>) = </m:t>
                              </m:r>
                              <m:r>
                                <a:rPr lang="ar-AE" sz="2000" b="0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sz="2000" b="0" dirty="0"/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sim: Var(X̄) = σ²/n → 0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p̂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p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000" b="0" dirty="0"/>
                            <a:t>sim: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ar-AE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ar-AE" sz="2000" b="0" i="1" dirty="0" smtClean="0">
                                  <a:latin typeface="Cambria Math" panose="02040503050406030204" pitchFamily="18" charset="0"/>
                                </a:rPr>
                                <m:t>) = </m:t>
                              </m:r>
                              <m:r>
                                <a:rPr lang="ar-AE" sz="20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sz="2000" b="0" dirty="0"/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sim: Var(p̂) = p(1 − p)/n → 0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S²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σ²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sim: </a:t>
                          </a:r>
                          <a14:m>
                            <m:oMath xmlns:m="http://schemas.openxmlformats.org/officeDocument/2006/math"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) = 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pt-BR" sz="2000" b="0" i="1" dirty="0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oMath>
                          </a14:m>
                          <a:endParaRPr sz="2000" b="0" dirty="0"/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sim (</a:t>
                          </a:r>
                          <a:r>
                            <a:rPr sz="2000" b="0" dirty="0" err="1"/>
                            <a:t>Exemplo</a:t>
                          </a:r>
                          <a:r>
                            <a:rPr sz="2000" b="0" dirty="0"/>
                            <a:t> 7)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8704827"/>
                  </p:ext>
                </p:extLst>
              </p:nvPr>
            </p:nvGraphicFramePr>
            <p:xfrm>
              <a:off x="846000" y="1200000"/>
              <a:ext cx="10500000" cy="192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1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Estimador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Estima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Não viesado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Consistente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25000" marB="25000">
                        <a:blipFill>
                          <a:blip r:embed="rId2"/>
                          <a:stretch>
                            <a:fillRect l="-407" t="-110127" r="-602439" b="-2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μ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25000" marB="25000">
                        <a:blipFill>
                          <a:blip r:embed="rId2"/>
                          <a:stretch>
                            <a:fillRect l="-94096" t="-110127" r="-124908" b="-2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sim: Var(X̄) = σ²/n → 0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p̂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p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25000" marB="25000">
                        <a:blipFill>
                          <a:blip r:embed="rId2"/>
                          <a:stretch>
                            <a:fillRect l="-94096" t="-210127" r="-124908" b="-10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sim: Var(p̂) = p(1 − p)/n → 0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S²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σ²</a:t>
                          </a:r>
                        </a:p>
                      </a:txBody>
                      <a:tcPr marT="25000" marB="25000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25000" marB="25000">
                        <a:blipFill>
                          <a:blip r:embed="rId2"/>
                          <a:stretch>
                            <a:fillRect l="-94096" t="-310127" r="-124908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sim (</a:t>
                          </a:r>
                          <a:r>
                            <a:rPr sz="2000" b="0" dirty="0" err="1"/>
                            <a:t>Exemplo</a:t>
                          </a:r>
                          <a:r>
                            <a:rPr sz="2000" b="0" dirty="0"/>
                            <a:t> 7)</a:t>
                          </a:r>
                        </a:p>
                      </a:txBody>
                      <a:tcPr marT="25000" marB="250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3350000"/>
                <a:ext cx="10733426" cy="2311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 err="1"/>
                  <a:t>Além</a:t>
                </a:r>
                <a:r>
                  <a:rPr sz="2400" dirty="0"/>
                  <a:t> </a:t>
                </a:r>
                <a:r>
                  <a:rPr sz="2400" dirty="0" err="1"/>
                  <a:t>disso</a:t>
                </a:r>
                <a:r>
                  <a:rPr sz="2400" dirty="0"/>
                  <a:t>,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populações</a:t>
                </a:r>
                <a:r>
                  <a:rPr sz="2400" dirty="0"/>
                  <a:t> </a:t>
                </a:r>
                <a:r>
                  <a:rPr sz="2400" dirty="0" err="1"/>
                  <a:t>normais</a:t>
                </a:r>
                <a:r>
                  <a:rPr sz="240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 dirty="0"/>
                  <a:t> é </a:t>
                </a:r>
                <a:r>
                  <a:rPr sz="2400" b="1" dirty="0" err="1"/>
                  <a:t>mais</a:t>
                </a:r>
                <a:r>
                  <a:rPr sz="2400" b="1" dirty="0"/>
                  <a:t> </a:t>
                </a:r>
                <a:r>
                  <a:rPr sz="2400" b="1" dirty="0" err="1"/>
                  <a:t>eficiente</a:t>
                </a:r>
                <a:r>
                  <a:rPr sz="2400" dirty="0"/>
                  <a:t> que a </a:t>
                </a:r>
                <a:r>
                  <a:rPr sz="2400" dirty="0" err="1"/>
                  <a:t>mediana</a:t>
                </a:r>
                <a:r>
                  <a:rPr sz="2400" dirty="0"/>
                  <a:t> (</a:t>
                </a:r>
                <a:r>
                  <a:rPr sz="2400" dirty="0" err="1"/>
                  <a:t>Exemplo</a:t>
                </a:r>
                <a:r>
                  <a:rPr sz="2400" dirty="0"/>
                  <a:t> 8).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dirty="0" err="1"/>
                  <a:t>Já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dirty="0"/>
                  <a:t> (divide </a:t>
                </a:r>
                <a:r>
                  <a:rPr sz="2400" dirty="0" err="1"/>
                  <a:t>por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) é </a:t>
                </a:r>
                <a:r>
                  <a:rPr sz="2400" dirty="0" err="1"/>
                  <a:t>viesado</a:t>
                </a:r>
                <a:r>
                  <a:rPr sz="2400" dirty="0"/>
                  <a:t>, e o </a:t>
                </a:r>
                <a:r>
                  <a:rPr sz="2400" dirty="0" err="1"/>
                  <a:t>primeiro</a:t>
                </a:r>
                <a:r>
                  <a:rPr sz="2400" dirty="0"/>
                  <a:t> </a:t>
                </a:r>
                <a:r>
                  <a:rPr sz="2400" dirty="0" err="1"/>
                  <a:t>pedido</a:t>
                </a:r>
                <a:r>
                  <a:rPr sz="2400" dirty="0"/>
                  <a:t> e o </a:t>
                </a:r>
                <a:r>
                  <a:rPr sz="2400" dirty="0" err="1"/>
                  <a:t>maior</a:t>
                </a:r>
                <a:r>
                  <a:rPr sz="2400" dirty="0"/>
                  <a:t> valor </a:t>
                </a:r>
                <a:r>
                  <a:rPr sz="2400" dirty="0" err="1"/>
                  <a:t>são</a:t>
                </a:r>
                <a:r>
                  <a:rPr sz="2400" dirty="0"/>
                  <a:t> </a:t>
                </a:r>
                <a:r>
                  <a:rPr sz="2400" dirty="0" err="1"/>
                  <a:t>estimadores</a:t>
                </a:r>
                <a:r>
                  <a:rPr lang="pt-BR" sz="2400" dirty="0"/>
                  <a:t> ruins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3350000"/>
                <a:ext cx="10733426" cy="2311787"/>
              </a:xfrm>
              <a:prstGeom prst="rect">
                <a:avLst/>
              </a:prstGeom>
              <a:blipFill>
                <a:blip r:embed="rId3"/>
                <a:stretch>
                  <a:fillRect l="-795" b="-52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277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Resumo da aula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Variância amostral: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pt-BR" sz="240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40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r>
                              <a:rPr lang="pt-BR" sz="240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240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sz="2400">
                                <a:latin typeface="Cambria Math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</m:bar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sz="240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  <m:r>
                          <a:rPr lang="pt-BR" sz="2400">
                            <a:latin typeface="Cambria Math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Não viesado: </a:t>
                </a:r>
                <a:r>
                  <a:rPr sz="2400"/>
                  <a:t>em média, acerta o parâmetro: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𝜃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Consistente: </a:t>
                </a:r>
                <a:r>
                  <a:rPr sz="2400"/>
                  <a:t>fica mais perto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𝜃</m:t>
                    </m:r>
                  </m:oMath>
                </a14:m>
                <a:r>
                  <a:rPr sz="2400"/>
                  <a:t> quando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/>
                  <a:t> cresce.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 b="1"/>
                  <a:t>Mais eficiente: </a:t>
                </a:r>
                <a:r>
                  <a:rPr sz="2400"/>
                  <a:t>entre os não viesados, é o de menor variância.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sz="2400"/>
                  <a:t>Uma estimativa pontual não informa o tamanho do erro. Isso será feito com o </a:t>
                </a:r>
                <a:r>
                  <a:rPr sz="2400" b="1"/>
                  <a:t>intervalo de confiança</a:t>
                </a:r>
                <a:r>
                  <a:rPr sz="2400"/>
                  <a:t> (Aula </a:t>
                </a:r>
                <a:r>
                  <a:rPr lang="pt-BR" sz="2400"/>
                  <a:t>18</a:t>
                </a:r>
                <a:r>
                  <a:rPr sz="2400"/>
                  <a:t>).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277838"/>
              </a:xfrm>
              <a:prstGeom prst="rect">
                <a:avLst/>
              </a:prstGeom>
              <a:blipFill>
                <a:blip r:embed="rId2"/>
                <a:stretch>
                  <a:fillRect l="-909" b="-24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541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1" dirty="0" err="1"/>
              <a:t>Atividades</a:t>
            </a:r>
            <a:r>
              <a:rPr sz="2400" b="1" dirty="0"/>
              <a:t> </a:t>
            </a:r>
            <a:r>
              <a:rPr sz="2400" b="1" dirty="0" err="1"/>
              <a:t>referentes</a:t>
            </a:r>
            <a:r>
              <a:rPr sz="2400" b="1" dirty="0"/>
              <a:t> à aula</a:t>
            </a:r>
          </a:p>
          <a:p>
            <a:pPr>
              <a:lnSpc>
                <a:spcPct val="130000"/>
              </a:lnSpc>
            </a:pPr>
            <a:r>
              <a:rPr sz="2400" b="1" dirty="0" err="1"/>
              <a:t>Leitura</a:t>
            </a:r>
            <a:r>
              <a:rPr sz="2400" b="1" dirty="0"/>
              <a:t> </a:t>
            </a:r>
            <a:r>
              <a:rPr sz="2400" b="1" dirty="0" err="1"/>
              <a:t>recomendada</a:t>
            </a:r>
            <a:r>
              <a:rPr sz="2400" b="1" dirty="0"/>
              <a:t>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Bussab</a:t>
            </a:r>
            <a:r>
              <a:rPr sz="2400" dirty="0"/>
              <a:t> &amp; </a:t>
            </a:r>
            <a:r>
              <a:rPr sz="2400" dirty="0" err="1"/>
              <a:t>Morettin</a:t>
            </a:r>
            <a:r>
              <a:rPr sz="2400" dirty="0"/>
              <a:t> — Cap. 11: 11.1 e 11.2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Magalhães</a:t>
            </a:r>
            <a:r>
              <a:rPr sz="2400" dirty="0"/>
              <a:t> &amp; Lima — Cap. 7: 7.2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/>
              <a:t>Montgomery &amp; </a:t>
            </a:r>
            <a:r>
              <a:rPr sz="2400" dirty="0" err="1"/>
              <a:t>Runger</a:t>
            </a:r>
            <a:r>
              <a:rPr sz="2400" dirty="0"/>
              <a:t> — Cap. 7: 7.3.1 e 7.3.2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Morettin</a:t>
            </a:r>
            <a:r>
              <a:rPr sz="2400" dirty="0"/>
              <a:t> — Cap. 10: 10.3 (</a:t>
            </a:r>
            <a:r>
              <a:rPr sz="2400" dirty="0" err="1"/>
              <a:t>até</a:t>
            </a:r>
            <a:r>
              <a:rPr sz="2400" dirty="0"/>
              <a:t> "</a:t>
            </a:r>
            <a:r>
              <a:rPr sz="2400" dirty="0" err="1"/>
              <a:t>Estimação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intervalo</a:t>
            </a:r>
            <a:r>
              <a:rPr sz="2400" dirty="0"/>
              <a:t>")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2400" b="1" dirty="0" err="1"/>
              <a:t>Exercícios</a:t>
            </a:r>
            <a:r>
              <a:rPr sz="2400" b="1" dirty="0"/>
              <a:t> </a:t>
            </a:r>
            <a:r>
              <a:rPr sz="2400" b="1" dirty="0" err="1"/>
              <a:t>recomendados</a:t>
            </a:r>
            <a:r>
              <a:rPr sz="2400" b="1" dirty="0"/>
              <a:t>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Bussab</a:t>
            </a:r>
            <a:r>
              <a:rPr sz="2400" dirty="0"/>
              <a:t> &amp; </a:t>
            </a:r>
            <a:r>
              <a:rPr sz="2400" dirty="0" err="1"/>
              <a:t>Morettin</a:t>
            </a:r>
            <a:r>
              <a:rPr sz="2400" dirty="0"/>
              <a:t> — Cap. 11: </a:t>
            </a:r>
            <a:r>
              <a:rPr sz="2400" dirty="0" err="1"/>
              <a:t>Problemas</a:t>
            </a:r>
            <a:r>
              <a:rPr sz="2400" dirty="0"/>
              <a:t> 1, 2, 3, 4 e 5; </a:t>
            </a:r>
            <a:r>
              <a:rPr sz="2400" dirty="0" err="1"/>
              <a:t>Problemas</a:t>
            </a:r>
            <a:r>
              <a:rPr sz="2400" dirty="0"/>
              <a:t> </a:t>
            </a:r>
            <a:r>
              <a:rPr sz="2400" dirty="0" err="1"/>
              <a:t>Suplementares</a:t>
            </a:r>
            <a:r>
              <a:rPr sz="2400" dirty="0"/>
              <a:t> 22 e 38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 err="1"/>
              <a:t>Magalhães</a:t>
            </a:r>
            <a:r>
              <a:rPr sz="2400" dirty="0"/>
              <a:t> &amp; Lima — Cap. 7 (7.5 </a:t>
            </a:r>
            <a:r>
              <a:rPr sz="2400" dirty="0" err="1"/>
              <a:t>Exercícios</a:t>
            </a:r>
            <a:r>
              <a:rPr sz="2400" dirty="0"/>
              <a:t>): 3, 4, 8 e 31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400" dirty="0"/>
              <a:t>Montgomery &amp; </a:t>
            </a:r>
            <a:r>
              <a:rPr sz="2400" dirty="0" err="1"/>
              <a:t>Runger</a:t>
            </a:r>
            <a:r>
              <a:rPr sz="2400" dirty="0"/>
              <a:t> — 7.3.2, 7.3.3, 7.3.4, 7.3.6 (a, b, c) e 7.3.7 (a, b, 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5138</TotalTime>
  <Words>3234</Words>
  <Application>Microsoft Office PowerPoint</Application>
  <PresentationFormat>Widescreen</PresentationFormat>
  <Paragraphs>329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2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Propriedades dos Estimadores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228</cp:revision>
  <dcterms:created xsi:type="dcterms:W3CDTF">2020-07-20T19:35:15Z</dcterms:created>
  <dcterms:modified xsi:type="dcterms:W3CDTF">2026-10-28T12:40:52Z</dcterms:modified>
</cp:coreProperties>
</file>