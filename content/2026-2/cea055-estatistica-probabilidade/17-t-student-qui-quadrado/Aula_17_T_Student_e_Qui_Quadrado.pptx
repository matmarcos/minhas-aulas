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400" r:id="rId2"/>
    <p:sldId id="415" r:id="rId3"/>
    <p:sldId id="416" r:id="rId4"/>
    <p:sldId id="417" r:id="rId5"/>
    <p:sldId id="445" r:id="rId6"/>
    <p:sldId id="418" r:id="rId7"/>
    <p:sldId id="419" r:id="rId8"/>
    <p:sldId id="447" r:id="rId9"/>
    <p:sldId id="420" r:id="rId10"/>
    <p:sldId id="422" r:id="rId11"/>
    <p:sldId id="423" r:id="rId12"/>
    <p:sldId id="424" r:id="rId13"/>
    <p:sldId id="425" r:id="rId14"/>
    <p:sldId id="446" r:id="rId15"/>
    <p:sldId id="426" r:id="rId16"/>
    <p:sldId id="427" r:id="rId17"/>
    <p:sldId id="428" r:id="rId18"/>
    <p:sldId id="429" r:id="rId19"/>
    <p:sldId id="430" r:id="rId20"/>
    <p:sldId id="431" r:id="rId21"/>
    <p:sldId id="432" r:id="rId22"/>
    <p:sldId id="433" r:id="rId23"/>
    <p:sldId id="435" r:id="rId24"/>
    <p:sldId id="436" r:id="rId25"/>
    <p:sldId id="437" r:id="rId26"/>
    <p:sldId id="448" r:id="rId27"/>
    <p:sldId id="438" r:id="rId28"/>
    <p:sldId id="439" r:id="rId29"/>
    <p:sldId id="434" r:id="rId30"/>
    <p:sldId id="440" r:id="rId31"/>
    <p:sldId id="442" r:id="rId32"/>
    <p:sldId id="449" r:id="rId33"/>
    <p:sldId id="443" r:id="rId34"/>
    <p:sldId id="450" r:id="rId35"/>
    <p:sldId id="444" r:id="rId36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96" d="100"/>
          <a:sy n="96" d="100"/>
        </p:scale>
        <p:origin x="2108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Distribuições Qui-Quadrado e t de Student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893460" y="1574800"/>
            <a:ext cx="10536540" cy="3911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pt-BR" sz="2000" b="1" dirty="0" err="1"/>
              <a:t>Objetivos</a:t>
            </a:r>
            <a:r>
              <a:rPr lang="pt-BR" sz="2000" b="1" dirty="0"/>
              <a:t> da aula:</a:t>
            </a:r>
          </a:p>
          <a:p>
            <a:pPr marL="342900" indent="-342900">
              <a:lnSpc>
                <a:spcPct val="125000"/>
              </a:lnSpc>
              <a:buFont typeface="Arial"/>
              <a:buChar char="•"/>
            </a:pPr>
            <a:r>
              <a:rPr lang="pt-BR" sz="2000" dirty="0" err="1"/>
              <a:t>Conhecer</a:t>
            </a:r>
            <a:r>
              <a:rPr lang="pt-BR" sz="2000" dirty="0"/>
              <a:t> a </a:t>
            </a:r>
            <a:r>
              <a:rPr lang="pt-BR" sz="2000" dirty="0" err="1"/>
              <a:t>distribuição</a:t>
            </a:r>
            <a:r>
              <a:rPr lang="pt-BR" sz="2000" dirty="0"/>
              <a:t> qui-</a:t>
            </a:r>
            <a:r>
              <a:rPr lang="pt-BR" sz="2000" dirty="0" err="1"/>
              <a:t>quadrado</a:t>
            </a:r>
            <a:r>
              <a:rPr lang="pt-BR" sz="2000" dirty="0"/>
              <a:t> e a </a:t>
            </a:r>
            <a:r>
              <a:rPr lang="pt-BR" sz="2000" dirty="0" err="1"/>
              <a:t>distribuição</a:t>
            </a:r>
            <a:r>
              <a:rPr lang="pt-BR" sz="2000" dirty="0"/>
              <a:t> t de Student.</a:t>
            </a:r>
          </a:p>
          <a:p>
            <a:pPr marL="342900" indent="-342900">
              <a:lnSpc>
                <a:spcPct val="125000"/>
              </a:lnSpc>
              <a:buFont typeface="Arial"/>
              <a:buChar char="•"/>
            </a:pPr>
            <a:r>
              <a:rPr lang="pt-BR" sz="2000" dirty="0"/>
              <a:t>Saber </a:t>
            </a:r>
            <a:r>
              <a:rPr lang="pt-BR" sz="2000" dirty="0" err="1"/>
              <a:t>por</a:t>
            </a:r>
            <a:r>
              <a:rPr lang="pt-BR" sz="2000" dirty="0"/>
              <a:t> que </a:t>
            </a:r>
            <a:r>
              <a:rPr lang="pt-BR" sz="2000" dirty="0" err="1"/>
              <a:t>elas</a:t>
            </a:r>
            <a:r>
              <a:rPr lang="pt-BR" sz="2000" dirty="0"/>
              <a:t> </a:t>
            </a:r>
            <a:r>
              <a:rPr lang="pt-BR" sz="2000" dirty="0" err="1"/>
              <a:t>aparecem</a:t>
            </a:r>
            <a:r>
              <a:rPr lang="pt-BR" sz="2000" dirty="0"/>
              <a:t> </a:t>
            </a:r>
            <a:r>
              <a:rPr lang="pt-BR" sz="2000" dirty="0" err="1"/>
              <a:t>quando</a:t>
            </a:r>
            <a:r>
              <a:rPr lang="pt-BR" sz="2000" dirty="0"/>
              <a:t> σ é </a:t>
            </a:r>
            <a:r>
              <a:rPr lang="pt-BR" sz="2000" dirty="0" err="1"/>
              <a:t>desconhecido</a:t>
            </a:r>
            <a:r>
              <a:rPr lang="pt-BR" sz="2000" dirty="0"/>
              <a:t> e </a:t>
            </a:r>
            <a:r>
              <a:rPr lang="pt-BR" sz="2000" dirty="0" err="1"/>
              <a:t>usamos</a:t>
            </a:r>
            <a:r>
              <a:rPr lang="pt-BR" sz="2000" dirty="0"/>
              <a:t> S.</a:t>
            </a:r>
          </a:p>
          <a:p>
            <a:pPr marL="342900" indent="-342900">
              <a:lnSpc>
                <a:spcPct val="125000"/>
              </a:lnSpc>
              <a:buFont typeface="Arial"/>
              <a:buChar char="•"/>
            </a:pPr>
            <a:r>
              <a:rPr lang="pt-BR" sz="2000" dirty="0" err="1"/>
              <a:t>Ler</a:t>
            </a:r>
            <a:r>
              <a:rPr lang="pt-BR" sz="2000" dirty="0"/>
              <a:t> </a:t>
            </a:r>
            <a:r>
              <a:rPr lang="pt-BR" sz="2000" dirty="0" err="1"/>
              <a:t>valores</a:t>
            </a:r>
            <a:r>
              <a:rPr lang="pt-BR" sz="2000" dirty="0"/>
              <a:t> </a:t>
            </a:r>
            <a:r>
              <a:rPr lang="pt-BR" sz="2000" dirty="0" err="1"/>
              <a:t>nas</a:t>
            </a:r>
            <a:r>
              <a:rPr lang="pt-BR" sz="2000" dirty="0"/>
              <a:t> </a:t>
            </a:r>
            <a:r>
              <a:rPr lang="pt-BR" sz="2000" dirty="0" err="1"/>
              <a:t>tabelas</a:t>
            </a:r>
            <a:r>
              <a:rPr lang="pt-BR" sz="2000" dirty="0"/>
              <a:t> de cauda superior.</a:t>
            </a:r>
          </a:p>
          <a:p>
            <a:pPr>
              <a:lnSpc>
                <a:spcPct val="125000"/>
              </a:lnSpc>
            </a:pPr>
            <a:r>
              <a:rPr lang="pt-BR" sz="2000" b="1" dirty="0" err="1"/>
              <a:t>Referências</a:t>
            </a:r>
            <a:r>
              <a:rPr lang="pt-BR" sz="2000" b="1" dirty="0"/>
              <a:t>:</a:t>
            </a:r>
          </a:p>
          <a:p>
            <a:pPr marL="342900" indent="-342900">
              <a:lnSpc>
                <a:spcPct val="125000"/>
              </a:lnSpc>
              <a:buFont typeface="Arial"/>
              <a:buChar char="•"/>
            </a:pPr>
            <a:r>
              <a:rPr lang="pt-BR" sz="2000" dirty="0" err="1"/>
              <a:t>Bussab</a:t>
            </a:r>
            <a:r>
              <a:rPr lang="pt-BR" sz="2000" dirty="0"/>
              <a:t>, </a:t>
            </a:r>
            <a:r>
              <a:rPr lang="pt-BR" sz="2000" dirty="0" err="1"/>
              <a:t>Morettin</a:t>
            </a:r>
            <a:r>
              <a:rPr lang="pt-BR" sz="2000" dirty="0"/>
              <a:t>. </a:t>
            </a:r>
            <a:r>
              <a:rPr lang="pt-BR" sz="2000" b="1" dirty="0" err="1"/>
              <a:t>Estatística</a:t>
            </a:r>
            <a:r>
              <a:rPr lang="pt-BR" sz="2000" b="1" dirty="0"/>
              <a:t> </a:t>
            </a:r>
            <a:r>
              <a:rPr lang="pt-BR" sz="2000" b="1" dirty="0" err="1"/>
              <a:t>Básica</a:t>
            </a:r>
            <a:r>
              <a:rPr lang="pt-BR" sz="2000" dirty="0"/>
              <a:t>, 9ª ed. — Cap. 7 (7.7.2, 7.7.3); Cap. 12 (12.9, 12.10)</a:t>
            </a:r>
          </a:p>
          <a:p>
            <a:pPr marL="342900" indent="-342900">
              <a:lnSpc>
                <a:spcPct val="125000"/>
              </a:lnSpc>
              <a:buFont typeface="Arial"/>
              <a:buChar char="•"/>
            </a:pPr>
            <a:r>
              <a:rPr lang="pt-BR" sz="2000" dirty="0"/>
              <a:t>Montgomery, </a:t>
            </a:r>
            <a:r>
              <a:rPr lang="pt-BR" sz="2000" dirty="0" err="1"/>
              <a:t>Runger</a:t>
            </a:r>
            <a:r>
              <a:rPr lang="pt-BR" sz="2000" dirty="0"/>
              <a:t>. </a:t>
            </a:r>
            <a:r>
              <a:rPr lang="pt-BR" sz="2000" b="1" dirty="0" err="1"/>
              <a:t>Estatística</a:t>
            </a:r>
            <a:r>
              <a:rPr lang="pt-BR" sz="2000" b="1" dirty="0"/>
              <a:t> </a:t>
            </a:r>
            <a:r>
              <a:rPr lang="pt-BR" sz="2000" b="1" dirty="0" err="1"/>
              <a:t>Aplicada</a:t>
            </a:r>
            <a:r>
              <a:rPr lang="pt-BR" sz="2000" b="1" dirty="0"/>
              <a:t> e </a:t>
            </a:r>
            <a:r>
              <a:rPr lang="pt-BR" sz="2000" b="1" dirty="0" err="1"/>
              <a:t>Probabilidade</a:t>
            </a:r>
            <a:r>
              <a:rPr lang="pt-BR" sz="2000" b="1" dirty="0"/>
              <a:t> para </a:t>
            </a:r>
            <a:r>
              <a:rPr lang="pt-BR" sz="2000" b="1" dirty="0" err="1"/>
              <a:t>Engenheiros</a:t>
            </a:r>
            <a:r>
              <a:rPr lang="pt-BR" sz="2000" dirty="0"/>
              <a:t>, 7ª ed. — Cap. 8 (8.2.1, 8.3)</a:t>
            </a:r>
          </a:p>
          <a:p>
            <a:pPr marL="342900" indent="-342900">
              <a:lnSpc>
                <a:spcPct val="125000"/>
              </a:lnSpc>
              <a:buFont typeface="Arial"/>
              <a:buChar char="•"/>
            </a:pPr>
            <a:r>
              <a:rPr lang="pt-BR" sz="2000" dirty="0" err="1"/>
              <a:t>Magalhães</a:t>
            </a:r>
            <a:r>
              <a:rPr lang="pt-BR" sz="2000" dirty="0"/>
              <a:t>, Lima. </a:t>
            </a:r>
            <a:r>
              <a:rPr lang="pt-BR" sz="2000" b="1" dirty="0"/>
              <a:t>Noções de Probabilidade e Estatística</a:t>
            </a:r>
            <a:r>
              <a:rPr lang="pt-BR" sz="2000" dirty="0"/>
              <a:t>, 5ª ed. — Cap. 8 (8.3, 8.5)</a:t>
            </a:r>
          </a:p>
          <a:p>
            <a:pPr marL="342900" indent="-342900">
              <a:lnSpc>
                <a:spcPct val="125000"/>
              </a:lnSpc>
              <a:buFont typeface="Arial"/>
              <a:buChar char="•"/>
            </a:pPr>
            <a:r>
              <a:rPr lang="pt-BR" sz="2000" dirty="0" err="1"/>
              <a:t>Morettin</a:t>
            </a:r>
            <a:r>
              <a:rPr lang="pt-BR" sz="2000" dirty="0"/>
              <a:t>. </a:t>
            </a:r>
            <a:r>
              <a:rPr lang="pt-BR" sz="2000" b="1" dirty="0" err="1"/>
              <a:t>Estatística</a:t>
            </a:r>
            <a:r>
              <a:rPr lang="pt-BR" sz="2000" b="1" dirty="0"/>
              <a:t> </a:t>
            </a:r>
            <a:r>
              <a:rPr lang="pt-BR" sz="2000" b="1" dirty="0" err="1"/>
              <a:t>Básica</a:t>
            </a:r>
            <a:r>
              <a:rPr lang="pt-BR" sz="2000" b="1" dirty="0"/>
              <a:t>: </a:t>
            </a:r>
            <a:r>
              <a:rPr lang="pt-BR" sz="2000" b="1" dirty="0" err="1"/>
              <a:t>Probabilidade</a:t>
            </a:r>
            <a:r>
              <a:rPr lang="pt-BR" sz="2000" b="1" dirty="0"/>
              <a:t> e </a:t>
            </a:r>
            <a:r>
              <a:rPr lang="pt-BR" sz="2000" b="1" dirty="0" err="1"/>
              <a:t>Inferência</a:t>
            </a:r>
            <a:r>
              <a:rPr lang="pt-BR" sz="2000" dirty="0"/>
              <a:t> — Cap. 14 (14.1); Cap. 16 (16.1)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6223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Onde paramos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lang="pt-BR" sz="2400" dirty="0"/>
                  <a:t>Se a população é </a:t>
                </a:r>
                <a:r>
                  <a:rPr lang="pt-BR" sz="2400" b="1" dirty="0"/>
                  <a:t>normal</a:t>
                </a:r>
                <a:r>
                  <a:rPr lang="pt-BR" sz="2400" dirty="0"/>
                  <a:t>:</a:t>
                </a:r>
              </a:p>
              <a:p>
                <a:pPr marL="800089" lvl="1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pt-BR" sz="2400" smtClean="0">
                            <a:latin typeface="Cambria Math"/>
                          </a:rPr>
                          <m:t>𝑋</m:t>
                        </m:r>
                      </m:e>
                    </m:bar>
                    <m:r>
                      <a:rPr lang="pt-BR" sz="2400" smtClean="0">
                        <a:latin typeface="Cambria Math"/>
                      </a:rPr>
                      <m:t>~</m:t>
                    </m:r>
                    <m:r>
                      <a:rPr lang="pt-BR" sz="2400" smtClean="0">
                        <a:latin typeface="Cambria Math"/>
                      </a:rPr>
                      <m:t>𝑁</m:t>
                    </m:r>
                    <m:d>
                      <m:d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smtClean="0">
                            <a:latin typeface="Cambria Math"/>
                          </a:rPr>
                          <m:t>𝜇</m:t>
                        </m:r>
                        <m:r>
                          <a:rPr lang="pt-BR" sz="2400" smtClean="0">
                            <a:latin typeface="Cambria Math"/>
                          </a:rPr>
                          <m:t>,</m:t>
                        </m:r>
                        <m:f>
                          <m:f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400" smtClean="0">
                                    <a:latin typeface="Cambria Math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pt-BR" sz="2400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pt-BR" sz="2400" smtClean="0">
                                <a:latin typeface="Cambria Math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lang="pt-BR" sz="2400" dirty="0"/>
                  <a:t> </a:t>
                </a:r>
              </a:p>
              <a:p>
                <a:pPr marL="800089" lvl="1" indent="-342900">
                  <a:lnSpc>
                    <a:spcPct val="15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𝑍</m:t>
                    </m:r>
                    <m:r>
                      <a:rPr lang="pt-BR" sz="2400" b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pt-BR" sz="2400" b="1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pt-BR" sz="2400" b="1" smtClean="0">
                                <a:latin typeface="Cambria Math"/>
                              </a:rPr>
                              <m:t>𝑋</m:t>
                            </m:r>
                          </m:e>
                        </m:bar>
                        <m:r>
                          <a:rPr lang="pt-BR" sz="2400" b="1" smtClean="0">
                            <a:latin typeface="Cambria Math"/>
                          </a:rPr>
                          <m:t>−</m:t>
                        </m:r>
                        <m:r>
                          <a:rPr lang="pt-BR" sz="2400" b="1" smtClean="0">
                            <a:latin typeface="Cambria Math"/>
                          </a:rPr>
                          <m:t>𝜇</m:t>
                        </m:r>
                      </m:num>
                      <m:den>
                        <m:f>
                          <m:fPr>
                            <m:type m:val="lin"/>
                            <m:ctrlPr>
                              <a:rPr lang="pt-BR" sz="24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400" b="1" smtClean="0">
                                <a:latin typeface="Cambria Math"/>
                              </a:rPr>
                              <m:t>𝜎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pt-BR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pt-BR" sz="2400" b="1" smtClean="0">
                                    <a:latin typeface="Cambria Math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den>
                    </m:f>
                    <m:r>
                      <a:rPr lang="pt-BR" sz="2400" b="1" smtClean="0">
                        <a:latin typeface="Cambria Math"/>
                      </a:rPr>
                      <m:t>~</m:t>
                    </m:r>
                    <m:r>
                      <a:rPr lang="pt-BR" sz="2400" b="1" smtClean="0">
                        <a:latin typeface="Cambria Math"/>
                      </a:rPr>
                      <m:t>𝑁</m:t>
                    </m:r>
                    <m:r>
                      <a:rPr lang="pt-BR" sz="2400" b="1" smtClean="0">
                        <a:latin typeface="Cambria Math"/>
                      </a:rPr>
                      <m:t>(0,1)</m:t>
                    </m:r>
                  </m:oMath>
                </a14:m>
                <a:r>
                  <a:rPr lang="pt-BR" sz="2400" dirty="0"/>
                  <a:t> (Aula 15).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lang="pt-BR" sz="2400" dirty="0"/>
                  <a:t>Para </a:t>
                </a:r>
                <a:r>
                  <a:rPr lang="pt-BR" sz="2400" dirty="0" err="1"/>
                  <a:t>estimar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smtClean="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400" dirty="0"/>
                  <a:t>, usamos </a:t>
                </a:r>
                <a:endParaRPr lang="pt-BR" sz="2400" b="1" dirty="0">
                  <a:latin typeface="Cambria Math" panose="02040503050406030204" pitchFamily="18" charset="0"/>
                </a:endParaRPr>
              </a:p>
              <a:p>
                <a:pPr marL="800089" lvl="1" indent="-342900">
                  <a:lnSpc>
                    <a:spcPct val="15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1" smtClean="0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pt-BR" sz="2400" b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 b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pt-BR" sz="24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pt-BR" sz="2400" b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pt-BR" sz="2400" b="1" smtClean="0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pt-BR" sz="2400" b="1" smtClean="0">
                                <a:latin typeface="Cambria Math"/>
                              </a:rPr>
                              <m:t>𝑛</m:t>
                            </m:r>
                          </m:sup>
                          <m:e>
                            <m:r>
                              <a:rPr lang="pt-BR" sz="2400" b="1" smtClean="0">
                                <a:latin typeface="Cambria Math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pt-BR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1" smtClean="0">
                                    <a:latin typeface="Cambria Math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pt-BR" sz="2400" b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pt-BR" sz="2400" b="1" smtClean="0">
                                <a:latin typeface="Cambria Math"/>
                              </a:rPr>
                              <m:t>−</m:t>
                            </m:r>
                            <m:bar>
                              <m:barPr>
                                <m:pos m:val="top"/>
                                <m:ctrlPr>
                                  <a:rPr lang="pt-BR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pt-BR" sz="2400" b="1" smtClean="0">
                                    <a:latin typeface="Cambria Math"/>
                                  </a:rPr>
                                  <m:t>𝑋</m:t>
                                </m:r>
                              </m:e>
                            </m:bar>
                            <m:sSup>
                              <m:sSupPr>
                                <m:ctrlPr>
                                  <a:rPr lang="pt-BR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400" b="1" smtClean="0">
                                    <a:latin typeface="Cambria Math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pt-BR" sz="2400" b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pt-BR" sz="2400" b="1" smtClean="0">
                            <a:latin typeface="Cambria Math"/>
                          </a:rPr>
                          <m:t>𝑛</m:t>
                        </m:r>
                        <m:r>
                          <a:rPr lang="pt-BR" sz="2400" b="1" smtClean="0">
                            <a:latin typeface="Cambria Math"/>
                          </a:rPr>
                          <m:t>−1</m:t>
                        </m:r>
                      </m:den>
                    </m:f>
                    <m:r>
                      <a:rPr lang="pt-BR" sz="2400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400" dirty="0"/>
                  <a:t> que é </a:t>
                </a:r>
                <a:r>
                  <a:rPr lang="pt-BR" sz="2400" dirty="0" err="1"/>
                  <a:t>não</a:t>
                </a:r>
                <a:r>
                  <a:rPr lang="pt-BR" sz="2400" dirty="0"/>
                  <a:t> </a:t>
                </a:r>
                <a:r>
                  <a:rPr lang="pt-BR" sz="2400" dirty="0" err="1"/>
                  <a:t>viesado</a:t>
                </a:r>
                <a:r>
                  <a:rPr lang="pt-BR" sz="2400" dirty="0"/>
                  <a:t> (Aula 16).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lang="pt-BR" sz="2400" dirty="0"/>
                  <a:t>Vamos ver</a:t>
                </a:r>
                <a:r>
                  <a:rPr lang="pt-BR" sz="2400" b="1" dirty="0"/>
                  <a:t> </a:t>
                </a:r>
                <a:r>
                  <a:rPr lang="pt-BR" sz="2400" dirty="0"/>
                  <a:t>o que acontece com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𝑍</m:t>
                    </m:r>
                  </m:oMath>
                </a14:m>
                <a:r>
                  <a:rPr lang="pt-BR" sz="2400" dirty="0"/>
                  <a:t> </a:t>
                </a:r>
                <a:r>
                  <a:rPr lang="pt-BR" sz="2400" dirty="0" err="1"/>
                  <a:t>quando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𝜎</m:t>
                    </m:r>
                  </m:oMath>
                </a14:m>
                <a:r>
                  <a:rPr lang="pt-BR" sz="2400" dirty="0"/>
                  <a:t> é </a:t>
                </a:r>
                <a:r>
                  <a:rPr lang="pt-BR" sz="2400" b="1" dirty="0" err="1"/>
                  <a:t>desconhecido</a:t>
                </a:r>
                <a:r>
                  <a:rPr lang="pt-BR" sz="2400" dirty="0"/>
                  <a:t> e </a:t>
                </a:r>
                <a:r>
                  <a:rPr lang="pt-BR" sz="2400" dirty="0" err="1"/>
                  <a:t>colocamos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𝑆</m:t>
                    </m:r>
                  </m:oMath>
                </a14:m>
                <a:r>
                  <a:rPr lang="pt-BR" sz="2400" dirty="0"/>
                  <a:t> no </a:t>
                </a:r>
                <a:r>
                  <a:rPr lang="pt-BR" sz="2400" dirty="0" err="1"/>
                  <a:t>lugar</a:t>
                </a:r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5622308"/>
              </a:xfrm>
              <a:prstGeom prst="rect">
                <a:avLst/>
              </a:prstGeom>
              <a:blipFill>
                <a:blip r:embed="rId2"/>
                <a:stretch>
                  <a:fillRect l="-909" b="-15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34219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Termos da aula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lang="pt-BR" sz="2400" b="1" dirty="0" err="1"/>
                  <a:t>Graus</a:t>
                </a:r>
                <a:r>
                  <a:rPr lang="pt-BR" sz="2400" b="1" dirty="0"/>
                  <a:t> de </a:t>
                </a:r>
                <a:r>
                  <a:rPr lang="pt-BR" sz="2400" b="1" dirty="0" err="1"/>
                  <a:t>liberdade</a:t>
                </a:r>
                <a:r>
                  <a:rPr lang="pt-BR" sz="2400" b="1" dirty="0"/>
                  <a:t> (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𝜈</m:t>
                    </m:r>
                  </m:oMath>
                </a14:m>
                <a:r>
                  <a:rPr lang="pt-BR" sz="2400" b="1" dirty="0"/>
                  <a:t>): </a:t>
                </a:r>
                <a:r>
                  <a:rPr lang="pt-BR" sz="2400" dirty="0" err="1"/>
                  <a:t>número</a:t>
                </a:r>
                <a:r>
                  <a:rPr lang="pt-BR" sz="2400" dirty="0"/>
                  <a:t> que define a curva da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pt-BR" sz="2400" dirty="0"/>
                  <a:t> </a:t>
                </a:r>
                <a:r>
                  <a:rPr lang="pt-BR" sz="2400" dirty="0" err="1"/>
                  <a:t>ou</a:t>
                </a:r>
                <a:r>
                  <a:rPr lang="pt-BR" sz="2400" dirty="0"/>
                  <a:t> da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400" dirty="0"/>
                  <a:t> (</a:t>
                </a:r>
                <a:r>
                  <a:rPr lang="pt-BR" sz="2400" dirty="0" err="1"/>
                  <a:t>qui</a:t>
                </a:r>
                <a:r>
                  <a:rPr lang="pt-BR" sz="2400" dirty="0"/>
                  <a:t>-quadrado); nesta aula,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𝜈</m:t>
                    </m:r>
                    <m:r>
                      <a:rPr lang="pt-BR" sz="2400" b="1">
                        <a:latin typeface="Cambria Math"/>
                      </a:rPr>
                      <m:t>=</m:t>
                    </m:r>
                    <m:r>
                      <a:rPr lang="pt-BR" sz="2400" b="1">
                        <a:latin typeface="Cambria Math"/>
                      </a:rPr>
                      <m:t>𝑛</m:t>
                    </m:r>
                    <m:r>
                      <a:rPr lang="pt-BR" sz="2400" b="1">
                        <a:latin typeface="Cambria Math"/>
                      </a:rPr>
                      <m:t>−1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lang="pt-BR" sz="2400" b="1" dirty="0"/>
                  <a:t>Cauda superior: </a:t>
                </a:r>
                <a:r>
                  <a:rPr lang="pt-BR" sz="2400" dirty="0" err="1"/>
                  <a:t>área</a:t>
                </a:r>
                <a:r>
                  <a:rPr lang="pt-BR" sz="2400" dirty="0"/>
                  <a:t> à </a:t>
                </a:r>
                <a:r>
                  <a:rPr lang="pt-BR" sz="2400" b="1" dirty="0" err="1"/>
                  <a:t>direita</a:t>
                </a:r>
                <a:r>
                  <a:rPr lang="pt-BR" sz="2400" dirty="0"/>
                  <a:t> de um valor.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1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pt-BR" sz="2400" b="1" smtClean="0">
                            <a:latin typeface="Cambria Math"/>
                          </a:rPr>
                          <m:t>𝛼</m:t>
                        </m:r>
                        <m:r>
                          <a:rPr lang="pt-BR" sz="2400" b="1" smtClean="0">
                            <a:latin typeface="Cambria Math"/>
                          </a:rPr>
                          <m:t>;</m:t>
                        </m:r>
                        <m:r>
                          <a:rPr lang="pt-BR" sz="2400" b="1" smtClean="0">
                            <a:latin typeface="Cambria Math"/>
                          </a:rPr>
                          <m:t>𝜈</m:t>
                        </m:r>
                      </m:sub>
                    </m:sSub>
                  </m:oMath>
                </a14:m>
                <a:r>
                  <a:rPr lang="pt-BR" sz="2400" dirty="0"/>
                  <a:t>: valor com </a:t>
                </a:r>
                <a:r>
                  <a:rPr lang="pt-BR" sz="2400" dirty="0" err="1"/>
                  <a:t>área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𝛼</m:t>
                    </m:r>
                  </m:oMath>
                </a14:m>
                <a:r>
                  <a:rPr lang="pt-BR" sz="2400" dirty="0"/>
                  <a:t> à </a:t>
                </a:r>
                <a:r>
                  <a:rPr lang="pt-BR" sz="2400" dirty="0" err="1"/>
                  <a:t>sua</a:t>
                </a:r>
                <a:r>
                  <a:rPr lang="pt-BR" sz="2400" dirty="0"/>
                  <a:t> </a:t>
                </a:r>
                <a:r>
                  <a:rPr lang="pt-BR" sz="2400" dirty="0" err="1"/>
                  <a:t>direita</a:t>
                </a:r>
                <a:r>
                  <a:rPr lang="pt-BR" sz="2400" dirty="0"/>
                  <a:t> </a:t>
                </a:r>
                <a:r>
                  <a:rPr lang="pt-BR" sz="2400" dirty="0" err="1"/>
                  <a:t>na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pt-BR" sz="2400" dirty="0"/>
                  <a:t> com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𝜈</m:t>
                    </m:r>
                  </m:oMath>
                </a14:m>
                <a:r>
                  <a:rPr lang="pt-BR" sz="2400" dirty="0"/>
                  <a:t> </a:t>
                </a:r>
                <a:r>
                  <a:rPr lang="pt-BR" sz="2400" dirty="0" err="1"/>
                  <a:t>graus</a:t>
                </a:r>
                <a:r>
                  <a:rPr lang="pt-BR" sz="2400" dirty="0"/>
                  <a:t> de </a:t>
                </a:r>
                <a:r>
                  <a:rPr lang="pt-BR" sz="2400" dirty="0" err="1"/>
                  <a:t>liberdade</a:t>
                </a:r>
                <a:r>
                  <a:rPr lang="pt-BR" sz="2400" dirty="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pt-BR" sz="24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2400" b="1" smtClean="0">
                            <a:latin typeface="Cambria Math"/>
                          </a:rPr>
                          <m:t>𝜒</m:t>
                        </m:r>
                      </m:e>
                      <m:sub>
                        <m:r>
                          <a:rPr lang="pt-BR" sz="2400" b="1" smtClean="0">
                            <a:latin typeface="Cambria Math"/>
                          </a:rPr>
                          <m:t>𝛼</m:t>
                        </m:r>
                        <m:r>
                          <a:rPr lang="pt-BR" sz="2400" b="1" smtClean="0">
                            <a:latin typeface="Cambria Math"/>
                          </a:rPr>
                          <m:t>;</m:t>
                        </m:r>
                        <m:r>
                          <a:rPr lang="pt-BR" sz="2400" b="1" smtClean="0">
                            <a:latin typeface="Cambria Math"/>
                          </a:rPr>
                          <m:t>𝜈</m:t>
                        </m:r>
                      </m:sub>
                      <m:sup>
                        <m:r>
                          <a:rPr lang="pt-BR" sz="2400" b="1" smtClean="0">
                            <a:latin typeface="Cambria Math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sz="2400" dirty="0"/>
                  <a:t>: valor com </a:t>
                </a:r>
                <a:r>
                  <a:rPr lang="pt-BR" sz="2400" dirty="0" err="1"/>
                  <a:t>área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𝛼</m:t>
                    </m:r>
                  </m:oMath>
                </a14:m>
                <a:r>
                  <a:rPr lang="pt-BR" sz="2400" dirty="0"/>
                  <a:t> à </a:t>
                </a:r>
                <a:r>
                  <a:rPr lang="pt-BR" sz="2400" dirty="0" err="1"/>
                  <a:t>sua</a:t>
                </a:r>
                <a:r>
                  <a:rPr lang="pt-BR" sz="2400" dirty="0"/>
                  <a:t> </a:t>
                </a:r>
                <a:r>
                  <a:rPr lang="pt-BR" sz="2400" dirty="0" err="1"/>
                  <a:t>direita</a:t>
                </a:r>
                <a:r>
                  <a:rPr lang="pt-BR" sz="2400" dirty="0"/>
                  <a:t> </a:t>
                </a:r>
                <a:r>
                  <a:rPr lang="pt-BR" sz="2400" dirty="0" err="1"/>
                  <a:t>na</a:t>
                </a:r>
                <a:r>
                  <a:rPr lang="pt-BR" sz="2400" dirty="0"/>
                  <a:t> qui-</a:t>
                </a:r>
                <a:r>
                  <a:rPr lang="pt-BR" sz="2400" dirty="0" err="1"/>
                  <a:t>quadrado</a:t>
                </a:r>
                <a:r>
                  <a:rPr lang="pt-BR" sz="2400" dirty="0"/>
                  <a:t> com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𝜈</m:t>
                    </m:r>
                  </m:oMath>
                </a14:m>
                <a:r>
                  <a:rPr lang="pt-BR" sz="2400" dirty="0"/>
                  <a:t> </a:t>
                </a:r>
                <a:r>
                  <a:rPr lang="pt-BR" sz="2400" dirty="0" err="1"/>
                  <a:t>graus</a:t>
                </a:r>
                <a:r>
                  <a:rPr lang="pt-BR" sz="2400" dirty="0"/>
                  <a:t> de </a:t>
                </a:r>
                <a:r>
                  <a:rPr lang="pt-BR" sz="2400" dirty="0" err="1"/>
                  <a:t>liberdade</a:t>
                </a:r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3421962"/>
              </a:xfrm>
              <a:prstGeom prst="rect">
                <a:avLst/>
              </a:prstGeom>
              <a:blipFill>
                <a:blip r:embed="rId2"/>
                <a:stretch>
                  <a:fillRect l="-909" b="-28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48232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 1 — O que acontece se trocarmos </a:t>
                </a:r>
                <a14:m>
                  <m:oMath xmlns:m="http://schemas.openxmlformats.org/officeDocument/2006/math"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pt-BR" sz="2400" b="1" dirty="0"/>
                  <a:t> por </a:t>
                </a:r>
                <a14:m>
                  <m:oMath xmlns:m="http://schemas.openxmlformats.org/officeDocument/2006/math"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pt-BR" sz="2400" b="1" dirty="0"/>
                  <a:t>?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O tempo de resposta de uma API de pagamentos tem distribuição normal, com</a:t>
                </a:r>
                <a:br>
                  <a:rPr lang="pt-BR" sz="2400" dirty="0"/>
                </a:b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=250</m:t>
                    </m:r>
                  </m:oMath>
                </a14:m>
                <a:r>
                  <a:rPr lang="pt-BR" sz="2400" dirty="0" err="1"/>
                  <a:t>ms</a:t>
                </a:r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=40</m:t>
                    </m:r>
                  </m:oMath>
                </a14:m>
                <a:r>
                  <a:rPr lang="pt-BR" sz="2400" dirty="0" err="1"/>
                  <a:t>ms</a:t>
                </a:r>
                <a:r>
                  <a:rPr lang="pt-BR" sz="2400" dirty="0"/>
                  <a:t>: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250, </m:t>
                        </m:r>
                        <m:sSup>
                          <m:sSupPr>
                            <m:ctrlP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40</m:t>
                            </m:r>
                          </m:e>
                          <m:sup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A equipe de informática sorteia amostras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=10 </m:t>
                    </m:r>
                  </m:oMath>
                </a14:m>
                <a:r>
                  <a:rPr lang="pt-BR" sz="2400" dirty="0"/>
                  <a:t>requisições e calcula a média </a:t>
                </a:r>
                <a14:m>
                  <m:oMath xmlns:m="http://schemas.openxmlformats.org/officeDocument/2006/math">
                    <m:acc>
                      <m:accPr>
                        <m:chr m:val="̄"/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400" dirty="0"/>
                  <a:t>de cada uma.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Com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pt-BR" sz="2400" dirty="0"/>
                  <a:t> conhecido, sabemos que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̄"/>
                            <m:ctrlP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a:rPr lang="pt-BR" sz="2400" i="1" dirty="0">
                        <a:latin typeface="Cambria Math" panose="02040503050406030204" pitchFamily="18" charset="0"/>
                      </a:rPr>
                      <m:t>~ 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(0, 1)</m:t>
                    </m:r>
                  </m:oMath>
                </a14:m>
                <a:r>
                  <a:rPr lang="pt-BR" sz="2400" dirty="0"/>
                  <a:t>: em 95% das amostras,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pt-BR" sz="2400" dirty="0"/>
                  <a:t> fica entre −1,96 e 1,96.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4823243"/>
              </a:xfrm>
              <a:prstGeom prst="rect">
                <a:avLst/>
              </a:prstGeom>
              <a:blipFill>
                <a:blip r:embed="rId2"/>
                <a:stretch>
                  <a:fillRect l="-909" b="-189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28041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dirty="0"/>
                  <a:t>O problema é que a equipe não conhece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pt-BR" sz="2400" dirty="0"/>
                  <a:t>. A ideia é usar o desvio padrão amostral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pt-BR" sz="2400" dirty="0"/>
                  <a:t> no lugar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Pergunta</a:t>
                </a:r>
                <a:r>
                  <a:rPr lang="pt-BR" sz="2400" dirty="0"/>
                  <a:t>: com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pt-BR" sz="2400" dirty="0"/>
                  <a:t> no lugar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pt-BR" sz="2400" dirty="0"/>
                  <a:t>, ainda são 95% das amostras entre −1,96 e 1,96? Como nós conhecemos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=40</m:t>
                    </m:r>
                  </m:oMath>
                </a14:m>
                <a:r>
                  <a:rPr lang="pt-BR" sz="2400" dirty="0"/>
                  <a:t>, podemos simular e medir o erro dessa ideia.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2804101"/>
              </a:xfrm>
              <a:prstGeom prst="rect">
                <a:avLst/>
              </a:prstGeom>
              <a:blipFill>
                <a:blip r:embed="rId2"/>
                <a:stretch>
                  <a:fillRect l="-909" b="-41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2947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7447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S</a:t>
                </a:r>
                <a:r>
                  <a:rPr lang="pt-BR" sz="2400" b="1" dirty="0" err="1"/>
                  <a:t>imulação</a:t>
                </a:r>
                <a:endParaRPr lang="pt-BR" sz="2400" b="1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Para cada tamanho n (5, 10 e 30), sorteamos </a:t>
                </a:r>
                <a:r>
                  <a:rPr lang="pt-BR" sz="2400" b="1" dirty="0"/>
                  <a:t>100 mil amostras</a:t>
                </a:r>
                <a:r>
                  <a:rPr lang="pt-BR" sz="2400" dirty="0"/>
                  <a:t> dessa API. Em cada uma, calculamos as duas padronizações:</a:t>
                </a:r>
                <a:endParaRPr lang="pt-BR" sz="2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pos m:val="top"/>
                              <m:ctrlPr>
                                <a:rPr lang="pt-BR" sz="240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pt-BR" sz="2400" smtClean="0">
                                  <a:latin typeface="Cambria Math"/>
                                </a:rPr>
                                <m:t>𝑋</m:t>
                              </m:r>
                            </m:e>
                          </m:bar>
                          <m:r>
                            <a:rPr lang="pt-BR" sz="2400" smtClean="0">
                              <a:latin typeface="Cambria Math"/>
                            </a:rPr>
                            <m:t>−</m:t>
                          </m:r>
                          <m:r>
                            <a:rPr lang="pt-BR" sz="2400" smtClean="0">
                              <a:latin typeface="Cambria Math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type m:val="lin"/>
                              <m:ctrlPr>
                                <a:rPr lang="pt-BR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smtClean="0">
                                  <a:latin typeface="Cambria Math"/>
                                </a:rPr>
                                <m:t>𝑆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pt-B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pt-BR" sz="2400" smtClean="0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  <m:r>
                        <a:rPr lang="pt-BR" sz="2400" b="0" i="0" smtClean="0">
                          <a:latin typeface="Cambria Math" panose="02040503050406030204" pitchFamily="18" charset="0"/>
                        </a:rPr>
                        <m:t>,  </m:t>
                      </m:r>
                      <m:f>
                        <m:f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pos m:val="top"/>
                              <m:ctrlPr>
                                <a:rPr lang="pt-BR" sz="240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pt-BR" sz="2400" smtClean="0">
                                  <a:latin typeface="Cambria Math"/>
                                </a:rPr>
                                <m:t>𝑋</m:t>
                              </m:r>
                            </m:e>
                          </m:bar>
                          <m:r>
                            <a:rPr lang="pt-BR" sz="2400" smtClean="0">
                              <a:latin typeface="Cambria Math"/>
                            </a:rPr>
                            <m:t>−</m:t>
                          </m:r>
                          <m:r>
                            <a:rPr lang="pt-BR" sz="2400" smtClean="0">
                              <a:latin typeface="Cambria Math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type m:val="lin"/>
                              <m:ctrlPr>
                                <a:rPr lang="pt-BR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pt-B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pt-BR" sz="2400" smtClean="0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e contamos quantas ficaram </a:t>
                </a:r>
                <a:r>
                  <a:rPr lang="pt-BR" sz="2400" b="1" dirty="0"/>
                  <a:t>fora</a:t>
                </a:r>
                <a:r>
                  <a:rPr lang="pt-BR" sz="2400" dirty="0"/>
                  <a:t> de −1,96 a 1,96:</a:t>
                </a:r>
              </a:p>
              <a:p>
                <a:pPr algn="ctr">
                  <a:lnSpc>
                    <a:spcPct val="150000"/>
                  </a:lnSpc>
                </a:pPr>
                <a:endParaRPr lang="pt-BR" sz="2400" dirty="0"/>
              </a:p>
              <a:p>
                <a:pPr algn="ctr"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Com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𝑆</m:t>
                    </m:r>
                  </m:oMath>
                </a14:m>
                <a:r>
                  <a:rPr lang="pt-BR" sz="2400" dirty="0"/>
                  <a:t>, </a:t>
                </a:r>
                <a:r>
                  <a:rPr lang="pt-BR" sz="2400" b="1" dirty="0" err="1"/>
                  <a:t>mais</a:t>
                </a:r>
                <a:r>
                  <a:rPr lang="pt-BR" sz="2400" b="1" dirty="0"/>
                  <a:t> de 5%</a:t>
                </a:r>
                <a:r>
                  <a:rPr lang="pt-BR" sz="2400" dirty="0"/>
                  <a:t> </a:t>
                </a:r>
                <a:r>
                  <a:rPr lang="pt-BR" sz="2400" dirty="0" err="1"/>
                  <a:t>ficam</a:t>
                </a:r>
                <a:r>
                  <a:rPr lang="pt-BR" sz="2400" dirty="0"/>
                  <a:t> fora. A </a:t>
                </a:r>
                <a:r>
                  <a:rPr lang="pt-BR" sz="2400" dirty="0" err="1"/>
                  <a:t>diferença</a:t>
                </a:r>
                <a:r>
                  <a:rPr lang="pt-BR" sz="2400" dirty="0"/>
                  <a:t> </a:t>
                </a:r>
                <a:r>
                  <a:rPr lang="pt-BR" sz="2400" dirty="0" err="1"/>
                  <a:t>diminui</a:t>
                </a:r>
                <a:r>
                  <a:rPr lang="pt-BR" sz="2400" dirty="0"/>
                  <a:t> </a:t>
                </a:r>
                <a:r>
                  <a:rPr lang="pt-BR" sz="2400" dirty="0" err="1"/>
                  <a:t>quando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</m:oMath>
                </a14:m>
                <a:r>
                  <a:rPr lang="pt-BR" sz="2400" dirty="0"/>
                  <a:t> cresce.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5744714"/>
              </a:xfrm>
              <a:prstGeom prst="rect">
                <a:avLst/>
              </a:prstGeom>
              <a:blipFill>
                <a:blip r:embed="rId2"/>
                <a:stretch>
                  <a:fillRect l="-909" b="-148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998832"/>
              </p:ext>
            </p:extLst>
          </p:nvPr>
        </p:nvGraphicFramePr>
        <p:xfrm>
          <a:off x="2096000" y="3969026"/>
          <a:ext cx="8000000" cy="17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0242">
                <a:tc>
                  <a:txBody>
                    <a:bodyPr/>
                    <a:lstStyle/>
                    <a:p>
                      <a:pPr algn="ctr"/>
                      <a:r>
                        <a:rPr lang="pt-BR" sz="2200" b="1" dirty="0"/>
                        <a:t>n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b="1" dirty="0"/>
                        <a:t>Com S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b="1" dirty="0"/>
                        <a:t>Com σ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pt-BR" sz="2200" b="0" dirty="0"/>
                        <a:t>5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b="0" dirty="0"/>
                        <a:t>12,1%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b="0" dirty="0"/>
                        <a:t>4,9%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pt-BR" sz="2200" b="0" dirty="0"/>
                        <a:t>10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b="0" dirty="0"/>
                        <a:t>8,1%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b="0" dirty="0"/>
                        <a:t>5,0%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pt-BR" sz="2200" b="0" dirty="0"/>
                        <a:t>30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b="0" dirty="0"/>
                        <a:t>5,8%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b="0" dirty="0"/>
                        <a:t>4,9%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3171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Por que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𝑆</m:t>
                    </m:r>
                  </m:oMath>
                </a14:m>
                <a:r>
                  <a:rPr lang="pt-BR" sz="2400" b="1" dirty="0"/>
                  <a:t> </a:t>
                </a:r>
                <a:r>
                  <a:rPr lang="pt-BR" sz="2400" b="1" dirty="0" err="1"/>
                  <a:t>muda</a:t>
                </a:r>
                <a:r>
                  <a:rPr lang="pt-BR" sz="2400" b="1" dirty="0"/>
                  <a:t> o </a:t>
                </a:r>
                <a:r>
                  <a:rPr lang="pt-BR" sz="2400" b="1" dirty="0" err="1"/>
                  <a:t>resultado</a:t>
                </a:r>
                <a:endParaRPr lang="pt-BR" sz="2400" b="1" dirty="0"/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𝜎</m:t>
                    </m:r>
                  </m:oMath>
                </a14:m>
                <a:r>
                  <a:rPr lang="pt-BR" sz="2400" dirty="0"/>
                  <a:t> é um </a:t>
                </a:r>
                <a:r>
                  <a:rPr lang="pt-BR" sz="2400" dirty="0" err="1"/>
                  <a:t>número</a:t>
                </a:r>
                <a:r>
                  <a:rPr lang="pt-BR" sz="2400" dirty="0"/>
                  <a:t> </a:t>
                </a:r>
                <a:r>
                  <a:rPr lang="pt-BR" sz="2400" dirty="0" err="1"/>
                  <a:t>fixo</a:t>
                </a:r>
                <a:r>
                  <a:rPr lang="pt-BR" sz="2400" dirty="0"/>
                  <a:t>;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𝑆</m:t>
                    </m:r>
                  </m:oMath>
                </a14:m>
                <a:r>
                  <a:rPr lang="pt-BR" sz="2400" b="1" dirty="0"/>
                  <a:t> </a:t>
                </a:r>
                <a:r>
                  <a:rPr lang="pt-BR" sz="2400" b="1" dirty="0" err="1"/>
                  <a:t>muda</a:t>
                </a:r>
                <a:r>
                  <a:rPr lang="pt-BR" sz="2400" b="1" dirty="0"/>
                  <a:t> de </a:t>
                </a:r>
                <a:r>
                  <a:rPr lang="pt-BR" sz="2400" b="1" dirty="0" err="1"/>
                  <a:t>amostra</a:t>
                </a:r>
                <a:r>
                  <a:rPr lang="pt-BR" sz="2400" b="1" dirty="0"/>
                  <a:t> para </a:t>
                </a:r>
                <a:r>
                  <a:rPr lang="pt-BR" sz="2400" b="1" dirty="0" err="1"/>
                  <a:t>amostra</a:t>
                </a:r>
                <a:r>
                  <a:rPr lang="pt-BR" sz="2400" dirty="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lang="pt-BR" sz="2400" dirty="0"/>
                  <a:t>Com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  <m:r>
                      <a:rPr lang="pt-BR" sz="2400">
                        <a:latin typeface="Cambria Math"/>
                      </a:rPr>
                      <m:t>=10</m:t>
                    </m:r>
                  </m:oMath>
                </a14:m>
                <a:r>
                  <a:rPr lang="pt-BR" sz="2400" dirty="0"/>
                  <a:t>, </a:t>
                </a:r>
                <a:r>
                  <a:rPr lang="pt-BR" sz="2400" dirty="0" err="1"/>
                  <a:t>cerca</a:t>
                </a:r>
                <a:r>
                  <a:rPr lang="pt-BR" sz="2400" dirty="0"/>
                  <a:t> de </a:t>
                </a:r>
                <a:r>
                  <a:rPr lang="pt-BR" sz="2400" b="1" dirty="0"/>
                  <a:t>56%</a:t>
                </a:r>
                <a:r>
                  <a:rPr lang="pt-BR" sz="2400" dirty="0"/>
                  <a:t> das </a:t>
                </a:r>
                <a:r>
                  <a:rPr lang="pt-BR" sz="2400" dirty="0" err="1"/>
                  <a:t>amostras</a:t>
                </a:r>
                <a:r>
                  <a:rPr lang="pt-BR" sz="2400" dirty="0"/>
                  <a:t> </a:t>
                </a:r>
                <a:r>
                  <a:rPr lang="pt-BR" sz="2400" dirty="0" err="1"/>
                  <a:t>têm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𝑆</m:t>
                    </m:r>
                    <m:r>
                      <a:rPr lang="pt-BR" sz="2400" b="1">
                        <a:latin typeface="Cambria Math"/>
                      </a:rPr>
                      <m:t>&lt;</m:t>
                    </m:r>
                    <m:r>
                      <a:rPr lang="pt-BR" sz="2400" b="1">
                        <a:latin typeface="Cambria Math"/>
                      </a:rPr>
                      <m:t>𝜎</m:t>
                    </m:r>
                  </m:oMath>
                </a14:m>
                <a:r>
                  <a:rPr lang="pt-BR" sz="2400" dirty="0"/>
                  <a:t>: o </a:t>
                </a:r>
                <a:r>
                  <a:rPr lang="pt-BR" sz="2400" dirty="0" err="1"/>
                  <a:t>denominador</a:t>
                </a:r>
                <a:r>
                  <a:rPr lang="pt-BR" sz="2400" dirty="0"/>
                  <a:t> </a:t>
                </a:r>
                <a:r>
                  <a:rPr lang="pt-BR" sz="2400" dirty="0" err="1"/>
                  <a:t>fica</a:t>
                </a:r>
                <a:r>
                  <a:rPr lang="pt-BR" sz="2400" dirty="0"/>
                  <a:t> </a:t>
                </a:r>
                <a:r>
                  <a:rPr lang="pt-BR" sz="2400" dirty="0" err="1"/>
                  <a:t>menor</a:t>
                </a:r>
                <a:r>
                  <a:rPr lang="pt-BR" sz="2400" dirty="0"/>
                  <a:t> e o </a:t>
                </a:r>
                <a:r>
                  <a:rPr lang="pt-BR" sz="2400" dirty="0" err="1"/>
                  <a:t>quociente</a:t>
                </a:r>
                <a:r>
                  <a:rPr lang="pt-BR" sz="2400" dirty="0"/>
                  <a:t> </a:t>
                </a:r>
                <a:r>
                  <a:rPr lang="pt-BR" sz="2400" dirty="0" err="1"/>
                  <a:t>fica</a:t>
                </a:r>
                <a:r>
                  <a:rPr lang="pt-BR" sz="2400" dirty="0"/>
                  <a:t> </a:t>
                </a:r>
                <a:r>
                  <a:rPr lang="pt-BR" sz="2400" dirty="0" err="1"/>
                  <a:t>maior</a:t>
                </a:r>
                <a:r>
                  <a:rPr lang="pt-BR" sz="2400" dirty="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lang="pt-BR" sz="2400" dirty="0"/>
                  <a:t>Por </a:t>
                </a:r>
                <a:r>
                  <a:rPr lang="pt-BR" sz="2400" dirty="0" err="1"/>
                  <a:t>isso</a:t>
                </a:r>
                <a:r>
                  <a:rPr lang="pt-BR" sz="24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pt-BR" sz="2400">
                                <a:latin typeface="Cambria Math"/>
                              </a:rPr>
                              <m:t>𝑋</m:t>
                            </m:r>
                          </m:e>
                        </m:bar>
                        <m:r>
                          <a:rPr lang="pt-BR" sz="2400">
                            <a:latin typeface="Cambria Math"/>
                          </a:rPr>
                          <m:t>−</m:t>
                        </m:r>
                        <m:r>
                          <a:rPr lang="pt-BR" sz="2400">
                            <a:latin typeface="Cambria Math"/>
                          </a:rPr>
                          <m:t>𝜇</m:t>
                        </m:r>
                      </m:num>
                      <m:den>
                        <m:f>
                          <m:fPr>
                            <m:type m:val="lin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400">
                                <a:latin typeface="Cambria Math"/>
                              </a:rPr>
                              <m:t>𝑆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pt-BR" sz="2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pt-BR" sz="2400">
                                    <a:latin typeface="Cambria Math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den>
                    </m:f>
                  </m:oMath>
                </a14:m>
                <a:r>
                  <a:rPr lang="pt-BR" sz="2400" b="1" dirty="0"/>
                  <a:t> varia </a:t>
                </a:r>
                <a:r>
                  <a:rPr lang="pt-BR" sz="2400" b="1" dirty="0" err="1"/>
                  <a:t>mais</a:t>
                </a:r>
                <a:r>
                  <a:rPr lang="pt-BR" sz="2400" dirty="0"/>
                  <a:t> que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𝑍</m:t>
                    </m:r>
                  </m:oMath>
                </a14:m>
                <a:r>
                  <a:rPr lang="pt-BR" sz="2400" dirty="0"/>
                  <a:t> e </a:t>
                </a:r>
                <a:r>
                  <a:rPr lang="pt-BR" sz="2400" b="1" dirty="0"/>
                  <a:t>não é normal</a:t>
                </a:r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3171830"/>
              </a:xfrm>
              <a:prstGeom prst="rect">
                <a:avLst/>
              </a:prstGeom>
              <a:blipFill>
                <a:blip r:embed="rId2"/>
                <a:stretch>
                  <a:fillRect l="-909" r="-28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0210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Como resolver o problema de não conhecer σ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Não conhecer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pt-BR" sz="2400" dirty="0"/>
                  <a:t> nos obriga a usar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pt-BR" sz="2400" dirty="0"/>
                  <a:t>, 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pt-BR" sz="2400" dirty="0"/>
                  <a:t> muda de amostra para amostra. Para saber como a padronização com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pt-BR" sz="2400" dirty="0"/>
                  <a:t> se comporta, vamos em dois passos:</a:t>
                </a:r>
              </a:p>
              <a:p>
                <a:pPr marL="914389" lvl="1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pt-BR" sz="2400" dirty="0"/>
                  <a:t>Como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²</m:t>
                    </m:r>
                  </m:oMath>
                </a14:m>
                <a:r>
                  <a:rPr lang="pt-BR" sz="2400" dirty="0"/>
                  <a:t> varia: com a </a:t>
                </a:r>
                <a:r>
                  <a:rPr lang="pt-BR" sz="2400" dirty="0" err="1"/>
                  <a:t>qui</a:t>
                </a:r>
                <a:r>
                  <a:rPr lang="pt-BR" sz="2400" dirty="0"/>
                  <a:t>-quadrado, descrevemos como S² muda entre as amostras.</a:t>
                </a:r>
              </a:p>
              <a:p>
                <a:pPr marL="914389" lvl="1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pt-BR" sz="2400" dirty="0"/>
                  <a:t>Como a padronização com S varia: combinando a normal padrão com a </a:t>
                </a:r>
                <a:r>
                  <a:rPr lang="pt-BR" sz="2400" dirty="0" err="1"/>
                  <a:t>qui</a:t>
                </a:r>
                <a:r>
                  <a:rPr lang="pt-BR" sz="2400" dirty="0"/>
                  <a:t>-quadrado, chegamos à distribuição t de </a:t>
                </a:r>
                <a:r>
                  <a:rPr lang="pt-BR" sz="2400" dirty="0" err="1"/>
                  <a:t>Student</a:t>
                </a:r>
                <a:r>
                  <a:rPr lang="pt-BR" sz="2400" dirty="0"/>
                  <a:t>, que substitui 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(0, 1) </m:t>
                    </m:r>
                  </m:oMath>
                </a14:m>
                <a:r>
                  <a:rPr lang="pt-BR" sz="2400" dirty="0"/>
                  <a:t>quando usamos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pt-BR" sz="2400" dirty="0"/>
                  <a:t> no lugar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Começamos pela </a:t>
                </a:r>
                <a:r>
                  <a:rPr lang="pt-BR" sz="2400" dirty="0" err="1"/>
                  <a:t>qui</a:t>
                </a:r>
                <a:r>
                  <a:rPr lang="pt-BR" sz="2400" dirty="0"/>
                  <a:t>-quadrado.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5021055"/>
              </a:xfrm>
              <a:prstGeom prst="rect">
                <a:avLst/>
              </a:prstGeom>
              <a:blipFill>
                <a:blip r:embed="rId2"/>
                <a:stretch>
                  <a:fillRect l="-909" b="-19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1537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98646"/>
                <a:ext cx="10733426" cy="5027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Distribuição </a:t>
                </a:r>
                <a:r>
                  <a:rPr lang="pt-BR" sz="2400" b="1" dirty="0" err="1"/>
                  <a:t>qui</a:t>
                </a:r>
                <a:r>
                  <a:rPr lang="pt-BR" sz="2400" b="1" dirty="0"/>
                  <a:t>-quadrado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b="1" dirty="0" err="1"/>
                  <a:t>Definição</a:t>
                </a:r>
                <a:r>
                  <a:rPr lang="pt-BR" sz="2400" b="1" dirty="0"/>
                  <a:t>. </a:t>
                </a:r>
                <a:r>
                  <a:rPr lang="pt-BR" sz="2400" dirty="0" err="1"/>
                  <a:t>Sejam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smtClean="0">
                            <a:latin typeface="Cambria Math"/>
                          </a:rPr>
                          <m:t>𝑍</m:t>
                        </m:r>
                      </m:e>
                      <m:sub>
                        <m:r>
                          <a:rPr lang="pt-BR" sz="240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smtClean="0">
                            <a:latin typeface="Cambria Math"/>
                          </a:rPr>
                          <m:t>𝑍</m:t>
                        </m:r>
                      </m:e>
                      <m:sub>
                        <m:r>
                          <a:rPr lang="pt-BR" sz="2400" smtClean="0">
                            <a:latin typeface="Cambria Math"/>
                          </a:rPr>
                          <m:t>𝜈</m:t>
                        </m:r>
                      </m:sub>
                    </m:sSub>
                  </m:oMath>
                </a14:m>
                <a:r>
                  <a:rPr lang="pt-BR" sz="2400" dirty="0"/>
                  <a:t> </a:t>
                </a:r>
                <a:r>
                  <a:rPr lang="pt-BR" sz="2400" dirty="0" err="1"/>
                  <a:t>normais</a:t>
                </a:r>
                <a:r>
                  <a:rPr lang="pt-BR" sz="2400" dirty="0"/>
                  <a:t> </a:t>
                </a:r>
                <a:r>
                  <a:rPr lang="pt-BR" sz="2400" dirty="0" err="1"/>
                  <a:t>padrão</a:t>
                </a:r>
                <a:r>
                  <a:rPr lang="pt-BR" sz="2400" dirty="0"/>
                  <a:t> </a:t>
                </a:r>
                <a:r>
                  <a:rPr lang="pt-BR" sz="2400" b="1" dirty="0" err="1"/>
                  <a:t>independentes</a:t>
                </a:r>
                <a:r>
                  <a:rPr lang="pt-BR" sz="2400" dirty="0"/>
                  <a:t>. A </a:t>
                </a:r>
                <a:r>
                  <a:rPr lang="pt-BR" sz="2400" dirty="0" err="1"/>
                  <a:t>variável</a:t>
                </a:r>
                <a:endParaRPr lang="pt-BR" sz="2400" dirty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1">
                          <a:latin typeface="Cambria Math"/>
                        </a:rPr>
                        <m:t>𝑌</m:t>
                      </m:r>
                      <m:r>
                        <a:rPr lang="pt-BR" sz="2400" b="1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pt-BR" sz="24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1" smtClean="0">
                              <a:latin typeface="Cambria Math"/>
                            </a:rPr>
                            <m:t>𝑍</m:t>
                          </m:r>
                        </m:e>
                        <m:sub>
                          <m:r>
                            <a:rPr lang="pt-BR" sz="2400" b="1" smtClean="0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pt-BR" sz="2400" b="1" smtClean="0"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a:rPr lang="pt-BR" sz="2400" b="1" smtClean="0">
                          <a:latin typeface="Cambria Math"/>
                        </a:rPr>
                        <m:t>+</m:t>
                      </m:r>
                      <m:sSubSup>
                        <m:sSubSupPr>
                          <m:ctrlPr>
                            <a:rPr lang="pt-BR" sz="24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1" smtClean="0">
                              <a:latin typeface="Cambria Math"/>
                            </a:rPr>
                            <m:t>𝑍</m:t>
                          </m:r>
                        </m:e>
                        <m:sub>
                          <m:r>
                            <a:rPr lang="pt-BR" sz="2400" b="1" smtClean="0">
                              <a:latin typeface="Cambria Math"/>
                            </a:rPr>
                            <m:t>2</m:t>
                          </m:r>
                        </m:sub>
                        <m:sup>
                          <m:r>
                            <a:rPr lang="pt-BR" sz="2400" b="1" smtClean="0"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a:rPr lang="pt-BR" sz="2400" b="1" smtClean="0">
                          <a:latin typeface="Cambria Math"/>
                        </a:rPr>
                        <m:t>+⋯+</m:t>
                      </m:r>
                      <m:sSubSup>
                        <m:sSubSupPr>
                          <m:ctrlPr>
                            <a:rPr lang="pt-BR" sz="24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1" smtClean="0">
                              <a:latin typeface="Cambria Math"/>
                            </a:rPr>
                            <m:t>𝑍</m:t>
                          </m:r>
                        </m:e>
                        <m:sub>
                          <m:r>
                            <a:rPr lang="pt-BR" sz="2400" b="1" smtClean="0">
                              <a:latin typeface="Cambria Math"/>
                            </a:rPr>
                            <m:t>𝜈</m:t>
                          </m:r>
                        </m:sub>
                        <m:sup>
                          <m:r>
                            <a:rPr lang="pt-BR" sz="2400" b="1" smtClean="0">
                              <a:latin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sz="2400" dirty="0"/>
              </a:p>
              <a:p>
                <a:pPr marL="342900">
                  <a:lnSpc>
                    <a:spcPct val="150000"/>
                  </a:lnSpc>
                </a:pPr>
                <a:r>
                  <a:rPr lang="pt-BR" sz="2400" dirty="0" err="1"/>
                  <a:t>tem</a:t>
                </a:r>
                <a:r>
                  <a:rPr lang="pt-BR" sz="2400" dirty="0"/>
                  <a:t> </a:t>
                </a:r>
                <a:r>
                  <a:rPr lang="pt-BR" sz="2400" dirty="0" err="1"/>
                  <a:t>distribuição</a:t>
                </a:r>
                <a:r>
                  <a:rPr lang="pt-BR" sz="2400" dirty="0"/>
                  <a:t> </a:t>
                </a:r>
                <a:r>
                  <a:rPr lang="pt-BR" sz="2400" b="1" dirty="0"/>
                  <a:t>qui-</a:t>
                </a:r>
                <a:r>
                  <a:rPr lang="pt-BR" sz="2400" b="1" dirty="0" err="1"/>
                  <a:t>quadrado</a:t>
                </a:r>
                <a:r>
                  <a:rPr lang="pt-BR" sz="2400" b="1" dirty="0"/>
                  <a:t> com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𝜈</m:t>
                    </m:r>
                  </m:oMath>
                </a14:m>
                <a:r>
                  <a:rPr lang="pt-BR" sz="2400" b="1" dirty="0"/>
                  <a:t> </a:t>
                </a:r>
                <a:r>
                  <a:rPr lang="pt-BR" sz="2400" b="1" dirty="0" err="1"/>
                  <a:t>graus</a:t>
                </a:r>
                <a:r>
                  <a:rPr lang="pt-BR" sz="2400" b="1" dirty="0"/>
                  <a:t> de </a:t>
                </a:r>
                <a:r>
                  <a:rPr lang="pt-BR" sz="2400" b="1" dirty="0" err="1"/>
                  <a:t>liberdade</a:t>
                </a:r>
                <a:r>
                  <a:rPr lang="pt-BR" sz="2400" dirty="0"/>
                  <a:t>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>
                          <a:latin typeface="Cambria Math"/>
                        </a:rPr>
                        <m:t>𝑌</m:t>
                      </m:r>
                      <m:r>
                        <a:rPr lang="pt-BR" sz="2400">
                          <a:latin typeface="Cambria Math"/>
                        </a:rPr>
                        <m:t>~</m:t>
                      </m:r>
                      <m:sSup>
                        <m:sSup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smtClean="0">
                              <a:latin typeface="Cambria Math"/>
                            </a:rPr>
                            <m:t>𝜒</m:t>
                          </m:r>
                        </m:e>
                        <m:sup>
                          <m:r>
                            <a:rPr lang="pt-BR" sz="2400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pt-BR" sz="2400" smtClean="0">
                          <a:latin typeface="Cambria Math"/>
                        </a:rPr>
                        <m:t>(</m:t>
                      </m:r>
                      <m:r>
                        <a:rPr lang="pt-BR" sz="2400" smtClean="0">
                          <a:latin typeface="Cambria Math"/>
                        </a:rPr>
                        <m:t>𝜈</m:t>
                      </m:r>
                      <m:r>
                        <a:rPr lang="pt-BR" sz="240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pt-BR" sz="24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pt-BR" sz="2400" b="1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b="1" dirty="0"/>
                  <a:t>Média e variância da qui-quadrado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𝐸</m:t>
                    </m:r>
                    <m:r>
                      <a:rPr lang="pt-BR" sz="2400" b="1">
                        <a:latin typeface="Cambria Math"/>
                      </a:rPr>
                      <m:t>(</m:t>
                    </m:r>
                    <m:r>
                      <a:rPr lang="pt-BR" sz="2400" b="1">
                        <a:latin typeface="Cambria Math"/>
                      </a:rPr>
                      <m:t>𝑌</m:t>
                    </m:r>
                    <m:r>
                      <a:rPr lang="pt-BR" sz="2400" b="1">
                        <a:latin typeface="Cambria Math"/>
                      </a:rPr>
                      <m:t>)=</m:t>
                    </m:r>
                    <m:r>
                      <a:rPr lang="pt-BR" sz="2400" b="1">
                        <a:latin typeface="Cambria Math"/>
                      </a:rPr>
                      <m:t>𝜈</m:t>
                    </m:r>
                  </m:oMath>
                </a14:m>
                <a:r>
                  <a:rPr lang="pt-BR" sz="2400" dirty="0"/>
                  <a:t>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1">
                        <a:latin typeface="Cambria Math"/>
                      </a:rPr>
                      <m:t>Var</m:t>
                    </m:r>
                    <m:r>
                      <a:rPr lang="pt-BR" sz="2400" b="1">
                        <a:latin typeface="Cambria Math"/>
                      </a:rPr>
                      <m:t>(</m:t>
                    </m:r>
                    <m:r>
                      <a:rPr lang="pt-BR" sz="2400" b="1">
                        <a:latin typeface="Cambria Math"/>
                      </a:rPr>
                      <m:t>𝑌</m:t>
                    </m:r>
                    <m:r>
                      <a:rPr lang="pt-BR" sz="2400" b="1">
                        <a:latin typeface="Cambria Math"/>
                      </a:rPr>
                      <m:t>)=2</m:t>
                    </m:r>
                    <m:r>
                      <a:rPr lang="pt-BR" sz="2400" b="1">
                        <a:latin typeface="Cambria Math"/>
                      </a:rPr>
                      <m:t>𝜈</m:t>
                    </m:r>
                  </m:oMath>
                </a14:m>
                <a:endParaRPr lang="pt-BR" sz="2400" dirty="0"/>
              </a:p>
              <a:p>
                <a:pPr marL="342900" algn="ctr">
                  <a:lnSpc>
                    <a:spcPct val="150000"/>
                  </a:lnSpc>
                </a:pPr>
                <a:r>
                  <a:rPr lang="pt-BR" sz="2400" dirty="0"/>
                  <a:t>Como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𝑌</m:t>
                    </m:r>
                  </m:oMath>
                </a14:m>
                <a:r>
                  <a:rPr lang="pt-BR" sz="2400" dirty="0"/>
                  <a:t> é soma de quadrados, ela só assume valores </a:t>
                </a:r>
                <a:r>
                  <a:rPr lang="pt-BR" sz="2400" b="1" dirty="0"/>
                  <a:t>maiores ou iguais a zero</a:t>
                </a:r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98646"/>
                <a:ext cx="10733426" cy="5027595"/>
              </a:xfrm>
              <a:prstGeom prst="rect">
                <a:avLst/>
              </a:prstGeom>
              <a:blipFill>
                <a:blip r:embed="rId2"/>
                <a:stretch>
                  <a:fillRect l="-909" b="-18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16087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O </a:t>
                </a:r>
                <a:r>
                  <a:rPr lang="pt-BR" sz="2400" b="1" dirty="0" err="1"/>
                  <a:t>formato</a:t>
                </a:r>
                <a:r>
                  <a:rPr lang="pt-BR" sz="2400" b="1" dirty="0"/>
                  <a:t> da qui-</a:t>
                </a:r>
                <a:r>
                  <a:rPr lang="pt-BR" sz="2400" b="1" dirty="0" err="1"/>
                  <a:t>quadrado</a:t>
                </a:r>
                <a:endParaRPr lang="pt-BR" sz="2400" b="1" dirty="0"/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Para </a:t>
                </a:r>
                <a14:m>
                  <m:oMath xmlns:m="http://schemas.openxmlformats.org/officeDocument/2006/math">
                    <m:r>
                      <a:rPr lang="pt-BR" sz="2200">
                        <a:latin typeface="Cambria Math"/>
                      </a:rPr>
                      <m:t>𝜈</m:t>
                    </m:r>
                  </m:oMath>
                </a14:m>
                <a:r>
                  <a:rPr lang="pt-BR" sz="2200" dirty="0"/>
                  <a:t> </a:t>
                </a:r>
                <a:r>
                  <a:rPr lang="pt-BR" sz="2200" dirty="0" err="1"/>
                  <a:t>pequeno</a:t>
                </a:r>
                <a:r>
                  <a:rPr lang="pt-BR" sz="2200" dirty="0"/>
                  <a:t>, é </a:t>
                </a:r>
                <a:r>
                  <a:rPr lang="pt-BR" sz="2200" b="1" dirty="0" err="1"/>
                  <a:t>assimétrica</a:t>
                </a:r>
                <a:r>
                  <a:rPr lang="pt-BR" sz="2200" b="1" dirty="0"/>
                  <a:t> à </a:t>
                </a:r>
                <a:r>
                  <a:rPr lang="pt-BR" sz="2200" b="1" dirty="0" err="1"/>
                  <a:t>direita</a:t>
                </a:r>
                <a:r>
                  <a:rPr lang="pt-BR" sz="2200" dirty="0"/>
                  <a:t>. </a:t>
                </a:r>
                <a:r>
                  <a:rPr lang="pt-BR" sz="2200" dirty="0" err="1"/>
                  <a:t>Quando</a:t>
                </a:r>
                <a:r>
                  <a:rPr lang="pt-BR" sz="2200" dirty="0"/>
                  <a:t> </a:t>
                </a:r>
                <a14:m>
                  <m:oMath xmlns:m="http://schemas.openxmlformats.org/officeDocument/2006/math">
                    <m:r>
                      <a:rPr lang="pt-BR" sz="2200">
                        <a:latin typeface="Cambria Math"/>
                      </a:rPr>
                      <m:t>𝜈</m:t>
                    </m:r>
                  </m:oMath>
                </a14:m>
                <a:r>
                  <a:rPr lang="pt-BR" sz="2200" dirty="0"/>
                  <a:t> </a:t>
                </a:r>
                <a:r>
                  <a:rPr lang="pt-BR" sz="2200" dirty="0" err="1"/>
                  <a:t>cresce</a:t>
                </a:r>
                <a:r>
                  <a:rPr lang="pt-BR" sz="2200" dirty="0"/>
                  <a:t>, </a:t>
                </a:r>
                <a:r>
                  <a:rPr lang="pt-BR" sz="2200" dirty="0" err="1"/>
                  <a:t>fica</a:t>
                </a:r>
                <a:r>
                  <a:rPr lang="pt-BR" sz="2200" dirty="0"/>
                  <a:t> </a:t>
                </a:r>
                <a:r>
                  <a:rPr lang="pt-BR" sz="2200" dirty="0" err="1"/>
                  <a:t>mais</a:t>
                </a:r>
                <a:r>
                  <a:rPr lang="pt-BR" sz="2200" dirty="0"/>
                  <a:t> </a:t>
                </a:r>
                <a:r>
                  <a:rPr lang="pt-BR" sz="2200" dirty="0" err="1"/>
                  <a:t>simétrica</a:t>
                </a:r>
                <a:r>
                  <a:rPr lang="pt-BR" sz="2200" dirty="0"/>
                  <a:t> e se </a:t>
                </a:r>
                <a:r>
                  <a:rPr lang="pt-BR" sz="2200" dirty="0" err="1"/>
                  <a:t>aproxima</a:t>
                </a:r>
                <a:r>
                  <a:rPr lang="pt-BR" sz="2200" dirty="0"/>
                  <a:t> de </a:t>
                </a:r>
                <a:r>
                  <a:rPr lang="pt-BR" sz="2200" dirty="0" err="1"/>
                  <a:t>uma</a:t>
                </a:r>
                <a:r>
                  <a:rPr lang="pt-BR" sz="2200" dirty="0"/>
                  <a:t> </a:t>
                </a:r>
                <a:r>
                  <a:rPr lang="pt-BR" sz="2200" b="1" dirty="0"/>
                  <a:t>normal</a:t>
                </a:r>
                <a:r>
                  <a:rPr lang="pt-BR" sz="2200" dirty="0"/>
                  <a:t>: com </a:t>
                </a:r>
                <a14:m>
                  <m:oMath xmlns:m="http://schemas.openxmlformats.org/officeDocument/2006/math">
                    <m:r>
                      <a:rPr lang="pt-BR" sz="2200">
                        <a:latin typeface="Cambria Math"/>
                      </a:rPr>
                      <m:t>𝜈</m:t>
                    </m:r>
                    <m:r>
                      <a:rPr lang="pt-BR" sz="2200">
                        <a:latin typeface="Cambria Math"/>
                      </a:rPr>
                      <m:t>=30</m:t>
                    </m:r>
                  </m:oMath>
                </a14:m>
                <a:r>
                  <a:rPr lang="pt-BR" sz="2200" dirty="0"/>
                  <a:t>, </a:t>
                </a:r>
                <a:r>
                  <a:rPr lang="pt-BR" sz="2200" dirty="0" err="1"/>
                  <a:t>já</a:t>
                </a:r>
                <a:r>
                  <a:rPr lang="pt-BR" sz="2200" dirty="0"/>
                  <a:t> </a:t>
                </a:r>
                <a:r>
                  <a:rPr lang="pt-BR" sz="2200" dirty="0" err="1"/>
                  <a:t>fica</a:t>
                </a:r>
                <a:r>
                  <a:rPr lang="pt-BR" sz="2200" dirty="0"/>
                  <a:t> </a:t>
                </a:r>
                <a:r>
                  <a:rPr lang="pt-BR" sz="2200" dirty="0" err="1"/>
                  <a:t>perto</a:t>
                </a:r>
                <a:r>
                  <a:rPr lang="pt-BR" sz="2200" dirty="0"/>
                  <a:t> da </a:t>
                </a:r>
                <a14:m>
                  <m:oMath xmlns:m="http://schemas.openxmlformats.org/officeDocument/2006/math">
                    <m:r>
                      <a:rPr lang="pt-BR" sz="2200">
                        <a:latin typeface="Cambria Math"/>
                      </a:rPr>
                      <m:t>𝑁</m:t>
                    </m:r>
                    <m:r>
                      <a:rPr lang="pt-BR" sz="2200">
                        <a:latin typeface="Cambria Math"/>
                      </a:rPr>
                      <m:t>(30,60)</m:t>
                    </m:r>
                  </m:oMath>
                </a14:m>
                <a:r>
                  <a:rPr lang="pt-BR" sz="2200" dirty="0"/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1608710"/>
              </a:xfrm>
              <a:prstGeom prst="rect">
                <a:avLst/>
              </a:prstGeom>
              <a:blipFill>
                <a:blip r:embed="rId2"/>
                <a:stretch>
                  <a:fillRect l="-909" b="-64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img_qui_nov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500" y="2250000"/>
            <a:ext cx="10375000" cy="415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8336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pt-BR" sz="2200" b="1" dirty="0" err="1"/>
                  <a:t>Tabela</a:t>
                </a:r>
                <a:r>
                  <a:rPr lang="pt-BR" sz="2200" b="1" dirty="0"/>
                  <a:t> qui-</a:t>
                </a:r>
                <a:r>
                  <a:rPr lang="pt-BR" sz="2200" b="1" dirty="0" err="1"/>
                  <a:t>quadrado</a:t>
                </a:r>
                <a:r>
                  <a:rPr lang="pt-BR" sz="2200" b="1" dirty="0"/>
                  <a:t> (cauda superior) — </a:t>
                </a:r>
                <a:r>
                  <a:rPr lang="pt-BR" sz="2200" b="1" dirty="0" err="1"/>
                  <a:t>parte</a:t>
                </a:r>
                <a:r>
                  <a:rPr lang="pt-BR" sz="2200" b="1" dirty="0"/>
                  <a:t> 1 de 2</a:t>
                </a:r>
              </a:p>
              <a:p>
                <a:pPr>
                  <a:lnSpc>
                    <a:spcPct val="120000"/>
                  </a:lnSpc>
                </a:pPr>
                <a:r>
                  <a:rPr lang="pt-BR" sz="1800" dirty="0" err="1"/>
                  <a:t>Corpo</a:t>
                </a:r>
                <a:r>
                  <a:rPr lang="pt-BR" sz="1800" dirty="0"/>
                  <a:t> da </a:t>
                </a:r>
                <a:r>
                  <a:rPr lang="pt-BR" sz="1800" dirty="0" err="1"/>
                  <a:t>tabela</a:t>
                </a:r>
                <a:r>
                  <a:rPr lang="pt-BR" sz="1800" dirty="0"/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800">
                            <a:latin typeface="Cambria Math"/>
                          </a:rPr>
                          <m:t>𝜒</m:t>
                        </m:r>
                      </m:e>
                      <m:sub>
                        <m:r>
                          <a:rPr lang="pt-BR" sz="1800">
                            <a:latin typeface="Cambria Math"/>
                          </a:rPr>
                          <m:t>𝛼</m:t>
                        </m:r>
                        <m:r>
                          <a:rPr lang="pt-BR" sz="1800">
                            <a:latin typeface="Cambria Math"/>
                          </a:rPr>
                          <m:t>;</m:t>
                        </m:r>
                        <m:r>
                          <a:rPr lang="pt-BR" sz="1800">
                            <a:latin typeface="Cambria Math"/>
                          </a:rPr>
                          <m:t>𝜈</m:t>
                        </m:r>
                      </m:sub>
                      <m:sup>
                        <m:r>
                          <a:rPr lang="pt-BR" sz="1800">
                            <a:latin typeface="Cambria Math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sz="1800" dirty="0"/>
                  <a:t> </a:t>
                </a:r>
                <a:r>
                  <a:rPr lang="pt-BR" sz="1800" dirty="0" err="1"/>
                  <a:t>tal</a:t>
                </a:r>
                <a:r>
                  <a:rPr lang="pt-BR" sz="1800" dirty="0"/>
                  <a:t> que </a:t>
                </a:r>
                <a14:m>
                  <m:oMath xmlns:m="http://schemas.openxmlformats.org/officeDocument/2006/math">
                    <m:r>
                      <a:rPr lang="pt-BR" sz="1800" b="1">
                        <a:latin typeface="Cambria Math"/>
                      </a:rPr>
                      <m:t>𝑃</m:t>
                    </m:r>
                    <m:r>
                      <a:rPr lang="pt-BR" sz="1800" b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pt-BR" sz="1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800" b="1">
                            <a:latin typeface="Cambria Math"/>
                          </a:rPr>
                          <m:t>𝜒</m:t>
                        </m:r>
                      </m:e>
                      <m:sup>
                        <m:r>
                          <a:rPr lang="pt-BR" sz="1800" b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1800" b="1">
                        <a:latin typeface="Cambria Math"/>
                      </a:rPr>
                      <m:t>&gt;</m:t>
                    </m:r>
                    <m:sSubSup>
                      <m:sSubSupPr>
                        <m:ctrlPr>
                          <a:rPr lang="pt-BR" sz="18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800" b="1">
                            <a:latin typeface="Cambria Math"/>
                          </a:rPr>
                          <m:t>𝜒</m:t>
                        </m:r>
                      </m:e>
                      <m:sub>
                        <m:r>
                          <a:rPr lang="pt-BR" sz="1800" b="1">
                            <a:latin typeface="Cambria Math"/>
                          </a:rPr>
                          <m:t>𝛼</m:t>
                        </m:r>
                        <m:r>
                          <a:rPr lang="pt-BR" sz="1800" b="1">
                            <a:latin typeface="Cambria Math"/>
                          </a:rPr>
                          <m:t>;</m:t>
                        </m:r>
                        <m:r>
                          <a:rPr lang="pt-BR" sz="1800" b="1">
                            <a:latin typeface="Cambria Math"/>
                          </a:rPr>
                          <m:t>𝜈</m:t>
                        </m:r>
                      </m:sub>
                      <m:sup>
                        <m:r>
                          <a:rPr lang="pt-BR" sz="1800" b="1">
                            <a:latin typeface="Cambria Math"/>
                          </a:rPr>
                          <m:t>2</m:t>
                        </m:r>
                      </m:sup>
                    </m:sSubSup>
                    <m:r>
                      <a:rPr lang="pt-BR" sz="1800" b="1">
                        <a:latin typeface="Cambria Math"/>
                      </a:rPr>
                      <m:t>)=</m:t>
                    </m:r>
                    <m:r>
                      <a:rPr lang="pt-BR" sz="1800" b="1">
                        <a:latin typeface="Cambria Math"/>
                      </a:rPr>
                      <m:t>𝛼</m:t>
                    </m:r>
                  </m:oMath>
                </a14:m>
                <a:r>
                  <a:rPr lang="pt-BR" sz="1800" dirty="0"/>
                  <a:t>. </a:t>
                </a:r>
                <a:r>
                  <a:rPr lang="pt-BR" sz="1800" dirty="0" err="1"/>
                  <a:t>Linha</a:t>
                </a:r>
                <a:r>
                  <a:rPr lang="pt-BR" sz="1800" dirty="0"/>
                  <a:t>: </a:t>
                </a:r>
                <a14:m>
                  <m:oMath xmlns:m="http://schemas.openxmlformats.org/officeDocument/2006/math">
                    <m:r>
                      <a:rPr lang="pt-BR" sz="1800">
                        <a:latin typeface="Cambria Math"/>
                      </a:rPr>
                      <m:t>𝜈</m:t>
                    </m:r>
                  </m:oMath>
                </a14:m>
                <a:r>
                  <a:rPr lang="pt-BR" sz="1800" dirty="0"/>
                  <a:t>; </a:t>
                </a:r>
                <a:r>
                  <a:rPr lang="pt-BR" sz="1800" dirty="0" err="1"/>
                  <a:t>coluna</a:t>
                </a:r>
                <a:r>
                  <a:rPr lang="pt-BR" sz="1800" dirty="0"/>
                  <a:t>: </a:t>
                </a:r>
                <a14:m>
                  <m:oMath xmlns:m="http://schemas.openxmlformats.org/officeDocument/2006/math">
                    <m:r>
                      <a:rPr lang="pt-BR" sz="1800">
                        <a:latin typeface="Cambria Math"/>
                      </a:rPr>
                      <m:t>𝛼</m:t>
                    </m:r>
                  </m:oMath>
                </a14:m>
                <a:r>
                  <a:rPr lang="pt-BR" sz="1800" dirty="0"/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833690"/>
              </a:xfrm>
              <a:prstGeom prst="rect">
                <a:avLst/>
              </a:prstGeom>
              <a:blipFill>
                <a:blip r:embed="rId2"/>
                <a:stretch>
                  <a:fillRect l="-739" b="-94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412004"/>
              </p:ext>
            </p:extLst>
          </p:nvPr>
        </p:nvGraphicFramePr>
        <p:xfrm>
          <a:off x="846000" y="1250000"/>
          <a:ext cx="10500000" cy="51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8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8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8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ν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0,995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0,99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0,975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0,95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0,90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0,10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0,05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0,025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0,01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0,005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0,000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0,000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0,001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0,004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0,016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2,706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3,841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5,024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6,635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7,879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0,010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0,020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0,051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0,103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0,211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4,605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5,991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7,378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9,210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10,597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0,072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0,115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0,216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0,352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0,584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6,251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7,815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9,348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11,345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12,838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0,207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0,297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0,484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0,711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1,064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7,779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9,488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11,143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13,277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14,860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0,412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0,554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0,831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1,145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1,610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9,236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11,070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12,833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15,086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16,750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0,676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0,872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1,237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1,635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2,204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10,645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12,592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14,449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16,812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18,548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0,989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1,239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1,690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2,167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2,833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12,017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14,067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16,013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18,475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20,278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1,344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1,646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2,180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2,733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3,490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13,362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15,507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17,535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20,090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21,955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1,735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2,088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2,700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3,325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4,168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14,684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16,919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19,023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21,666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23,589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10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2,156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2,558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3,247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3,940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4,865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15,987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18,307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20,483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23,209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25,188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11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2,603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3,053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3,816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4,575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5,578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17,275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19,675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21,920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24,725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26,757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12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3,074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3,571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4,404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5,226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6,304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18,549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21,026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23,337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26,217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28,300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13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3,565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4,107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5,009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5,892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7,042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19,812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22,362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24,736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27,688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29,819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14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4,075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4,660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5,629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6,571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7,790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21,064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23,685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26,119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29,141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31,319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15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4,601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5,229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6,262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7,261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8,547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22,307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24,996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27,488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30,578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32,801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16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5,142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5,812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6,908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7,962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9,312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23,542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26,296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28,845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32,000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34,267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17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5,697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6,408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7,564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8,672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10,085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24,769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27,587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30,191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33,409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35,718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18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6,265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7,015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8,231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9,390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10,865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25,989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28,869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31,526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34,805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37,156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8336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pt-BR" sz="2200" b="1" dirty="0" err="1"/>
                  <a:t>Tabela</a:t>
                </a:r>
                <a:r>
                  <a:rPr lang="pt-BR" sz="2200" b="1" dirty="0"/>
                  <a:t> qui-</a:t>
                </a:r>
                <a:r>
                  <a:rPr lang="pt-BR" sz="2200" b="1" dirty="0" err="1"/>
                  <a:t>quadrado</a:t>
                </a:r>
                <a:r>
                  <a:rPr lang="pt-BR" sz="2200" b="1" dirty="0"/>
                  <a:t> (cauda superior) — </a:t>
                </a:r>
                <a:r>
                  <a:rPr lang="pt-BR" sz="2200" b="1" dirty="0" err="1"/>
                  <a:t>parte</a:t>
                </a:r>
                <a:r>
                  <a:rPr lang="pt-BR" sz="2200" b="1" dirty="0"/>
                  <a:t> 2 de 2</a:t>
                </a:r>
              </a:p>
              <a:p>
                <a:pPr>
                  <a:lnSpc>
                    <a:spcPct val="120000"/>
                  </a:lnSpc>
                </a:pPr>
                <a:r>
                  <a:rPr lang="pt-BR" sz="1800" dirty="0" err="1"/>
                  <a:t>Corpo</a:t>
                </a:r>
                <a:r>
                  <a:rPr lang="pt-BR" sz="1800" dirty="0"/>
                  <a:t> da </a:t>
                </a:r>
                <a:r>
                  <a:rPr lang="pt-BR" sz="1800" dirty="0" err="1"/>
                  <a:t>tabela</a:t>
                </a:r>
                <a:r>
                  <a:rPr lang="pt-BR" sz="1800" dirty="0"/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800">
                            <a:latin typeface="Cambria Math"/>
                          </a:rPr>
                          <m:t>𝜒</m:t>
                        </m:r>
                      </m:e>
                      <m:sub>
                        <m:r>
                          <a:rPr lang="pt-BR" sz="1800">
                            <a:latin typeface="Cambria Math"/>
                          </a:rPr>
                          <m:t>𝛼</m:t>
                        </m:r>
                        <m:r>
                          <a:rPr lang="pt-BR" sz="1800">
                            <a:latin typeface="Cambria Math"/>
                          </a:rPr>
                          <m:t>;</m:t>
                        </m:r>
                        <m:r>
                          <a:rPr lang="pt-BR" sz="1800">
                            <a:latin typeface="Cambria Math"/>
                          </a:rPr>
                          <m:t>𝜈</m:t>
                        </m:r>
                      </m:sub>
                      <m:sup>
                        <m:r>
                          <a:rPr lang="pt-BR" sz="1800">
                            <a:latin typeface="Cambria Math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sz="1800" dirty="0"/>
                  <a:t> </a:t>
                </a:r>
                <a:r>
                  <a:rPr lang="pt-BR" sz="1800" dirty="0" err="1"/>
                  <a:t>tal</a:t>
                </a:r>
                <a:r>
                  <a:rPr lang="pt-BR" sz="1800" dirty="0"/>
                  <a:t> que </a:t>
                </a:r>
                <a14:m>
                  <m:oMath xmlns:m="http://schemas.openxmlformats.org/officeDocument/2006/math">
                    <m:r>
                      <a:rPr lang="pt-BR" sz="1800" b="1">
                        <a:latin typeface="Cambria Math"/>
                      </a:rPr>
                      <m:t>𝑃</m:t>
                    </m:r>
                    <m:r>
                      <a:rPr lang="pt-BR" sz="1800" b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pt-BR" sz="1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800" b="1">
                            <a:latin typeface="Cambria Math"/>
                          </a:rPr>
                          <m:t>𝜒</m:t>
                        </m:r>
                      </m:e>
                      <m:sup>
                        <m:r>
                          <a:rPr lang="pt-BR" sz="1800" b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1800" b="1">
                        <a:latin typeface="Cambria Math"/>
                      </a:rPr>
                      <m:t>&gt;</m:t>
                    </m:r>
                    <m:sSubSup>
                      <m:sSubSupPr>
                        <m:ctrlPr>
                          <a:rPr lang="pt-BR" sz="18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800" b="1">
                            <a:latin typeface="Cambria Math"/>
                          </a:rPr>
                          <m:t>𝜒</m:t>
                        </m:r>
                      </m:e>
                      <m:sub>
                        <m:r>
                          <a:rPr lang="pt-BR" sz="1800" b="1">
                            <a:latin typeface="Cambria Math"/>
                          </a:rPr>
                          <m:t>𝛼</m:t>
                        </m:r>
                        <m:r>
                          <a:rPr lang="pt-BR" sz="1800" b="1">
                            <a:latin typeface="Cambria Math"/>
                          </a:rPr>
                          <m:t>;</m:t>
                        </m:r>
                        <m:r>
                          <a:rPr lang="pt-BR" sz="1800" b="1">
                            <a:latin typeface="Cambria Math"/>
                          </a:rPr>
                          <m:t>𝜈</m:t>
                        </m:r>
                      </m:sub>
                      <m:sup>
                        <m:r>
                          <a:rPr lang="pt-BR" sz="1800" b="1">
                            <a:latin typeface="Cambria Math"/>
                          </a:rPr>
                          <m:t>2</m:t>
                        </m:r>
                      </m:sup>
                    </m:sSubSup>
                    <m:r>
                      <a:rPr lang="pt-BR" sz="1800" b="1">
                        <a:latin typeface="Cambria Math"/>
                      </a:rPr>
                      <m:t>)=</m:t>
                    </m:r>
                    <m:r>
                      <a:rPr lang="pt-BR" sz="1800" b="1">
                        <a:latin typeface="Cambria Math"/>
                      </a:rPr>
                      <m:t>𝛼</m:t>
                    </m:r>
                  </m:oMath>
                </a14:m>
                <a:r>
                  <a:rPr lang="pt-BR" sz="1800" dirty="0"/>
                  <a:t>. </a:t>
                </a:r>
                <a:r>
                  <a:rPr lang="pt-BR" sz="1800" dirty="0" err="1"/>
                  <a:t>Linha</a:t>
                </a:r>
                <a:r>
                  <a:rPr lang="pt-BR" sz="1800" dirty="0"/>
                  <a:t>: </a:t>
                </a:r>
                <a14:m>
                  <m:oMath xmlns:m="http://schemas.openxmlformats.org/officeDocument/2006/math">
                    <m:r>
                      <a:rPr lang="pt-BR" sz="1800">
                        <a:latin typeface="Cambria Math"/>
                      </a:rPr>
                      <m:t>𝜈</m:t>
                    </m:r>
                  </m:oMath>
                </a14:m>
                <a:r>
                  <a:rPr lang="pt-BR" sz="1800" dirty="0"/>
                  <a:t>; </a:t>
                </a:r>
                <a:r>
                  <a:rPr lang="pt-BR" sz="1800" dirty="0" err="1"/>
                  <a:t>coluna</a:t>
                </a:r>
                <a:r>
                  <a:rPr lang="pt-BR" sz="1800" dirty="0"/>
                  <a:t>: </a:t>
                </a:r>
                <a14:m>
                  <m:oMath xmlns:m="http://schemas.openxmlformats.org/officeDocument/2006/math">
                    <m:r>
                      <a:rPr lang="pt-BR" sz="1800">
                        <a:latin typeface="Cambria Math"/>
                      </a:rPr>
                      <m:t>𝛼</m:t>
                    </m:r>
                  </m:oMath>
                </a14:m>
                <a:r>
                  <a:rPr lang="pt-BR" sz="1800" dirty="0"/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833690"/>
              </a:xfrm>
              <a:prstGeom prst="rect">
                <a:avLst/>
              </a:prstGeom>
              <a:blipFill>
                <a:blip r:embed="rId2"/>
                <a:stretch>
                  <a:fillRect l="-739" b="-94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820898"/>
              </p:ext>
            </p:extLst>
          </p:nvPr>
        </p:nvGraphicFramePr>
        <p:xfrm>
          <a:off x="846000" y="1250000"/>
          <a:ext cx="10500000" cy="51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8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8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8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ν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0,995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0,99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0,975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0,95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0,90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0,10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0,05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0,025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0,01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0,005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19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6,844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7,633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8,907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10,117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11,651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27,204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30,144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32,852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36,191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38,582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20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7,434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8,260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9,591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10,851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12,443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28,412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31,410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34,170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37,566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39,997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21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8,034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8,897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10,283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11,591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13,240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29,615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32,671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35,479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38,932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41,401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22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8,643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9,542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10,982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12,338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14,041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30,813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33,924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36,781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40,289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42,796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23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9,260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10,196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11,689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13,091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14,848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32,007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35,172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38,076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41,638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44,181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24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9,886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10,856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12,401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13,848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15,659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33,196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36,415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39,364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42,980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45,559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25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10,520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11,524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13,120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14,611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16,473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34,382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37,652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40,646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44,314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46,928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26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11,160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12,198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13,844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15,379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17,292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35,563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38,885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41,923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45,642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48,290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27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11,808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12,879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14,573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16,151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18,114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36,741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40,113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43,195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46,963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49,645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28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12,461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13,565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15,308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16,928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18,939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37,916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41,337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44,461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48,278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50,993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29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13,121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14,256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16,047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17,708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19,768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39,087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42,557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45,722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49,588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52,336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30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13,787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14,953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16,791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18,493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20,599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40,256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43,773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46,979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50,892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53,672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40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20,707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22,164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24,433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26,509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29,051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51,805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55,758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59,342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63,691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66,766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50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27,991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29,707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32,357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34,764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37,689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63,167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67,505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71,420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76,154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79,490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60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35,534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37,485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40,482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43,188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46,459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74,397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79,082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83,298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88,379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91,952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80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51,172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53,540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57,153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60,391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64,278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96,578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101,879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106,629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112,329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116,321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100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67,328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70,065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74,222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77,929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82,358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118,498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124,342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129,561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135,807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140,169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61280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 2 — Lendo a tabela </a:t>
                </a:r>
                <a:r>
                  <a:rPr lang="pt-BR" sz="2400" b="1" dirty="0" err="1"/>
                  <a:t>qui</a:t>
                </a:r>
                <a:r>
                  <a:rPr lang="pt-BR" sz="2400" b="1" dirty="0"/>
                  <a:t>-quadrado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Um sensor de temperatura de um data center faz 10 leituras independentes por minuto. O erro de cada leitura, já padronizado, tem distribuição normal padrão: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₁, …,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₁₀ ~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(0, 1).</m:t>
                    </m:r>
                  </m:oMath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Para medir o ruído do sensor, a equipe calcula a soma dos quadrados dos </a:t>
                </a:r>
                <a:r>
                  <a:rPr lang="pt-BR" sz="2400" dirty="0" err="1"/>
                  <a:t>erros:</a:t>
                </a:r>
                <a:endParaRPr lang="pt-BR" sz="2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₁² +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₂² + ⋯ +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₁₀²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Pela definição,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𝜒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²(10).</m:t>
                    </m:r>
                  </m:oMath>
                </a14:m>
                <a:r>
                  <a:rPr lang="pt-BR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Use a tabela </a:t>
                </a:r>
                <a:r>
                  <a:rPr lang="pt-BR" sz="2400" dirty="0" err="1"/>
                  <a:t>qui</a:t>
                </a:r>
                <a:r>
                  <a:rPr lang="pt-BR" sz="2400" dirty="0"/>
                  <a:t>-quadrado para responder:</a:t>
                </a:r>
              </a:p>
              <a:p>
                <a:pPr marL="914389" lvl="1" indent="-457200">
                  <a:lnSpc>
                    <a:spcPct val="150000"/>
                  </a:lnSpc>
                  <a:buAutoNum type="alphaLcParenBoth"/>
                </a:pPr>
                <a:r>
                  <a:rPr lang="pt-BR" sz="2400" dirty="0"/>
                  <a:t>Que valor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pt-BR" sz="2400" dirty="0"/>
                  <a:t> só é ultrapassado em 5% dos minutos?</a:t>
                </a:r>
              </a:p>
              <a:p>
                <a:pPr marL="914389" lvl="1" indent="-457200">
                  <a:lnSpc>
                    <a:spcPct val="150000"/>
                  </a:lnSpc>
                  <a:buAutoNum type="alphaLcParenBoth"/>
                </a:pPr>
                <a:r>
                  <a:rPr lang="pt-BR" sz="2400" dirty="0"/>
                  <a:t>Abaixo de que valor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pt-BR" sz="2400" dirty="0"/>
                  <a:t> fica em apenas 5% dos minutos?</a:t>
                </a:r>
              </a:p>
              <a:p>
                <a:pPr marL="914389" lvl="1" indent="-457200">
                  <a:lnSpc>
                    <a:spcPct val="150000"/>
                  </a:lnSpc>
                  <a:buAutoNum type="alphaLcParenBoth"/>
                </a:pPr>
                <a:r>
                  <a:rPr lang="pt-BR" sz="2400" dirty="0"/>
                  <a:t>Entre quais valores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pt-BR" sz="2400" dirty="0"/>
                  <a:t> fica em 90% dos minutos, com 5% em cada ponta?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6128088"/>
              </a:xfrm>
              <a:prstGeom prst="rect">
                <a:avLst/>
              </a:prstGeom>
              <a:blipFill>
                <a:blip r:embed="rId2"/>
                <a:stretch>
                  <a:fillRect l="-909" b="-13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43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2400" b="1" dirty="0"/>
                  <a:t>Resolução.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A tabela dá o valor de χ² que deixa a área α à sua direita. Para encontrá-lo, precisamos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pt-BR" sz="2400" dirty="0"/>
                  <a:t> (a linha) e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sz="2400" dirty="0"/>
                  <a:t> (a coluna).</a:t>
                </a:r>
              </a:p>
              <a:p>
                <a:pPr>
                  <a:lnSpc>
                    <a:spcPct val="150000"/>
                  </a:lnSpc>
                </a:pPr>
                <a:endParaRPr lang="pt-BR" sz="2400" b="1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(a) Na linha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pt-BR" sz="2400" dirty="0"/>
                  <a:t> e coluna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=0,05</m:t>
                    </m:r>
                  </m:oMath>
                </a14:m>
                <a:r>
                  <a:rPr lang="pt-BR" sz="2400" dirty="0"/>
                  <a:t>, encontramos: </a:t>
                </a:r>
                <a14:m>
                  <m:oMath xmlns:m="http://schemas.openxmlformats.org/officeDocument/2006/math"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𝝌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²₀,₀₅;₁₀=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𝟑𝟎𝟕</m:t>
                    </m:r>
                  </m:oMath>
                </a14:m>
                <a:r>
                  <a:rPr lang="pt-BR" sz="2400" dirty="0"/>
                  <a:t>. Assim,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&gt;18,307)=0,05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 marL="457200" indent="-457200">
                  <a:lnSpc>
                    <a:spcPct val="150000"/>
                  </a:lnSpc>
                  <a:buAutoNum type="alphaLcParenBoth"/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(b) Se só 5% ficam </a:t>
                </a:r>
                <a:r>
                  <a:rPr lang="pt-BR" sz="2400" b="1" dirty="0"/>
                  <a:t>abaixo</a:t>
                </a:r>
                <a:r>
                  <a:rPr lang="pt-BR" sz="2400" dirty="0"/>
                  <a:t>, então 95% ficam </a:t>
                </a:r>
                <a:r>
                  <a:rPr lang="pt-BR" sz="2400" b="1" dirty="0"/>
                  <a:t>acima</a:t>
                </a:r>
                <a:r>
                  <a:rPr lang="pt-BR" sz="2400" dirty="0"/>
                  <a:t>: área à direita = 0,95, então coluna 0,95: </a:t>
                </a:r>
                <a14:m>
                  <m:oMath xmlns:m="http://schemas.openxmlformats.org/officeDocument/2006/math"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𝝌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²₀,₉₅;₁₀=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𝟗𝟒𝟎</m:t>
                    </m:r>
                  </m:oMath>
                </a14:m>
                <a:r>
                  <a:rPr lang="pt-BR" sz="2400" dirty="0"/>
                  <a:t>. Assim,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&lt;3,940)=0,05.</m:t>
                    </m:r>
                  </m:oMath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(c) Juntando (a) e (b): </a:t>
                </a:r>
                <a14:m>
                  <m:oMath xmlns:m="http://schemas.openxmlformats.org/officeDocument/2006/math"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𝟗𝟒𝟎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𝟑𝟎𝟕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𝟗𝟎</m:t>
                    </m:r>
                  </m:oMath>
                </a14:m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5943422"/>
              </a:xfrm>
              <a:prstGeom prst="rect">
                <a:avLst/>
              </a:prstGeom>
              <a:blipFill>
                <a:blip r:embed="rId2"/>
                <a:stretch>
                  <a:fillRect l="-909" t="-821" r="-1193" b="-143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6373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4560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O seguinte resultado relaciona a variância populacional, a variância amostral e a distribuição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1" i="1" smtClean="0"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p>
                        <m:r>
                          <a:rPr lang="pt-BR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pt-BR" sz="2400" b="1" dirty="0"/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Se a amostra vem de uma população normal (Bussab, Corolário 12.1; Montgomery 8.3), então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1">
                              <a:latin typeface="Cambria Math"/>
                            </a:rPr>
                            <m:t>(</m:t>
                          </m:r>
                          <m:r>
                            <a:rPr lang="pt-BR" sz="2400" b="1">
                              <a:latin typeface="Cambria Math"/>
                            </a:rPr>
                            <m:t>𝑛</m:t>
                          </m:r>
                          <m:r>
                            <a:rPr lang="pt-BR" sz="2400" b="1">
                              <a:latin typeface="Cambria Math"/>
                            </a:rPr>
                            <m:t>−1)</m:t>
                          </m:r>
                          <m:sSup>
                            <m:sSupPr>
                              <m:ctrlPr>
                                <a:rPr lang="pt-BR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1">
                                  <a:latin typeface="Cambria Math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pt-BR" sz="2400" b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1">
                                  <a:latin typeface="Cambria Math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pt-BR" sz="2400" b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sz="2400" b="1">
                          <a:latin typeface="Cambria Math"/>
                        </a:rPr>
                        <m:t>~</m:t>
                      </m:r>
                      <m:sSup>
                        <m:sSupPr>
                          <m:ctrlPr>
                            <a:rPr lang="pt-BR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1">
                              <a:latin typeface="Cambria Math"/>
                            </a:rPr>
                            <m:t>𝜒</m:t>
                          </m:r>
                        </m:e>
                        <m:sup>
                          <m:r>
                            <a:rPr lang="pt-BR" sz="2400" b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pt-BR" sz="2400" b="1">
                          <a:latin typeface="Cambria Math"/>
                        </a:rPr>
                        <m:t>(</m:t>
                      </m:r>
                      <m:r>
                        <a:rPr lang="pt-BR" sz="2400" b="1">
                          <a:latin typeface="Cambria Math"/>
                        </a:rPr>
                        <m:t>𝑛</m:t>
                      </m:r>
                      <m:r>
                        <a:rPr lang="pt-BR" sz="2400" b="1">
                          <a:latin typeface="Cambria Math"/>
                        </a:rPr>
                        <m:t>−1)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endParaRPr lang="pt-BR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4560159"/>
              </a:xfrm>
              <a:prstGeom prst="rect">
                <a:avLst/>
              </a:prstGeom>
              <a:blipFill>
                <a:blip r:embed="rId2"/>
                <a:stretch>
                  <a:fillRect l="-9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23102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Por que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𝑛</m:t>
                    </m:r>
                    <m:r>
                      <a:rPr lang="pt-BR" sz="2400" b="1">
                        <a:latin typeface="Cambria Math"/>
                      </a:rPr>
                      <m:t>−1</m:t>
                    </m:r>
                  </m:oMath>
                </a14:m>
                <a:r>
                  <a:rPr lang="pt-BR" sz="2400" b="1" dirty="0"/>
                  <a:t> graus de liberdade?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400" dirty="0"/>
                  <a:t> usa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pt-BR" sz="2400" b="1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pt-BR" sz="2400" b="1">
                            <a:latin typeface="Cambria Math"/>
                          </a:rPr>
                          <m:t>𝑋</m:t>
                        </m:r>
                      </m:e>
                    </m:bar>
                  </m:oMath>
                </a14:m>
                <a:r>
                  <a:rPr lang="pt-BR" sz="2400" dirty="0"/>
                  <a:t> no lugar de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𝜇</m:t>
                    </m:r>
                  </m:oMath>
                </a14:m>
                <a:r>
                  <a:rPr lang="pt-BR" sz="2400" dirty="0"/>
                  <a:t>: estimamos um parâmetro antes.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lang="pt-BR" sz="2400" dirty="0"/>
                  <a:t>Cada parâmetro estimado tira </a:t>
                </a:r>
                <a:r>
                  <a:rPr lang="pt-BR" sz="2400" b="1" dirty="0"/>
                  <a:t>1 grau de liberdade</a:t>
                </a:r>
                <a:r>
                  <a:rPr lang="pt-BR" sz="2400" dirty="0"/>
                  <a:t>: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𝜈</m:t>
                    </m:r>
                    <m:r>
                      <a:rPr lang="pt-BR" sz="2400">
                        <a:latin typeface="Cambria Math"/>
                      </a:rPr>
                      <m:t>=</m:t>
                    </m:r>
                    <m:r>
                      <a:rPr lang="pt-BR" sz="2400">
                        <a:latin typeface="Cambria Math"/>
                      </a:rPr>
                      <m:t>𝑛</m:t>
                    </m:r>
                    <m:r>
                      <a:rPr lang="pt-BR" sz="2400">
                        <a:latin typeface="Cambria Math"/>
                      </a:rPr>
                      <m:t>−1</m:t>
                    </m:r>
                  </m:oMath>
                </a14:m>
                <a:r>
                  <a:rPr lang="pt-BR" sz="2400" dirty="0"/>
                  <a:t> (</a:t>
                </a:r>
                <a:r>
                  <a:rPr lang="pt-BR" sz="2400" dirty="0" err="1"/>
                  <a:t>Morettin</a:t>
                </a:r>
                <a:r>
                  <a:rPr lang="pt-BR" sz="2400" dirty="0"/>
                  <a:t> 14.1).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lang="pt-BR" sz="2400" dirty="0"/>
                  <a:t>É o mesmo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𝑛</m:t>
                    </m:r>
                    <m:r>
                      <a:rPr lang="pt-BR" sz="2400" b="1">
                        <a:latin typeface="Cambria Math"/>
                      </a:rPr>
                      <m:t>−1</m:t>
                    </m:r>
                  </m:oMath>
                </a14:m>
                <a:r>
                  <a:rPr lang="pt-BR" sz="2400" dirty="0"/>
                  <a:t> do denominador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400" dirty="0"/>
                  <a:t> (Aula 16).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2310248"/>
              </a:xfrm>
              <a:prstGeom prst="rect">
                <a:avLst/>
              </a:prstGeom>
              <a:blipFill>
                <a:blip r:embed="rId2"/>
                <a:stretch>
                  <a:fillRect l="-909" b="-52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34335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 err="1"/>
                  <a:t>Exemplo</a:t>
                </a:r>
                <a:r>
                  <a:rPr lang="pt-BR" sz="2400" b="1" dirty="0"/>
                  <a:t> 3 — </a:t>
                </a:r>
                <a:r>
                  <a:rPr lang="pt-BR" sz="2400" b="1" dirty="0" err="1"/>
                  <a:t>Variabilidade</a:t>
                </a:r>
                <a:r>
                  <a:rPr lang="pt-BR" sz="2400" b="1" dirty="0"/>
                  <a:t> de </a:t>
                </a:r>
                <a:r>
                  <a:rPr lang="pt-BR" sz="2400" b="1" dirty="0" err="1"/>
                  <a:t>parafusos</a:t>
                </a:r>
                <a:endParaRPr lang="pt-BR" sz="2400" b="1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O </a:t>
                </a:r>
                <a:r>
                  <a:rPr lang="pt-BR" sz="2400" dirty="0" err="1"/>
                  <a:t>diâmetro</a:t>
                </a:r>
                <a:r>
                  <a:rPr lang="pt-BR" sz="2400" dirty="0"/>
                  <a:t> dos </a:t>
                </a:r>
                <a:r>
                  <a:rPr lang="pt-BR" sz="2400" dirty="0" err="1"/>
                  <a:t>parafusos</a:t>
                </a:r>
                <a:r>
                  <a:rPr lang="pt-BR" sz="2400" dirty="0"/>
                  <a:t> de </a:t>
                </a:r>
                <a:r>
                  <a:rPr lang="pt-BR" sz="2400" dirty="0" err="1"/>
                  <a:t>uma</a:t>
                </a:r>
                <a:r>
                  <a:rPr lang="pt-BR" sz="2400" dirty="0"/>
                  <a:t> </a:t>
                </a:r>
                <a:r>
                  <a:rPr lang="pt-BR" sz="2400" dirty="0" err="1"/>
                  <a:t>máquina</a:t>
                </a:r>
                <a:r>
                  <a:rPr lang="pt-BR" sz="2400" dirty="0"/>
                  <a:t> </a:t>
                </a:r>
                <a:r>
                  <a:rPr lang="pt-BR" sz="2400" dirty="0" err="1"/>
                  <a:t>tem</a:t>
                </a:r>
                <a:r>
                  <a:rPr lang="pt-BR" sz="2400" dirty="0"/>
                  <a:t> </a:t>
                </a:r>
                <a:r>
                  <a:rPr lang="pt-BR" sz="2400" dirty="0" err="1"/>
                  <a:t>distribuição</a:t>
                </a:r>
                <a:r>
                  <a:rPr lang="pt-BR" sz="2400" dirty="0"/>
                  <a:t> </a:t>
                </a:r>
                <a:r>
                  <a:rPr lang="pt-BR" sz="2400" b="1" dirty="0"/>
                  <a:t>normal</a:t>
                </a:r>
                <a:r>
                  <a:rPr lang="pt-BR" sz="2400" dirty="0"/>
                  <a:t>, com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𝜎</m:t>
                    </m:r>
                    <m:r>
                      <a:rPr lang="pt-BR" sz="2400" b="1">
                        <a:latin typeface="Cambria Math"/>
                      </a:rPr>
                      <m:t>=0,04</m:t>
                    </m:r>
                  </m:oMath>
                </a14:m>
                <a:r>
                  <a:rPr lang="pt-BR" sz="2400" dirty="0"/>
                  <a:t> mm.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A </a:t>
                </a:r>
                <a:r>
                  <a:rPr lang="pt-BR" sz="2400" dirty="0" err="1"/>
                  <a:t>cada</a:t>
                </a:r>
                <a:r>
                  <a:rPr lang="pt-BR" sz="2400" dirty="0"/>
                  <a:t> </a:t>
                </a:r>
                <a:r>
                  <a:rPr lang="pt-BR" sz="2400" dirty="0" err="1"/>
                  <a:t>turno</a:t>
                </a:r>
                <a:r>
                  <a:rPr lang="pt-BR" sz="2400" dirty="0"/>
                  <a:t>, </a:t>
                </a:r>
                <a:r>
                  <a:rPr lang="pt-BR" sz="2400" dirty="0" err="1"/>
                  <a:t>sorteiam</a:t>
                </a:r>
                <a:r>
                  <a:rPr lang="pt-BR" sz="2400" dirty="0"/>
                  <a:t>-se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𝑛</m:t>
                    </m:r>
                    <m:r>
                      <a:rPr lang="pt-BR" sz="2400" b="1">
                        <a:latin typeface="Cambria Math"/>
                      </a:rPr>
                      <m:t>=20</m:t>
                    </m:r>
                  </m:oMath>
                </a14:m>
                <a:r>
                  <a:rPr lang="pt-BR" sz="2400" dirty="0"/>
                  <a:t> </a:t>
                </a:r>
                <a:r>
                  <a:rPr lang="pt-BR" sz="2400" dirty="0" err="1"/>
                  <a:t>parafusos</a:t>
                </a:r>
                <a:r>
                  <a:rPr lang="pt-BR" sz="2400" dirty="0"/>
                  <a:t> e </a:t>
                </a:r>
                <a:r>
                  <a:rPr lang="pt-BR" sz="2400" dirty="0" err="1"/>
                  <a:t>calcula</a:t>
                </a:r>
                <a:r>
                  <a:rPr lang="pt-BR" sz="2400" dirty="0"/>
                  <a:t>-se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1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pt-BR" sz="2400" b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pt-BR" sz="2400" b="1" dirty="0" err="1"/>
                  <a:t>Pergunta</a:t>
                </a:r>
                <a:r>
                  <a:rPr lang="pt-BR" sz="2400" b="1" dirty="0"/>
                  <a:t>: </a:t>
                </a:r>
                <a:r>
                  <a:rPr lang="pt-BR" sz="2400" dirty="0" err="1"/>
                  <a:t>abaixo</a:t>
                </a:r>
                <a:r>
                  <a:rPr lang="pt-BR" sz="2400" dirty="0"/>
                  <a:t> de que </a:t>
                </a:r>
                <a:r>
                  <a:rPr lang="pt-BR" sz="2400" b="1" dirty="0"/>
                  <a:t>valor</a:t>
                </a:r>
                <a:r>
                  <a:rPr lang="pt-BR" sz="2400" dirty="0"/>
                  <a:t> </a:t>
                </a:r>
                <a:r>
                  <a:rPr lang="pt-BR" sz="2400" dirty="0" err="1"/>
                  <a:t>ficam</a:t>
                </a:r>
                <a:r>
                  <a:rPr lang="pt-BR" sz="2400" dirty="0"/>
                  <a:t> </a:t>
                </a:r>
                <a:r>
                  <a:rPr lang="pt-BR" sz="2400" b="1" dirty="0"/>
                  <a:t>95%</a:t>
                </a:r>
                <a:r>
                  <a:rPr lang="pt-BR" sz="2400" dirty="0"/>
                  <a:t> dos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400" dirty="0"/>
                  <a:t> </a:t>
                </a:r>
                <a:r>
                  <a:rPr lang="pt-BR" sz="2400" dirty="0" err="1"/>
                  <a:t>observados</a:t>
                </a:r>
                <a:r>
                  <a:rPr lang="pt-BR" sz="2400" dirty="0"/>
                  <a:t>?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3433504"/>
              </a:xfrm>
              <a:prstGeom prst="rect">
                <a:avLst/>
              </a:prstGeom>
              <a:blipFill>
                <a:blip r:embed="rId2"/>
                <a:stretch>
                  <a:fillRect l="-909" b="-31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6050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Resolução do </a:t>
                </a:r>
                <a:r>
                  <a:rPr lang="pt-BR" sz="2400" b="1" dirty="0" err="1"/>
                  <a:t>Exemplo</a:t>
                </a:r>
                <a:r>
                  <a:rPr lang="pt-BR" sz="2400" b="1" dirty="0"/>
                  <a:t> 3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Pelo enunciado temos: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>
                        <a:latin typeface="Cambria Math"/>
                      </a:rPr>
                      <m:t>=0,</m:t>
                    </m:r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04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>
                        <a:latin typeface="Cambria Math"/>
                      </a:rPr>
                      <m:t>=0,0016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𝜈</m:t>
                    </m:r>
                    <m:r>
                      <a:rPr lang="pt-BR" sz="2400">
                        <a:latin typeface="Cambria Math"/>
                      </a:rPr>
                      <m:t>=20−1=19</m:t>
                    </m:r>
                  </m:oMath>
                </a14:m>
                <a:r>
                  <a:rPr lang="pt-BR" sz="2400" dirty="0"/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Logo,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>
                            <a:latin typeface="Cambria Math"/>
                          </a:rPr>
                          <m:t>19</m:t>
                        </m:r>
                        <m:sSup>
                          <m:sSup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>
                                <a:latin typeface="Cambria Math"/>
                              </a:rPr>
                              <m:t>𝑆</m:t>
                            </m:r>
                          </m:e>
                          <m:sup>
                            <m:r>
                              <a:rPr lang="pt-BR" sz="240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pt-BR" sz="2400">
                            <a:latin typeface="Cambria Math"/>
                          </a:rPr>
                          <m:t>0,0016</m:t>
                        </m:r>
                      </m:den>
                    </m:f>
                    <m:r>
                      <a:rPr lang="pt-BR" sz="2400">
                        <a:latin typeface="Cambria Math"/>
                      </a:rPr>
                      <m:t>~</m:t>
                    </m:r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𝜒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>
                        <a:latin typeface="Cambria Math"/>
                      </a:rPr>
                      <m:t>(19)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A pergunta se refere a 95% abaixo de um valor, ou seja, a cauda da direita tem 5%. Na tabela procuramos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𝜒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>
                        <a:latin typeface="Cambria Math"/>
                      </a:rPr>
                      <m:t>(19)</m:t>
                    </m:r>
                  </m:oMath>
                </a14:m>
                <a:r>
                  <a:rPr lang="pt-BR" sz="2400" dirty="0"/>
                  <a:t> com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=5%</m:t>
                    </m:r>
                  </m:oMath>
                </a14:m>
                <a:r>
                  <a:rPr lang="pt-BR" sz="2400" dirty="0"/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2400" b="1">
                            <a:latin typeface="Cambria Math"/>
                          </a:rPr>
                          <m:t>𝜒</m:t>
                        </m:r>
                      </m:e>
                      <m:sub>
                        <m:r>
                          <a:rPr lang="pt-BR" sz="2400" b="1">
                            <a:latin typeface="Cambria Math"/>
                          </a:rPr>
                          <m:t>0,05;19</m:t>
                        </m:r>
                      </m:sub>
                      <m:sup>
                        <m:r>
                          <a:rPr lang="pt-BR" sz="2400" b="1">
                            <a:latin typeface="Cambria Math"/>
                          </a:rPr>
                          <m:t>2</m:t>
                        </m:r>
                      </m:sup>
                    </m:sSubSup>
                    <m:r>
                      <a:rPr lang="pt-BR" sz="2400" b="1">
                        <a:latin typeface="Cambria Math"/>
                      </a:rPr>
                      <m:t>=30,144</m:t>
                    </m:r>
                    <m:r>
                      <a:rPr lang="pt-BR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Agora voltamos à variável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400" b="1" dirty="0"/>
                  <a:t> 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>
                              <a:latin typeface="Cambria Math"/>
                            </a:rPr>
                            <m:t>19</m:t>
                          </m:r>
                          <m:sSup>
                            <m:sSup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>
                                  <a:latin typeface="Cambria Math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pt-BR" sz="240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400">
                              <a:latin typeface="Cambria Math"/>
                            </a:rPr>
                            <m:t>0,0016</m:t>
                          </m:r>
                        </m:den>
                      </m:f>
                      <m:r>
                        <a:rPr lang="pt-BR" sz="2400">
                          <a:latin typeface="Cambria Math"/>
                        </a:rPr>
                        <m:t>≤30,144⇒</m:t>
                      </m:r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>
                              <a:latin typeface="Cambria Math"/>
                            </a:rPr>
                            <m:t>𝑆</m:t>
                          </m:r>
                        </m:e>
                        <m:sup>
                          <m:r>
                            <a:rPr lang="pt-BR" sz="24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pt-BR" sz="2400">
                          <a:latin typeface="Cambria Math"/>
                        </a:rPr>
                        <m:t>≤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>
                              <a:latin typeface="Cambria Math"/>
                            </a:rPr>
                            <m:t>30,144×0,0016</m:t>
                          </m:r>
                        </m:num>
                        <m:den>
                          <m:r>
                            <a:rPr lang="pt-BR" sz="2400">
                              <a:latin typeface="Cambria Math"/>
                            </a:rPr>
                            <m:t>19</m:t>
                          </m:r>
                        </m:den>
                      </m:f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sz="2400" b="0" i="1" dirty="0">
                          <a:latin typeface="Cambria Math" panose="02040503050406030204" pitchFamily="18" charset="0"/>
                        </a:rPr>
                        <m:t>0,00254 </m:t>
                      </m:r>
                      <m:r>
                        <a:rPr lang="pt-BR" sz="2400" b="0" i="1" dirty="0"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pt-BR" sz="2400" b="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Portanto, 95% dos valores de variância ficam abaixo de </a:t>
                </a:r>
                <a14:m>
                  <m:oMath xmlns:m="http://schemas.openxmlformats.org/officeDocument/2006/math">
                    <m:r>
                      <a:rPr lang="pt-BR" sz="2400" i="1" dirty="0">
                        <a:latin typeface="Cambria Math" panose="02040503050406030204" pitchFamily="18" charset="0"/>
                      </a:rPr>
                      <m:t>0,00254 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400" dirty="0"/>
                  <a:t> ou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>
                          <a:latin typeface="Cambria Math"/>
                        </a:rPr>
                        <m:t>𝑆</m:t>
                      </m:r>
                      <m:r>
                        <a:rPr lang="pt-BR" sz="2400">
                          <a:latin typeface="Cambria Math"/>
                        </a:rPr>
                        <m:t>≤0,0504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𝑚𝑚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6050695"/>
              </a:xfrm>
              <a:prstGeom prst="rect">
                <a:avLst/>
              </a:prstGeom>
              <a:blipFill>
                <a:blip r:embed="rId2"/>
                <a:stretch>
                  <a:fillRect l="-9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43863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 err="1"/>
                  <a:t>Distribuição</a:t>
                </a:r>
                <a:r>
                  <a:rPr lang="pt-BR" sz="2400" b="1" dirty="0"/>
                  <a:t> t de Student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b="1" dirty="0" err="1"/>
                  <a:t>Definição</a:t>
                </a:r>
                <a:r>
                  <a:rPr lang="pt-BR" sz="2400" b="1" dirty="0"/>
                  <a:t>. </a:t>
                </a:r>
                <a:r>
                  <a:rPr lang="pt-BR" sz="2400" dirty="0" err="1"/>
                  <a:t>Sejam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~</m:t>
                    </m:r>
                    <m:r>
                      <a:rPr lang="pt-BR" sz="2400">
                        <a:latin typeface="Cambria Math"/>
                      </a:rPr>
                      <m:t>𝑁</m:t>
                    </m:r>
                    <m:r>
                      <a:rPr lang="pt-BR" sz="2400">
                        <a:latin typeface="Cambria Math"/>
                      </a:rPr>
                      <m:t>(0,1)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𝑌</m:t>
                    </m:r>
                    <m:r>
                      <a:rPr lang="pt-BR" sz="2400">
                        <a:latin typeface="Cambria Math"/>
                      </a:rPr>
                      <m:t>~</m:t>
                    </m:r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𝜒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>
                        <a:latin typeface="Cambria Math"/>
                      </a:rPr>
                      <m:t>(</m:t>
                    </m:r>
                    <m:r>
                      <a:rPr lang="pt-BR" sz="2400">
                        <a:latin typeface="Cambria Math"/>
                      </a:rPr>
                      <m:t>𝜈</m:t>
                    </m:r>
                    <m:r>
                      <a:rPr lang="pt-BR" sz="2400">
                        <a:latin typeface="Cambria Math"/>
                      </a:rPr>
                      <m:t>)</m:t>
                    </m:r>
                  </m:oMath>
                </a14:m>
                <a:r>
                  <a:rPr lang="pt-BR" sz="2400" dirty="0"/>
                  <a:t>, </a:t>
                </a:r>
                <a:r>
                  <a:rPr lang="pt-BR" sz="2400" b="1" dirty="0" err="1"/>
                  <a:t>independentes</a:t>
                </a:r>
                <a:r>
                  <a:rPr lang="pt-BR" sz="2400" dirty="0"/>
                  <a:t>. A </a:t>
                </a:r>
                <a:r>
                  <a:rPr lang="pt-BR" sz="2400" dirty="0" err="1"/>
                  <a:t>variável</a:t>
                </a:r>
                <a:endParaRPr lang="pt-BR" sz="2400" dirty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000" b="1">
                          <a:latin typeface="Cambria Math"/>
                        </a:rPr>
                        <m:t>𝑇</m:t>
                      </m:r>
                      <m:r>
                        <a:rPr lang="pt-BR" sz="3000" b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t-BR" sz="3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000" b="1">
                              <a:latin typeface="Cambria Math"/>
                            </a:rPr>
                            <m:t>𝑍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pt-BR" sz="30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type m:val="lin"/>
                                  <m:ctrlPr>
                                    <a:rPr lang="pt-BR" sz="3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3000" b="1">
                                      <a:latin typeface="Cambria Math"/>
                                    </a:rPr>
                                    <m:t>𝑌</m:t>
                                  </m:r>
                                </m:num>
                                <m:den>
                                  <m:r>
                                    <a:rPr lang="pt-BR" sz="3000" b="1">
                                      <a:latin typeface="Cambria Math"/>
                                    </a:rPr>
                                    <m:t>𝜈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 err="1"/>
                  <a:t>tem</a:t>
                </a:r>
                <a:r>
                  <a:rPr lang="pt-BR" sz="2400" dirty="0"/>
                  <a:t> </a:t>
                </a:r>
                <a:r>
                  <a:rPr lang="pt-BR" sz="2400" dirty="0" err="1"/>
                  <a:t>distribuição</a:t>
                </a:r>
                <a:r>
                  <a:rPr lang="pt-BR" sz="2400" dirty="0"/>
                  <a:t> </a:t>
                </a:r>
                <a:r>
                  <a:rPr lang="pt-BR" sz="2400" b="1" dirty="0"/>
                  <a:t>t de Student com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𝜈</m:t>
                    </m:r>
                  </m:oMath>
                </a14:m>
                <a:r>
                  <a:rPr lang="pt-BR" sz="2400" b="1" dirty="0"/>
                  <a:t> </a:t>
                </a:r>
                <a:r>
                  <a:rPr lang="pt-BR" sz="2400" b="1" dirty="0" err="1"/>
                  <a:t>graus</a:t>
                </a:r>
                <a:r>
                  <a:rPr lang="pt-BR" sz="2400" b="1" dirty="0"/>
                  <a:t> de </a:t>
                </a:r>
                <a:r>
                  <a:rPr lang="pt-BR" sz="2400" b="1" dirty="0" err="1"/>
                  <a:t>liberdade</a:t>
                </a:r>
                <a:r>
                  <a:rPr lang="pt-BR" sz="2400" dirty="0"/>
                  <a:t>: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𝑇</m:t>
                    </m:r>
                    <m:r>
                      <a:rPr lang="pt-BR" sz="2400">
                        <a:latin typeface="Cambria Math"/>
                      </a:rPr>
                      <m:t>~</m:t>
                    </m:r>
                    <m:r>
                      <a:rPr lang="pt-BR" sz="2400">
                        <a:latin typeface="Cambria Math"/>
                      </a:rPr>
                      <m:t>𝑡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r>
                      <a:rPr lang="pt-BR" sz="2400">
                        <a:latin typeface="Cambria Math"/>
                      </a:rPr>
                      <m:t>𝜈</m:t>
                    </m:r>
                    <m:r>
                      <a:rPr lang="pt-BR" sz="2400">
                        <a:latin typeface="Cambria Math"/>
                      </a:rPr>
                      <m:t>)</m:t>
                    </m:r>
                  </m:oMath>
                </a14:m>
                <a:r>
                  <a:rPr lang="pt-BR" sz="2400" dirty="0"/>
                  <a:t> (</a:t>
                </a:r>
                <a:r>
                  <a:rPr lang="pt-BR" sz="2400" dirty="0" err="1"/>
                  <a:t>Bussab</a:t>
                </a:r>
                <a:r>
                  <a:rPr lang="pt-BR" sz="2400" dirty="0"/>
                  <a:t>, </a:t>
                </a:r>
                <a:r>
                  <a:rPr lang="pt-BR" sz="2400" dirty="0" err="1"/>
                  <a:t>Teorema</a:t>
                </a:r>
                <a:r>
                  <a:rPr lang="pt-BR" sz="2400" dirty="0"/>
                  <a:t> 7.1).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pt-BR" sz="2000" i="1" dirty="0"/>
                  <a:t>“Student” era o </a:t>
                </a:r>
                <a:r>
                  <a:rPr lang="pt-BR" sz="2000" i="1" dirty="0" err="1"/>
                  <a:t>pseudônimo</a:t>
                </a:r>
                <a:r>
                  <a:rPr lang="pt-BR" sz="2000" i="1" dirty="0"/>
                  <a:t> de W. S. </a:t>
                </a:r>
                <a:r>
                  <a:rPr lang="pt-BR" sz="2000" i="1" dirty="0" err="1"/>
                  <a:t>Gosset</a:t>
                </a:r>
                <a:r>
                  <a:rPr lang="pt-BR" sz="2000" i="1" dirty="0"/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4386394"/>
              </a:xfrm>
              <a:prstGeom prst="rect">
                <a:avLst/>
              </a:prstGeom>
              <a:blipFill>
                <a:blip r:embed="rId2"/>
                <a:stretch>
                  <a:fillRect l="-909" b="-166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7580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Média e </a:t>
                </a:r>
                <a:r>
                  <a:rPr lang="pt-BR" sz="2400" b="1" dirty="0" err="1"/>
                  <a:t>variância</a:t>
                </a:r>
                <a:r>
                  <a:rPr lang="pt-BR" sz="2400" b="1" dirty="0"/>
                  <a:t> da t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800" b="1">
                        <a:latin typeface="Cambria Math"/>
                      </a:rPr>
                      <m:t>𝐸</m:t>
                    </m:r>
                    <m:r>
                      <a:rPr lang="pt-BR" sz="2800" b="1">
                        <a:latin typeface="Cambria Math"/>
                      </a:rPr>
                      <m:t>(</m:t>
                    </m:r>
                    <m:r>
                      <a:rPr lang="pt-BR" sz="2800" b="1">
                        <a:latin typeface="Cambria Math"/>
                      </a:rPr>
                      <m:t>𝑇</m:t>
                    </m:r>
                    <m:r>
                      <a:rPr lang="pt-BR" sz="2800" b="1">
                        <a:latin typeface="Cambria Math"/>
                      </a:rPr>
                      <m:t>)=0</m:t>
                    </m:r>
                  </m:oMath>
                </a14:m>
                <a:r>
                  <a:rPr lang="pt-BR" sz="2800" dirty="0"/>
                  <a:t>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 b="1">
                        <a:latin typeface="Cambria Math"/>
                      </a:rPr>
                      <m:t>Var</m:t>
                    </m:r>
                    <m:r>
                      <a:rPr lang="pt-BR" sz="2800" b="1">
                        <a:latin typeface="Cambria Math"/>
                      </a:rPr>
                      <m:t>(</m:t>
                    </m:r>
                    <m:r>
                      <a:rPr lang="pt-BR" sz="2800" b="1">
                        <a:latin typeface="Cambria Math"/>
                      </a:rPr>
                      <m:t>𝑇</m:t>
                    </m:r>
                    <m:r>
                      <a:rPr lang="pt-BR" sz="2800" b="1">
                        <a:latin typeface="Cambria Math"/>
                      </a:rPr>
                      <m:t>)=</m:t>
                    </m:r>
                    <m:f>
                      <m:fPr>
                        <m:ctrlPr>
                          <a:rPr lang="pt-BR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1">
                            <a:latin typeface="Cambria Math"/>
                          </a:rPr>
                          <m:t>𝜈</m:t>
                        </m:r>
                      </m:num>
                      <m:den>
                        <m:r>
                          <a:rPr lang="pt-BR" sz="2800" b="1">
                            <a:latin typeface="Cambria Math"/>
                          </a:rPr>
                          <m:t>𝜈</m:t>
                        </m:r>
                        <m:r>
                          <a:rPr lang="pt-BR" sz="2800" b="1">
                            <a:latin typeface="Cambria Math"/>
                          </a:rPr>
                          <m:t>−2</m:t>
                        </m:r>
                      </m:den>
                    </m:f>
                  </m:oMath>
                </a14:m>
                <a:r>
                  <a:rPr lang="pt-BR" sz="2800" dirty="0"/>
                  <a:t>, para </a:t>
                </a:r>
                <a14:m>
                  <m:oMath xmlns:m="http://schemas.openxmlformats.org/officeDocument/2006/math">
                    <m:r>
                      <a:rPr lang="pt-BR" sz="2800">
                        <a:latin typeface="Cambria Math"/>
                      </a:rPr>
                      <m:t>𝜈</m:t>
                    </m:r>
                    <m:r>
                      <a:rPr lang="pt-BR" sz="2800">
                        <a:latin typeface="Cambria Math"/>
                      </a:rPr>
                      <m:t>&gt;2</m:t>
                    </m:r>
                  </m:oMath>
                </a14:m>
                <a:endParaRPr lang="pt-BR" sz="2800" dirty="0"/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lang="pt-BR" sz="2400" dirty="0"/>
                  <a:t>A variância de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pt-BR" sz="2400" dirty="0"/>
                  <a:t> é sempre </a:t>
                </a:r>
                <a:r>
                  <a:rPr lang="pt-BR" sz="2400" b="1" dirty="0"/>
                  <a:t>maior que 1</a:t>
                </a:r>
                <a:r>
                  <a:rPr lang="pt-BR" sz="2400" dirty="0"/>
                  <a:t>. Comparando com a normal padrão que tem variância 1, podemos concluir que a t é mais espalhada que a normal padrão.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Observe que quando </a:t>
                </a:r>
                <a14:m>
                  <m:oMath xmlns:m="http://schemas.openxmlformats.org/officeDocument/2006/math">
                    <m:r>
                      <a:rPr lang="pt-BR" sz="2400" b="1" smtClean="0">
                        <a:latin typeface="Cambria Math"/>
                      </a:rPr>
                      <m:t>𝜈</m:t>
                    </m:r>
                  </m:oMath>
                </a14:m>
                <a:r>
                  <a:rPr lang="pt-BR" sz="2400" dirty="0"/>
                  <a:t> aumenta a variância se aproxima de 1: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Para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5</m:t>
                    </m:r>
                  </m:oMath>
                </a14:m>
                <a:r>
                  <a:rPr lang="pt-BR" sz="2400" dirty="0"/>
                  <a:t>,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 = 5/3 ≈ 1,67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Para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30</m:t>
                    </m:r>
                  </m:oMath>
                </a14:m>
                <a:r>
                  <a:rPr lang="pt-BR" sz="2400" dirty="0"/>
                  <a:t>,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 = 30/28 ≈ 1,07.</m:t>
                    </m:r>
                  </m:oMath>
                </a14:m>
                <a:endParaRPr lang="pt-BR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5758051"/>
              </a:xfrm>
              <a:prstGeom prst="rect">
                <a:avLst/>
              </a:prstGeom>
              <a:blipFill>
                <a:blip r:embed="rId2"/>
                <a:stretch>
                  <a:fillRect l="-9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014D4459-4E04-0F68-B9C3-88962C96C4C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000" y="2077000"/>
            <a:ext cx="7040000" cy="4400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1609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A t e a normal </a:t>
                </a:r>
                <a:r>
                  <a:rPr lang="pt-BR" sz="2400" b="1" dirty="0" err="1"/>
                  <a:t>padrão</a:t>
                </a:r>
                <a:endParaRPr lang="pt-BR" sz="2400" b="1" dirty="0"/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Mesma forma de </a:t>
                </a:r>
                <a:r>
                  <a:rPr lang="pt-BR" sz="2200" b="1" dirty="0"/>
                  <a:t>sino</a:t>
                </a:r>
                <a:r>
                  <a:rPr lang="pt-BR" sz="2200" dirty="0"/>
                  <a:t>, simétrica em torno de zero, com </a:t>
                </a:r>
                <a:r>
                  <a:rPr lang="pt-BR" sz="2200" b="1" dirty="0"/>
                  <a:t>caudas mais pesadas</a:t>
                </a:r>
                <a:r>
                  <a:rPr lang="pt-BR" sz="2200" dirty="0"/>
                  <a:t>. </a:t>
                </a:r>
                <a:r>
                  <a:rPr lang="pt-BR" sz="2200" dirty="0" err="1"/>
                  <a:t>Quando</a:t>
                </a:r>
                <a:r>
                  <a:rPr lang="pt-BR" sz="2200" dirty="0"/>
                  <a:t> </a:t>
                </a:r>
                <a14:m>
                  <m:oMath xmlns:m="http://schemas.openxmlformats.org/officeDocument/2006/math">
                    <m:r>
                      <a:rPr lang="pt-BR" sz="2200">
                        <a:latin typeface="Cambria Math"/>
                      </a:rPr>
                      <m:t>𝜈</m:t>
                    </m:r>
                  </m:oMath>
                </a14:m>
                <a:r>
                  <a:rPr lang="pt-BR" sz="2200" dirty="0"/>
                  <a:t> </a:t>
                </a:r>
                <a:r>
                  <a:rPr lang="pt-BR" sz="2200" dirty="0" err="1"/>
                  <a:t>cresce</a:t>
                </a:r>
                <a:r>
                  <a:rPr lang="pt-BR" sz="2200" dirty="0"/>
                  <a:t>, a t se </a:t>
                </a:r>
                <a:r>
                  <a:rPr lang="pt-BR" sz="2200" dirty="0" err="1"/>
                  <a:t>aproxima</a:t>
                </a:r>
                <a:r>
                  <a:rPr lang="pt-BR" sz="2200" dirty="0"/>
                  <a:t> da normal </a:t>
                </a:r>
                <a:r>
                  <a:rPr lang="pt-BR" sz="2200" dirty="0" err="1"/>
                  <a:t>padrão</a:t>
                </a:r>
                <a:r>
                  <a:rPr lang="pt-BR" sz="2200" dirty="0"/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1609543"/>
              </a:xfrm>
              <a:prstGeom prst="rect">
                <a:avLst/>
              </a:prstGeom>
              <a:blipFill>
                <a:blip r:embed="rId3"/>
                <a:stretch>
                  <a:fillRect l="-909" b="-64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3295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A padronização com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𝑆</m:t>
                    </m:r>
                  </m:oMath>
                </a14:m>
                <a:endParaRPr lang="pt-BR" sz="2400" b="1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Se a amostra vem de uma população </a:t>
                </a:r>
                <a:r>
                  <a:rPr lang="pt-BR" sz="2400" b="1" dirty="0"/>
                  <a:t>normal</a:t>
                </a:r>
                <a:r>
                  <a:rPr lang="pt-BR" sz="2400" dirty="0"/>
                  <a:t>, então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000" b="1">
                          <a:latin typeface="Cambria Math"/>
                        </a:rPr>
                        <m:t>𝑇</m:t>
                      </m:r>
                      <m:r>
                        <a:rPr lang="pt-BR" sz="3000" b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t-BR" sz="3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pos m:val="top"/>
                              <m:ctrlPr>
                                <a:rPr lang="pt-BR" sz="3000" b="1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pt-BR" sz="3000" b="1">
                                  <a:latin typeface="Cambria Math"/>
                                </a:rPr>
                                <m:t>𝑋</m:t>
                              </m:r>
                            </m:e>
                          </m:bar>
                          <m:r>
                            <a:rPr lang="pt-BR" sz="3000" b="1">
                              <a:latin typeface="Cambria Math"/>
                            </a:rPr>
                            <m:t>−</m:t>
                          </m:r>
                          <m:r>
                            <a:rPr lang="pt-BR" sz="3000" b="1">
                              <a:latin typeface="Cambria Math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type m:val="lin"/>
                              <m:ctrlPr>
                                <a:rPr lang="pt-BR" sz="3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000" b="1">
                                  <a:latin typeface="Cambria Math"/>
                                </a:rPr>
                                <m:t>𝑆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pt-BR" sz="3000" b="1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pt-BR" sz="3000" b="1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  <m:r>
                        <a:rPr lang="pt-BR" sz="3000" b="1">
                          <a:latin typeface="Cambria Math"/>
                        </a:rPr>
                        <m:t>~</m:t>
                      </m:r>
                      <m:r>
                        <a:rPr lang="pt-BR" sz="3000" b="1">
                          <a:latin typeface="Cambria Math"/>
                        </a:rPr>
                        <m:t>𝑡</m:t>
                      </m:r>
                      <m:r>
                        <a:rPr lang="pt-BR" sz="3000" b="1">
                          <a:latin typeface="Cambria Math"/>
                        </a:rPr>
                        <m:t>(</m:t>
                      </m:r>
                      <m:r>
                        <a:rPr lang="pt-BR" sz="3000" b="1">
                          <a:latin typeface="Cambria Math"/>
                        </a:rPr>
                        <m:t>𝑛</m:t>
                      </m:r>
                      <m:r>
                        <a:rPr lang="pt-BR" sz="3000" b="1">
                          <a:latin typeface="Cambria Math"/>
                        </a:rPr>
                        <m:t>−1)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(Bussab, eq. 12.9; Montgomery 8.2.1; Magalhães 8.3.)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3295326"/>
              </a:xfrm>
              <a:prstGeom prst="rect">
                <a:avLst/>
              </a:prstGeom>
              <a:blipFill>
                <a:blip r:embed="rId2"/>
                <a:stretch>
                  <a:fillRect l="-909" b="-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8286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pt-BR" sz="2200" b="1" dirty="0" err="1"/>
                  <a:t>Tabela</a:t>
                </a:r>
                <a:r>
                  <a:rPr lang="pt-BR" sz="2200" b="1" dirty="0"/>
                  <a:t> t (cauda superior) — </a:t>
                </a:r>
                <a:r>
                  <a:rPr lang="pt-BR" sz="2200" b="1" dirty="0" err="1"/>
                  <a:t>parte</a:t>
                </a:r>
                <a:r>
                  <a:rPr lang="pt-BR" sz="2200" b="1" dirty="0"/>
                  <a:t> 1 de 2</a:t>
                </a:r>
              </a:p>
              <a:p>
                <a:pPr>
                  <a:lnSpc>
                    <a:spcPct val="120000"/>
                  </a:lnSpc>
                </a:pPr>
                <a:r>
                  <a:rPr lang="pt-BR" sz="1800" dirty="0" err="1"/>
                  <a:t>Corpo</a:t>
                </a:r>
                <a:r>
                  <a:rPr lang="pt-BR" sz="1800" dirty="0"/>
                  <a:t> da </a:t>
                </a:r>
                <a:r>
                  <a:rPr lang="pt-BR" sz="1800" dirty="0" err="1"/>
                  <a:t>tabela</a:t>
                </a:r>
                <a:r>
                  <a:rPr lang="pt-B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pt-BR" sz="1800">
                            <a:latin typeface="Cambria Math"/>
                          </a:rPr>
                          <m:t>𝛼</m:t>
                        </m:r>
                        <m:r>
                          <a:rPr lang="pt-BR" sz="1800">
                            <a:latin typeface="Cambria Math"/>
                          </a:rPr>
                          <m:t>;</m:t>
                        </m:r>
                        <m:r>
                          <a:rPr lang="pt-BR" sz="1800">
                            <a:latin typeface="Cambria Math"/>
                          </a:rPr>
                          <m:t>𝜈</m:t>
                        </m:r>
                      </m:sub>
                    </m:sSub>
                  </m:oMath>
                </a14:m>
                <a:r>
                  <a:rPr lang="pt-BR" sz="1800" dirty="0"/>
                  <a:t> </a:t>
                </a:r>
                <a:r>
                  <a:rPr lang="pt-BR" sz="1800" dirty="0" err="1"/>
                  <a:t>tal</a:t>
                </a:r>
                <a:r>
                  <a:rPr lang="pt-BR" sz="1800" dirty="0"/>
                  <a:t> que </a:t>
                </a:r>
                <a14:m>
                  <m:oMath xmlns:m="http://schemas.openxmlformats.org/officeDocument/2006/math">
                    <m:r>
                      <a:rPr lang="pt-BR" sz="1800" b="1">
                        <a:latin typeface="Cambria Math"/>
                      </a:rPr>
                      <m:t>𝑃</m:t>
                    </m:r>
                    <m:r>
                      <a:rPr lang="pt-BR" sz="1800" b="1">
                        <a:latin typeface="Cambria Math"/>
                      </a:rPr>
                      <m:t>(</m:t>
                    </m:r>
                    <m:r>
                      <a:rPr lang="pt-BR" sz="1800" b="1">
                        <a:latin typeface="Cambria Math"/>
                      </a:rPr>
                      <m:t>𝑇</m:t>
                    </m:r>
                    <m:r>
                      <a:rPr lang="pt-BR" sz="1800" b="1"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pt-BR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pt-BR" sz="1800" b="1">
                            <a:latin typeface="Cambria Math"/>
                          </a:rPr>
                          <m:t>𝛼</m:t>
                        </m:r>
                        <m:r>
                          <a:rPr lang="pt-BR" sz="1800" b="1">
                            <a:latin typeface="Cambria Math"/>
                          </a:rPr>
                          <m:t>;</m:t>
                        </m:r>
                        <m:r>
                          <a:rPr lang="pt-BR" sz="1800" b="1">
                            <a:latin typeface="Cambria Math"/>
                          </a:rPr>
                          <m:t>𝜈</m:t>
                        </m:r>
                      </m:sub>
                    </m:sSub>
                    <m:r>
                      <a:rPr lang="pt-BR" sz="1800" b="1">
                        <a:latin typeface="Cambria Math"/>
                      </a:rPr>
                      <m:t>)=</m:t>
                    </m:r>
                    <m:r>
                      <a:rPr lang="pt-BR" sz="1800" b="1">
                        <a:latin typeface="Cambria Math"/>
                      </a:rPr>
                      <m:t>𝛼</m:t>
                    </m:r>
                  </m:oMath>
                </a14:m>
                <a:r>
                  <a:rPr lang="pt-BR" sz="1800" dirty="0"/>
                  <a:t>. À </a:t>
                </a:r>
                <a:r>
                  <a:rPr lang="pt-BR" sz="1800" dirty="0" err="1"/>
                  <a:t>esquerda</a:t>
                </a:r>
                <a:r>
                  <a:rPr lang="pt-BR" sz="1800" dirty="0"/>
                  <a:t>: </a:t>
                </a:r>
                <a14:m>
                  <m:oMath xmlns:m="http://schemas.openxmlformats.org/officeDocument/2006/math">
                    <m:r>
                      <a:rPr lang="pt-BR" sz="180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pt-B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pt-BR" sz="1800">
                            <a:latin typeface="Cambria Math"/>
                          </a:rPr>
                          <m:t>𝛼</m:t>
                        </m:r>
                        <m:r>
                          <a:rPr lang="pt-BR" sz="1800">
                            <a:latin typeface="Cambria Math"/>
                          </a:rPr>
                          <m:t>;</m:t>
                        </m:r>
                        <m:r>
                          <a:rPr lang="pt-BR" sz="1800">
                            <a:latin typeface="Cambria Math"/>
                          </a:rPr>
                          <m:t>𝜈</m:t>
                        </m:r>
                      </m:sub>
                    </m:sSub>
                  </m:oMath>
                </a14:m>
                <a:r>
                  <a:rPr lang="pt-BR" sz="1800" dirty="0"/>
                  <a:t>. </a:t>
                </a:r>
                <a:r>
                  <a:rPr lang="pt-BR" sz="1800" dirty="0" err="1"/>
                  <a:t>Linha</a:t>
                </a:r>
                <a:r>
                  <a:rPr lang="pt-BR" sz="1800" dirty="0"/>
                  <a:t> ∞: normal </a:t>
                </a:r>
                <a:r>
                  <a:rPr lang="pt-BR" sz="1800" dirty="0" err="1"/>
                  <a:t>padrão</a:t>
                </a:r>
                <a:r>
                  <a:rPr lang="pt-BR" sz="1800" dirty="0"/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828688"/>
              </a:xfrm>
              <a:prstGeom prst="rect">
                <a:avLst/>
              </a:prstGeom>
              <a:blipFill>
                <a:blip r:embed="rId2"/>
                <a:stretch>
                  <a:fillRect l="-739" b="-95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741441"/>
              </p:ext>
            </p:extLst>
          </p:nvPr>
        </p:nvGraphicFramePr>
        <p:xfrm>
          <a:off x="1271000" y="1250000"/>
          <a:ext cx="9650000" cy="51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ν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0,25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0,10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0,05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0,025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0,01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0,005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0,001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1,000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3,078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6,314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12,706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31,821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63,657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318,309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0,816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1,886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2,920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4,303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6,965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9,925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22,327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0,765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1,638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2,353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3,182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4,541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5,841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10,215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0,741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1,533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2,132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2,776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3,747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4,604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7,173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0,727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1,476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2,015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2,571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3,365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4,032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5,893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0,718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1,440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1,943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2,447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3,143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3,707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5,208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0,711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1,415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1,895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2,365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2,998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3,499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4,785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0,706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1,397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1,860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2,306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2,896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3,355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4,501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0,703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1,383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1,833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2,262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2,821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3,250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4,297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10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0,700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1,372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1,812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2,228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2,764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3,169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4,144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11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0,697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1,363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1,796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2,201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2,718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3,106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4,025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12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0,695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1,356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1,782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2,179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2,681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3,055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3,930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13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0,694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1,350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1,771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2,160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2,650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3,012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3,852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14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0,692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1,345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1,761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2,145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2,624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2,977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3,787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15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0,691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1,341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1,753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2,131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2,602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2,947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3,733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16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0,690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1,337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1,746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2,120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2,583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2,921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3,686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17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0,689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1,333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1,740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2,110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2,567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2,898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3,646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8286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pt-BR" sz="2200" b="1" dirty="0" err="1"/>
                  <a:t>Tabela</a:t>
                </a:r>
                <a:r>
                  <a:rPr lang="pt-BR" sz="2200" b="1" dirty="0"/>
                  <a:t> t (cauda superior) — </a:t>
                </a:r>
                <a:r>
                  <a:rPr lang="pt-BR" sz="2200" b="1" dirty="0" err="1"/>
                  <a:t>parte</a:t>
                </a:r>
                <a:r>
                  <a:rPr lang="pt-BR" sz="2200" b="1" dirty="0"/>
                  <a:t> 2 de 2</a:t>
                </a:r>
              </a:p>
              <a:p>
                <a:pPr>
                  <a:lnSpc>
                    <a:spcPct val="120000"/>
                  </a:lnSpc>
                </a:pPr>
                <a:r>
                  <a:rPr lang="pt-BR" sz="1800" dirty="0" err="1"/>
                  <a:t>Corpo</a:t>
                </a:r>
                <a:r>
                  <a:rPr lang="pt-BR" sz="1800" dirty="0"/>
                  <a:t> da </a:t>
                </a:r>
                <a:r>
                  <a:rPr lang="pt-BR" sz="1800" dirty="0" err="1"/>
                  <a:t>tabela</a:t>
                </a:r>
                <a:r>
                  <a:rPr lang="pt-B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pt-BR" sz="1800">
                            <a:latin typeface="Cambria Math"/>
                          </a:rPr>
                          <m:t>𝛼</m:t>
                        </m:r>
                        <m:r>
                          <a:rPr lang="pt-BR" sz="1800">
                            <a:latin typeface="Cambria Math"/>
                          </a:rPr>
                          <m:t>;</m:t>
                        </m:r>
                        <m:r>
                          <a:rPr lang="pt-BR" sz="1800">
                            <a:latin typeface="Cambria Math"/>
                          </a:rPr>
                          <m:t>𝜈</m:t>
                        </m:r>
                      </m:sub>
                    </m:sSub>
                  </m:oMath>
                </a14:m>
                <a:r>
                  <a:rPr lang="pt-BR" sz="1800" dirty="0"/>
                  <a:t> </a:t>
                </a:r>
                <a:r>
                  <a:rPr lang="pt-BR" sz="1800" dirty="0" err="1"/>
                  <a:t>tal</a:t>
                </a:r>
                <a:r>
                  <a:rPr lang="pt-BR" sz="1800" dirty="0"/>
                  <a:t> que </a:t>
                </a:r>
                <a14:m>
                  <m:oMath xmlns:m="http://schemas.openxmlformats.org/officeDocument/2006/math">
                    <m:r>
                      <a:rPr lang="pt-BR" sz="1800" b="1">
                        <a:latin typeface="Cambria Math"/>
                      </a:rPr>
                      <m:t>𝑃</m:t>
                    </m:r>
                    <m:r>
                      <a:rPr lang="pt-BR" sz="1800" b="1">
                        <a:latin typeface="Cambria Math"/>
                      </a:rPr>
                      <m:t>(</m:t>
                    </m:r>
                    <m:r>
                      <a:rPr lang="pt-BR" sz="1800" b="1">
                        <a:latin typeface="Cambria Math"/>
                      </a:rPr>
                      <m:t>𝑇</m:t>
                    </m:r>
                    <m:r>
                      <a:rPr lang="pt-BR" sz="1800" b="1"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pt-BR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pt-BR" sz="1800" b="1">
                            <a:latin typeface="Cambria Math"/>
                          </a:rPr>
                          <m:t>𝛼</m:t>
                        </m:r>
                        <m:r>
                          <a:rPr lang="pt-BR" sz="1800" b="1">
                            <a:latin typeface="Cambria Math"/>
                          </a:rPr>
                          <m:t>;</m:t>
                        </m:r>
                        <m:r>
                          <a:rPr lang="pt-BR" sz="1800" b="1">
                            <a:latin typeface="Cambria Math"/>
                          </a:rPr>
                          <m:t>𝜈</m:t>
                        </m:r>
                      </m:sub>
                    </m:sSub>
                    <m:r>
                      <a:rPr lang="pt-BR" sz="1800" b="1">
                        <a:latin typeface="Cambria Math"/>
                      </a:rPr>
                      <m:t>)=</m:t>
                    </m:r>
                    <m:r>
                      <a:rPr lang="pt-BR" sz="1800" b="1">
                        <a:latin typeface="Cambria Math"/>
                      </a:rPr>
                      <m:t>𝛼</m:t>
                    </m:r>
                  </m:oMath>
                </a14:m>
                <a:r>
                  <a:rPr lang="pt-BR" sz="1800" dirty="0"/>
                  <a:t>. À </a:t>
                </a:r>
                <a:r>
                  <a:rPr lang="pt-BR" sz="1800" dirty="0" err="1"/>
                  <a:t>esquerda</a:t>
                </a:r>
                <a:r>
                  <a:rPr lang="pt-BR" sz="1800" dirty="0"/>
                  <a:t>: </a:t>
                </a:r>
                <a14:m>
                  <m:oMath xmlns:m="http://schemas.openxmlformats.org/officeDocument/2006/math">
                    <m:r>
                      <a:rPr lang="pt-BR" sz="180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pt-B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pt-BR" sz="1800">
                            <a:latin typeface="Cambria Math"/>
                          </a:rPr>
                          <m:t>𝛼</m:t>
                        </m:r>
                        <m:r>
                          <a:rPr lang="pt-BR" sz="1800">
                            <a:latin typeface="Cambria Math"/>
                          </a:rPr>
                          <m:t>;</m:t>
                        </m:r>
                        <m:r>
                          <a:rPr lang="pt-BR" sz="1800">
                            <a:latin typeface="Cambria Math"/>
                          </a:rPr>
                          <m:t>𝜈</m:t>
                        </m:r>
                      </m:sub>
                    </m:sSub>
                  </m:oMath>
                </a14:m>
                <a:r>
                  <a:rPr lang="pt-BR" sz="1800" dirty="0"/>
                  <a:t>. </a:t>
                </a:r>
                <a:r>
                  <a:rPr lang="pt-BR" sz="1800" dirty="0" err="1"/>
                  <a:t>Linha</a:t>
                </a:r>
                <a:r>
                  <a:rPr lang="pt-BR" sz="1800" dirty="0"/>
                  <a:t> ∞: normal </a:t>
                </a:r>
                <a:r>
                  <a:rPr lang="pt-BR" sz="1800" dirty="0" err="1"/>
                  <a:t>padrão</a:t>
                </a:r>
                <a:r>
                  <a:rPr lang="pt-BR" sz="1800" dirty="0"/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828688"/>
              </a:xfrm>
              <a:prstGeom prst="rect">
                <a:avLst/>
              </a:prstGeom>
              <a:blipFill>
                <a:blip r:embed="rId2"/>
                <a:stretch>
                  <a:fillRect l="-739" b="-95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475744"/>
              </p:ext>
            </p:extLst>
          </p:nvPr>
        </p:nvGraphicFramePr>
        <p:xfrm>
          <a:off x="1271000" y="1250000"/>
          <a:ext cx="9650000" cy="51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ν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0,25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0,10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0,05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0,025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0,01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0,005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0,001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18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0,688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1,330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1,734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2,101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2,552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2,878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3,610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19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0,688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1,328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1,729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2,093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2,539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2,861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3,579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20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0,687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1,325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1,725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2,086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2,528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2,845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3,552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21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0,686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1,323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1,721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2,080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2,518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2,831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3,527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22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0,686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1,321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1,717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2,074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2,508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2,819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3,505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23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0,685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1,319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1,714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2,069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2,500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2,807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3,485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24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0,685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1,318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1,711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2,064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2,492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2,797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3,467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25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0,684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1,316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1,708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2,060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2,485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2,787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3,450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26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0,684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1,315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1,706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2,056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2,479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2,779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3,435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27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0,684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1,314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1,703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2,052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2,473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2,771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3,421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28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0,683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1,313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1,701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2,048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2,467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2,763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3,408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29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0,683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1,311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1,699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2,045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2,462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2,756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3,396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30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0,683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1,310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1,697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2,042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2,457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2,750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3,385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40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0,681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1,303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1,684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2,021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2,423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2,704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3,307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60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0,679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1,296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1,671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2,000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2,390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2,660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3,232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120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0,677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1,289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1,658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1,980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2,358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2,617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3,160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50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/>
                        <a:t>∞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0,674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1,282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1,645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1,960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2,326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2,576</a:t>
                      </a:r>
                    </a:p>
                  </a:txBody>
                  <a:tcPr marT="8000" marB="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/>
                        <a:t>3,090</a:t>
                      </a:r>
                    </a:p>
                  </a:txBody>
                  <a:tcPr marT="8000" marB="800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44670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 err="1"/>
                  <a:t>Exemplo</a:t>
                </a:r>
                <a:r>
                  <a:rPr lang="pt-BR" sz="2400" b="1" dirty="0"/>
                  <a:t> 4 — </a:t>
                </a:r>
                <a:r>
                  <a:rPr lang="pt-BR" sz="2400" b="1" dirty="0" err="1"/>
                  <a:t>Lendo</a:t>
                </a:r>
                <a:r>
                  <a:rPr lang="pt-BR" sz="2400" b="1" dirty="0"/>
                  <a:t> a </a:t>
                </a:r>
                <a:r>
                  <a:rPr lang="pt-BR" sz="2400" b="1" dirty="0" err="1"/>
                  <a:t>tabela</a:t>
                </a:r>
                <a:r>
                  <a:rPr lang="pt-BR" sz="2400" b="1" dirty="0"/>
                  <a:t> t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Um time de ciência de dados mede o tempo de treinamento de um modelo em</a:t>
                </a:r>
                <a:br>
                  <a:rPr lang="pt-BR" sz="2400" dirty="0"/>
                </a:b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16 </m:t>
                    </m:r>
                  </m:oMath>
                </a14:m>
                <a:r>
                  <a:rPr lang="pt-BR" sz="2400" dirty="0"/>
                  <a:t>execuções. O tempo tem distribuição normal 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pt-BR" sz="2400" dirty="0"/>
                  <a:t> é desconhecido; por isso, a média é padronizada com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pt-BR" sz="2400" dirty="0"/>
                  <a:t>, e essa padronização segue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(15).</m:t>
                    </m:r>
                  </m:oMath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Use a tabela t para responder: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(a) Que valor de T só é ultrapassado em 5% das amostras?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(b) Que valor de T só é ultrapassado em 2,5% das amostras?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(c) Como esses valores se comparam com os da normal padrão (1,645 e 1,960)?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4467057"/>
              </a:xfrm>
              <a:prstGeom prst="rect">
                <a:avLst/>
              </a:prstGeom>
              <a:blipFill>
                <a:blip r:embed="rId2"/>
                <a:stretch>
                  <a:fillRect l="-909" r="-1193" b="-218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9287" y="467833"/>
            <a:ext cx="10733426" cy="391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Resolução do Exemplo 4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Pelo enunciado, ν = 16 − 1 = 15: usamos a linha 15 da tabela t (</a:t>
            </a:r>
            <a:r>
              <a:rPr lang="pt-BR" sz="2400" dirty="0" err="1"/>
              <a:t>Morettin</a:t>
            </a:r>
            <a:r>
              <a:rPr lang="pt-BR" sz="2400" dirty="0"/>
              <a:t> 14.1).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(a) 5% à direita → coluna 0,05: t₀,₀₅;₁₅ = </a:t>
            </a:r>
            <a:r>
              <a:rPr lang="pt-BR" sz="2400" b="1" dirty="0"/>
              <a:t>1,753</a:t>
            </a:r>
            <a:r>
              <a:rPr lang="pt-B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(b) 2,5% à direita → coluna 0,025: t₀,₀₂₅;₁₅ = </a:t>
            </a:r>
            <a:r>
              <a:rPr lang="pt-BR" sz="2400" b="1" dirty="0"/>
              <a:t>2,131</a:t>
            </a:r>
            <a:r>
              <a:rPr lang="pt-B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(c) Na normal padrão, seriam 1,645 e 1,960. Os valores da t são maiores porque as caudas da t são mais pesadas: é preciso ir mais longe de zero para deixar a mesma área.</a:t>
            </a:r>
          </a:p>
        </p:txBody>
      </p:sp>
    </p:spTree>
    <p:extLst>
      <p:ext uri="{BB962C8B-B14F-4D97-AF65-F5344CB8AC3E}">
        <p14:creationId xmlns:p14="http://schemas.microsoft.com/office/powerpoint/2010/main" val="31724485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32682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 err="1"/>
                  <a:t>Exemplo</a:t>
                </a:r>
                <a:r>
                  <a:rPr lang="pt-BR" sz="2400" b="1" dirty="0"/>
                  <a:t> 5 — O novo “1,96”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O tempo de resposta de uma API de pagamentos tem distribuição normal, mas a equipe de informática não conhece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pt-BR" sz="2400" dirty="0"/>
                  <a:t> e padroniza a média com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Em </a:t>
                </a:r>
                <a:r>
                  <a:rPr lang="pt-BR" sz="2400" dirty="0" err="1"/>
                  <a:t>cada</a:t>
                </a:r>
                <a:r>
                  <a:rPr lang="pt-BR" sz="2400" dirty="0"/>
                  <a:t> </a:t>
                </a:r>
                <a:r>
                  <a:rPr lang="pt-BR" sz="2400" dirty="0" err="1"/>
                  <a:t>amostra</a:t>
                </a:r>
                <a:r>
                  <a:rPr lang="pt-BR" sz="2400" dirty="0"/>
                  <a:t> de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𝑛</m:t>
                    </m:r>
                    <m:r>
                      <a:rPr lang="pt-BR" sz="2400" b="1">
                        <a:latin typeface="Cambria Math"/>
                      </a:rPr>
                      <m:t>=10</m:t>
                    </m:r>
                  </m:oMath>
                </a14:m>
                <a:r>
                  <a:rPr lang="pt-BR" sz="2400" dirty="0"/>
                  <a:t> </a:t>
                </a:r>
                <a:r>
                  <a:rPr lang="pt-BR" sz="2400" dirty="0" err="1"/>
                  <a:t>requisições</a:t>
                </a:r>
                <a:r>
                  <a:rPr lang="pt-BR" sz="2400" dirty="0"/>
                  <a:t>, </a:t>
                </a:r>
                <a:r>
                  <a:rPr lang="pt-BR" sz="2400" dirty="0" err="1"/>
                  <a:t>calcula</a:t>
                </a:r>
                <a:r>
                  <a:rPr lang="pt-BR" sz="2400" dirty="0"/>
                  <a:t>-se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𝑇</m:t>
                    </m:r>
                    <m:r>
                      <a:rPr lang="pt-BR" sz="240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pt-BR" sz="2400">
                                <a:latin typeface="Cambria Math"/>
                              </a:rPr>
                              <m:t>𝑋</m:t>
                            </m:r>
                          </m:e>
                        </m:bar>
                        <m:r>
                          <a:rPr lang="pt-BR" sz="2400">
                            <a:latin typeface="Cambria Math"/>
                          </a:rPr>
                          <m:t>−</m:t>
                        </m:r>
                        <m:r>
                          <a:rPr lang="pt-BR" sz="2400">
                            <a:latin typeface="Cambria Math"/>
                          </a:rPr>
                          <m:t>𝜇</m:t>
                        </m:r>
                      </m:num>
                      <m:den>
                        <m:f>
                          <m:fPr>
                            <m:type m:val="lin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400">
                                <a:latin typeface="Cambria Math"/>
                              </a:rPr>
                              <m:t>𝑆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pt-BR" sz="2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pt-BR" sz="2400">
                                    <a:latin typeface="Cambria Math"/>
                                  </a:rPr>
                                  <m:t>10</m:t>
                                </m:r>
                              </m:e>
                            </m:rad>
                          </m:den>
                        </m:f>
                      </m:den>
                    </m:f>
                  </m:oMath>
                </a14:m>
                <a:r>
                  <a:rPr lang="pt-BR" sz="2400" dirty="0"/>
                  <a:t>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pt-BR" sz="2400" b="1" dirty="0" err="1"/>
                  <a:t>Pergunta</a:t>
                </a:r>
                <a:r>
                  <a:rPr lang="pt-BR" sz="2400" b="1" dirty="0"/>
                  <a:t>: </a:t>
                </a:r>
                <a:r>
                  <a:rPr lang="pt-BR" sz="2400" dirty="0"/>
                  <a:t>que valor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𝑐</m:t>
                    </m:r>
                  </m:oMath>
                </a14:m>
                <a:r>
                  <a:rPr lang="pt-BR" sz="2400" dirty="0"/>
                  <a:t> </a:t>
                </a:r>
                <a:r>
                  <a:rPr lang="pt-BR" sz="2400" dirty="0" err="1"/>
                  <a:t>deixa</a:t>
                </a:r>
                <a:r>
                  <a:rPr lang="pt-BR" sz="2400" dirty="0"/>
                  <a:t> </a:t>
                </a:r>
                <a:r>
                  <a:rPr lang="pt-BR" sz="2400" b="1" dirty="0"/>
                  <a:t>95%</a:t>
                </a:r>
                <a:r>
                  <a:rPr lang="pt-BR" sz="2400" dirty="0"/>
                  <a:t> dos </a:t>
                </a:r>
                <a:r>
                  <a:rPr lang="pt-BR" sz="2400" dirty="0" err="1"/>
                  <a:t>valores</a:t>
                </a:r>
                <a:r>
                  <a:rPr lang="pt-BR" sz="2400" dirty="0"/>
                  <a:t> de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𝑇</m:t>
                    </m:r>
                  </m:oMath>
                </a14:m>
                <a:r>
                  <a:rPr lang="pt-BR" sz="2400" dirty="0"/>
                  <a:t> entre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−</m:t>
                    </m:r>
                    <m:r>
                      <a:rPr lang="pt-BR" sz="2400">
                        <a:latin typeface="Cambria Math"/>
                      </a:rPr>
                      <m:t>𝑐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𝑐</m:t>
                    </m:r>
                  </m:oMath>
                </a14:m>
                <a:r>
                  <a:rPr lang="pt-BR" sz="2400" dirty="0"/>
                  <a:t>?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3268202"/>
              </a:xfrm>
              <a:prstGeom prst="rect">
                <a:avLst/>
              </a:prstGeom>
              <a:blipFill>
                <a:blip r:embed="rId2"/>
                <a:stretch>
                  <a:fillRect l="-909" b="-33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22744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 err="1"/>
                  <a:t>Resolução</a:t>
                </a:r>
                <a:r>
                  <a:rPr lang="pt-BR" sz="2400" b="1" dirty="0"/>
                  <a:t> do </a:t>
                </a:r>
                <a:r>
                  <a:rPr lang="pt-BR" sz="2400" b="1" dirty="0" err="1"/>
                  <a:t>Exemplo</a:t>
                </a:r>
                <a:r>
                  <a:rPr lang="pt-BR" sz="2400" b="1" dirty="0"/>
                  <a:t> 5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b="1" dirty="0" err="1"/>
                  <a:t>Passo</a:t>
                </a:r>
                <a:r>
                  <a:rPr lang="pt-BR" sz="2400" b="1" dirty="0"/>
                  <a:t> 1.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𝑇</m:t>
                    </m:r>
                    <m:r>
                      <a:rPr lang="pt-BR" sz="2400">
                        <a:latin typeface="Cambria Math"/>
                      </a:rPr>
                      <m:t>~</m:t>
                    </m:r>
                    <m:r>
                      <a:rPr lang="pt-BR" sz="2400">
                        <a:latin typeface="Cambria Math"/>
                      </a:rPr>
                      <m:t>𝑡</m:t>
                    </m:r>
                    <m:r>
                      <a:rPr lang="pt-BR" sz="2400">
                        <a:latin typeface="Cambria Math"/>
                      </a:rPr>
                      <m:t>(9)</m:t>
                    </m:r>
                  </m:oMath>
                </a14:m>
                <a:r>
                  <a:rPr lang="pt-BR" sz="2400" dirty="0"/>
                  <a:t>, </a:t>
                </a:r>
                <a:r>
                  <a:rPr lang="pt-BR" sz="2400" dirty="0" err="1"/>
                  <a:t>porque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𝜈</m:t>
                    </m:r>
                    <m:r>
                      <a:rPr lang="pt-BR" sz="2400">
                        <a:latin typeface="Cambria Math"/>
                      </a:rPr>
                      <m:t>=10−1=9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b="1" dirty="0" err="1"/>
                  <a:t>Passo</a:t>
                </a:r>
                <a:r>
                  <a:rPr lang="pt-BR" sz="2400" b="1" dirty="0"/>
                  <a:t> 2. </a:t>
                </a:r>
                <a:r>
                  <a:rPr lang="pt-BR" sz="2400" dirty="0"/>
                  <a:t>95% no </a:t>
                </a:r>
                <a:r>
                  <a:rPr lang="pt-BR" sz="2400" dirty="0" err="1"/>
                  <a:t>meio</a:t>
                </a:r>
                <a:r>
                  <a:rPr lang="pt-BR" sz="2400" dirty="0"/>
                  <a:t> ⇒ </a:t>
                </a:r>
                <a:r>
                  <a:rPr lang="pt-BR" sz="2400" b="1" dirty="0"/>
                  <a:t>2,5% </a:t>
                </a:r>
                <a:r>
                  <a:rPr lang="pt-BR" sz="2400" b="1" dirty="0" err="1"/>
                  <a:t>em</a:t>
                </a:r>
                <a:r>
                  <a:rPr lang="pt-BR" sz="2400" b="1" dirty="0"/>
                  <a:t> </a:t>
                </a:r>
                <a:r>
                  <a:rPr lang="pt-BR" sz="2400" b="1" dirty="0" err="1"/>
                  <a:t>cada</a:t>
                </a:r>
                <a:r>
                  <a:rPr lang="pt-BR" sz="2400" b="1" dirty="0"/>
                  <a:t> cauda</a:t>
                </a:r>
                <a:r>
                  <a:rPr lang="pt-BR" sz="2400" dirty="0"/>
                  <a:t> ⇒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𝑐</m:t>
                    </m:r>
                    <m:r>
                      <a:rPr lang="pt-BR" sz="240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pt-BR" sz="2400">
                            <a:latin typeface="Cambria Math"/>
                          </a:rPr>
                          <m:t>0,025;9</m:t>
                        </m:r>
                      </m:sub>
                    </m:sSub>
                  </m:oMath>
                </a14:m>
                <a:r>
                  <a:rPr lang="pt-BR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b="1" dirty="0" err="1"/>
                  <a:t>Passo</a:t>
                </a:r>
                <a:r>
                  <a:rPr lang="pt-BR" sz="2400" b="1" dirty="0"/>
                  <a:t> 3. </a:t>
                </a:r>
                <a:r>
                  <a:rPr lang="pt-BR" sz="2400" dirty="0"/>
                  <a:t>Na </a:t>
                </a:r>
                <a:r>
                  <a:rPr lang="pt-BR" sz="2400" dirty="0" err="1"/>
                  <a:t>tabela</a:t>
                </a:r>
                <a:r>
                  <a:rPr lang="pt-BR" sz="2400" dirty="0"/>
                  <a:t>: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𝑐</m:t>
                    </m:r>
                    <m:r>
                      <a:rPr lang="pt-BR" sz="2400" b="1">
                        <a:latin typeface="Cambria Math"/>
                      </a:rPr>
                      <m:t>=2,262</m:t>
                    </m:r>
                  </m:oMath>
                </a14:m>
                <a:r>
                  <a:rPr lang="pt-BR" sz="2400" dirty="0"/>
                  <a:t>, no lugar de 1,96.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2274469"/>
              </a:xfrm>
              <a:prstGeom prst="rect">
                <a:avLst/>
              </a:prstGeom>
              <a:blipFill>
                <a:blip r:embed="rId2"/>
                <a:stretch>
                  <a:fillRect l="-909" b="-50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28050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 1 — Resposta: com S, usamos a t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O tempo de resposta de uma API de pagamentos segue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250, </m:t>
                        </m:r>
                        <m:sSup>
                          <m:sSupPr>
                            <m:ctrlP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40</m:t>
                            </m:r>
                          </m:e>
                          <m:sup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pt-BR" sz="2400" dirty="0"/>
                  <a:t> A equipe sorteia amostras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400" dirty="0"/>
                  <a:t> requisições, não conhece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pt-BR" sz="2400" dirty="0"/>
                  <a:t> e padroniza a média com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pt-BR" sz="2400" dirty="0"/>
                  <a:t>. Essa padronização segue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− 1). </m:t>
                    </m:r>
                  </m:oMath>
                </a14:m>
                <a:r>
                  <a:rPr lang="pt-BR" sz="2400" dirty="0"/>
                  <a:t>Repetimos a simulação usando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₀,₀₂₅;ₙ₋₁</m:t>
                    </m:r>
                  </m:oMath>
                </a14:m>
                <a:r>
                  <a:rPr lang="pt-BR" sz="2400" dirty="0"/>
                  <a:t> no lugar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±1,96</m:t>
                    </m:r>
                  </m:oMath>
                </a14:m>
                <a:r>
                  <a:rPr lang="pt-BR" sz="2400" dirty="0"/>
                  <a:t>: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2805063"/>
              </a:xfrm>
              <a:prstGeom prst="rect">
                <a:avLst/>
              </a:prstGeom>
              <a:blipFill>
                <a:blip r:embed="rId2"/>
                <a:stretch>
                  <a:fillRect l="-909" b="-41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9E7E7EBD-1AB8-8EA1-A208-ECBF95FFE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52200"/>
              </p:ext>
            </p:extLst>
          </p:nvPr>
        </p:nvGraphicFramePr>
        <p:xfrm>
          <a:off x="889000" y="3492500"/>
          <a:ext cx="10414000" cy="17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33167452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3608477748"/>
                    </a:ext>
                  </a:extLst>
                </a:gridCol>
              </a:tblGrid>
              <a:tr h="260242">
                <a:tc>
                  <a:txBody>
                    <a:bodyPr/>
                    <a:lstStyle/>
                    <a:p>
                      <a:pPr algn="ctr"/>
                      <a:r>
                        <a:rPr lang="pt-BR" sz="2200" b="1" dirty="0"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b="1" dirty="0">
                          <a:latin typeface="Calibri" panose="020F0502020204030204" pitchFamily="34" charset="0"/>
                        </a:rPr>
                        <a:t>c = t₀,₀₂₅;ₙ₋₁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b="1" dirty="0">
                          <a:latin typeface="Calibri" panose="020F0502020204030204" pitchFamily="34" charset="0"/>
                        </a:rPr>
                        <a:t>Com S e ±1,96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b="1" dirty="0">
                          <a:latin typeface="Calibri" panose="020F0502020204030204" pitchFamily="34" charset="0"/>
                        </a:rPr>
                        <a:t>Com S e ±c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b="1">
                          <a:latin typeface="Calibri" panose="020F0502020204030204" pitchFamily="34" charset="0"/>
                        </a:rPr>
                        <a:t>Com σ e </a:t>
                      </a:r>
                      <a:r>
                        <a:rPr lang="pt-BR" sz="2200" b="1" dirty="0">
                          <a:latin typeface="Calibri" panose="020F0502020204030204" pitchFamily="34" charset="0"/>
                        </a:rPr>
                        <a:t>±1,96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pt-BR" sz="2200" b="0" dirty="0"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b="0" dirty="0">
                          <a:latin typeface="Calibri" panose="020F0502020204030204" pitchFamily="34" charset="0"/>
                        </a:rPr>
                        <a:t>2,776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b="0" dirty="0">
                          <a:latin typeface="Calibri" panose="020F0502020204030204" pitchFamily="34" charset="0"/>
                        </a:rPr>
                        <a:t>12,1%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b="1" dirty="0">
                          <a:latin typeface="Calibri" panose="020F0502020204030204" pitchFamily="34" charset="0"/>
                        </a:rPr>
                        <a:t>5,0%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b="0" dirty="0">
                          <a:latin typeface="Calibri" panose="020F0502020204030204" pitchFamily="34" charset="0"/>
                        </a:rPr>
                        <a:t>4,9%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pt-BR" sz="2200" b="0" dirty="0"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b="0" dirty="0">
                          <a:latin typeface="Calibri" panose="020F0502020204030204" pitchFamily="34" charset="0"/>
                        </a:rPr>
                        <a:t>2,262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b="0" dirty="0">
                          <a:latin typeface="Calibri" panose="020F0502020204030204" pitchFamily="34" charset="0"/>
                        </a:rPr>
                        <a:t>8,1%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b="1" dirty="0">
                          <a:latin typeface="Calibri" panose="020F0502020204030204" pitchFamily="34" charset="0"/>
                        </a:rPr>
                        <a:t>5,0%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b="0" dirty="0">
                          <a:latin typeface="Calibri" panose="020F0502020204030204" pitchFamily="34" charset="0"/>
                        </a:rPr>
                        <a:t>5,0%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pt-BR" sz="2200" b="0" dirty="0"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b="0" dirty="0">
                          <a:latin typeface="Calibri" panose="020F0502020204030204" pitchFamily="34" charset="0"/>
                        </a:rPr>
                        <a:t>2,045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b="0" dirty="0">
                          <a:latin typeface="Calibri" panose="020F0502020204030204" pitchFamily="34" charset="0"/>
                        </a:rPr>
                        <a:t>5,8%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b="1" dirty="0">
                          <a:latin typeface="Calibri" panose="020F0502020204030204" pitchFamily="34" charset="0"/>
                        </a:rPr>
                        <a:t>4,9%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b="0" dirty="0">
                          <a:latin typeface="Calibri" panose="020F0502020204030204" pitchFamily="34" charset="0"/>
                        </a:rPr>
                        <a:t>4,9%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9ED3C87F-7E0C-5E35-435C-081632315936}"/>
              </a:ext>
            </a:extLst>
          </p:cNvPr>
          <p:cNvSpPr txBox="1"/>
          <p:nvPr/>
        </p:nvSpPr>
        <p:spPr>
          <a:xfrm>
            <a:off x="723900" y="5481780"/>
            <a:ext cx="107315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</a:rPr>
              <a:t>Com S e o valor da t, </a:t>
            </a:r>
            <a:r>
              <a:rPr lang="pt-BR" sz="2400" b="1" dirty="0">
                <a:solidFill>
                  <a:srgbClr val="000000"/>
                </a:solidFill>
                <a:latin typeface="Calibri" panose="020F0502020204030204" pitchFamily="34" charset="0"/>
              </a:rPr>
              <a:t>voltamos aos 5%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</a:rPr>
              <a:t>, como quem conhece σ.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6237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Outro </a:t>
                </a:r>
                <a:r>
                  <a:rPr lang="pt-BR" sz="2400" b="1" dirty="0" err="1"/>
                  <a:t>tipo</a:t>
                </a:r>
                <a:r>
                  <a:rPr lang="pt-BR" sz="2400" b="1" dirty="0"/>
                  <a:t> de </a:t>
                </a:r>
                <a:r>
                  <a:rPr lang="pt-BR" sz="2400" b="1" dirty="0" err="1"/>
                  <a:t>tabela</a:t>
                </a:r>
                <a:r>
                  <a:rPr lang="pt-BR" sz="2400" b="1" dirty="0"/>
                  <a:t> t (</a:t>
                </a:r>
                <a:r>
                  <a:rPr lang="pt-BR" sz="2400" b="1" dirty="0" err="1"/>
                  <a:t>Bussab</a:t>
                </a:r>
                <a:r>
                  <a:rPr lang="pt-BR" sz="2400" b="1" dirty="0"/>
                  <a:t>)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lang="pt-BR" sz="2400" dirty="0"/>
                  <a:t>A </a:t>
                </a:r>
                <a:r>
                  <a:rPr lang="pt-BR" sz="2400" dirty="0" err="1"/>
                  <a:t>Tabela</a:t>
                </a:r>
                <a:r>
                  <a:rPr lang="pt-BR" sz="2400" dirty="0"/>
                  <a:t> V do </a:t>
                </a:r>
                <a:r>
                  <a:rPr lang="pt-BR" sz="2400" dirty="0" err="1"/>
                  <a:t>Bussab</a:t>
                </a:r>
                <a:r>
                  <a:rPr lang="pt-BR" sz="2400" dirty="0"/>
                  <a:t> é </a:t>
                </a:r>
                <a:r>
                  <a:rPr lang="pt-BR" sz="2400" b="1" dirty="0"/>
                  <a:t>bilateral</a:t>
                </a:r>
                <a:r>
                  <a:rPr lang="pt-BR" sz="2400" dirty="0"/>
                  <a:t>: </a:t>
                </a:r>
                <a:r>
                  <a:rPr lang="pt-BR" sz="2400" dirty="0" err="1"/>
                  <a:t>dá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pt-BR" sz="2400"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pt-BR" sz="2400" dirty="0"/>
                  <a:t> com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𝑃</m:t>
                    </m:r>
                    <m:r>
                      <a:rPr lang="pt-BR" sz="2400" b="1">
                        <a:latin typeface="Cambria Math"/>
                      </a:rPr>
                      <m:t>(−</m:t>
                    </m:r>
                    <m:sSub>
                      <m:sSubPr>
                        <m:ctrlPr>
                          <a:rPr lang="pt-B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pt-BR" sz="2400" b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pt-BR" sz="2400" b="1">
                        <a:latin typeface="Cambria Math"/>
                      </a:rPr>
                      <m:t>&lt;</m:t>
                    </m:r>
                    <m:r>
                      <a:rPr lang="pt-BR" sz="2400" b="1">
                        <a:latin typeface="Cambria Math"/>
                      </a:rPr>
                      <m:t>𝑡</m:t>
                    </m:r>
                    <m:r>
                      <a:rPr lang="pt-BR" sz="2400" b="1"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pt-B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pt-BR" sz="2400" b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pt-BR" sz="2400" b="1">
                        <a:latin typeface="Cambria Math"/>
                      </a:rPr>
                      <m:t>)=1−</m:t>
                    </m:r>
                    <m:r>
                      <a:rPr lang="pt-BR" sz="2400" b="1">
                        <a:latin typeface="Cambria Math"/>
                      </a:rPr>
                      <m:t>𝑝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lang="pt-BR" sz="2400" dirty="0"/>
                  <a:t>A </a:t>
                </a:r>
                <a:r>
                  <a:rPr lang="pt-BR" sz="2400" dirty="0" err="1"/>
                  <a:t>coluna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𝑝</m:t>
                    </m:r>
                  </m:oMath>
                </a14:m>
                <a:r>
                  <a:rPr lang="pt-BR" sz="2400" dirty="0"/>
                  <a:t> dessa </a:t>
                </a:r>
                <a:r>
                  <a:rPr lang="pt-BR" sz="2400" dirty="0" err="1"/>
                  <a:t>tabela</a:t>
                </a:r>
                <a:r>
                  <a:rPr lang="pt-BR" sz="2400" dirty="0"/>
                  <a:t> </a:t>
                </a:r>
                <a:r>
                  <a:rPr lang="pt-BR" sz="2400" dirty="0" err="1"/>
                  <a:t>corresponde</a:t>
                </a:r>
                <a:r>
                  <a:rPr lang="pt-BR" sz="2400" dirty="0"/>
                  <a:t> a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𝛼</m:t>
                    </m:r>
                    <m:r>
                      <a:rPr lang="pt-BR" sz="2400" b="1">
                        <a:latin typeface="Cambria Math"/>
                      </a:rPr>
                      <m:t>=</m:t>
                    </m:r>
                    <m:r>
                      <a:rPr lang="pt-BR" sz="2400" b="1">
                        <a:latin typeface="Cambria Math"/>
                      </a:rPr>
                      <m:t>𝑝</m:t>
                    </m:r>
                    <m:r>
                      <a:rPr lang="pt-BR" sz="2400" b="1">
                        <a:latin typeface="Cambria Math"/>
                      </a:rPr>
                      <m:t>/2</m:t>
                    </m:r>
                  </m:oMath>
                </a14:m>
                <a:r>
                  <a:rPr lang="pt-BR" sz="2400" dirty="0"/>
                  <a:t> </a:t>
                </a:r>
                <a:r>
                  <a:rPr lang="pt-BR" sz="2400" dirty="0" err="1"/>
                  <a:t>na</a:t>
                </a:r>
                <a:r>
                  <a:rPr lang="pt-BR" sz="2400" dirty="0"/>
                  <a:t> </a:t>
                </a:r>
                <a:r>
                  <a:rPr lang="pt-BR" sz="2400" dirty="0" err="1"/>
                  <a:t>nossa</a:t>
                </a:r>
                <a:r>
                  <a:rPr lang="pt-BR" sz="2400" dirty="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lang="pt-BR" sz="2400" dirty="0" err="1"/>
                  <a:t>Exemplo</a:t>
                </a:r>
                <a:r>
                  <a:rPr lang="pt-BR" sz="2400" dirty="0"/>
                  <a:t>: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𝜈</m:t>
                    </m:r>
                    <m:r>
                      <a:rPr lang="pt-BR" sz="2400">
                        <a:latin typeface="Cambria Math"/>
                      </a:rPr>
                      <m:t>=6</m:t>
                    </m:r>
                  </m:oMath>
                </a14:m>
                <a:r>
                  <a:rPr lang="pt-BR" sz="2400" dirty="0"/>
                  <a:t>, </a:t>
                </a:r>
                <a:r>
                  <a:rPr lang="pt-BR" sz="2400" dirty="0" err="1"/>
                  <a:t>coluna</a:t>
                </a:r>
                <a:r>
                  <a:rPr lang="pt-BR" sz="2400" dirty="0"/>
                  <a:t> 10% →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1,943=</m:t>
                    </m:r>
                    <m:sSub>
                      <m:sSubPr>
                        <m:ctrlPr>
                          <a:rPr lang="pt-B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pt-BR" sz="2400" b="1">
                            <a:latin typeface="Cambria Math"/>
                          </a:rPr>
                          <m:t>0,05;6</m:t>
                        </m:r>
                      </m:sub>
                    </m:sSub>
                  </m:oMath>
                </a14:m>
                <a:r>
                  <a:rPr lang="pt-BR" sz="2400" dirty="0"/>
                  <a:t>; </a:t>
                </a:r>
                <a:r>
                  <a:rPr lang="pt-BR" sz="2400" dirty="0" err="1"/>
                  <a:t>coluna</a:t>
                </a:r>
                <a:r>
                  <a:rPr lang="pt-BR" sz="2400" dirty="0"/>
                  <a:t> 5% →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2,447=</m:t>
                    </m:r>
                    <m:sSub>
                      <m:sSubPr>
                        <m:ctrlPr>
                          <a:rPr lang="pt-B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pt-BR" sz="2400" b="1">
                            <a:latin typeface="Cambria Math"/>
                          </a:rPr>
                          <m:t>0,025;6</m:t>
                        </m:r>
                      </m:sub>
                    </m:sSub>
                  </m:oMath>
                </a14:m>
                <a:r>
                  <a:rPr lang="pt-BR" sz="2400" dirty="0"/>
                  <a:t> (Bussab, Exemplo 7.15).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Quando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𝜈</m:t>
                    </m:r>
                  </m:oMath>
                </a14:m>
                <a:r>
                  <a:rPr lang="pt-BR" sz="2400" b="1" dirty="0"/>
                  <a:t> é grande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lang="pt-BR" sz="2400" dirty="0"/>
                  <a:t>Para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𝜈</m:t>
                    </m:r>
                    <m:r>
                      <a:rPr lang="pt-BR" sz="2400" b="1">
                        <a:latin typeface="Cambria Math"/>
                      </a:rPr>
                      <m:t>&gt;120</m:t>
                    </m:r>
                  </m:oMath>
                </a14:m>
                <a:r>
                  <a:rPr lang="pt-BR" sz="2400" dirty="0"/>
                  <a:t>, a t é praticamente a normal padrão (Bussab, Exemplo 7.15).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lang="pt-BR" sz="2400" dirty="0"/>
                  <a:t>Exemplo: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pt-BR" sz="2400" b="1">
                            <a:latin typeface="Cambria Math"/>
                          </a:rPr>
                          <m:t>0,025;120</m:t>
                        </m:r>
                      </m:sub>
                    </m:sSub>
                    <m:r>
                      <a:rPr lang="pt-BR" sz="2400" b="1">
                        <a:latin typeface="Cambria Math"/>
                      </a:rPr>
                      <m:t>=1,980</m:t>
                    </m:r>
                  </m:oMath>
                </a14:m>
                <a:r>
                  <a:rPr lang="pt-BR" sz="2400" dirty="0"/>
                  <a:t> contra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𝑧</m:t>
                    </m:r>
                    <m:r>
                      <a:rPr lang="pt-BR" sz="2400">
                        <a:latin typeface="Cambria Math"/>
                      </a:rPr>
                      <m:t>=1,960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endParaRPr lang="pt-BR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5623784"/>
              </a:xfrm>
              <a:prstGeom prst="rect">
                <a:avLst/>
              </a:prstGeom>
              <a:blipFill>
                <a:blip r:embed="rId2"/>
                <a:stretch>
                  <a:fillRect l="-9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177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Quando usar a t e quando usar a </a:t>
                </a:r>
                <a:r>
                  <a:rPr lang="pt-BR" sz="2400" b="1" dirty="0" err="1"/>
                  <a:t>qui</a:t>
                </a:r>
                <a:r>
                  <a:rPr lang="pt-BR" sz="2400" b="1" dirty="0"/>
                  <a:t>-quadrado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Nesta aula, sorteamos uma amostra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400" dirty="0"/>
                  <a:t> observações de uma população normal. A pergunta muda conforme o parâmetro que nos interessa: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Se queremos informações sobre a média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pt-BR" sz="2400" dirty="0"/>
                  <a:t>, com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pt-BR" sz="2400" dirty="0"/>
                  <a:t> desconhecido: padronizamos </a:t>
                </a:r>
                <a14:m>
                  <m:oMath xmlns:m="http://schemas.openxmlformats.org/officeDocument/2006/math">
                    <m:acc>
                      <m:accPr>
                        <m:chr m:val="̄"/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sz="2400" dirty="0"/>
                  <a:t> usando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pt-BR" sz="2400" dirty="0"/>
                  <a:t> no lugar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pt-BR" sz="2400" dirty="0"/>
                  <a:t>. Essa padronização segue a t de </a:t>
                </a:r>
                <a:r>
                  <a:rPr lang="pt-BR" sz="2400" dirty="0" err="1"/>
                  <a:t>Student</a:t>
                </a:r>
                <a:r>
                  <a:rPr lang="pt-BR" sz="2400" dirty="0"/>
                  <a:t>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̄"/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Foi o caso da API de pagamentos (Exemplos 1 e 5).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5177443"/>
              </a:xfrm>
              <a:prstGeom prst="rect">
                <a:avLst/>
              </a:prstGeom>
              <a:blipFill>
                <a:blip r:embed="rId2"/>
                <a:stretch>
                  <a:fillRect l="-909" r="-966" b="-106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5787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Quando usar a t e quando usar a </a:t>
                </a:r>
                <a:r>
                  <a:rPr lang="pt-BR" sz="2400" b="1" dirty="0" err="1"/>
                  <a:t>qui</a:t>
                </a:r>
                <a:r>
                  <a:rPr lang="pt-BR" sz="2400" b="1" dirty="0"/>
                  <a:t>-quadrado</a:t>
                </a:r>
              </a:p>
              <a:p>
                <a:pPr>
                  <a:lnSpc>
                    <a:spcPct val="150000"/>
                  </a:lnSpc>
                </a:pPr>
                <a:endParaRPr lang="pt-BR" sz="2400" b="1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Se queremos informações sobre a variância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²</m:t>
                    </m:r>
                  </m:oMath>
                </a14:m>
                <a:r>
                  <a:rPr lang="pt-BR" sz="2400" dirty="0"/>
                  <a:t>: comparamos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²</m:t>
                    </m:r>
                  </m:oMath>
                </a14:m>
                <a:r>
                  <a:rPr lang="pt-BR" sz="2400" dirty="0"/>
                  <a:t> com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²</m:t>
                    </m:r>
                  </m:oMath>
                </a14:m>
                <a:r>
                  <a:rPr lang="pt-BR" sz="2400" dirty="0"/>
                  <a:t>. Essa razão segue a </a:t>
                </a:r>
                <a:r>
                  <a:rPr lang="pt-BR" sz="2400" dirty="0" err="1"/>
                  <a:t>qui</a:t>
                </a:r>
                <a:r>
                  <a:rPr lang="pt-BR" sz="2400" dirty="0"/>
                  <a:t>-quadrado: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sSup>
                            <m:sSupPr>
                              <m:ctrlP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Foi o caso dos parafusos (Exemplo 3).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Próximas aulas: vamos usar as duas distribuições para construir intervalos de confiança (Aulas 18 e 19) e testes de hipótese (Aulas 20 a 22).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5578707"/>
              </a:xfrm>
              <a:prstGeom prst="rect">
                <a:avLst/>
              </a:prstGeom>
              <a:blipFill>
                <a:blip r:embed="rId2"/>
                <a:stretch>
                  <a:fillRect l="-909" b="-15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29669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40767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rtl="0">
                  <a:lnSpc>
                    <a:spcPct val="150000"/>
                  </a:lnSpc>
                </a:pPr>
                <a:r>
                  <a:rPr lang="pt-BR" sz="2400" b="1" dirty="0"/>
                  <a:t>Resumo da aula: qual distribuição usar</a:t>
                </a:r>
              </a:p>
              <a:p>
                <a:pPr marL="342900" indent="-342900" rtl="0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pt-BR" sz="2400" b="1" dirty="0"/>
                  <a:t>Se o exercício envolve a média e você conhece σ:</a:t>
                </a:r>
                <a:r>
                  <a:rPr lang="pt-BR" sz="2400" dirty="0"/>
                  <a:t> use a normal padrão,</a:t>
                </a:r>
                <a:br>
                  <a:rPr lang="pt-BR" sz="2400" dirty="0"/>
                </a:b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(</m:t>
                    </m:r>
                    <m:acc>
                      <m:accPr>
                        <m:chr m:val="̄"/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)/(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pt-BR" sz="2400" dirty="0"/>
                  <a:t>e a tabela N(0,1).</a:t>
                </a:r>
              </a:p>
              <a:p>
                <a:pPr marL="342900" indent="-342900" rtl="0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pt-BR" sz="2400" b="1" dirty="0"/>
                  <a:t>Se o exercício envolve a média e você não conhece σ:</a:t>
                </a:r>
                <a:r>
                  <a:rPr lang="pt-BR" sz="2400" dirty="0"/>
                  <a:t> use a t de Student,</a:t>
                </a:r>
                <a:br>
                  <a:rPr lang="pt-BR" sz="2400" dirty="0"/>
                </a:b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 (</m:t>
                    </m:r>
                    <m:acc>
                      <m:accPr>
                        <m:chr m:val="̄"/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)/(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na linha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− 1</m:t>
                    </m:r>
                  </m:oMath>
                </a14:m>
                <a:r>
                  <a:rPr lang="pt-BR" sz="2400" dirty="0"/>
                  <a:t> da tabela t.</a:t>
                </a:r>
              </a:p>
              <a:p>
                <a:pPr marL="342900" indent="-342900" rtl="0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pt-BR" sz="2400" b="1" dirty="0"/>
                  <a:t>Se o exercício envolve a variância (ou o desvio padrão):</a:t>
                </a:r>
                <a:r>
                  <a:rPr lang="pt-BR" sz="2400" dirty="0"/>
                  <a:t> use a </a:t>
                </a:r>
                <a:r>
                  <a:rPr lang="pt-BR" sz="2400" dirty="0" err="1"/>
                  <a:t>qui</a:t>
                </a:r>
                <a:r>
                  <a:rPr lang="pt-BR" sz="2400" dirty="0"/>
                  <a:t>-quadrado,</a:t>
                </a:r>
                <a:br>
                  <a:rPr lang="pt-BR" sz="2400" dirty="0"/>
                </a:b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−1)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²/</m:t>
                    </m:r>
                    <m:sSup>
                      <m:sSup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400" dirty="0"/>
                  <a:t>, na linha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− 1</m:t>
                    </m:r>
                  </m:oMath>
                </a14:m>
                <a:r>
                  <a:rPr lang="pt-BR" sz="2400" dirty="0"/>
                  <a:t> da tabela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𝜒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²</m:t>
                    </m:r>
                  </m:oMath>
                </a14:m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4076757"/>
              </a:xfrm>
              <a:prstGeom prst="rect">
                <a:avLst/>
              </a:prstGeom>
              <a:blipFill>
                <a:blip r:embed="rId2"/>
                <a:stretch>
                  <a:fillRect l="-909" b="-25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9287" y="467833"/>
            <a:ext cx="10733426" cy="4697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</a:pPr>
            <a:r>
              <a:rPr lang="pt-BR" sz="2400" b="1" dirty="0"/>
              <a:t>Resumo da aula: como ler as tabelas</a:t>
            </a:r>
          </a:p>
          <a:p>
            <a:pPr marL="342900" indent="-342900" rtl="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400" b="1" dirty="0"/>
              <a:t>Se o exercício pede 95% no meio (duas caudas):</a:t>
            </a:r>
            <a:r>
              <a:rPr lang="pt-BR" sz="2400" dirty="0"/>
              <a:t> divida o que sobra entre as duas pontas e procure a coluna α = 0,025.</a:t>
            </a:r>
          </a:p>
          <a:p>
            <a:pPr marL="342900" indent="-342900" rtl="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400" b="1" dirty="0"/>
              <a:t>Se o exercício pede o valor só ultrapassado em α (uma cauda):</a:t>
            </a:r>
            <a:r>
              <a:rPr lang="pt-BR" sz="2400" dirty="0"/>
              <a:t> procure direto a coluna α.</a:t>
            </a:r>
          </a:p>
          <a:p>
            <a:pPr marL="342900" indent="-342900" rtl="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400" b="1" dirty="0"/>
              <a:t>Se o exercício pede, na </a:t>
            </a:r>
            <a:r>
              <a:rPr lang="pt-BR" sz="2400" b="1" dirty="0" err="1"/>
              <a:t>qui</a:t>
            </a:r>
            <a:r>
              <a:rPr lang="pt-BR" sz="2400" b="1" dirty="0"/>
              <a:t>-quadrado, o valor com área α abaixo:</a:t>
            </a:r>
            <a:r>
              <a:rPr lang="pt-BR" sz="2400" dirty="0"/>
              <a:t> procure a coluna 1 − α, porque a tabela dá a área à direita (Exemplo 2, item b).</a:t>
            </a:r>
          </a:p>
          <a:p>
            <a:pPr marL="342900" indent="-342900" rtl="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400" b="1" dirty="0"/>
              <a:t>Se ν passar de 120:</a:t>
            </a:r>
            <a:r>
              <a:rPr lang="pt-BR" sz="2400" dirty="0"/>
              <a:t> a t é praticamente a normal padrão; use a linha ∞ da tabela t.</a:t>
            </a:r>
          </a:p>
        </p:txBody>
      </p:sp>
    </p:spTree>
    <p:extLst>
      <p:ext uri="{BB962C8B-B14F-4D97-AF65-F5344CB8AC3E}">
        <p14:creationId xmlns:p14="http://schemas.microsoft.com/office/powerpoint/2010/main" val="8662303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9287" y="467833"/>
            <a:ext cx="10733426" cy="585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pt-BR" sz="2200" b="1" dirty="0" err="1"/>
              <a:t>Atividades</a:t>
            </a:r>
            <a:r>
              <a:rPr lang="pt-BR" sz="2200" b="1" dirty="0"/>
              <a:t> </a:t>
            </a:r>
            <a:r>
              <a:rPr lang="pt-BR" sz="2200" b="1" dirty="0" err="1"/>
              <a:t>referentes</a:t>
            </a:r>
            <a:r>
              <a:rPr lang="pt-BR" sz="2200" b="1" dirty="0"/>
              <a:t> à aula</a:t>
            </a:r>
          </a:p>
          <a:p>
            <a:pPr>
              <a:lnSpc>
                <a:spcPct val="130000"/>
              </a:lnSpc>
            </a:pPr>
            <a:r>
              <a:rPr lang="pt-BR" sz="2000" b="1" dirty="0" err="1"/>
              <a:t>Leitura</a:t>
            </a:r>
            <a:r>
              <a:rPr lang="pt-BR" sz="2000" b="1" dirty="0"/>
              <a:t> </a:t>
            </a:r>
            <a:r>
              <a:rPr lang="pt-BR" sz="2000" b="1" dirty="0" err="1"/>
              <a:t>recomendada</a:t>
            </a:r>
            <a:r>
              <a:rPr lang="pt-BR" sz="2000" b="1" dirty="0"/>
              <a:t>: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lang="pt-BR" sz="2000" dirty="0" err="1"/>
              <a:t>Bussab</a:t>
            </a:r>
            <a:r>
              <a:rPr lang="pt-BR" sz="2000" dirty="0"/>
              <a:t> &amp; </a:t>
            </a:r>
            <a:r>
              <a:rPr lang="pt-BR" sz="2000" dirty="0" err="1"/>
              <a:t>Morettin</a:t>
            </a:r>
            <a:r>
              <a:rPr lang="pt-BR" sz="2000" dirty="0"/>
              <a:t> — Cap. 7: 7.7.2 e 7.7.3; Cap. 12: 12.9 e 12.10 (</a:t>
            </a:r>
            <a:r>
              <a:rPr lang="pt-BR" sz="2000" dirty="0" err="1"/>
              <a:t>só</a:t>
            </a:r>
            <a:r>
              <a:rPr lang="pt-BR" sz="2000" dirty="0"/>
              <a:t> a </a:t>
            </a:r>
            <a:r>
              <a:rPr lang="pt-BR" sz="2000" dirty="0" err="1"/>
              <a:t>parte</a:t>
            </a:r>
            <a:r>
              <a:rPr lang="pt-BR" sz="2000" dirty="0"/>
              <a:t> das </a:t>
            </a:r>
            <a:r>
              <a:rPr lang="pt-BR" sz="2000" dirty="0" err="1"/>
              <a:t>distribuições</a:t>
            </a:r>
            <a:r>
              <a:rPr lang="pt-BR" sz="2000" dirty="0"/>
              <a:t>)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lang="pt-BR" sz="2000" dirty="0"/>
              <a:t>Montgomery &amp; </a:t>
            </a:r>
            <a:r>
              <a:rPr lang="pt-BR" sz="2000" dirty="0" err="1"/>
              <a:t>Runger</a:t>
            </a:r>
            <a:r>
              <a:rPr lang="pt-BR" sz="2000" dirty="0"/>
              <a:t> — Cap. 8: 8.2.1 e 8.3 (</a:t>
            </a:r>
            <a:r>
              <a:rPr lang="pt-BR" sz="2000" dirty="0" err="1"/>
              <a:t>até</a:t>
            </a:r>
            <a:r>
              <a:rPr lang="pt-BR" sz="2000" dirty="0"/>
              <a:t> a </a:t>
            </a:r>
            <a:r>
              <a:rPr lang="pt-BR" sz="2000" dirty="0" err="1"/>
              <a:t>definição</a:t>
            </a:r>
            <a:r>
              <a:rPr lang="pt-BR" sz="2000" dirty="0"/>
              <a:t> dos </a:t>
            </a:r>
            <a:r>
              <a:rPr lang="pt-BR" sz="2000" dirty="0" err="1"/>
              <a:t>percentis</a:t>
            </a:r>
            <a:r>
              <a:rPr lang="pt-BR" sz="2000" dirty="0"/>
              <a:t>)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lang="pt-BR" sz="2000" dirty="0"/>
              <a:t>Magalhães &amp; Lima — Cap. 8: 8.3 (até a definição de T) e 8.5, p. 269 (apresentação do modelo χ²)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lang="pt-BR" sz="2000" dirty="0" err="1"/>
              <a:t>Morettin</a:t>
            </a:r>
            <a:r>
              <a:rPr lang="pt-BR" sz="2000" dirty="0"/>
              <a:t> — Cap. 14: 14.1; Cap. 16: 16.1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pt-BR" sz="2000" b="1" dirty="0" err="1"/>
              <a:t>Exercícios</a:t>
            </a:r>
            <a:r>
              <a:rPr lang="pt-BR" sz="2000" b="1" dirty="0"/>
              <a:t> </a:t>
            </a:r>
            <a:r>
              <a:rPr lang="pt-BR" sz="2000" b="1" dirty="0" err="1"/>
              <a:t>recomendados</a:t>
            </a:r>
            <a:r>
              <a:rPr lang="pt-BR" sz="2000" b="1" dirty="0"/>
              <a:t>: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lang="pt-BR" sz="2000" dirty="0"/>
              <a:t>Montgomery &amp; </a:t>
            </a:r>
            <a:r>
              <a:rPr lang="pt-BR" sz="2000" dirty="0" err="1"/>
              <a:t>Runger</a:t>
            </a:r>
            <a:r>
              <a:rPr lang="pt-BR" sz="2000" dirty="0"/>
              <a:t> — Cap. 8: </a:t>
            </a:r>
            <a:r>
              <a:rPr lang="pt-BR" sz="2000" dirty="0" err="1"/>
              <a:t>Exercícios</a:t>
            </a:r>
            <a:r>
              <a:rPr lang="pt-BR" sz="2000" dirty="0"/>
              <a:t> 8.2.2 e 8.3.2 (</a:t>
            </a:r>
            <a:r>
              <a:rPr lang="pt-BR" sz="2000" dirty="0" err="1"/>
              <a:t>percentis</a:t>
            </a:r>
            <a:r>
              <a:rPr lang="pt-BR" sz="2000" dirty="0"/>
              <a:t> da t e da qui-</a:t>
            </a:r>
            <a:r>
              <a:rPr lang="pt-BR" sz="2000" dirty="0" err="1"/>
              <a:t>quadrado</a:t>
            </a:r>
            <a:r>
              <a:rPr lang="pt-BR" sz="2000" dirty="0"/>
              <a:t>)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lang="pt-BR" sz="2000" dirty="0"/>
              <a:t>Magalhães &amp; Lima — Cap. 8: Exercícios da Seção 8.3, n.º 1, e da Seção 8.5, n.º 1 (tabela t e tabela </a:t>
            </a:r>
            <a:r>
              <a:rPr lang="pt-BR" sz="2000" dirty="0" err="1"/>
              <a:t>qui</a:t>
            </a:r>
            <a:r>
              <a:rPr lang="pt-BR" sz="2000" dirty="0"/>
              <a:t>-quadrado)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lang="pt-BR" sz="2000" dirty="0"/>
              <a:t>Lista de Exercícios 17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pt-BR" sz="2000" b="1" dirty="0"/>
              <a:t>Pós-aula (em casa):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lang="pt-BR" sz="2000" dirty="0"/>
              <a:t>O teste de desempenho da placa de vídeo — grupos de até 5 pessoas, uma folha por grupo; entregar no início da próxima aula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7293</TotalTime>
  <Words>3916</Words>
  <Application>Microsoft Office PowerPoint</Application>
  <PresentationFormat>Widescreen</PresentationFormat>
  <Paragraphs>949</Paragraphs>
  <Slides>35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1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Distribuições Qui-Quadrado e t de Student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261</cp:revision>
  <dcterms:created xsi:type="dcterms:W3CDTF">2020-07-20T19:35:15Z</dcterms:created>
  <dcterms:modified xsi:type="dcterms:W3CDTF">2026-10-28T18:48:44Z</dcterms:modified>
</cp:coreProperties>
</file>