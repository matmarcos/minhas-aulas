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5" r:id="rId11"/>
    <p:sldId id="277" r:id="rId12"/>
    <p:sldId id="266" r:id="rId13"/>
    <p:sldId id="419" r:id="rId14"/>
    <p:sldId id="400" r:id="rId15"/>
    <p:sldId id="401" r:id="rId16"/>
    <p:sldId id="418" r:id="rId17"/>
    <p:sldId id="402" r:id="rId18"/>
    <p:sldId id="414" r:id="rId19"/>
    <p:sldId id="403" r:id="rId20"/>
    <p:sldId id="404" r:id="rId21"/>
    <p:sldId id="417" r:id="rId22"/>
    <p:sldId id="406" r:id="rId23"/>
    <p:sldId id="415" r:id="rId24"/>
    <p:sldId id="407" r:id="rId25"/>
    <p:sldId id="408" r:id="rId26"/>
    <p:sldId id="409" r:id="rId27"/>
    <p:sldId id="410" r:id="rId28"/>
    <p:sldId id="416" r:id="rId29"/>
    <p:sldId id="411" r:id="rId30"/>
    <p:sldId id="412" r:id="rId31"/>
    <p:sldId id="413" r:id="rId32"/>
    <p:sldId id="278" r:id="rId33"/>
    <p:sldId id="420" r:id="rId3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Introdução à Probabilidade: Espaço Amostral e Eventos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do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Revisão de teoria de conjuntos.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os conceitos de fenômeno aleatório, espaço amostral e evento.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Definir a função probabilidade a partir de seus axiomas e propriedades.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(5.1, 5.2)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(2.1, 2.3)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1 (1.1 a 1.6) e Cap. 2 (2.1)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Revisão de teoria de conjuntos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Intuitivamente, por </a:t>
                </a:r>
                <a:r>
                  <a:rPr lang="pt-BR" sz="2800" b="1" dirty="0"/>
                  <a:t>conjunto</a:t>
                </a:r>
                <a:r>
                  <a:rPr lang="pt-BR" sz="2800" dirty="0"/>
                  <a:t> entenderemos qualquer coleção de objetos.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Notação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7988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Relação de pertinência</a:t>
                </a:r>
              </a:p>
              <a:p>
                <a:endParaRPr lang="pt-BR" sz="28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Para indicar que um elemento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 pertence ao conjunto A, escrevemos</a:t>
                </a:r>
              </a:p>
              <a:p>
                <a:pPr algn="ctr"/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. </a:t>
                </a:r>
              </a:p>
              <a:p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Caso contrário: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6397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120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Exemplos de conjuntos numéricos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={…,−2,−1, 0, 1, 2,…}</m:t>
                    </m:r>
                  </m:oMath>
                </a14:m>
                <a:r>
                  <a:rPr lang="pt-BR" sz="2800" dirty="0"/>
                  <a:t>- números inteiros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 0, 1, 2, 3…}</m:t>
                    </m:r>
                  </m:oMath>
                </a14:m>
                <a:r>
                  <a:rPr lang="pt-BR" sz="2800" dirty="0"/>
                  <a:t>- números naturais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 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pt-BR" sz="2800" dirty="0"/>
                  <a:t> - números racionais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pt-BR" sz="2800" dirty="0"/>
                  <a:t>números reais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𝑏𝑖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– números complexos</a:t>
                </a: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120872"/>
              </a:xfrm>
              <a:prstGeom prst="rect">
                <a:avLst/>
              </a:prstGeom>
              <a:blipFill>
                <a:blip r:embed="rId2"/>
                <a:stretch>
                  <a:fillRect l="-1182" b="-3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8841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Notações de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Unitário.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Vazio,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Finito ou infinito.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Enumerável ou não-enumerável.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blipFill>
                <a:blip r:embed="rId2"/>
                <a:stretch>
                  <a:fillRect l="-1182" t="-1382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3102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Outras notações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=, ≠,&gt;, &lt;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≥, ≤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Intervalos: </a:t>
                </a: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 </m:t>
                    </m:r>
                  </m:oMath>
                </a14:m>
                <a:endParaRPr lang="pt-BR" sz="2800" dirty="0"/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,+∞[</m:t>
                    </m:r>
                  </m:oMath>
                </a14:m>
                <a:endParaRPr lang="pt-BR" sz="2800" b="0" dirty="0"/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]−∞,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32092"/>
              </a:xfrm>
              <a:prstGeom prst="rect">
                <a:avLst/>
              </a:prstGeom>
              <a:blipFill>
                <a:blip r:embed="rId2"/>
                <a:stretch>
                  <a:fillRect l="-1182" t="-1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5706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Relações entre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⊄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Combinações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⊊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5017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220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Contagem de elementos de conjuntos finitos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Todo conjunto finito com n elementos tem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2800" dirty="0"/>
                  <a:t> subconjuntos distintos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Conjunto das partes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é o conjunto cujos elementos são todos os subconjuntos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.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b="0" i="0" dirty="0">
                  <a:latin typeface="Cambria Math" panose="02040503050406030204" pitchFamily="18" charset="0"/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220899"/>
              </a:xfrm>
              <a:prstGeom prst="rect">
                <a:avLst/>
              </a:prstGeom>
              <a:blipFill>
                <a:blip r:embed="rId2"/>
                <a:stretch>
                  <a:fillRect l="-1182" t="-13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5630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Operadores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Complementar: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União: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Interseção: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Subtração: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261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090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971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Operadores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971728"/>
              </a:xfrm>
              <a:prstGeom prst="rect">
                <a:avLst/>
              </a:prstGeom>
              <a:blipFill>
                <a:blip r:embed="rId2"/>
                <a:stretch>
                  <a:fillRect l="-1182" t="-13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59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680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União e interseção de vários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∪⋯∪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⋂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⋂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⋂⋯⋂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680477"/>
              </a:xfrm>
              <a:prstGeom prst="rect">
                <a:avLst/>
              </a:prstGeom>
              <a:blipFill>
                <a:blip r:embed="rId2"/>
                <a:stretch>
                  <a:fillRect l="-1182" t="-20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088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Referencia: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dirty="0"/>
              <a:t>https://docs.ufpr.br/~</a:t>
            </a:r>
            <a:r>
              <a:rPr lang="pt-BR" sz="2800" dirty="0" err="1"/>
              <a:t>akirilov</a:t>
            </a:r>
            <a:r>
              <a:rPr lang="pt-BR" sz="2800" dirty="0"/>
              <a:t>/ensino/2017/</a:t>
            </a:r>
            <a:r>
              <a:rPr lang="pt-BR" sz="2800" dirty="0" err="1"/>
              <a:t>docs</a:t>
            </a:r>
            <a:r>
              <a:rPr lang="pt-BR" sz="2800" dirty="0"/>
              <a:t>/itc01-UFPR-2017.pdf.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13423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88720" y="2103120"/>
                <a:ext cx="9814560" cy="1166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sz="2800" b="1" dirty="0">
                    <a:solidFill>
                      <a:srgbClr val="3D1F21"/>
                    </a:solidFill>
                  </a:rPr>
                  <a:t>Se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são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dois</a:t>
                </a:r>
                <a:r>
                  <a:rPr sz="2800" b="1" dirty="0">
                    <a:solidFill>
                      <a:srgbClr val="3D1F21"/>
                    </a:solidFill>
                  </a:rPr>
                  <a:t> conjuntos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disjuntos</a:t>
                </a:r>
                <a:r>
                  <a:rPr sz="2800" b="1" dirty="0">
                    <a:solidFill>
                      <a:srgbClr val="3D1F21"/>
                    </a:solidFill>
                  </a:rPr>
                  <a:t>, o que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isso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significa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sobre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103120"/>
                <a:ext cx="9814560" cy="1166281"/>
              </a:xfrm>
              <a:prstGeom prst="rect">
                <a:avLst/>
              </a:prstGeom>
              <a:blipFill>
                <a:blip r:embed="rId2"/>
                <a:stretch>
                  <a:fillRect b="-141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22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Definição do dicionário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400" dirty="0"/>
              <a:t>1.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perspectiva favorável de que algo venha a ocorrer; possibilidade, chance.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2.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grau de segurança com que se pode esperar a realização de um evento, determinado pela frequência relativa dos eventos do mesmo tipo numa série de tentativas.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8256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Evento aleatório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400" dirty="0"/>
              <a:t>Uma série de experimentos cujas condições iniciais são iguais e a condição final (resultado) não é previsível, é chamado de </a:t>
            </a:r>
            <a:r>
              <a:rPr lang="pt-BR" sz="2400" u="sng" dirty="0"/>
              <a:t>experimento aleatório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Um experimento aleatório, associado a um resultado obtido, é chamado de evento aleatório.</a:t>
            </a:r>
          </a:p>
          <a:p>
            <a:endParaRPr lang="pt-BR" sz="2400" dirty="0"/>
          </a:p>
          <a:p>
            <a:r>
              <a:rPr lang="pt-BR" sz="2400" dirty="0"/>
              <a:t>Exemplos de experimentos aleatórios:</a:t>
            </a:r>
            <a:endParaRPr lang="pt-BR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Lançamento de uma moeda honesta,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Retirada de uma carta de um baralho com 52 cartas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Determinação da vida útil de um componente eletrônico.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50372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Lançar um dado é um experimento aleatório. E 'anotar a temperatura de hoje às 14h' — é um experimento aleatório? Por quê?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Espaço amostral</a:t>
                </a:r>
              </a:p>
              <a:p>
                <a:pPr marL="285737" indent="-285737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Espaço amostral de um experimento aleatório é o conjunto de todos os resultados possíveis do experimento.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elementos do espaço amostral serão chamados de pontos amostrais.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Notação: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4355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I</a:t>
            </a:r>
            <a:r>
              <a:rPr lang="pt-BR" sz="2400" dirty="0"/>
              <a:t>dentifique os espaços amostrais dos experimentos aleatórios.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Lançamento de uma moeda honesta,</a:t>
            </a:r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Retirada de uma carta de um baralho com 52 cartas</a:t>
            </a:r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Determinação da vida útil de um componente eletrônico.</a:t>
            </a:r>
          </a:p>
          <a:p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56251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Exemplos: </a:t>
            </a:r>
            <a:r>
              <a:rPr lang="pt-BR" sz="2800" dirty="0"/>
              <a:t>Lançam-se dois dados de 6 faces. Encontre os subconjuntos do espaço amostral que corresponde aos eventos abaixo: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A: saída de faces iguais;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B: saída de faces cuja soma seja igual a 10;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C: saída de faces cuja soma seja menor que 2;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10628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Árvore de eventos aleatórios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É um diagrama que exibe todos os eventos aleatórios de uma experimento.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Considere o seguinte experimento: joga-se uma moeda honesta e, em seguida, uma dado com quatro faces. Exiba a árvore de eventos aleatórios desse experimento. 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02405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Quantos elementos tem o espaço amostral desse experimento?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25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Operações com eventos aleatórios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União: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b="0" dirty="0"/>
                  <a:t>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Intersecção: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Complementação: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 ou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255571"/>
              </a:xfrm>
              <a:prstGeom prst="rect">
                <a:avLst/>
              </a:prstGeom>
              <a:blipFill>
                <a:blip r:embed="rId2"/>
                <a:stretch>
                  <a:fillRect l="-1272" b="-4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63638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0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</a:t>
                </a:r>
                <a:r>
                  <a:rPr lang="pt-BR" sz="2800" dirty="0"/>
                  <a:t>: Considere dois lançamento de um dado com 4 faces. Defina os eventos: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: O primeiro número é par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: A soma dos dois lançamentos é  menor que 4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Encontre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01902"/>
              </a:xfrm>
              <a:prstGeom prst="rect">
                <a:avLst/>
              </a:prstGeom>
              <a:blipFill>
                <a:blip r:embed="rId2"/>
                <a:stretch>
                  <a:fillRect l="-1272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13759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868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Partição de um espaço amostral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Dizemos que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, formam uma partição do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 se: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868192"/>
              </a:xfrm>
              <a:prstGeom prst="rect">
                <a:avLst/>
              </a:prstGeom>
              <a:blipFill>
                <a:blip r:embed="rId2"/>
                <a:stretch>
                  <a:fillRect l="-1191" t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FF7729-F3FB-B2AE-192B-468CEF40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100" y="3081034"/>
            <a:ext cx="491558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04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84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o conjunto de todos os eventos possíveis de um fenômeno aleatório. Uma função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⋅)</m:t>
                    </m:r>
                  </m:oMath>
                </a14:m>
                <a:r>
                  <a:rPr lang="pt-BR" sz="2400" dirty="0"/>
                  <a:t> é denominada </a:t>
                </a:r>
                <a:r>
                  <a:rPr lang="pt-BR" sz="2400" b="1" i="1" dirty="0"/>
                  <a:t>probabilidade</a:t>
                </a:r>
                <a:r>
                  <a:rPr lang="pt-BR" sz="2400" dirty="0"/>
                  <a:t> se satisfaz as seguintes condições:</a:t>
                </a:r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pt-BR" sz="2400" dirty="0"/>
                  <a:t>, para todo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400" b="0" dirty="0"/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400" b="0" dirty="0"/>
                  <a:t>;</a:t>
                </a:r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+⋯+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b="0" dirty="0"/>
                  <a:t>, com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b="0" dirty="0"/>
                  <a:t>’s disjuntos.</a:t>
                </a:r>
              </a:p>
              <a:p>
                <a:pPr marL="1028689" lvl="1" indent="-571500">
                  <a:buFont typeface="+mj-lt"/>
                  <a:buAutoNum type="romanLcPeriod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849131"/>
              </a:xfrm>
              <a:prstGeom prst="rect">
                <a:avLst/>
              </a:prstGeom>
              <a:blipFill>
                <a:blip r:embed="rId2"/>
                <a:stretch>
                  <a:fillRect l="-908" b="-44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5020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Exemplos:</a:t>
            </a:r>
          </a:p>
          <a:p>
            <a:endParaRPr lang="pt-BR" sz="2800" b="1" dirty="0"/>
          </a:p>
          <a:p>
            <a:pPr marL="514350" indent="-514350">
              <a:buFont typeface="+mj-lt"/>
              <a:buAutoNum type="arabicPeriod"/>
            </a:pPr>
            <a:r>
              <a:rPr lang="pt-BR" sz="2400" b="1" dirty="0"/>
              <a:t> </a:t>
            </a:r>
            <a:r>
              <a:rPr lang="pt-BR" sz="2400" dirty="0"/>
              <a:t>Considere um dado equilibrado de 6 faces.</a:t>
            </a:r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r>
              <a:rPr lang="pt-BR" sz="2400" dirty="0"/>
              <a:t>Qual a probabilidade de ser sorteada uma face aleatoriamente?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A93B48-37A3-4704-A123-7168EBD7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7" y="2933631"/>
            <a:ext cx="895475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8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Exemplos:</a:t>
            </a:r>
          </a:p>
          <a:p>
            <a:endParaRPr lang="pt-BR" sz="2800" b="1" dirty="0"/>
          </a:p>
          <a:p>
            <a:pPr marL="514350" indent="-514350">
              <a:buFont typeface="+mj-lt"/>
              <a:buAutoNum type="arabicPeriod" startAt="2"/>
            </a:pPr>
            <a:r>
              <a:rPr lang="pt-BR" sz="2400" b="1" dirty="0"/>
              <a:t> </a:t>
            </a:r>
            <a:r>
              <a:rPr lang="pt-BR" sz="2400" dirty="0"/>
              <a:t>Considere um grupo de duas mulheres (M) e três homens (H)</a:t>
            </a:r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que um homem seja escolhido aleatoriamente no grupo? E uma mulher?</a:t>
            </a:r>
          </a:p>
          <a:p>
            <a:pPr marL="742926" lvl="1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462FB79-FC95-4F54-B4FE-A1973359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03" y="2986674"/>
            <a:ext cx="6706536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05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Qual é a probabilidade de escolher uma mulher aleatoriamente nesse grupo?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0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Teoremas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Se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 formam um partição do espaço amostral, então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Se 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sz="2800" dirty="0"/>
                  <a:t> é impossível, então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02615"/>
              </a:xfrm>
              <a:prstGeom prst="rect">
                <a:avLst/>
              </a:prstGeom>
              <a:blipFill>
                <a:blip r:embed="rId2"/>
                <a:stretch>
                  <a:fillRect l="-1191" t="-1247" b="-31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5103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Exemplos: </a:t>
                </a:r>
                <a:r>
                  <a:rPr lang="pt-BR" sz="2800" dirty="0"/>
                  <a:t>Suponha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800" dirty="0"/>
                  <a:t>, calcular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970318"/>
              </a:xfrm>
              <a:prstGeom prst="rect">
                <a:avLst/>
              </a:prstGeom>
              <a:blipFill>
                <a:blip r:embed="rId2"/>
                <a:stretch>
                  <a:fillRect l="-1191" t="-1382" b="-36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27223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Eventos equiprováveis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Dado um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,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são ditos equiprováveis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Logo, se 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pontos amostrais são equiprováveis, a probabilidade de cada ponto é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 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possui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sz="2800" dirty="0"/>
                  <a:t> pontos amostrais, então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01205"/>
              </a:xfrm>
              <a:prstGeom prst="rect">
                <a:avLst/>
              </a:prstGeom>
              <a:blipFill>
                <a:blip r:embed="rId2"/>
                <a:stretch>
                  <a:fillRect l="-1191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2394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308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Morettin — Cap. 5: 5.1, 5.2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Runger — Cap. 2: 2.1, 2.3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2: 2.1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 — Cap. 1: 1.1 a 1.6; Cap. 2</a:t>
            </a:r>
            <a:r>
              <a:rPr lang="pt-BR" sz="2200"/>
              <a:t>: 2.1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0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</a:t>
            </a:r>
            <a:r>
              <a:rPr lang="pt-BR" sz="2200" b="1"/>
              <a:t>à aula (continuação)</a:t>
            </a:r>
            <a:endParaRPr lang="pt-BR" sz="2200" b="1" dirty="0"/>
          </a:p>
          <a:p>
            <a:pPr>
              <a:lnSpc>
                <a:spcPct val="150000"/>
              </a:lnSpc>
            </a:pPr>
            <a:r>
              <a:rPr lang="pt-BR" sz="2200"/>
              <a:t>Exercícios recomendados:</a:t>
            </a:r>
            <a:endParaRPr lang="it-IT" sz="22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/>
              <a:t>Bussab &amp; Morettin — Cap. 5: Problemas 1, 2, 3, 5, 6, 7, 8, 11, 12 e 14</a:t>
            </a:r>
            <a:endParaRPr lang="pt-BR" sz="22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Magalhães &amp; Lima — Cap. 2 (Exercícios da Seção 2.1): 1, 2, 3, 4 e 5; Cap. 2 (2.3 Exercícios): 1 e 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Montgomery &amp; Runger — Cap. 2: Exercícios 2.1.1, 2.1.3, 2.1.6, 2.1.8, 2.1.9, 2.1.10, 2.1.12, 2.1.13, 2.3.1 e 2.3.2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Morettin — Cap. 1: Exercícios 1, 2, 3 e 4; Cap. 2: Exercícios 2, 3 e 4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11433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2235</TotalTime>
  <Words>1802</Words>
  <Application>Microsoft Office PowerPoint</Application>
  <PresentationFormat>Widescreen</PresentationFormat>
  <Paragraphs>259</Paragraphs>
  <Slides>33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Introdução à Probabilidade: Espaço Amostral e Eventos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102</cp:revision>
  <dcterms:created xsi:type="dcterms:W3CDTF">2020-07-20T19:35:15Z</dcterms:created>
  <dcterms:modified xsi:type="dcterms:W3CDTF">2026-10-22T03:32:33Z</dcterms:modified>
</cp:coreProperties>
</file>