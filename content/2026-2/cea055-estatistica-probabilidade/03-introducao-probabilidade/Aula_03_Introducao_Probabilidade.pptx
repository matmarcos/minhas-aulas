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7" r:id="rId2"/>
    <p:sldId id="268" r:id="rId3"/>
    <p:sldId id="269" r:id="rId4"/>
    <p:sldId id="270" r:id="rId5"/>
    <p:sldId id="271" r:id="rId6"/>
    <p:sldId id="272" r:id="rId7"/>
    <p:sldId id="273" r:id="rId8"/>
    <p:sldId id="274" r:id="rId9"/>
    <p:sldId id="276" r:id="rId10"/>
    <p:sldId id="275" r:id="rId11"/>
    <p:sldId id="277" r:id="rId12"/>
    <p:sldId id="266" r:id="rId13"/>
    <p:sldId id="400" r:id="rId20"/>
    <p:sldId id="401" r:id="rId21"/>
    <p:sldId id="402" r:id="rId22"/>
    <p:sldId id="403" r:id="rId23"/>
    <p:sldId id="404" r:id="rId24"/>
    <p:sldId id="405" r:id="rId25"/>
    <p:sldId id="406" r:id="rId26"/>
    <p:sldId id="407" r:id="rId27"/>
    <p:sldId id="408" r:id="rId28"/>
    <p:sldId id="409" r:id="rId29"/>
    <p:sldId id="410" r:id="rId30"/>
    <p:sldId id="411" r:id="rId31"/>
    <p:sldId id="412" r:id="rId32"/>
    <p:sldId id="413" r:id="rId33"/>
    <p:sldId id="278" r:id="rId19"/>
  </p:sldIdLst>
  <p:sldSz cx="12192000" cy="6858000"/>
  <p:notesSz cx="6858000" cy="9144000"/>
  <p:defaultTextStyle>
    <a:defPPr>
      <a:defRPr lang="pt-BR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 autoAdjust="0"/>
  </p:normalViewPr>
  <p:slideViewPr>
    <p:cSldViewPr snapToGrid="0">
      <p:cViewPr varScale="1">
        <p:scale>
          <a:sx n="65" d="100"/>
          <a:sy n="65" d="100"/>
        </p:scale>
        <p:origin x="66" y="22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4690" y="43"/>
      </p:cViewPr>
      <p:guideLst/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19" Type="http://schemas.openxmlformats.org/officeDocument/2006/relationships/slide" Target="slides/slide27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623A65-BD25-40B6-8815-498297225DF7}" type="datetimeFigureOut">
              <a:rPr lang="pt-BR" smtClean="0"/>
              <a:t>09/04/2024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7F89C7-0D7F-4B10-AF98-1416A21C67F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29212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7F89C7-0D7F-4B10-AF98-1416A21C67FE}" type="slidenum">
              <a:rPr lang="pt-BR" smtClean="0"/>
              <a:t>12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66203219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FB549B-B83A-404E-9BD8-A560AB294D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D7CE2CF-ACA4-4F2F-B0E6-62AA8A4CA0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15145D-ED8E-485D-AFAA-0637E3DDC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09/04/2024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C10A484-EBAA-4375-B22B-EB352202B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BFC011-A4F5-4C4D-B328-90D3A1C70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32127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DC2C77-41CB-40C6-8592-F2323898B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A2E0EDC-CFA2-4EB2-951C-00B6285C6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67430C6-C7CB-4882-8EDC-12D186CAC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09/04/2024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044677D-F5A4-4226-8F80-D16E10238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DAB1963-7DC3-48C6-816F-DB898EB1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9066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59C7D4-175E-4544-B2C7-10CBDC0B0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9345EC1-929C-4442-826F-033EE789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D04775A-17A7-4EC4-9798-1A34FD10E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09/04/2024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42EA98-8D10-4ED3-B93F-FC711F0CD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39B97DE-6B04-4B6F-86E9-1D88F55F5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2312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BAA362-A45A-480A-9074-096724BCA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7FAB7C-66B6-413A-A532-7B4B35F4FB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E989473-C5DE-4037-A42E-A0EACF667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3249F76-8985-4102-AAA2-0AF7D18B3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09/04/2024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9E6D85-4300-4D4B-9EF8-C400BC246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82F353B-CB0E-4E22-9F25-903B9054A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54893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0DC1B8-1341-4AB7-B041-922244C5C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8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33C1DFC-5D65-46F4-994E-FD066564E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CD66570-19DA-43E0-B668-A0064803DB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031A902-2182-44D2-92A6-7D350E01E0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11DEC4-4ED6-4D01-8E2F-F8DFBFBB0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251D8EF-D452-4BEB-B271-9A45BCDDD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09/04/2024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B874A662-49D6-4C3B-B580-C42ED1ECE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B64F4DA-4AAA-4F61-9D50-9FBA731D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86527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5CE28C-348A-4584-BBD8-F7D4E80AC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727A591-6069-48B6-9538-6A690479E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09/04/2024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F4B20B4-5872-4798-8273-172F9B79B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0218E22-3A9A-4526-9A35-8F67CBEA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99807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8C9ED03-39FE-4839-912F-74079DC07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09/04/2024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2202958-2868-421E-B634-EC4F79F44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1E4208-F91B-406F-93C9-909632019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16385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03AC6E-A8A4-484F-AB72-E01568BAD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52402C-474E-4A4C-BBB4-72C4459FD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5932530-DB56-4B02-AAD7-0B0DAE05AC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5269F7A-8509-44B5-A449-BA774B8D6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09/04/2024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AC7A0F7-9932-436F-9AE3-AFF4AA2B6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2EED5AD-F121-4389-805A-1761D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64605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E0AC3B-59EE-40F2-994F-F86E662CE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38B4DB5-6F6C-4DA5-9A20-AC29F12332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78" indent="0">
              <a:buNone/>
              <a:defRPr sz="2800"/>
            </a:lvl2pPr>
            <a:lvl3pPr marL="914354" indent="0">
              <a:buNone/>
              <a:defRPr sz="2400"/>
            </a:lvl3pPr>
            <a:lvl4pPr marL="1371532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2" indent="0">
              <a:buNone/>
              <a:defRPr sz="2000"/>
            </a:lvl7pPr>
            <a:lvl8pPr marL="3200240" indent="0">
              <a:buNone/>
              <a:defRPr sz="2000"/>
            </a:lvl8pPr>
            <a:lvl9pPr marL="3657418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BE271B5-C93D-4796-9358-1D1489AD91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70EE369-01D5-4D19-9174-7B158A7B7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09/04/2024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AD9A84F-D4C0-4CF0-B94A-BD00C58CC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5C5E872-5A54-4124-AFFF-F672D0693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77097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82B53-B921-43B0-B70C-89461FC53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CD7C9CB-B075-433C-911D-C898E41105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6A9F18-28DC-4676-99F1-455FE41D8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09/04/2024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6122BC6-1417-41C0-ABAB-3814030C5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D411FB-88FD-4753-AD8A-28F528B3E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96999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A7E2BA7-069E-46BC-89D6-D7C2DC18A2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6"/>
            <a:ext cx="2628900" cy="581183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6D25537-8E8B-46D8-8D94-91EDEBEF2C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2" y="365126"/>
            <a:ext cx="7734300" cy="581183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151BBF-6817-43B4-9E70-9E5D97182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09/04/2024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A27DCBE-1398-4403-B8D9-E76E3BB1A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57CFCFD-A47F-4C7B-B8FA-ADA430CE0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7616900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60000"/>
                <a:lumOff val="40000"/>
              </a:schemeClr>
            </a:gs>
            <a:gs pos="19000">
              <a:schemeClr val="bg1"/>
            </a:gs>
            <a:gs pos="95000">
              <a:schemeClr val="bg1"/>
            </a:gs>
            <a:gs pos="100000">
              <a:schemeClr val="accent5">
                <a:lumMod val="40000"/>
                <a:lumOff val="6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4E2DD83-FDEA-4717-875C-AE246EAB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8727906-6A75-4D24-84E2-D534D8BE7C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D73EF87-9823-417E-B531-F5CFE53CC6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45E566-B383-4B2D-B951-1136FD38326E}" type="datetimeFigureOut">
              <a:rPr lang="pt-BR" smtClean="0"/>
              <a:t>09/04/2024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A912461-C5F3-4639-9852-55C185CA8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D549E10-6FAB-43E0-BE2A-E81BCD879D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41590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7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16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2.xml"/></Relationships>
</file>

<file path=ppt/slides/_rels/slide19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02.png"/><Relationship Id="rId1" Type="http://schemas.openxmlformats.org/officeDocument/2006/relationships/slideLayout" Target="../slideLayouts/slideLayout2.xml"/></Relationships>
</file>

<file path=ppt/slides/_rels/slide20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0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4.png"/></Relationships>
</file>

<file path=ppt/slides/_rels/slide21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22.xml.rels><?xml version="1.0" encoding="UTF-8"?><Relationships xmlns="http://schemas.openxmlformats.org/package/2006/relationships"><Relationship Id="rId3" Type="http://schemas.openxmlformats.org/officeDocument/2006/relationships/image" Target="../media/image30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3.xml.rels><?xml version="1.0" encoding="UTF-8"?><Relationships xmlns="http://schemas.openxmlformats.org/package/2006/relationships"><Relationship Id="rId3" Type="http://schemas.openxmlformats.org/officeDocument/2006/relationships/image" Target="../media/image30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4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03.png"/><Relationship Id="rId1" Type="http://schemas.openxmlformats.org/officeDocument/2006/relationships/slideLayout" Target="../slideLayouts/slideLayout2.xml"/></Relationships>
</file>

<file path=ppt/slides/_rels/slide25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04.png"/><Relationship Id="rId1" Type="http://schemas.openxmlformats.org/officeDocument/2006/relationships/slideLayout" Target="../slideLayouts/slideLayout2.xml"/></Relationships>
</file>

<file path=ppt/slides/_rels/slide26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05.png"/><Relationship Id="rId1" Type="http://schemas.openxmlformats.org/officeDocument/2006/relationships/slideLayout" Target="../slideLayouts/slideLayout2.xml"/></Relationships>
</file>

<file path=ppt/slides/_rels/slide27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Introdução à Probabilidade: Espaço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441868"/>
            <a:ext cx="10067277" cy="4295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/>
              <a:t>Objetivos do aula:</a:t>
            </a:r>
          </a:p>
          <a:p>
            <a:pPr marL="285737" indent="-285737">
              <a:buFont typeface="Arial" panose="020B0604020202020204" pitchFamily="34" charset="0"/>
              <a:buChar char="•"/>
            </a:pPr>
            <a:r>
              <a:rPr lang="pt-BR" sz="2400" dirty="0"/>
              <a:t>Revisão de teoria de conjuntos.</a:t>
            </a:r>
          </a:p>
          <a:p>
            <a:pPr marL="285737" indent="-285737">
              <a:buFont typeface="Arial" panose="020B0604020202020204" pitchFamily="34" charset="0"/>
              <a:buChar char="•"/>
            </a:pPr>
            <a:r>
              <a:rPr lang="pt-BR" sz="2400" dirty="0"/>
              <a:t>Conhecer os conceitos de fenômeno aleatório, espaço amostral e evento.</a:t>
            </a:r>
          </a:p>
          <a:p>
            <a:pPr marL="285737" indent="-285737">
              <a:buFont typeface="Arial" panose="020B0604020202020204" pitchFamily="34" charset="0"/>
              <a:buChar char="•"/>
            </a:pPr>
            <a:r>
              <a:rPr lang="pt-BR" sz="2400" dirty="0"/>
              <a:t>Definir a função probabilidade a partir de seus axiomas e propriedades.</a:t>
            </a:r>
          </a:p>
          <a:p>
            <a:r>
              <a:rPr lang="pt-BR" sz="2400" b="1" dirty="0"/>
              <a:t xml:space="preserve">Referências: 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 xml:space="preserve">Bussab, Morettin. </a:t>
            </a:r>
            <a:r>
              <a:rPr lang="pt-BR" sz="2000" b="1" dirty="0"/>
              <a:t>Estatística Básica</a:t>
            </a:r>
            <a:r>
              <a:rPr lang="pt-BR" sz="2000" dirty="0"/>
              <a:t>, 9ed — Cap. 5 (5.1, 5.2)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 xml:space="preserve">Montgomery, Runger. </a:t>
            </a:r>
            <a:r>
              <a:rPr lang="pt-BR" sz="2000" b="1" dirty="0"/>
              <a:t>Applied Statistics and Probability for Engineers</a:t>
            </a:r>
            <a:r>
              <a:rPr lang="pt-BR" sz="2000" dirty="0"/>
              <a:t>, 7th ed — Cap. 2 (2.1, 2.3)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 xml:space="preserve">Magalhães, Lima. </a:t>
            </a:r>
            <a:r>
              <a:rPr lang="pt-BR" sz="2000" b="1" dirty="0"/>
              <a:t>Noções de Probabilidade e Estatística</a:t>
            </a:r>
            <a:r>
              <a:rPr lang="pt-BR" sz="2000" dirty="0"/>
              <a:t>, 5ed — Cap. 2 (2.1)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 xml:space="preserve">Morettin. </a:t>
            </a:r>
            <a:r>
              <a:rPr lang="pt-BR" sz="2000" b="1" dirty="0"/>
              <a:t>Estatística Básica: Probabilidade e Inferência</a:t>
            </a:r>
            <a:r>
              <a:rPr lang="pt-BR" sz="2000" dirty="0"/>
              <a:t xml:space="preserve"> — Cap. 1 (1.1 a 1.6) e Cap. 2 (2.1)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7389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>
                <a:latin typeface="AlternateGothic2 BT" panose="020B0608020202050204" pitchFamily="34" charset="0"/>
              </a:rPr>
              <a:t xml:space="preserve">CEA055 </a:t>
            </a:r>
            <a:r>
              <a:rPr lang="pt-BR" dirty="0">
                <a:latin typeface="AlternateGothic2 BT" panose="020B0608020202050204" pitchFamily="34" charset="0"/>
              </a:rPr>
              <a:t>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dirty="0">
                <a:latin typeface="AlternateGothic2 BT" panose="020B0608020202050204" pitchFamily="34" charset="0"/>
              </a:rPr>
              <a:t>E</a:t>
            </a:r>
            <a:r>
              <a:rPr lang="pt-BR" sz="2200" b="1" dirty="0"/>
              <a:t>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067277" cy="35394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Revisão de teoria de conjuntos</a:t>
                </a:r>
              </a:p>
              <a:p>
                <a:endParaRPr lang="pt-BR" sz="2800" b="1" dirty="0"/>
              </a:p>
              <a:p>
                <a:r>
                  <a:rPr lang="pt-BR" sz="2800" dirty="0"/>
                  <a:t xml:space="preserve">Intuitivamente, por </a:t>
                </a:r>
                <a:r>
                  <a:rPr lang="pt-BR" sz="2800" b="1" dirty="0"/>
                  <a:t>conjunto</a:t>
                </a:r>
                <a:r>
                  <a:rPr lang="pt-BR" sz="2800" dirty="0"/>
                  <a:t xml:space="preserve"> entenderemos qualquer coleção de objetos.</a:t>
                </a:r>
              </a:p>
              <a:p>
                <a:endParaRPr lang="pt-BR" sz="2800" dirty="0"/>
              </a:p>
              <a:p>
                <a:r>
                  <a:rPr lang="pt-BR" sz="2800" b="1" dirty="0"/>
                  <a:t>Notação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pt-BR" sz="2800" dirty="0"/>
              </a:p>
              <a:p>
                <a:endParaRPr lang="pt-BR" sz="2800" b="1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067277" cy="3539430"/>
              </a:xfrm>
              <a:prstGeom prst="rect">
                <a:avLst/>
              </a:prstGeom>
              <a:blipFill>
                <a:blip r:embed="rId2"/>
                <a:stretch>
                  <a:fillRect l="-1272" t="-154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8893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dirty="0">
                <a:latin typeface="AlternateGothic2 BT" panose="020B0608020202050204" pitchFamily="34" charset="0"/>
              </a:rPr>
              <a:t>E</a:t>
            </a:r>
            <a:r>
              <a:rPr lang="pt-BR" sz="2200" b="1" dirty="0"/>
              <a:t>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827959" cy="4401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Relação de pertinência</a:t>
                </a:r>
              </a:p>
              <a:p>
                <a:endParaRPr lang="pt-BR" sz="2800" b="1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 xml:space="preserve">Para indicar que um elemento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sz="2800" dirty="0"/>
                  <a:t xml:space="preserve"> pertence ao conjunto A, escrevemos</a:t>
                </a:r>
              </a:p>
              <a:p>
                <a:pPr algn="ctr"/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pt-BR" sz="2800" dirty="0"/>
                  <a:t xml:space="preserve">. </a:t>
                </a:r>
              </a:p>
              <a:p>
                <a:endParaRPr lang="pt-BR" sz="2800" b="1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 xml:space="preserve">Caso contrário: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∉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800" dirty="0"/>
              </a:p>
              <a:p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pt-BR" sz="2800" dirty="0"/>
              </a:p>
              <a:p>
                <a:endParaRPr lang="pt-BR" sz="2800" b="1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827959" cy="4401205"/>
              </a:xfrm>
              <a:prstGeom prst="rect">
                <a:avLst/>
              </a:prstGeom>
              <a:blipFill>
                <a:blip r:embed="rId2"/>
                <a:stretch>
                  <a:fillRect l="-1182" t="-12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3977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dirty="0">
                <a:latin typeface="AlternateGothic2 BT" panose="020B0608020202050204" pitchFamily="34" charset="0"/>
              </a:rPr>
              <a:t>E</a:t>
            </a:r>
            <a:r>
              <a:rPr lang="pt-BR" sz="2200" b="1" dirty="0"/>
              <a:t>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827959" cy="33089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Exemplos de conjuntos numéricos</a:t>
                </a:r>
              </a:p>
              <a:p>
                <a:endParaRPr lang="pt-BR" sz="2800" b="1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ℤ</m:t>
                    </m:r>
                    <m:r>
                      <a:rPr lang="pt-BR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={…,−2,−1, 0, 1, 2,…}</m:t>
                    </m:r>
                  </m:oMath>
                </a14:m>
                <a:r>
                  <a:rPr lang="pt-BR" sz="2800" dirty="0"/>
                  <a:t>- números inteiros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ℕ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={ 0, 1, 2, 3…}</m:t>
                    </m:r>
                  </m:oMath>
                </a14:m>
                <a:r>
                  <a:rPr lang="pt-BR" sz="2800" dirty="0"/>
                  <a:t>- números naturais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ℚ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={ </m:t>
                    </m:r>
                    <m:f>
                      <m:f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den>
                    </m:f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ℤ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 }</m:t>
                    </m:r>
                  </m:oMath>
                </a14:m>
                <a:r>
                  <a:rPr lang="pt-BR" sz="2800" dirty="0"/>
                  <a:t xml:space="preserve"> - números racionais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ℝ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− </m:t>
                    </m:r>
                  </m:oMath>
                </a14:m>
                <a:r>
                  <a:rPr lang="pt-BR" sz="2800" dirty="0"/>
                  <a:t>números reais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ℂ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𝑏𝑖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ℝ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pt-BR" sz="2800" dirty="0"/>
                  <a:t>– números complexos</a:t>
                </a:r>
                <a:endParaRPr lang="pt-BR" sz="2800" b="1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827959" cy="3308919"/>
              </a:xfrm>
              <a:prstGeom prst="rect">
                <a:avLst/>
              </a:prstGeom>
              <a:blipFill>
                <a:blip r:embed="rId2"/>
                <a:stretch>
                  <a:fillRect l="-1182" t="-1657" b="-25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84128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dirty="0">
                <a:latin typeface="AlternateGothic2 BT" panose="020B0608020202050204" pitchFamily="34" charset="0"/>
              </a:rPr>
              <a:t>E</a:t>
            </a:r>
            <a:r>
              <a:rPr lang="pt-BR" sz="2200" b="1" dirty="0"/>
              <a:t>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827959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Notações de conjuntos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Unitário.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 xml:space="preserve">Vazio,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pt-B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∅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Finito ou infinito.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Enumerável ou não-enumerável.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827959" cy="3970318"/>
              </a:xfrm>
              <a:prstGeom prst="rect">
                <a:avLst/>
              </a:prstGeom>
              <a:blipFill>
                <a:blip r:embed="rId2"/>
                <a:stretch>
                  <a:fillRect l="-1182" t="-1382" b="-35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0251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dirty="0">
                <a:latin typeface="AlternateGothic2 BT" panose="020B0608020202050204" pitchFamily="34" charset="0"/>
              </a:rPr>
              <a:t>E</a:t>
            </a:r>
            <a:r>
              <a:rPr lang="pt-BR" sz="2200" b="1" dirty="0"/>
              <a:t>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827959" cy="48320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Outras notações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=, ≠,&gt;, &lt;</m:t>
                    </m:r>
                  </m:oMath>
                </a14:m>
                <a:r>
                  <a:rPr lang="pt-BR" sz="2800" dirty="0"/>
                  <a:t xml:space="preserve">, </a:t>
                </a:r>
                <a14:m>
                  <m:oMath xmlns:m="http://schemas.openxmlformats.org/officeDocument/2006/math"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≥, ≤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 xml:space="preserve">Intervalos: </a:t>
                </a:r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pPr marL="1371577" lvl="2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pPr marL="1371577" lvl="2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]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[</m:t>
                    </m:r>
                  </m:oMath>
                </a14:m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pPr marL="1371577" lvl="2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]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pt-BR" sz="2800" i="1" dirty="0">
                  <a:latin typeface="Cambria Math" panose="02040503050406030204" pitchFamily="18" charset="0"/>
                </a:endParaRPr>
              </a:p>
              <a:p>
                <a:pPr marL="1371577" lvl="2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[ </m:t>
                    </m:r>
                  </m:oMath>
                </a14:m>
                <a:endParaRPr lang="pt-BR" sz="2800" dirty="0"/>
              </a:p>
              <a:p>
                <a:pPr marL="1371577" lvl="2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,+∞[</m:t>
                    </m:r>
                  </m:oMath>
                </a14:m>
                <a:endParaRPr lang="pt-BR" sz="2800" b="0" dirty="0"/>
              </a:p>
              <a:p>
                <a:pPr marL="1371577" lvl="2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]−∞,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827959" cy="4832092"/>
              </a:xfrm>
              <a:prstGeom prst="rect">
                <a:avLst/>
              </a:prstGeom>
              <a:blipFill>
                <a:blip r:embed="rId2"/>
                <a:stretch>
                  <a:fillRect l="-1182" t="-113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062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dirty="0">
                <a:latin typeface="AlternateGothic2 BT" panose="020B0608020202050204" pitchFamily="34" charset="0"/>
              </a:rPr>
              <a:t>E</a:t>
            </a:r>
            <a:r>
              <a:rPr lang="pt-BR" sz="2200" b="1" dirty="0"/>
              <a:t>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827959" cy="4401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Relações entre conjuntos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pt-BR" sz="2800" b="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⊂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⊄</m:t>
                    </m:r>
                    <m:r>
                      <a:rPr lang="pt-BR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Combinações</a:t>
                </a:r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⊊</m:t>
                    </m:r>
                    <m:r>
                      <a:rPr lang="pt-BR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827959" cy="4401205"/>
              </a:xfrm>
              <a:prstGeom prst="rect">
                <a:avLst/>
              </a:prstGeom>
              <a:blipFill>
                <a:blip r:embed="rId2"/>
                <a:stretch>
                  <a:fillRect l="-1182" t="-12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1718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dirty="0">
                <a:latin typeface="AlternateGothic2 BT" panose="020B0608020202050204" pitchFamily="34" charset="0"/>
              </a:rPr>
              <a:t>E</a:t>
            </a:r>
            <a:r>
              <a:rPr lang="pt-BR" sz="2200" b="1" dirty="0"/>
              <a:t>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827959" cy="42208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Contagem de elementos de conjuntos finitos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noBar"/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den>
                        </m:f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!</m:t>
                        </m:r>
                      </m:num>
                      <m:den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!</m:t>
                        </m:r>
                        <m:d>
                          <m:d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d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pt-BR" sz="2800" b="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 xml:space="preserve">Todo conjunto finito com n elementos tem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pt-BR" sz="2800" dirty="0"/>
                  <a:t xml:space="preserve"> subconjuntos distintos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 xml:space="preserve">Conjunto das partes de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pt-BR" sz="2800" dirty="0"/>
                  <a:t xml:space="preserve"> é o conjunto cujos elementos são todos os subconjuntos de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pt-BR" sz="2800" dirty="0"/>
                  <a:t>.</a:t>
                </a:r>
                <a14:m>
                  <m:oMath xmlns:m="http://schemas.openxmlformats.org/officeDocument/2006/math">
                    <m:r>
                      <a:rPr lang="pt-BR" sz="2800" b="0" i="0" dirty="0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endParaRPr lang="pt-BR" sz="2800" b="0" i="0" dirty="0">
                  <a:latin typeface="Cambria Math" panose="02040503050406030204" pitchFamily="18" charset="0"/>
                </a:endParaRPr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827959" cy="4220899"/>
              </a:xfrm>
              <a:prstGeom prst="rect">
                <a:avLst/>
              </a:prstGeom>
              <a:blipFill>
                <a:blip r:embed="rId2"/>
                <a:stretch>
                  <a:fillRect l="-1182" t="-13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3073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dirty="0">
                <a:latin typeface="AlternateGothic2 BT" panose="020B0608020202050204" pitchFamily="34" charset="0"/>
              </a:rPr>
              <a:t>E</a:t>
            </a:r>
            <a:r>
              <a:rPr lang="pt-BR" sz="2200" b="1" dirty="0"/>
              <a:t>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827959" cy="4402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Operadores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b="0" dirty="0"/>
                  <a:t xml:space="preserve">Complementar: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b="0" dirty="0"/>
                  <a:t xml:space="preserve">União: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 ∪</m:t>
                    </m:r>
                    <m:r>
                      <a:rPr lang="pt-BR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endParaRPr lang="pt-BR" sz="2800" b="0" dirty="0">
                  <a:ea typeface="Cambria Math" panose="02040503050406030204" pitchFamily="18" charset="0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b="0" dirty="0"/>
                  <a:t xml:space="preserve">Interseção: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∩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 xml:space="preserve">Subtração: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∩</m:t>
                    </m:r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827959" cy="4402615"/>
              </a:xfrm>
              <a:prstGeom prst="rect">
                <a:avLst/>
              </a:prstGeom>
              <a:blipFill>
                <a:blip r:embed="rId2"/>
                <a:stretch>
                  <a:fillRect l="-1182" t="-12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097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dirty="0">
                <a:latin typeface="AlternateGothic2 BT" panose="020B0608020202050204" pitchFamily="34" charset="0"/>
              </a:rPr>
              <a:t>E</a:t>
            </a:r>
            <a:r>
              <a:rPr lang="pt-BR" sz="2200" b="1" dirty="0"/>
              <a:t>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827959" cy="39717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Operadores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∪</m:t>
                    </m:r>
                    <m:d>
                      <m:d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∪</m:t>
                        </m:r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∩</m:t>
                    </m:r>
                    <m:d>
                      <m:d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∪</m:t>
                        </m:r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pt-BR" sz="2800" b="0" dirty="0"/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:endParaRPr lang="pt-BR" sz="2800" b="0" dirty="0"/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∩</m:t>
                    </m:r>
                    <m:d>
                      <m:d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∪</m:t>
                        </m:r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pt-BR" sz="2800" b="0" i="0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∪(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∩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800" dirty="0"/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∩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∪</m:t>
                    </m:r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endParaRPr lang="pt-BR" sz="2800" b="0" dirty="0"/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∪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∩</m:t>
                    </m:r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827959" cy="3971728"/>
              </a:xfrm>
              <a:prstGeom prst="rect">
                <a:avLst/>
              </a:prstGeom>
              <a:blipFill>
                <a:blip r:embed="rId2"/>
                <a:stretch>
                  <a:fillRect l="-1182" t="-138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97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dirty="0">
                <a:latin typeface="AlternateGothic2 BT" panose="020B0608020202050204" pitchFamily="34" charset="0"/>
              </a:rPr>
              <a:t>E</a:t>
            </a:r>
            <a:r>
              <a:rPr lang="pt-BR" sz="2200" b="1" dirty="0"/>
              <a:t>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827959" cy="26804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União e interseção de vários conjuntos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⋃</m:t>
                        </m:r>
                      </m:e>
                      <m:sub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sSub>
                      <m:sSub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∪</m:t>
                    </m:r>
                    <m:sSub>
                      <m:sSub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∪⋯∪</m:t>
                    </m:r>
                    <m:sSub>
                      <m:sSub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800" b="0" dirty="0"/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pt-BR" sz="2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⋂</m:t>
                        </m:r>
                      </m:e>
                      <m:sub>
                        <m:r>
                          <a:rPr lang="pt-BR" sz="28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800" i="1" dirty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BR" sz="2800" i="1" dirty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sSub>
                      <m:sSubPr>
                        <m:ctrlPr>
                          <a:rPr lang="pt-BR" sz="28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sz="2800" i="1" dirty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sz="28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sz="2800" i="1" dirty="0">
                        <a:latin typeface="Cambria Math" panose="02040503050406030204" pitchFamily="18" charset="0"/>
                      </a:rPr>
                      <m:t>⋂</m:t>
                    </m:r>
                    <m:sSub>
                      <m:sSubPr>
                        <m:ctrlPr>
                          <a:rPr lang="pt-BR" sz="28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sz="2800" i="1" dirty="0">
                        <a:latin typeface="Cambria Math" panose="02040503050406030204" pitchFamily="18" charset="0"/>
                      </a:rPr>
                      <m:t>⋂⋯⋂</m:t>
                    </m:r>
                    <m:sSub>
                      <m:sSubPr>
                        <m:ctrlPr>
                          <a:rPr lang="pt-BR" sz="28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pt-BR" sz="2800" i="1" dirty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827959" cy="2680477"/>
              </a:xfrm>
              <a:prstGeom prst="rect">
                <a:avLst/>
              </a:prstGeom>
              <a:blipFill>
                <a:blip r:embed="rId2"/>
                <a:stretch>
                  <a:fillRect l="-1182" t="-204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888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2"/>
            <a:ext cx="10827959" cy="1641228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dirty="0">
                <a:latin typeface="AlternateGothic2 BT" panose="020B0608020202050204" pitchFamily="34" charset="0"/>
              </a:rPr>
              <a:t>E</a:t>
            </a:r>
            <a:r>
              <a:rPr lang="pt-BR" sz="2200" b="1" dirty="0"/>
              <a:t>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5"/>
            <a:ext cx="970464" cy="2027284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1032611" y="2041869"/>
            <a:ext cx="1082795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Referencia: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457178" indent="-457178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457178" indent="-457178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800" dirty="0"/>
              <a:t>https://docs.ufpr.br/~</a:t>
            </a:r>
            <a:r>
              <a:rPr lang="pt-BR" sz="2800" dirty="0" err="1"/>
              <a:t>akirilov</a:t>
            </a:r>
            <a:r>
              <a:rPr lang="pt-BR" sz="2800" dirty="0"/>
              <a:t>/ensino/2017/</a:t>
            </a:r>
            <a:r>
              <a:rPr lang="pt-BR" sz="2800" dirty="0" err="1"/>
              <a:t>docs</a:t>
            </a:r>
            <a:r>
              <a:rPr lang="pt-BR" sz="2800" dirty="0"/>
              <a:t>/itc01-UFPR-2017.pdf.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endParaRPr lang="pt-BR" sz="28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49F6C3D-C6CD-46EB-B00C-3C31995D5B04}"/>
              </a:ext>
            </a:extLst>
          </p:cNvPr>
          <p:cNvSpPr txBox="1"/>
          <p:nvPr/>
        </p:nvSpPr>
        <p:spPr>
          <a:xfrm>
            <a:off x="361395" y="6488668"/>
            <a:ext cx="2348848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>
                <a:solidFill>
                  <a:schemeClr val="bg1"/>
                </a:solidFill>
              </a:rPr>
              <a:t>Professor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8134230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506234"/>
            <a:ext cx="1006727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Definição do dicionário</a:t>
            </a:r>
          </a:p>
          <a:p>
            <a:pPr marL="285737" indent="-285737">
              <a:buFont typeface="Arial" panose="020B0604020202020204" pitchFamily="34" charset="0"/>
              <a:buChar char="•"/>
            </a:pPr>
            <a:endParaRPr lang="pt-BR" sz="2800" dirty="0"/>
          </a:p>
          <a:p>
            <a:r>
              <a:rPr lang="pt-BR" sz="2400" dirty="0"/>
              <a:t>1.</a:t>
            </a:r>
          </a:p>
          <a:p>
            <a:r>
              <a:rPr lang="pt-BR" sz="2400" dirty="0"/>
              <a:t>perspectiva favorável de que algo venha a ocorrer; possibilidade, chance.</a:t>
            </a:r>
          </a:p>
          <a:p>
            <a:endParaRPr lang="pt-BR" sz="2400" dirty="0"/>
          </a:p>
          <a:p>
            <a:r>
              <a:rPr lang="pt-BR" sz="2400" dirty="0"/>
              <a:t>2.</a:t>
            </a:r>
          </a:p>
          <a:p>
            <a:r>
              <a:rPr lang="pt-BR" sz="2400" dirty="0"/>
              <a:t>grau de segurança com que se pode esperar a realização de um evento, determinado pela frequência relativa dos eventos do mesmo tipo numa série de tentativas.</a:t>
            </a:r>
          </a:p>
          <a:p>
            <a:pPr marL="742926" lvl="1" indent="-285737">
              <a:buFont typeface="Arial" panose="020B0604020202020204" pitchFamily="34" charset="0"/>
              <a:buChar char="•"/>
            </a:pPr>
            <a:endParaRPr lang="pt-BR" sz="28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5615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506234"/>
            <a:ext cx="10067277" cy="46474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Evento aleatório</a:t>
            </a:r>
          </a:p>
          <a:p>
            <a:pPr marL="285737" indent="-285737">
              <a:buFont typeface="Arial" panose="020B0604020202020204" pitchFamily="34" charset="0"/>
              <a:buChar char="•"/>
            </a:pPr>
            <a:endParaRPr lang="pt-BR" sz="2800" dirty="0"/>
          </a:p>
          <a:p>
            <a:r>
              <a:rPr lang="pt-BR" sz="2400" dirty="0"/>
              <a:t xml:space="preserve">Uma série de experimentos cujas condições iniciais são iguais e a condição final (resultado) não é previsível, é chamado de </a:t>
            </a:r>
            <a:r>
              <a:rPr lang="pt-BR" sz="2400" u="sng" dirty="0"/>
              <a:t>experimento aleatório</a:t>
            </a:r>
            <a:r>
              <a:rPr lang="pt-BR" sz="2400" dirty="0"/>
              <a:t>.</a:t>
            </a:r>
          </a:p>
          <a:p>
            <a:endParaRPr lang="pt-BR" sz="2400" dirty="0"/>
          </a:p>
          <a:p>
            <a:r>
              <a:rPr lang="pt-BR" sz="2400" dirty="0"/>
              <a:t>Um experimento aleatório, associado a um resultado obtido , é chamado de evento aleatório.</a:t>
            </a:r>
          </a:p>
          <a:p>
            <a:endParaRPr lang="pt-BR" sz="2400" dirty="0"/>
          </a:p>
          <a:p>
            <a:r>
              <a:rPr lang="pt-BR" sz="2400" dirty="0"/>
              <a:t>Exemplos de experimentos aleatórios:</a:t>
            </a:r>
            <a:endParaRPr lang="pt-BR" sz="2800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pt-BR" sz="2400" dirty="0"/>
              <a:t>Lançamento de uma moeda honesta,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pt-BR" sz="2400" dirty="0"/>
              <a:t>Retirada de uma carta de um baralho com 52 cartas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pt-BR" sz="2400" dirty="0"/>
              <a:t>Determinação da vida útil de um componente eletrônico.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3725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067277" cy="42780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Espaço amostral</a:t>
                </a:r>
              </a:p>
              <a:p>
                <a:pPr marL="285737" indent="-285737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r>
                  <a:rPr lang="pt-BR" sz="2400" dirty="0"/>
                  <a:t>Espaço amostral de um experimento aleatório é o conjunto de todos os resultados possíveis do experimento.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Os elementos do espaço amostral serão chamados de pontos amostrais.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 xml:space="preserve">Notação: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400" b="0" i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endParaRPr lang="pt-BR" sz="2400" dirty="0"/>
              </a:p>
              <a:p>
                <a:endParaRPr lang="pt-BR" sz="2400" dirty="0"/>
              </a:p>
              <a:p>
                <a:r>
                  <a:rPr lang="pt-BR" sz="2400" b="1" dirty="0"/>
                  <a:t xml:space="preserve">Exemplo: </a:t>
                </a:r>
                <a:r>
                  <a:rPr lang="pt-BR" sz="2400" dirty="0"/>
                  <a:t>No slide anterior, identifique os espaços amostrais dos experimentos aleatórios.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067277" cy="4278094"/>
              </a:xfrm>
              <a:prstGeom prst="rect">
                <a:avLst/>
              </a:prstGeom>
              <a:blipFill>
                <a:blip r:embed="rId2"/>
                <a:stretch>
                  <a:fillRect l="-1272" t="-1282" b="-227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5577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506234"/>
            <a:ext cx="1006727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 xml:space="preserve">Exemplos: </a:t>
            </a:r>
            <a:r>
              <a:rPr lang="pt-BR" sz="2800" dirty="0"/>
              <a:t>Lançam-se dois dados de 6 faces. Encontre os subconjuntos do espaço amostral que corresponde aos eventos abaixo:</a:t>
            </a:r>
          </a:p>
          <a:p>
            <a:endParaRPr lang="pt-BR" sz="2800" dirty="0"/>
          </a:p>
          <a:p>
            <a:endParaRPr lang="pt-BR" sz="2800" dirty="0"/>
          </a:p>
          <a:p>
            <a:r>
              <a:rPr lang="pt-BR" sz="2800" dirty="0"/>
              <a:t>A: saída de faces iguais;</a:t>
            </a:r>
          </a:p>
          <a:p>
            <a:r>
              <a:rPr lang="pt-BR" sz="2800" dirty="0"/>
              <a:t>B: saída de faces cuja soma seja igual a 10;</a:t>
            </a:r>
          </a:p>
          <a:p>
            <a:r>
              <a:rPr lang="pt-BR" sz="2800" dirty="0"/>
              <a:t>C: saída de faces cuja soma seja menor que 2;</a:t>
            </a:r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6288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506234"/>
            <a:ext cx="1006727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Árvore de eventos aleatórios</a:t>
            </a:r>
          </a:p>
          <a:p>
            <a:endParaRPr lang="pt-BR" sz="2800" b="1" dirty="0"/>
          </a:p>
          <a:p>
            <a:r>
              <a:rPr lang="pt-BR" sz="2800" dirty="0"/>
              <a:t>É um diagrama que exibe todos os eventos aleatórios de uma experimento.</a:t>
            </a:r>
          </a:p>
          <a:p>
            <a:endParaRPr lang="pt-BR" sz="2800" dirty="0"/>
          </a:p>
          <a:p>
            <a:r>
              <a:rPr lang="pt-BR" sz="2800" dirty="0"/>
              <a:t xml:space="preserve">Exemplo: Considere o seguinte experimento: joga-se uma moeda honesta e, em seguida, uma dado com quatro faces. Exiba a árvore de eventos aleatórios desse experimento.  </a:t>
            </a:r>
          </a:p>
          <a:p>
            <a:pPr lvl="1"/>
            <a:endParaRPr lang="pt-BR" sz="28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4054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067277" cy="42780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Classe dos eventos aleatórios</a:t>
                </a:r>
              </a:p>
              <a:p>
                <a:endParaRPr lang="pt-BR" sz="2800" b="1" dirty="0"/>
              </a:p>
              <a:p>
                <a:r>
                  <a:rPr lang="pt-BR" sz="2400" dirty="0"/>
                  <a:t>E o conjunto formado de todos os eventos (subconjuntos) do espaço amostral.</a:t>
                </a:r>
              </a:p>
              <a:p>
                <a:endParaRPr lang="pt-BR" sz="2400" dirty="0"/>
              </a:p>
              <a:p>
                <a:r>
                  <a:rPr lang="pt-BR" sz="2400" b="1" dirty="0"/>
                  <a:t xml:space="preserve">Exercício: </a:t>
                </a:r>
                <a:r>
                  <a:rPr lang="pt-BR" sz="2400" dirty="0"/>
                  <a:t>Leia o slide sobre teoria de conjuntos, a seção 1.3 do livro e responda: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4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400" dirty="0"/>
                  <a:t>Quantos elementos tem a classe de conjuntos aleatórios de um experimento?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400" dirty="0"/>
                  <a:t xml:space="preserve">Como calcular a quantidade de eventos aleatórios com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400" dirty="0"/>
                  <a:t xml:space="preserve"> resultados possíveis?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067277" cy="4278094"/>
              </a:xfrm>
              <a:prstGeom prst="rect">
                <a:avLst/>
              </a:prstGeom>
              <a:blipFill>
                <a:blip r:embed="rId2"/>
                <a:stretch>
                  <a:fillRect l="-1272" t="-1282" b="-227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60428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067277" cy="48874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Operações com eventos aleatórios</a:t>
                </a:r>
              </a:p>
              <a:p>
                <a:endParaRPr lang="pt-BR" sz="2800" b="1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 xml:space="preserve">União: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∪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pt-BR" sz="2800" b="0" dirty="0"/>
                  <a:t xml:space="preserve"> 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 xml:space="preserve">Intersecção: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∩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pt-BR" sz="2800" b="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 xml:space="preserve">Complementação: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r>
                  <a:rPr lang="pt-BR" sz="2800" dirty="0"/>
                  <a:t xml:space="preserve"> ou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endParaRPr lang="pt-BR" sz="2800" dirty="0"/>
              </a:p>
              <a:p>
                <a:endParaRPr lang="pt-BR" sz="2800" dirty="0"/>
              </a:p>
              <a:p>
                <a:r>
                  <a:rPr lang="pt-BR" sz="2800" b="1" dirty="0"/>
                  <a:t>Exemplo</a:t>
                </a:r>
                <a:r>
                  <a:rPr lang="pt-BR" sz="2800" dirty="0"/>
                  <a:t>: Considere dois lançamento de um dado com 4 faces. Defina os eventos: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pt-BR" sz="2800" dirty="0"/>
                  <a:t>: O primeiro número é par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pt-BR" sz="2800" dirty="0"/>
                  <a:t>: A soma dos dois lançamentos é  menor que 4</a:t>
                </a:r>
              </a:p>
              <a:p>
                <a:r>
                  <a:rPr lang="pt-BR" sz="2800" dirty="0"/>
                  <a:t xml:space="preserve">Encontre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∩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pt-BR" sz="2800" dirty="0"/>
                  <a:t xml:space="preserve">,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∪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pt-BR" sz="2800" dirty="0"/>
                  <a:t xml:space="preserve"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r>
                  <a:rPr lang="pt-BR" sz="2800" dirty="0"/>
                  <a:t xml:space="preserve">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r>
                  <a:rPr lang="pt-BR" sz="2800" dirty="0"/>
                  <a:t>.</a:t>
                </a:r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067277" cy="4887492"/>
              </a:xfrm>
              <a:prstGeom prst="rect">
                <a:avLst/>
              </a:prstGeom>
              <a:blipFill>
                <a:blip r:embed="rId2"/>
                <a:stretch>
                  <a:fillRect l="-1272" t="-1122" b="-16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6389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748061" cy="48681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Partição de um espaço amostral</a:t>
                </a:r>
              </a:p>
              <a:p>
                <a:endParaRPr lang="pt-BR" sz="2800" dirty="0"/>
              </a:p>
              <a:p>
                <a:r>
                  <a:rPr lang="pt-BR" sz="2800" dirty="0"/>
                  <a:t xml:space="preserve">Dizemos que os eventos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…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pt-BR" sz="2800" dirty="0"/>
                  <a:t xml:space="preserve">, formam uma partição do espaço amostral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800" b="0" i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pt-BR" sz="2800" dirty="0"/>
                  <a:t xml:space="preserve"> se:</a:t>
                </a:r>
              </a:p>
              <a:p>
                <a:endParaRPr lang="pt-BR" sz="2800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pt-BR" sz="2800" b="0" dirty="0"/>
                  <a:t xml:space="preserve"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∅</m:t>
                    </m:r>
                  </m:oMath>
                </a14:m>
                <a:r>
                  <a:rPr lang="pt-BR" sz="2800" dirty="0"/>
                  <a:t xml:space="preserve">,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pt-BR" sz="2800" b="0" dirty="0"/>
              </a:p>
              <a:p>
                <a:pPr marL="514350" indent="-514350">
                  <a:buFont typeface="+mj-lt"/>
                  <a:buAutoNum type="alphaLcParenR"/>
                </a:pPr>
                <a:endParaRPr lang="pt-BR" sz="2800" b="0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pt-BR" sz="2800" dirty="0"/>
                  <a:t xml:space="preserve"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∩</m:t>
                    </m:r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=∅,</m:t>
                    </m:r>
                  </m:oMath>
                </a14:m>
                <a:r>
                  <a:rPr lang="pt-BR" sz="2800" dirty="0"/>
                  <a:t xml:space="preserve"> para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pt-BR" sz="2800" dirty="0"/>
              </a:p>
              <a:p>
                <a:pPr marL="514350" indent="-514350">
                  <a:buFont typeface="+mj-lt"/>
                  <a:buAutoNum type="alphaLcParenR"/>
                </a:pPr>
                <a:endParaRPr lang="pt-BR" sz="2800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pt-BR" sz="2800" dirty="0"/>
                  <a:t xml:space="preserve"> </a:t>
                </a:r>
                <a14:m>
                  <m:oMath xmlns:m="http://schemas.openxmlformats.org/officeDocument/2006/math">
                    <m:nary>
                      <m:naryPr>
                        <m:chr m:val="⋃"/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pt-BR" sz="28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sz="2800" b="0" i="0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endParaRPr lang="pt-BR" sz="2800" dirty="0"/>
              </a:p>
              <a:p>
                <a:pPr marL="514350" indent="-514350">
                  <a:buFont typeface="+mj-lt"/>
                  <a:buAutoNum type="alphaLcParenR"/>
                </a:pPr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748061" cy="4868192"/>
              </a:xfrm>
              <a:prstGeom prst="rect">
                <a:avLst/>
              </a:prstGeom>
              <a:blipFill>
                <a:blip r:embed="rId2"/>
                <a:stretch>
                  <a:fillRect l="-1191" t="-112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E7FF7729-F3FB-B2AE-192B-468CEF40A7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100" y="3081034"/>
            <a:ext cx="4915586" cy="2991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2040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748061" cy="42178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400" b="1" dirty="0"/>
                  <a:t>Definição</a:t>
                </a:r>
              </a:p>
              <a:p>
                <a:endParaRPr lang="pt-BR" sz="2400" b="1" dirty="0"/>
              </a:p>
              <a:p>
                <a:r>
                  <a:rPr lang="pt-BR" sz="2400" dirty="0"/>
                  <a:t xml:space="preserve">Seja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400" b="0" i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pt-BR" sz="2400" dirty="0"/>
                  <a:t xml:space="preserve"> o conjunto de todos os eventos possíveis de um fenômeno aleatório. Uma função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b="1" i="1" smtClean="0">
                        <a:latin typeface="Cambria Math" panose="02040503050406030204" pitchFamily="18" charset="0"/>
                      </a:rPr>
                      <m:t>⋅)</m:t>
                    </m:r>
                  </m:oMath>
                </a14:m>
                <a:r>
                  <a:rPr lang="pt-BR" sz="2400" dirty="0"/>
                  <a:t xml:space="preserve"> é denominada </a:t>
                </a:r>
                <a:r>
                  <a:rPr lang="pt-BR" sz="2400" i="1" dirty="0"/>
                  <a:t>probabilidade</a:t>
                </a:r>
                <a:r>
                  <a:rPr lang="pt-BR" sz="2400" dirty="0"/>
                  <a:t xml:space="preserve"> se satisfaz as seguintes condições:</a:t>
                </a:r>
              </a:p>
              <a:p>
                <a:endParaRPr lang="pt-BR" sz="2400" dirty="0"/>
              </a:p>
              <a:p>
                <a:pPr marL="1028689" lvl="1" indent="-571500">
                  <a:buFont typeface="+mj-lt"/>
                  <a:buAutoNum type="romanLcPeriod"/>
                </a:pP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0≤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  <a:r>
                  <a:rPr lang="pt-BR" sz="2400" dirty="0"/>
                  <a:t xml:space="preserve">, para todo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⊂</m:t>
                    </m:r>
                    <m:r>
                      <m:rPr>
                        <m:sty m:val="p"/>
                      </m:rPr>
                      <a:rPr lang="pt-BR" sz="2400" b="0" i="0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endParaRPr lang="pt-BR" sz="2400" b="0" dirty="0"/>
              </a:p>
              <a:p>
                <a:pPr marL="1028689" lvl="1" indent="-571500">
                  <a:buFont typeface="+mj-lt"/>
                  <a:buAutoNum type="romanLcPeriod"/>
                </a:pPr>
                <a:endParaRPr lang="pt-BR" sz="2400" b="0" dirty="0"/>
              </a:p>
              <a:p>
                <a:pPr marL="1028689" lvl="1" indent="-571500">
                  <a:buFont typeface="+mj-lt"/>
                  <a:buAutoNum type="romanLcPeriod"/>
                </a:pP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pt-BR" sz="2400" b="0" i="0" smtClean="0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sz="2400" b="0" dirty="0"/>
                  <a:t>;</a:t>
                </a:r>
              </a:p>
              <a:p>
                <a:pPr marL="1028689" lvl="1" indent="-571500">
                  <a:buFont typeface="+mj-lt"/>
                  <a:buAutoNum type="romanLcPeriod"/>
                </a:pPr>
                <a:endParaRPr lang="pt-BR" sz="2400" b="0" dirty="0"/>
              </a:p>
              <a:p>
                <a:pPr marL="1028689" lvl="1" indent="-571500">
                  <a:buFont typeface="+mj-lt"/>
                  <a:buAutoNum type="romanLcPeriod"/>
                </a:pP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⋃"/>
                            <m:ctrl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sz="24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+⋯+</m:t>
                    </m:r>
                    <m:r>
                      <a:rPr lang="pt-BR" sz="24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sz="2400" b="0" dirty="0"/>
                  <a:t xml:space="preserve">, com 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sz="2400" b="0" dirty="0"/>
                  <a:t>’s disjuntos.</a:t>
                </a:r>
              </a:p>
              <a:p>
                <a:pPr marL="1028689" lvl="1" indent="-571500">
                  <a:buFont typeface="+mj-lt"/>
                  <a:buAutoNum type="romanLcPeriod"/>
                </a:pPr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748061" cy="4217821"/>
              </a:xfrm>
              <a:prstGeom prst="rect">
                <a:avLst/>
              </a:prstGeom>
              <a:blipFill>
                <a:blip r:embed="rId2"/>
                <a:stretch>
                  <a:fillRect l="-908" t="-1156" b="-53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2040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506234"/>
            <a:ext cx="10067277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Exemplos:</a:t>
            </a:r>
          </a:p>
          <a:p>
            <a:endParaRPr lang="pt-BR" sz="2800" b="1" dirty="0"/>
          </a:p>
          <a:p>
            <a:pPr marL="514350" indent="-514350">
              <a:buFont typeface="+mj-lt"/>
              <a:buAutoNum type="arabicPeriod"/>
            </a:pPr>
            <a:r>
              <a:rPr lang="pt-BR" sz="2400" b="1" dirty="0"/>
              <a:t xml:space="preserve"> </a:t>
            </a:r>
            <a:r>
              <a:rPr lang="pt-BR" sz="2400" dirty="0"/>
              <a:t>Considere um dado equilibrado de 6 faces.</a:t>
            </a:r>
          </a:p>
          <a:p>
            <a:pPr marL="514350" indent="-514350">
              <a:buFont typeface="+mj-lt"/>
              <a:buAutoNum type="arabicPeriod"/>
            </a:pPr>
            <a:endParaRPr lang="pt-BR" sz="2400" dirty="0"/>
          </a:p>
          <a:p>
            <a:pPr marL="514350" indent="-514350">
              <a:buFont typeface="+mj-lt"/>
              <a:buAutoNum type="arabicPeriod"/>
            </a:pPr>
            <a:endParaRPr lang="pt-BR" sz="2400" dirty="0"/>
          </a:p>
          <a:p>
            <a:pPr marL="514350" indent="-514350">
              <a:buFont typeface="+mj-lt"/>
              <a:buAutoNum type="arabicPeriod"/>
            </a:pPr>
            <a:endParaRPr lang="pt-BR" sz="2400" dirty="0"/>
          </a:p>
          <a:p>
            <a:pPr marL="514350" indent="-514350">
              <a:buFont typeface="+mj-lt"/>
              <a:buAutoNum type="arabicPeriod"/>
            </a:pPr>
            <a:endParaRPr lang="pt-BR" sz="2400" dirty="0"/>
          </a:p>
          <a:p>
            <a:r>
              <a:rPr lang="pt-BR" sz="2400" dirty="0"/>
              <a:t>Qual a probabilidade de ser sorteada uma face aleatoriamente?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D8A93B48-37A3-4704-A123-7168EBD798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687" y="2933631"/>
            <a:ext cx="8954750" cy="990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6288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506234"/>
            <a:ext cx="1006727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Exemplos:</a:t>
            </a:r>
          </a:p>
          <a:p>
            <a:endParaRPr lang="pt-BR" sz="2800" b="1" dirty="0"/>
          </a:p>
          <a:p>
            <a:pPr marL="514350" indent="-514350">
              <a:buFont typeface="+mj-lt"/>
              <a:buAutoNum type="arabicPeriod" startAt="2"/>
            </a:pPr>
            <a:r>
              <a:rPr lang="pt-BR" sz="2400" b="1" dirty="0"/>
              <a:t xml:space="preserve"> </a:t>
            </a:r>
            <a:r>
              <a:rPr lang="pt-BR" sz="2400" dirty="0"/>
              <a:t>Considere um grupo de duas mulheres (M) e três homens (H)</a:t>
            </a:r>
          </a:p>
          <a:p>
            <a:pPr marL="514350" indent="-514350">
              <a:buFont typeface="+mj-lt"/>
              <a:buAutoNum type="arabicPeriod" startAt="2"/>
            </a:pPr>
            <a:endParaRPr lang="pt-BR" sz="2400" dirty="0"/>
          </a:p>
          <a:p>
            <a:pPr marL="514350" indent="-514350">
              <a:buFont typeface="+mj-lt"/>
              <a:buAutoNum type="arabicPeriod" startAt="2"/>
            </a:pPr>
            <a:endParaRPr lang="pt-BR" sz="2400" dirty="0"/>
          </a:p>
          <a:p>
            <a:pPr marL="514350" indent="-514350">
              <a:buFont typeface="+mj-lt"/>
              <a:buAutoNum type="arabicPeriod" startAt="2"/>
            </a:pPr>
            <a:endParaRPr lang="pt-BR" sz="2400" dirty="0"/>
          </a:p>
          <a:p>
            <a:pPr marL="514350" indent="-514350">
              <a:buFont typeface="+mj-lt"/>
              <a:buAutoNum type="arabicPeriod" startAt="2"/>
            </a:pPr>
            <a:endParaRPr lang="pt-BR" sz="2400" dirty="0"/>
          </a:p>
          <a:p>
            <a:r>
              <a:rPr lang="pt-BR" sz="2400" dirty="0"/>
              <a:t>Qual a probabilidade que um homem seja escolhido aleatoriamente no grupo? E uma mulher?</a:t>
            </a:r>
          </a:p>
          <a:p>
            <a:pPr marL="742926" lvl="1" indent="-285737">
              <a:buFont typeface="Arial" panose="020B0604020202020204" pitchFamily="34" charset="0"/>
              <a:buChar char="•"/>
            </a:pPr>
            <a:endParaRPr lang="pt-BR" sz="28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8462FB79-FC95-4F54-B4FE-A19733592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2103" y="2986674"/>
            <a:ext cx="6706536" cy="1019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4054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748061" cy="4402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Teoremas</a:t>
                </a:r>
              </a:p>
              <a:p>
                <a:endParaRPr lang="pt-BR" sz="2800" b="1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pt-BR" sz="2800" dirty="0"/>
                  <a:t xml:space="preserve">Se os eventos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 …,</m:t>
                    </m:r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pt-BR" sz="2800" dirty="0"/>
                  <a:t xml:space="preserve"> formam um partição do espaço amostral, então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pt-BR" sz="2800" b="0" dirty="0"/>
              </a:p>
              <a:p>
                <a:pPr marL="514350" indent="-514350">
                  <a:buFont typeface="+mj-lt"/>
                  <a:buAutoNum type="arabicPeriod"/>
                </a:pPr>
                <a:endParaRPr lang="pt-BR" sz="28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pt-BR" sz="2800" dirty="0"/>
                  <a:t xml:space="preserve">Se o evento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pt-BR" sz="2800" dirty="0"/>
                  <a:t xml:space="preserve"> é impossível, então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=0.</m:t>
                    </m:r>
                  </m:oMath>
                </a14:m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pt-BR" sz="2800" dirty="0"/>
                  <a:t xml:space="preserve">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p>
                        </m:sSup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pt-BR" sz="2800" dirty="0"/>
              </a:p>
              <a:p>
                <a:pPr marL="514350" indent="-514350">
                  <a:buFont typeface="+mj-lt"/>
                  <a:buAutoNum type="arabicPeriod"/>
                </a:pPr>
                <a:endParaRPr lang="pt-BR" sz="28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pt-BR" sz="2800" dirty="0"/>
                  <a:t xml:space="preserve">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∪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∩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748061" cy="4402615"/>
              </a:xfrm>
              <a:prstGeom prst="rect">
                <a:avLst/>
              </a:prstGeom>
              <a:blipFill>
                <a:blip r:embed="rId2"/>
                <a:stretch>
                  <a:fillRect l="-1191" t="-1247" b="-318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1035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748061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 xml:space="preserve">Exemplos: </a:t>
                </a:r>
                <a:r>
                  <a:rPr lang="pt-BR" sz="2800" dirty="0"/>
                  <a:t xml:space="preserve">Suponha que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sz="2800" dirty="0"/>
                  <a:t xml:space="preserve"> </a:t>
                </a:r>
                <a14:m>
                  <m:oMath xmlns:m="http://schemas.openxmlformats.org/officeDocument/2006/math"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sz="2800" dirty="0"/>
                  <a:t xml:space="preserve"> 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pt-BR" sz="2800" dirty="0"/>
                  <a:t>, calcular</a:t>
                </a:r>
              </a:p>
              <a:p>
                <a:endParaRPr lang="pt-BR" sz="2800" b="1" dirty="0"/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∪</m:t>
                    </m:r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800" b="0" dirty="0"/>
              </a:p>
              <a:p>
                <a:pPr marL="514350" indent="-514350">
                  <a:buFont typeface="+mj-lt"/>
                  <a:buAutoNum type="arabicPeriod"/>
                </a:pPr>
                <a:endParaRPr lang="pt-BR" sz="2800" dirty="0"/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∩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pt-BR" sz="2800" dirty="0"/>
                  <a:t xml:space="preserve">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p>
                        </m:s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∩</m:t>
                        </m:r>
                        <m:sSup>
                          <m:sSup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p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p>
                        </m:sSup>
                      </m:e>
                    </m:d>
                  </m:oMath>
                </a14:m>
                <a:endParaRPr lang="pt-BR" sz="2800" dirty="0"/>
              </a:p>
              <a:p>
                <a:pPr marL="514350" indent="-514350">
                  <a:buFont typeface="+mj-lt"/>
                  <a:buAutoNum type="arabicPeriod"/>
                </a:pPr>
                <a:endParaRPr lang="pt-BR" sz="28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pt-BR" sz="2800" dirty="0"/>
                  <a:t xml:space="preserve">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p>
                        </m:s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∪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748061" cy="3970318"/>
              </a:xfrm>
              <a:prstGeom prst="rect">
                <a:avLst/>
              </a:prstGeom>
              <a:blipFill>
                <a:blip r:embed="rId2"/>
                <a:stretch>
                  <a:fillRect l="-1191" t="-1382" b="-368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2231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748061" cy="4401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Eventos equiprováveis</a:t>
                </a:r>
              </a:p>
              <a:p>
                <a:endParaRPr lang="pt-BR" sz="2800" b="1" dirty="0"/>
              </a:p>
              <a:p>
                <a:r>
                  <a:rPr lang="pt-BR" sz="2800" dirty="0"/>
                  <a:t xml:space="preserve">Dado um espaço amostral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800" b="0" i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pt-BR" sz="2800" dirty="0"/>
                  <a:t xml:space="preserve">, os eventos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sz="2800" b="0" i="1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pt-BR" sz="2800" b="0" i="0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 1≤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sz="2800" dirty="0"/>
                  <a:t xml:space="preserve"> são ditos equiprováveis se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 1≤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800" dirty="0"/>
              </a:p>
              <a:p>
                <a:endParaRPr lang="pt-BR" sz="2800" dirty="0"/>
              </a:p>
              <a:p>
                <a:r>
                  <a:rPr lang="pt-BR" sz="2800" dirty="0"/>
                  <a:t xml:space="preserve">Logo, se os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sz="2800" dirty="0"/>
                  <a:t xml:space="preserve"> pontos amostrais são equiprováveis, a probabilidade de cada ponto é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1/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endParaRPr lang="pt-BR" sz="2800" dirty="0"/>
              </a:p>
              <a:p>
                <a:r>
                  <a:rPr lang="pt-BR" sz="2800" dirty="0"/>
                  <a:t xml:space="preserve">Se o evento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pt-BR" sz="2800" dirty="0"/>
                  <a:t xml:space="preserve"> possui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sz="2800" dirty="0"/>
                  <a:t xml:space="preserve"> pontos amostrais, então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sz="2800" dirty="0"/>
                  <a:t xml:space="preserve">. </a:t>
                </a:r>
              </a:p>
              <a:p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748061" cy="4401205"/>
              </a:xfrm>
              <a:prstGeom prst="rect">
                <a:avLst/>
              </a:prstGeom>
              <a:blipFill>
                <a:blip r:embed="rId2"/>
                <a:stretch>
                  <a:fillRect l="-1191" t="-12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3948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Espaço Amostral e Eventos — Atividades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441868"/>
            <a:ext cx="10067277" cy="4295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/>
              <a:t>Atividades referentes à aula</a:t>
            </a:r>
          </a:p>
          <a:p>
            <a:r>
              <a:rPr lang="pt-BR" sz="2000" dirty="0"/>
              <a:t xml:space="preserve">Leitura recomendada: 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>Bussab &amp; Morettin — Cap. 5: 5.1, 5.2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>Montgomery &amp; Runger — Cap. 2: 2.1, 2.3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>Magalhães &amp; Lima — Cap. 2: 2.1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>Morettin — Cap. 1: 1.1 a 1.6; Cap. 2: 2.1</a:t>
            </a:r>
          </a:p>
          <a:p>
            <a:r>
              <a:rPr lang="pt-BR" sz="2000" dirty="0"/>
              <a:t>Exercícios recomendados: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>Morettin, Cap. 1: exercícios 1 a 04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>Bussab, Cap. 5: exercícios sobre espaço amostral e axiomas de probabilidade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73895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2199</TotalTime>
  <Words>520</Words>
  <Application>Microsoft Office PowerPoint</Application>
  <PresentationFormat>Widescreen</PresentationFormat>
  <Paragraphs>118</Paragraphs>
  <Slides>12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8" baseType="lpstr">
      <vt:lpstr>AlternateGothic2 BT</vt:lpstr>
      <vt:lpstr>Arial</vt:lpstr>
      <vt:lpstr>Calibri</vt:lpstr>
      <vt:lpstr>Calibri Light</vt:lpstr>
      <vt:lpstr>Cambria Math</vt:lpstr>
      <vt:lpstr>Tema do Office</vt:lpstr>
      <vt:lpstr>CEA055 – Estatística e Probabilidade Teoria de conjuntos</vt:lpstr>
      <vt:lpstr>CEA055 – Estatística e Probabilidade Teoria de conjuntos</vt:lpstr>
      <vt:lpstr>CEA055 – Estatística e Probabilidade Teoria de conjuntos</vt:lpstr>
      <vt:lpstr>CEA055 – Estatística e Probabilidade Teoria de conjuntos</vt:lpstr>
      <vt:lpstr>CEA055 – Estatística e Probabilidade Teoria de conjuntos</vt:lpstr>
      <vt:lpstr>CEA055 – Estatística e Probabilidade Teoria de conjuntos</vt:lpstr>
      <vt:lpstr>CEA055 – Estatística e Probabilidade Teoria de conjuntos</vt:lpstr>
      <vt:lpstr>CEA055 – Estatística e Probabilidade Teoria de conjuntos</vt:lpstr>
      <vt:lpstr>CEA055 – Estatística e Probabilidade Teoria de conjuntos</vt:lpstr>
      <vt:lpstr>CEA055 – Estatística e Probabilidade Teoria de conjuntos</vt:lpstr>
      <vt:lpstr>CEA055 – Estatística e Probabilidade Teoria de conjuntos</vt:lpstr>
      <vt:lpstr>CEA055 – Estatística e Probabilidade Teoria de conjuntos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Marcos Goulart Lima</dc:creator>
  <cp:lastModifiedBy>Marcos Goulart Lima</cp:lastModifiedBy>
  <cp:revision>96</cp:revision>
  <dcterms:created xsi:type="dcterms:W3CDTF">2020-07-20T19:35:15Z</dcterms:created>
  <dcterms:modified xsi:type="dcterms:W3CDTF">2024-04-09T16:58:04Z</dcterms:modified>
</cp:coreProperties>
</file>