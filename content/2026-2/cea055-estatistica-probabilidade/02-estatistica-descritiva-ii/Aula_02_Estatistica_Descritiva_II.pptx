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2" r:id="rId2"/>
    <p:sldId id="293" r:id="rId3"/>
    <p:sldId id="294" r:id="rId4"/>
    <p:sldId id="312" r:id="rId5"/>
    <p:sldId id="296" r:id="rId6"/>
    <p:sldId id="298" r:id="rId7"/>
    <p:sldId id="299" r:id="rId8"/>
    <p:sldId id="314" r:id="rId9"/>
    <p:sldId id="301" r:id="rId10"/>
    <p:sldId id="315" r:id="rId11"/>
    <p:sldId id="304" r:id="rId12"/>
    <p:sldId id="305" r:id="rId13"/>
    <p:sldId id="306" r:id="rId14"/>
    <p:sldId id="319" r:id="rId15"/>
    <p:sldId id="320" r:id="rId16"/>
    <p:sldId id="311" r:id="rId17"/>
    <p:sldId id="321" r:id="rId1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96" d="100"/>
          <a:sy n="96" d="100"/>
        </p:scale>
        <p:origin x="1216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pt-BR"/>
              <a:t>Histograma da variável S: salários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 (%)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numFmt formatCode="0&quot;%&quot;" sourceLinked="0"/>
            <c:spPr>
              <a:noFill/>
              <a:ln>
                <a:noFill/>
              </a:ln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4,00 - 8,00</c:v>
              </c:pt>
              <c:pt idx="1">
                <c:v>8,00 - 12,00</c:v>
              </c:pt>
              <c:pt idx="2">
                <c:v>12,00 - 16,00</c:v>
              </c:pt>
              <c:pt idx="3">
                <c:v>16,00 - 20,00</c:v>
              </c:pt>
              <c:pt idx="4">
                <c:v>20,00 - 24,00</c:v>
              </c:pt>
            </c:strLit>
          </c:cat>
          <c:val>
            <c:numLit>
              <c:formatCode>General</c:formatCode>
              <c:ptCount val="5"/>
              <c:pt idx="0">
                <c:v>28</c:v>
              </c:pt>
              <c:pt idx="1">
                <c:v>33</c:v>
              </c:pt>
              <c:pt idx="2">
                <c:v>22</c:v>
              </c:pt>
              <c:pt idx="3">
                <c:v>14</c:v>
              </c:pt>
              <c:pt idx="4">
                <c:v>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E77-44D2-903C-F62A81308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"/>
        <c:axId val="2"/>
      </c:barChart>
      <c:catAx>
        <c:axId val="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pt-BR"/>
                  <a:t>Salário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r>
                  <a:rPr lang="pt-BR"/>
                  <a:t>Frequência (%)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  <c:txPr>
    <a:bodyPr/>
    <a:lstStyle/>
    <a:p>
      <a:pPr>
        <a:defRPr sz="2000"/>
      </a:pPr>
      <a:endParaRPr lang="pt-B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/>
              <a:t>(a) Distribuição Simétrica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9</c:v>
              </c:pt>
              <c:pt idx="6">
                <c:v>6</c:v>
              </c:pt>
              <c:pt idx="7">
                <c:v>3</c:v>
              </c:pt>
              <c:pt idx="8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9EB-4DDC-B58B-B38C721E6B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11111111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 dirty="0"/>
              <a:t>(b) Assimétrica Negativa (ou á esquerda)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strLit>
          </c:cat>
          <c:val>
            <c:numLit>
              <c:formatCode>General</c:formatCode>
              <c:ptCount val="9"/>
              <c:pt idx="0">
                <c:v>1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6</c:v>
              </c:pt>
              <c:pt idx="6">
                <c:v>9</c:v>
              </c:pt>
              <c:pt idx="7">
                <c:v>13</c:v>
              </c:pt>
              <c:pt idx="8">
                <c:v>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86E-4108-B7AC-B7A6CD79C2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111111111"/>
        <c:crosses val="autoZero"/>
        <c:crossBetween val="between"/>
      </c:valAx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pt-BR" sz="1600" b="1" dirty="0"/>
              <a:t>(c) Assimétrica Positiva (ou à direita)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Frequência</c:v>
          </c:tx>
          <c:spPr>
            <a:solidFill>
              <a:srgbClr val="4472C4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</c:strLit>
          </c:cat>
          <c:val>
            <c:numLit>
              <c:formatCode>General</c:formatCode>
              <c:ptCount val="9"/>
              <c:pt idx="0">
                <c:v>17</c:v>
              </c:pt>
              <c:pt idx="1">
                <c:v>13</c:v>
              </c:pt>
              <c:pt idx="2">
                <c:v>9</c:v>
              </c:pt>
              <c:pt idx="3">
                <c:v>6</c:v>
              </c:pt>
              <c:pt idx="4">
                <c:v>4</c:v>
              </c:pt>
              <c:pt idx="5">
                <c:v>3</c:v>
              </c:pt>
              <c:pt idx="6">
                <c:v>2</c:v>
              </c:pt>
              <c:pt idx="7">
                <c:v>1</c:v>
              </c:pt>
              <c:pt idx="8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E19-4F36-A0B0-93A765A66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222222222"/>
        <c:crosses val="autoZero"/>
        <c:auto val="1"/>
        <c:lblAlgn val="ctr"/>
        <c:lblOffset val="100"/>
        <c:noMultiLvlLbl val="1"/>
      </c:catAx>
      <c:valAx>
        <c:axId val="22222222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9525">
            <a:solidFill>
              <a:schemeClr val="tx1"/>
            </a:solidFill>
          </a:ln>
        </c:spPr>
        <c:txPr>
          <a:bodyPr/>
          <a:lstStyle/>
          <a:p>
            <a:pPr>
              <a:defRPr sz="1400"/>
            </a:pPr>
            <a:endParaRPr lang="pt-BR"/>
          </a:p>
        </c:txPr>
        <c:crossAx val="11111111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620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Estatística Descritiva II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918308" y="1340760"/>
            <a:ext cx="10371992" cy="511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/>
              <a:t>Objetivos da aula:</a:t>
            </a:r>
            <a:endParaRPr lang="pt-BR" sz="2200" b="1" dirty="0"/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Conhecer as medidas de dispersão que serão usadas na disciplina.</a:t>
            </a:r>
          </a:p>
          <a:p>
            <a:pPr marL="742926" lvl="1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Dispersão e </a:t>
            </a:r>
            <a:r>
              <a:rPr lang="pt-BR" sz="2200" dirty="0" err="1"/>
              <a:t>quantis</a:t>
            </a:r>
            <a:r>
              <a:rPr lang="pt-BR" sz="2200" dirty="0"/>
              <a:t> (quartis).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Aprender a esboçar e interpretar box </a:t>
            </a:r>
            <a:r>
              <a:rPr lang="pt-BR" sz="2200" dirty="0" err="1"/>
              <a:t>plots</a:t>
            </a:r>
            <a:r>
              <a:rPr lang="pt-BR" sz="2200" dirty="0"/>
              <a:t>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Bussab, Morettin. </a:t>
            </a:r>
            <a:r>
              <a:rPr lang="pt-BR" sz="2200" b="1" dirty="0"/>
              <a:t>Estatística Básica</a:t>
            </a:r>
            <a:r>
              <a:rPr lang="pt-BR" sz="2200" dirty="0"/>
              <a:t>, 9ed — Cap. 3 (3.2 a 3.4)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Montgomery, Runger</a:t>
            </a:r>
            <a:r>
              <a:rPr lang="pt-BR" sz="2200"/>
              <a:t>. </a:t>
            </a:r>
            <a:r>
              <a:rPr lang="pt-BR" sz="2200" b="1"/>
              <a:t>Estatística Aplicada e Probabilidade para Engenheiros</a:t>
            </a:r>
            <a:r>
              <a:rPr lang="pt-BR" sz="2200"/>
              <a:t>, 7ª ed. — </a:t>
            </a:r>
            <a:r>
              <a:rPr lang="pt-BR" sz="2200" dirty="0"/>
              <a:t>Cap. 6 (6.4)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Magalhães, Lima. </a:t>
            </a:r>
            <a:r>
              <a:rPr lang="pt-BR" sz="2200" b="1" dirty="0"/>
              <a:t>Noções de Probabilidade e Estatística</a:t>
            </a:r>
            <a:r>
              <a:rPr lang="pt-BR" sz="2200" dirty="0"/>
              <a:t>, 5ed — Cap. 4 (4.2, 4.3) e Cap. 1 (1.2, box-plot)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60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88340" y="810654"/>
            <a:ext cx="11180365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Medidas de dispersão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São medidas que mostram a variabilidade de um conjunto. Elas são calculadas a partir do desvio (ou erro) ao se aproximar os dados pela média.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Desvio médio: </a:t>
            </a:r>
            <a:r>
              <a:rPr lang="pt-BR" sz="2800" dirty="0"/>
              <a:t>é a média dos desvios em valor absoluto.</a:t>
            </a:r>
            <a:endParaRPr lang="pt-BR" sz="2800" b="1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b="1" dirty="0"/>
              <a:t>Variância: </a:t>
            </a:r>
            <a:r>
              <a:rPr lang="pt-BR" sz="2800" dirty="0"/>
              <a:t>é a média dos quadrados dos desvios.</a:t>
            </a:r>
            <a:r>
              <a:rPr lang="pt-BR" sz="2800" b="1" dirty="0"/>
              <a:t> 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8468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37540" y="767800"/>
                <a:ext cx="11180365" cy="5535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Medidas de dispersão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Sejam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pt-BR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pt-BR" sz="2800" dirty="0"/>
                  <a:t> um conjunto de dados (distintos ou não).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Desvio médio: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𝑑𝑚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pt-BR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 |</m:t>
                              </m:r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Variância (população):</a:t>
                </a:r>
                <a:endParaRPr lang="pt-BR" sz="28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800" b="0" i="0" smtClean="0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𝑎𝑟</m:t>
                      </m:r>
                      <m:d>
                        <m:d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pt-BR" sz="2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sz="2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pt-BR" sz="28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pt-BR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pt-BR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>Desvio padrão: </a:t>
                </a:r>
                <a:endParaRPr lang="pt-BR" sz="2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𝑑𝑝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40" y="767800"/>
                <a:ext cx="11180365" cy="5535746"/>
              </a:xfrm>
              <a:prstGeom prst="rect">
                <a:avLst/>
              </a:prstGeom>
              <a:blipFill>
                <a:blip r:embed="rId2"/>
                <a:stretch>
                  <a:fillRect l="-11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442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57475" y="451189"/>
            <a:ext cx="11180365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Exemplo:</a:t>
            </a:r>
            <a:r>
              <a:rPr lang="pt-BR" sz="2800" dirty="0"/>
              <a:t> Considere os conjuntos de dados abaixo. Calcule a média e variância de cada um.</a:t>
            </a:r>
          </a:p>
          <a:p>
            <a:endParaRPr lang="pt-BR" sz="2800" dirty="0"/>
          </a:p>
          <a:p>
            <a:pPr>
              <a:lnSpc>
                <a:spcPct val="150000"/>
              </a:lnSpc>
            </a:pPr>
            <a:r>
              <a:rPr lang="pt-BR" sz="2800" dirty="0"/>
              <a:t>grupo A (variável </a:t>
            </a:r>
            <a:r>
              <a:rPr lang="pt-BR" sz="2800" i="1" dirty="0"/>
              <a:t>X</a:t>
            </a:r>
            <a:r>
              <a:rPr lang="pt-BR" sz="2800" dirty="0"/>
              <a:t>):  3, 4, 5, 6, 7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B (variável </a:t>
            </a:r>
            <a:r>
              <a:rPr lang="pt-BR" sz="2800" i="1" dirty="0"/>
              <a:t>Y</a:t>
            </a:r>
            <a:r>
              <a:rPr lang="pt-BR" sz="2800" dirty="0"/>
              <a:t>):  1, 3, 5, 7, 9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C (variável </a:t>
            </a:r>
            <a:r>
              <a:rPr lang="pt-BR" sz="2800" i="1" dirty="0"/>
              <a:t>Z</a:t>
            </a:r>
            <a:r>
              <a:rPr lang="pt-BR" sz="2800" dirty="0"/>
              <a:t>):  5, 5, 5, 5, 5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D (variável </a:t>
            </a:r>
            <a:r>
              <a:rPr lang="pt-BR" sz="2800" i="1" dirty="0"/>
              <a:t>W</a:t>
            </a:r>
            <a:r>
              <a:rPr lang="pt-BR" sz="2800" dirty="0"/>
              <a:t>): 3, 5, 5, 7</a:t>
            </a:r>
          </a:p>
          <a:p>
            <a:pPr>
              <a:lnSpc>
                <a:spcPct val="150000"/>
              </a:lnSpc>
            </a:pPr>
            <a:r>
              <a:rPr lang="pt-BR" sz="2800" dirty="0"/>
              <a:t>grupo E (variável </a:t>
            </a:r>
            <a:r>
              <a:rPr lang="pt-BR" sz="2800" i="1" dirty="0"/>
              <a:t>V</a:t>
            </a:r>
            <a:r>
              <a:rPr lang="pt-BR" sz="2800" dirty="0"/>
              <a:t>):  3, 5, 5, 6, 6</a:t>
            </a:r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936758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77240" y="689788"/>
                <a:ext cx="11180365" cy="5478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 err="1"/>
                  <a:t>Quantis</a:t>
                </a:r>
                <a:r>
                  <a:rPr lang="pt-BR" sz="2800" b="1" dirty="0"/>
                  <a:t> empíricos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Os </a:t>
                </a:r>
                <a:r>
                  <a:rPr lang="pt-BR" sz="2800" dirty="0" err="1"/>
                  <a:t>quantis</a:t>
                </a:r>
                <a:r>
                  <a:rPr lang="pt-BR" sz="2800" dirty="0"/>
                  <a:t> ajudam a visualizar a distribuição dos dados.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 lvl="1">
                  <a:lnSpc>
                    <a:spcPct val="150000"/>
                  </a:lnSpc>
                </a:pPr>
                <a:r>
                  <a:rPr lang="pt-BR" sz="2800" b="1" dirty="0"/>
                  <a:t>Definição:</a:t>
                </a:r>
                <a:r>
                  <a:rPr lang="pt-BR" sz="2800" dirty="0"/>
                  <a:t> um </a:t>
                </a:r>
                <a:r>
                  <a:rPr lang="pt-BR" sz="2800" dirty="0" err="1"/>
                  <a:t>quantil</a:t>
                </a:r>
                <a:r>
                  <a:rPr lang="pt-BR" sz="2800" dirty="0"/>
                  <a:t> de ordem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ou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quantil</a:t>
                </a:r>
                <a:r>
                  <a:rPr lang="pt-BR" sz="2800" dirty="0"/>
                  <a:t>, indicada por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onde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800" dirty="0"/>
                  <a:t> é uma proporção qualquer,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&lt;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pt-BR" sz="2800" dirty="0"/>
                  <a:t>, tal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pt-BR" sz="2800" dirty="0"/>
                  <a:t> das observações sejam menores do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b="1" dirty="0"/>
              </a:p>
              <a:p>
                <a:pPr marL="457178" indent="-457178">
                  <a:buFont typeface="Arial" panose="020B0604020202020204" pitchFamily="34" charset="0"/>
                  <a:buChar char="•"/>
                </a:pPr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689788"/>
                <a:ext cx="11180365" cy="5478423"/>
              </a:xfrm>
              <a:prstGeom prst="rect">
                <a:avLst/>
              </a:prstGeom>
              <a:blipFill>
                <a:blip r:embed="rId2"/>
                <a:stretch>
                  <a:fillRect l="-1145" r="-6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4805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05817" y="721754"/>
                <a:ext cx="11180365" cy="3902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Quantis empíricos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Exemplos:</a:t>
                </a:r>
                <a:endParaRPr lang="pt-BR" sz="2800" b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d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>- 1 quartil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d>
                  </m:oMath>
                </a14:m>
                <a:r>
                  <a:rPr lang="pt-BR" sz="2800" dirty="0"/>
                  <a:t> - 2 quartil ou mediana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</m:e>
                    </m:d>
                  </m:oMath>
                </a14:m>
                <a:r>
                  <a:rPr lang="pt-BR" sz="2800" dirty="0"/>
                  <a:t> - 3 quartil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95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31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</m:oMath>
                </a14:m>
                <a:r>
                  <a:rPr lang="pt-BR" sz="2800" dirty="0"/>
                  <a:t>, ...</a:t>
                </a:r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7" y="721754"/>
                <a:ext cx="11180365" cy="3902415"/>
              </a:xfrm>
              <a:prstGeom prst="rect">
                <a:avLst/>
              </a:prstGeom>
              <a:blipFill>
                <a:blip r:embed="rId2"/>
                <a:stretch>
                  <a:fillRect l="-1145" b="-34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9511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0" y="658254"/>
                <a:ext cx="11180365" cy="1317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Vamos calcular os quartis do conjunto de dados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11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}.</m:t>
                    </m:r>
                  </m:oMath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0" y="658254"/>
                <a:ext cx="11180365" cy="1317092"/>
              </a:xfrm>
              <a:prstGeom prst="rect">
                <a:avLst/>
              </a:prstGeom>
              <a:blipFill>
                <a:blip r:embed="rId2"/>
                <a:stretch>
                  <a:fillRect l="-11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5451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99440" y="734454"/>
            <a:ext cx="11180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Exemplo: </a:t>
            </a:r>
            <a:r>
              <a:rPr lang="pt-BR" sz="2800" dirty="0"/>
              <a:t>Como calcular </a:t>
            </a:r>
            <a:r>
              <a:rPr lang="pt-BR" sz="2800" dirty="0" err="1"/>
              <a:t>quantis</a:t>
            </a:r>
            <a:r>
              <a:rPr lang="pt-BR" sz="2800" dirty="0"/>
              <a:t> a partir de um histograma?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graphicFrame>
        <p:nvGraphicFramePr>
          <p:cNvPr id="101" name="Chart 1"/>
          <p:cNvGraphicFramePr/>
          <p:nvPr>
            <p:extLst>
              <p:ext uri="{D42A27DB-BD31-4B8C-83A1-F6EECF244321}">
                <p14:modId xmlns:p14="http://schemas.microsoft.com/office/powerpoint/2010/main" val="33587899"/>
              </p:ext>
            </p:extLst>
          </p:nvPr>
        </p:nvGraphicFramePr>
        <p:xfrm>
          <a:off x="1625600" y="1422400"/>
          <a:ext cx="9321800" cy="5066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8794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21527" y="387689"/>
                <a:ext cx="11180365" cy="5600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600" b="1" dirty="0"/>
                  <a:t>Mais algumas definições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Medida resistente</a:t>
                </a:r>
                <a:endParaRPr lang="pt-BR" sz="2600" dirty="0"/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dirty="0"/>
                  <a:t>Pouco afetada por mudanças em poucos dados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Distância interquartil</a:t>
                </a:r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pt-BR" sz="26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Dispersão inferior</a:t>
                </a:r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𝑑𝑖</m:t>
                    </m:r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(1)</m:t>
                        </m:r>
                      </m:sub>
                    </m:sSub>
                  </m:oMath>
                </a14:m>
                <a:endParaRPr lang="pt-BR" sz="26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600" b="1" dirty="0"/>
                  <a:t>Dispersão superior</a:t>
                </a:r>
              </a:p>
              <a:p>
                <a:pPr marL="914389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pt-BR" sz="2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pt-BR" sz="26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527" y="387689"/>
                <a:ext cx="11180365" cy="5600764"/>
              </a:xfrm>
              <a:prstGeom prst="rect">
                <a:avLst/>
              </a:prstGeom>
              <a:blipFill>
                <a:blip r:embed="rId2"/>
                <a:stretch>
                  <a:fillRect l="-9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B8C5C3B-6FE8-4CB8-9B68-5D9B4E620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301" y="2293958"/>
            <a:ext cx="6442591" cy="417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493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505817" y="679587"/>
            <a:ext cx="111803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Esboço do Box </a:t>
            </a:r>
            <a:r>
              <a:rPr lang="pt-BR" sz="2800" b="1" dirty="0" err="1"/>
              <a:t>plots</a:t>
            </a:r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85683AF-6F62-463C-A1ED-B200F186D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121" y="782224"/>
            <a:ext cx="4804061" cy="5396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BoxplotExplanation">
                <a:extLst>
                  <a:ext uri="{FF2B5EF4-FFF2-40B4-BE49-F238E27FC236}">
                    <a16:creationId xmlns:a16="http://schemas.microsoft.com/office/drawing/2014/main" id="{58E7E66C-FA7E-4ECF-9397-72DECD4E76AC}"/>
                  </a:ext>
                </a:extLst>
              </p:cNvPr>
              <p:cNvSpPr txBox="1"/>
              <p:nvPr/>
            </p:nvSpPr>
            <p:spPr>
              <a:xfrm>
                <a:off x="505817" y="1156640"/>
                <a:ext cx="5969000" cy="348755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pt-BR" sz="2400" b="1" dirty="0"/>
                  <a:t>Limites do Box Plot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400" dirty="0"/>
                  <a:t>— distância interquartil</a:t>
                </a:r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𝑳𝑰</m:t>
                    </m:r>
                  </m:oMath>
                </a14:m>
                <a:r>
                  <a:rPr lang="pt-BR" sz="2400" dirty="0"/>
                  <a:t> (limite inferior)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− 1,5 × 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pt-BR" sz="2400" i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1" i="1" dirty="0" smtClean="0">
                        <a:latin typeface="Cambria Math" panose="02040503050406030204" pitchFamily="18" charset="0"/>
                      </a:rPr>
                      <m:t>𝑳𝑺</m:t>
                    </m:r>
                  </m:oMath>
                </a14:m>
                <a:r>
                  <a:rPr lang="pt-BR" sz="2400" dirty="0"/>
                  <a:t> (limite superior)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+1,5 ×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pt-BR" sz="2400" i="1" dirty="0"/>
              </a:p>
              <a:p>
                <a:pPr marL="457178" indent="-457178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b="1" dirty="0"/>
                  <a:t>*</a:t>
                </a:r>
                <a:r>
                  <a:rPr lang="pt-BR" sz="2400" dirty="0"/>
                  <a:t> (asteriscos) — </a:t>
                </a:r>
                <a:r>
                  <a:rPr lang="pt-BR" sz="2400" i="1" dirty="0"/>
                  <a:t>outliers</a:t>
                </a:r>
                <a:r>
                  <a:rPr lang="pt-BR" sz="2400" dirty="0"/>
                  <a:t>: observações abaixo de </a:t>
                </a:r>
                <a:r>
                  <a:rPr lang="pt-BR" sz="2400" b="1" i="1" dirty="0"/>
                  <a:t>LI</a:t>
                </a:r>
                <a:r>
                  <a:rPr lang="pt-BR" sz="2400" dirty="0"/>
                  <a:t> ou acima de </a:t>
                </a:r>
                <a:r>
                  <a:rPr lang="pt-BR" sz="2400" b="1" i="1" dirty="0"/>
                  <a:t>LS</a:t>
                </a:r>
              </a:p>
            </p:txBody>
          </p:sp>
        </mc:Choice>
        <mc:Fallback xmlns="">
          <p:sp>
            <p:nvSpPr>
              <p:cNvPr id="4" name="BoxplotExplanation">
                <a:extLst>
                  <a:ext uri="{FF2B5EF4-FFF2-40B4-BE49-F238E27FC236}">
                    <a16:creationId xmlns:a16="http://schemas.microsoft.com/office/drawing/2014/main" id="{58E7E66C-FA7E-4ECF-9397-72DECD4E7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17" y="1156640"/>
                <a:ext cx="5969000" cy="3487558"/>
              </a:xfrm>
              <a:prstGeom prst="rect">
                <a:avLst/>
              </a:prstGeom>
              <a:blipFill>
                <a:blip r:embed="rId3"/>
                <a:stretch>
                  <a:fillRect l="-1634" b="-29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093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12140" y="747154"/>
                <a:ext cx="11180365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Exemplo: </a:t>
                </a:r>
                <a:r>
                  <a:rPr lang="pt-BR" sz="2800" dirty="0"/>
                  <a:t>Esboce os </a:t>
                </a:r>
                <a:r>
                  <a:rPr lang="pt-BR" sz="2800" dirty="0" err="1"/>
                  <a:t>boxplots</a:t>
                </a:r>
                <a:r>
                  <a:rPr lang="pt-BR" sz="2800" dirty="0"/>
                  <a:t> dos conjuntos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t-BR" sz="28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b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40" y="747154"/>
                <a:ext cx="11180365" cy="2893100"/>
              </a:xfrm>
              <a:prstGeom prst="rect">
                <a:avLst/>
              </a:prstGeom>
              <a:blipFill>
                <a:blip r:embed="rId2"/>
                <a:stretch>
                  <a:fillRect l="-1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02753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62940" y="785254"/>
                <a:ext cx="11180365" cy="44315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Gráficos de simetria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Um conjunto de observações é dito simétricos se </a:t>
                </a:r>
              </a:p>
              <a:p>
                <a:endParaRPr lang="pt-BR" sz="2800" dirty="0"/>
              </a:p>
              <a:p>
                <a:pPr algn="ctr"/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d>
                          <m:d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algn="ctr"/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os </a:t>
                </a:r>
                <a:r>
                  <a:rPr lang="pt-BR" sz="2800" dirty="0" err="1"/>
                  <a:t>quantis</a:t>
                </a:r>
                <a:r>
                  <a:rPr lang="pt-BR" sz="2800" dirty="0"/>
                  <a:t> da direita estão mais afastados da mediana, do que os da esquerda, os dados serão assimétricos à direita.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>Se ocorrer o contrário, os dados serão assimétricos à esquerda.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" y="785254"/>
                <a:ext cx="11180365" cy="4431534"/>
              </a:xfrm>
              <a:prstGeom prst="rect">
                <a:avLst/>
              </a:prstGeom>
              <a:blipFill>
                <a:blip r:embed="rId2"/>
                <a:stretch>
                  <a:fillRect l="-1145" t="-1376" b="-30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00707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836054"/>
            <a:ext cx="111803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Simetria de distribuições de frequência</a:t>
            </a:r>
          </a:p>
          <a:p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33BACC-519E-45C4-9283-778AE251C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046" y="2048383"/>
            <a:ext cx="9011908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593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98500" y="749300"/>
            <a:ext cx="11176000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Padrões de assimetria — histogramas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graphicFrame>
        <p:nvGraphicFramePr>
          <p:cNvPr id="501" name="Chart 1"/>
          <p:cNvGraphicFramePr/>
          <p:nvPr>
            <p:extLst>
              <p:ext uri="{D42A27DB-BD31-4B8C-83A1-F6EECF244321}">
                <p14:modId xmlns:p14="http://schemas.microsoft.com/office/powerpoint/2010/main" val="3638970073"/>
              </p:ext>
            </p:extLst>
          </p:nvPr>
        </p:nvGraphicFramePr>
        <p:xfrm>
          <a:off x="2540000" y="1701800"/>
          <a:ext cx="7112000" cy="222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02" name="Chart 2"/>
          <p:cNvGraphicFramePr/>
          <p:nvPr>
            <p:extLst>
              <p:ext uri="{D42A27DB-BD31-4B8C-83A1-F6EECF244321}">
                <p14:modId xmlns:p14="http://schemas.microsoft.com/office/powerpoint/2010/main" val="3286735012"/>
              </p:ext>
            </p:extLst>
          </p:nvPr>
        </p:nvGraphicFramePr>
        <p:xfrm>
          <a:off x="571501" y="4228584"/>
          <a:ext cx="5334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03" name="Chart 3"/>
          <p:cNvGraphicFramePr/>
          <p:nvPr>
            <p:extLst>
              <p:ext uri="{D42A27DB-BD31-4B8C-83A1-F6EECF244321}">
                <p14:modId xmlns:p14="http://schemas.microsoft.com/office/powerpoint/2010/main" val="647140019"/>
              </p:ext>
            </p:extLst>
          </p:nvPr>
        </p:nvGraphicFramePr>
        <p:xfrm>
          <a:off x="6286500" y="4241800"/>
          <a:ext cx="5334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48183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0" y="1460500"/>
            <a:ext cx="11180365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Padrões de assimetria — box-plot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6F65F0-C2D5-4774-B969-828330DE1B2B}"/>
              </a:ext>
            </a:extLst>
          </p:cNvPr>
          <p:cNvSpPr txBox="1"/>
          <p:nvPr/>
        </p:nvSpPr>
        <p:spPr>
          <a:xfrm>
            <a:off x="698500" y="22606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500" b="1">
                <a:solidFill>
                  <a:srgbClr val="2E2E2E"/>
                </a:solidFill>
              </a:rPr>
              <a:t>(a) Distribuição Simétrica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BEC76A6-671F-4C21-9B71-57B394AAB0EE}"/>
              </a:ext>
            </a:extLst>
          </p:cNvPr>
          <p:cNvSpPr/>
          <p:nvPr/>
        </p:nvSpPr>
        <p:spPr>
          <a:xfrm>
            <a:off x="1003300" y="2857500"/>
            <a:ext cx="12700" cy="27940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3200328-7574-4163-BE3D-CCFB19ACB4FB}"/>
              </a:ext>
            </a:extLst>
          </p:cNvPr>
          <p:cNvSpPr txBox="1"/>
          <p:nvPr/>
        </p:nvSpPr>
        <p:spPr>
          <a:xfrm>
            <a:off x="4381500" y="22606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500" b="1">
                <a:solidFill>
                  <a:srgbClr val="2E2E2E"/>
                </a:solidFill>
              </a:rPr>
              <a:t>(b) Assimétrica Negativa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82B8DE-40A9-47D5-85FA-06A0F3718044}"/>
              </a:ext>
            </a:extLst>
          </p:cNvPr>
          <p:cNvSpPr/>
          <p:nvPr/>
        </p:nvSpPr>
        <p:spPr>
          <a:xfrm>
            <a:off x="4686300" y="2857500"/>
            <a:ext cx="12700" cy="27940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CF84B03-E9F7-4CB2-823B-EE9823EEE98B}"/>
              </a:ext>
            </a:extLst>
          </p:cNvPr>
          <p:cNvSpPr txBox="1"/>
          <p:nvPr/>
        </p:nvSpPr>
        <p:spPr>
          <a:xfrm>
            <a:off x="8064500" y="22606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pt-BR" sz="1500" b="1">
                <a:solidFill>
                  <a:srgbClr val="2E2E2E"/>
                </a:solidFill>
              </a:rPr>
              <a:t>(c) Assimétrica Positiva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18869AC-A5B3-4198-A93E-6FC822A712E3}"/>
              </a:ext>
            </a:extLst>
          </p:cNvPr>
          <p:cNvSpPr/>
          <p:nvPr/>
        </p:nvSpPr>
        <p:spPr>
          <a:xfrm>
            <a:off x="8369300" y="2857500"/>
            <a:ext cx="12700" cy="2794000"/>
          </a:xfrm>
          <a:prstGeom prst="rect">
            <a:avLst/>
          </a:prstGeom>
          <a:solidFill>
            <a:srgbClr val="80808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DCECBB1-5852-40AB-9501-03C1EE0379A8}"/>
              </a:ext>
            </a:extLst>
          </p:cNvPr>
          <p:cNvSpPr/>
          <p:nvPr/>
        </p:nvSpPr>
        <p:spPr>
          <a:xfrm>
            <a:off x="2400300" y="3556000"/>
            <a:ext cx="12700" cy="4699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72AF007-2534-4E24-A19B-4AAD79C451C7}"/>
              </a:ext>
            </a:extLst>
          </p:cNvPr>
          <p:cNvSpPr/>
          <p:nvPr/>
        </p:nvSpPr>
        <p:spPr>
          <a:xfrm>
            <a:off x="2400300" y="4470400"/>
            <a:ext cx="12700" cy="4699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6BDF623-CD7A-4175-ACE6-5CFE01957878}"/>
              </a:ext>
            </a:extLst>
          </p:cNvPr>
          <p:cNvSpPr/>
          <p:nvPr/>
        </p:nvSpPr>
        <p:spPr>
          <a:xfrm>
            <a:off x="2133600" y="35433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4671E2A-576B-468F-AFB2-E3AC73EA8D26}"/>
              </a:ext>
            </a:extLst>
          </p:cNvPr>
          <p:cNvSpPr/>
          <p:nvPr/>
        </p:nvSpPr>
        <p:spPr>
          <a:xfrm>
            <a:off x="2133600" y="49403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7BBF931-E4CD-41F5-B36F-AEFA9EE8ABE0}"/>
              </a:ext>
            </a:extLst>
          </p:cNvPr>
          <p:cNvSpPr/>
          <p:nvPr/>
        </p:nvSpPr>
        <p:spPr>
          <a:xfrm>
            <a:off x="1841500" y="4025900"/>
            <a:ext cx="1143000" cy="444500"/>
          </a:xfrm>
          <a:prstGeom prst="rect">
            <a:avLst/>
          </a:prstGeom>
          <a:solidFill>
            <a:srgbClr val="4472C4">
              <a:alpha val="85000"/>
            </a:srgbClr>
          </a:solidFill>
          <a:ln w="19050" cap="flat" cmpd="sng" algn="ctr">
            <a:solidFill>
              <a:srgbClr val="2E4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D63309E-2A03-43F2-922B-AA754CD41D85}"/>
              </a:ext>
            </a:extLst>
          </p:cNvPr>
          <p:cNvSpPr/>
          <p:nvPr/>
        </p:nvSpPr>
        <p:spPr>
          <a:xfrm>
            <a:off x="1841500" y="4229100"/>
            <a:ext cx="1143000" cy="25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0FBAD63-3FAB-47A4-AAFC-1D2FFC923EE8}"/>
              </a:ext>
            </a:extLst>
          </p:cNvPr>
          <p:cNvSpPr/>
          <p:nvPr/>
        </p:nvSpPr>
        <p:spPr>
          <a:xfrm>
            <a:off x="6083300" y="30734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B1C068-E1BE-4536-BD4D-73BC3D9E4F78}"/>
              </a:ext>
            </a:extLst>
          </p:cNvPr>
          <p:cNvSpPr/>
          <p:nvPr/>
        </p:nvSpPr>
        <p:spPr>
          <a:xfrm>
            <a:off x="6083300" y="36957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F2A07AB-B3CF-48D9-A0C0-3A67224DF7A0}"/>
              </a:ext>
            </a:extLst>
          </p:cNvPr>
          <p:cNvSpPr/>
          <p:nvPr/>
        </p:nvSpPr>
        <p:spPr>
          <a:xfrm>
            <a:off x="5816600" y="30607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CD1A1B9-7C6D-4779-9FC3-F8565A4869CB}"/>
              </a:ext>
            </a:extLst>
          </p:cNvPr>
          <p:cNvSpPr/>
          <p:nvPr/>
        </p:nvSpPr>
        <p:spPr>
          <a:xfrm>
            <a:off x="5816600" y="39624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B35C776-3899-403A-9804-2E7491E0CFF5}"/>
              </a:ext>
            </a:extLst>
          </p:cNvPr>
          <p:cNvSpPr/>
          <p:nvPr/>
        </p:nvSpPr>
        <p:spPr>
          <a:xfrm>
            <a:off x="5524500" y="3352800"/>
            <a:ext cx="1143000" cy="330200"/>
          </a:xfrm>
          <a:prstGeom prst="rect">
            <a:avLst/>
          </a:prstGeom>
          <a:solidFill>
            <a:srgbClr val="4472C4">
              <a:alpha val="85000"/>
            </a:srgbClr>
          </a:solidFill>
          <a:ln w="19050" cap="flat" cmpd="sng" algn="ctr">
            <a:solidFill>
              <a:srgbClr val="2E4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64A3F98-B4A3-473A-AB14-A2BEAA738592}"/>
              </a:ext>
            </a:extLst>
          </p:cNvPr>
          <p:cNvSpPr/>
          <p:nvPr/>
        </p:nvSpPr>
        <p:spPr>
          <a:xfrm>
            <a:off x="5524500" y="3505200"/>
            <a:ext cx="1143000" cy="25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2D8670DC-6DDA-4541-AF3D-0701230F1497}"/>
              </a:ext>
            </a:extLst>
          </p:cNvPr>
          <p:cNvSpPr/>
          <p:nvPr/>
        </p:nvSpPr>
        <p:spPr>
          <a:xfrm>
            <a:off x="6057900" y="43561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DF9F425-4672-4F51-B879-3C8D57D043D3}"/>
              </a:ext>
            </a:extLst>
          </p:cNvPr>
          <p:cNvSpPr/>
          <p:nvPr/>
        </p:nvSpPr>
        <p:spPr>
          <a:xfrm>
            <a:off x="6057900" y="44958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AC166F0A-5273-4EC2-8CE2-6D292FBC90C5}"/>
              </a:ext>
            </a:extLst>
          </p:cNvPr>
          <p:cNvSpPr/>
          <p:nvPr/>
        </p:nvSpPr>
        <p:spPr>
          <a:xfrm>
            <a:off x="6057900" y="46355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744C8CEA-56AF-4EF1-AC0B-A55392B785F0}"/>
              </a:ext>
            </a:extLst>
          </p:cNvPr>
          <p:cNvSpPr/>
          <p:nvPr/>
        </p:nvSpPr>
        <p:spPr>
          <a:xfrm>
            <a:off x="6057900" y="47752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68284C3-F937-45CA-B8B3-A31FF8442237}"/>
              </a:ext>
            </a:extLst>
          </p:cNvPr>
          <p:cNvSpPr/>
          <p:nvPr/>
        </p:nvSpPr>
        <p:spPr>
          <a:xfrm>
            <a:off x="6057900" y="49149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4DD1CEB9-BA93-4580-B858-B3BE8363E680}"/>
              </a:ext>
            </a:extLst>
          </p:cNvPr>
          <p:cNvSpPr/>
          <p:nvPr/>
        </p:nvSpPr>
        <p:spPr>
          <a:xfrm>
            <a:off x="6057900" y="50546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7C415279-31E0-47FA-8EB0-1BFEDC205726}"/>
              </a:ext>
            </a:extLst>
          </p:cNvPr>
          <p:cNvSpPr/>
          <p:nvPr/>
        </p:nvSpPr>
        <p:spPr>
          <a:xfrm>
            <a:off x="6057900" y="51943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33B80CB3-779A-40E1-9733-8A679897E83A}"/>
              </a:ext>
            </a:extLst>
          </p:cNvPr>
          <p:cNvSpPr/>
          <p:nvPr/>
        </p:nvSpPr>
        <p:spPr>
          <a:xfrm>
            <a:off x="6057900" y="53340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8FCA12A-F80B-48F1-807A-C781FB2FC607}"/>
              </a:ext>
            </a:extLst>
          </p:cNvPr>
          <p:cNvSpPr/>
          <p:nvPr/>
        </p:nvSpPr>
        <p:spPr>
          <a:xfrm>
            <a:off x="9766300" y="45339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00E9ABB-FF8B-452D-B173-AA69088274E1}"/>
              </a:ext>
            </a:extLst>
          </p:cNvPr>
          <p:cNvSpPr/>
          <p:nvPr/>
        </p:nvSpPr>
        <p:spPr>
          <a:xfrm>
            <a:off x="9766300" y="5143500"/>
            <a:ext cx="12700" cy="279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76EB583F-E3E6-40E6-B345-FE2215893727}"/>
              </a:ext>
            </a:extLst>
          </p:cNvPr>
          <p:cNvSpPr/>
          <p:nvPr/>
        </p:nvSpPr>
        <p:spPr>
          <a:xfrm>
            <a:off x="9499600" y="45212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708511F-0166-44BE-B9C6-C4F7E141E8D4}"/>
              </a:ext>
            </a:extLst>
          </p:cNvPr>
          <p:cNvSpPr/>
          <p:nvPr/>
        </p:nvSpPr>
        <p:spPr>
          <a:xfrm>
            <a:off x="9499600" y="5410200"/>
            <a:ext cx="558800" cy="25400"/>
          </a:xfrm>
          <a:prstGeom prst="rect">
            <a:avLst/>
          </a:prstGeom>
          <a:solidFill>
            <a:srgbClr val="55555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758220A2-ED20-4994-A33E-A12B92EA4C19}"/>
              </a:ext>
            </a:extLst>
          </p:cNvPr>
          <p:cNvSpPr/>
          <p:nvPr/>
        </p:nvSpPr>
        <p:spPr>
          <a:xfrm>
            <a:off x="9207500" y="4813300"/>
            <a:ext cx="1143000" cy="330200"/>
          </a:xfrm>
          <a:prstGeom prst="rect">
            <a:avLst/>
          </a:prstGeom>
          <a:solidFill>
            <a:srgbClr val="4472C4">
              <a:alpha val="85000"/>
            </a:srgbClr>
          </a:solidFill>
          <a:ln w="19050" cap="flat" cmpd="sng" algn="ctr">
            <a:solidFill>
              <a:srgbClr val="2E4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973D7849-1584-4539-85B0-57602F42DD61}"/>
              </a:ext>
            </a:extLst>
          </p:cNvPr>
          <p:cNvSpPr/>
          <p:nvPr/>
        </p:nvSpPr>
        <p:spPr>
          <a:xfrm>
            <a:off x="9207500" y="4953000"/>
            <a:ext cx="1143000" cy="25400"/>
          </a:xfrm>
          <a:prstGeom prst="rect">
            <a:avLst/>
          </a:prstGeom>
          <a:solidFill>
            <a:srgbClr val="1F386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2E82035-D2E1-468E-B0D0-B94CC25883EE}"/>
              </a:ext>
            </a:extLst>
          </p:cNvPr>
          <p:cNvSpPr/>
          <p:nvPr/>
        </p:nvSpPr>
        <p:spPr>
          <a:xfrm>
            <a:off x="9740900" y="40767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1BC1331D-9A96-4D80-A2C7-FEB6C594BC29}"/>
              </a:ext>
            </a:extLst>
          </p:cNvPr>
          <p:cNvSpPr/>
          <p:nvPr/>
        </p:nvSpPr>
        <p:spPr>
          <a:xfrm>
            <a:off x="9740900" y="39370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98B2B1FE-EE46-47F2-821D-EC847730960F}"/>
              </a:ext>
            </a:extLst>
          </p:cNvPr>
          <p:cNvSpPr/>
          <p:nvPr/>
        </p:nvSpPr>
        <p:spPr>
          <a:xfrm>
            <a:off x="9740900" y="37973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52543B97-B65F-4D8B-9CE9-4285FF6A2EB0}"/>
              </a:ext>
            </a:extLst>
          </p:cNvPr>
          <p:cNvSpPr/>
          <p:nvPr/>
        </p:nvSpPr>
        <p:spPr>
          <a:xfrm>
            <a:off x="9740900" y="36576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2C05B387-436C-4A6C-87B7-31CD4CDACAAF}"/>
              </a:ext>
            </a:extLst>
          </p:cNvPr>
          <p:cNvSpPr/>
          <p:nvPr/>
        </p:nvSpPr>
        <p:spPr>
          <a:xfrm>
            <a:off x="9740900" y="35179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98E6B6C4-E6D1-4E0F-A5F7-F41100426DE0}"/>
              </a:ext>
            </a:extLst>
          </p:cNvPr>
          <p:cNvSpPr/>
          <p:nvPr/>
        </p:nvSpPr>
        <p:spPr>
          <a:xfrm>
            <a:off x="9740900" y="33782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1AE541B-EA62-4475-A1A7-E73EE7E156DF}"/>
              </a:ext>
            </a:extLst>
          </p:cNvPr>
          <p:cNvSpPr/>
          <p:nvPr/>
        </p:nvSpPr>
        <p:spPr>
          <a:xfrm>
            <a:off x="9740900" y="32385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5FEE33C9-9292-4334-8855-A8A6AF6399F1}"/>
              </a:ext>
            </a:extLst>
          </p:cNvPr>
          <p:cNvSpPr/>
          <p:nvPr/>
        </p:nvSpPr>
        <p:spPr>
          <a:xfrm>
            <a:off x="9740900" y="3086100"/>
            <a:ext cx="76200" cy="76200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7587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1311" y="608369"/>
            <a:ext cx="10827959" cy="30310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6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600" dirty="0"/>
              <a:t>Leitura recomendada: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 dirty="0"/>
              <a:t>Bussab &amp; Morettin — Cap. 3: 3.2 a 3.4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 dirty="0"/>
              <a:t>Montgomery &amp; Runger — Cap. 6: 6.4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 dirty="0"/>
              <a:t>Magalhães &amp; Lima — Cap. 4: 4.2, 4.3; Cap. 1: 1.2 (</a:t>
            </a:r>
            <a:r>
              <a:rPr lang="pt-BR" sz="2600"/>
              <a:t>box-plot)</a:t>
            </a:r>
            <a:endParaRPr lang="pt-BR" sz="2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49392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91311" y="608369"/>
            <a:ext cx="10827959" cy="4231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600" b="1" dirty="0"/>
              <a:t>Atividades referentes </a:t>
            </a:r>
            <a:r>
              <a:rPr lang="pt-BR" sz="2600" b="1"/>
              <a:t>à aula (continuação)</a:t>
            </a:r>
            <a:endParaRPr lang="pt-BR" sz="2600" b="1" dirty="0"/>
          </a:p>
          <a:p>
            <a:pPr>
              <a:lnSpc>
                <a:spcPct val="150000"/>
              </a:lnSpc>
            </a:pPr>
            <a:r>
              <a:rPr lang="pt-BR" sz="2600"/>
              <a:t>Exercícios recomendados:</a:t>
            </a:r>
            <a:endParaRPr lang="it-IT" sz="26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2600"/>
              <a:t>Bussab &amp; Morettin — Cap. 3: Problemas 1, 2, 3, 7, 9, 10, 11, 12 e 13</a:t>
            </a:r>
            <a:endParaRPr lang="pt-BR" sz="2600"/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/>
              <a:t>Magalhães &amp; Lima — Cap. 1: Exercícios 9, 15 e 16; Cap. 4: Exercícios 1, 2, 6, 8, 9, 10 e 12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600"/>
              <a:t>Montgomery &amp; Runger — Cap. 6: Exercícios 6.1.4, 6.1.5, 6.1.6, 6.1.7, 6.1.8, 6.1.9, 6.1.11, 6.4.3, 6.4.4 e 6.4.5</a:t>
            </a:r>
            <a:endParaRPr lang="pt-BR" sz="26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465877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Prof.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5007394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B9809B-D46E-4492-9DAE-97F2E534AAD8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b34121c-9a74-446c-9530-7dd6029727b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3166</TotalTime>
  <Words>975</Words>
  <Application>Microsoft Office PowerPoint</Application>
  <PresentationFormat>Widescreen</PresentationFormat>
  <Paragraphs>112</Paragraphs>
  <Slides>17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Estatística Descritiva II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102</cp:revision>
  <dcterms:created xsi:type="dcterms:W3CDTF">2020-07-20T19:35:15Z</dcterms:created>
  <dcterms:modified xsi:type="dcterms:W3CDTF">2026-10-22T11:30:36Z</dcterms:modified>
</cp:coreProperties>
</file>