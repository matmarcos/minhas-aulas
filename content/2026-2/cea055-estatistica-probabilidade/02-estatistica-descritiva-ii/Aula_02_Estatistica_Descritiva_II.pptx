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7" r:id="rId2"/>
    <p:sldId id="271" r:id="rId7"/>
    <p:sldId id="274" r:id="rId8"/>
    <p:sldId id="272" r:id="rId9"/>
    <p:sldId id="275" r:id="rId10"/>
    <p:sldId id="278" r:id="rId11"/>
    <p:sldId id="276" r:id="rId12"/>
    <p:sldId id="277" r:id="rId13"/>
    <p:sldId id="279" r:id="rId14"/>
    <p:sldId id="281" r:id="rId15"/>
    <p:sldId id="282" r:id="rId16"/>
    <p:sldId id="283" r:id="rId17"/>
    <p:sldId id="284" r:id="rId18"/>
    <p:sldId id="286" r:id="rId19"/>
    <p:sldId id="288" r:id="rId20"/>
    <p:sldId id="289" r:id="rId21"/>
    <p:sldId id="291" r:id="rId22"/>
    <p:sldId id="290" r:id="rId23"/>
    <p:sldId id="266" r:id="rId24"/>
  </p:sldIdLst>
  <p:sldSz cx="12192000" cy="6858000"/>
  <p:notesSz cx="6858000" cy="9144000"/>
  <p:defaultTextStyle>
    <a:defPPr>
      <a:defRPr lang="pt-BR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 autoAdjust="0"/>
  </p:normalViewPr>
  <p:slideViewPr>
    <p:cSldViewPr snapToGrid="0">
      <p:cViewPr varScale="1">
        <p:scale>
          <a:sx n="49" d="100"/>
          <a:sy n="49" d="100"/>
        </p:scale>
        <p:origin x="96" y="5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4690" y="43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623A65-BD25-40B6-8815-498297225DF7}" type="datetimeFigureOut">
              <a:rPr lang="pt-BR" smtClean="0"/>
              <a:t>02/04/2024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7F89C7-0D7F-4B10-AF98-1416A21C67F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29212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7F89C7-0D7F-4B10-AF98-1416A21C67FE}" type="slidenum">
              <a:rPr lang="pt-BR" smtClean="0"/>
              <a:t>23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66203219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B549B-B83A-404E-9BD8-A560AB294D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D7CE2CF-ACA4-4F2F-B0E6-62AA8A4CA0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15145D-ED8E-485D-AFAA-0637E3DDC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02/04/2024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10A484-EBAA-4375-B22B-EB352202B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BFC011-A4F5-4C4D-B328-90D3A1C70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32127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C2C77-41CB-40C6-8592-F2323898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2E0EDC-CFA2-4EB2-951C-00B6285C6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67430C6-C7CB-4882-8EDC-12D186CAC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02/04/2024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44677D-F5A4-4226-8F80-D16E10238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AB1963-7DC3-48C6-816F-DB898EB1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9066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9C7D4-175E-4544-B2C7-10CBDC0B0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9345EC1-929C-4442-826F-033EE789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D04775A-17A7-4EC4-9798-1A34FD10E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02/04/2024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42EA98-8D10-4ED3-B93F-FC711F0CD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39B97DE-6B04-4B6F-86E9-1D88F55F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312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BAA362-A45A-480A-9074-096724BC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7FAB7C-66B6-413A-A532-7B4B35F4FB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E989473-C5DE-4037-A42E-A0EACF667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249F76-8985-4102-AAA2-0AF7D18B3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02/04/2024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9E6D85-4300-4D4B-9EF8-C400BC246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82F353B-CB0E-4E22-9F25-903B9054A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54893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0DC1B8-1341-4AB7-B041-922244C5C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33C1DFC-5D65-46F4-994E-FD066564E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66570-19DA-43E0-B668-A0064803D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031A902-2182-44D2-92A6-7D350E01E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11DEC4-4ED6-4D01-8E2F-F8DFBFBB0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251D8EF-D452-4BEB-B271-9A45BCDDD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02/04/2024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874A662-49D6-4C3B-B580-C42ED1ECE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B64F4DA-4AAA-4F61-9D50-9FBA731D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86527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5CE28C-348A-4584-BBD8-F7D4E80AC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727A591-6069-48B6-9538-6A690479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02/04/2024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F4B20B4-5872-4798-8273-172F9B79B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0218E22-3A9A-4526-9A35-8F67CBEA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9807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8C9ED03-39FE-4839-912F-74079DC07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02/04/2024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2202958-2868-421E-B634-EC4F79F44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1E4208-F91B-406F-93C9-90963201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6385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03AC6E-A8A4-484F-AB72-E01568BAD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52402C-474E-4A4C-BBB4-72C4459FD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5932530-DB56-4B02-AAD7-0B0DAE05A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269F7A-8509-44B5-A449-BA774B8D6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02/04/2024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AC7A0F7-9932-436F-9AE3-AFF4AA2B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EED5AD-F121-4389-805A-1761D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6460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E0AC3B-59EE-40F2-994F-F86E662CE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38B4DB5-6F6C-4DA5-9A20-AC29F1233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BE271B5-C93D-4796-9358-1D1489AD9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70EE369-01D5-4D19-9174-7B158A7B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02/04/2024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AD9A84F-D4C0-4CF0-B94A-BD00C58C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5C5E872-5A54-4124-AFFF-F672D0693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7097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82B53-B921-43B0-B70C-89461FC53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CD7C9CB-B075-433C-911D-C898E41105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6A9F18-28DC-4676-99F1-455FE41D8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02/04/2024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6122BC6-1417-41C0-ABAB-3814030C5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D411FB-88FD-4753-AD8A-28F528B3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96999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A7E2BA7-069E-46BC-89D6-D7C2DC18A2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6"/>
            <a:ext cx="2628900" cy="581183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6D25537-8E8B-46D8-8D94-91EDEBEF2C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6"/>
            <a:ext cx="7734300" cy="581183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151BBF-6817-43B4-9E70-9E5D97182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02/04/2024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27DCBE-1398-4403-B8D9-E76E3BB1A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57CFCFD-A47F-4C7B-B8FA-ADA430CE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7616900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60000"/>
                <a:lumOff val="40000"/>
              </a:schemeClr>
            </a:gs>
            <a:gs pos="19000">
              <a:schemeClr val="bg1"/>
            </a:gs>
            <a:gs pos="95000">
              <a:schemeClr val="bg1"/>
            </a:gs>
            <a:gs pos="100000">
              <a:schemeClr val="accent5">
                <a:lumMod val="40000"/>
                <a:lumOff val="6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4E2DD83-FDEA-4717-875C-AE246EAB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8727906-6A75-4D24-84E2-D534D8BE7C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D73EF87-9823-417E-B531-F5CFE53CC6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5E566-B383-4B2D-B951-1136FD38326E}" type="datetimeFigureOut">
              <a:rPr lang="pt-BR" smtClean="0"/>
              <a:t>02/04/2024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912461-C5F3-4639-9852-55C185CA8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D549E10-6FAB-43E0-BE2A-E81BCD879D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41590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?>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.xml.rels><?xml version="1.0" encoding="UTF-8"?>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?>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?>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?>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?>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?>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2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3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1032608" y="1941868"/>
            <a:ext cx="10067277" cy="3955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Objetivos do aula:</a:t>
            </a:r>
          </a:p>
          <a:p>
            <a:pPr marL="285737" indent="-285737">
              <a:buFont typeface="Arial" panose="020B0604020202020204" pitchFamily="34" charset="0"/>
              <a:buChar char="•"/>
            </a:pPr>
            <a:r>
              <a:rPr lang="pt-BR" sz="2400" dirty="0"/>
              <a:t>Conhecer as medidas de dispersão que serão usadas na disciplina.</a:t>
            </a:r>
          </a:p>
          <a:p>
            <a:pPr marL="742926" lvl="1" indent="-285737">
              <a:buFont typeface="Arial" panose="020B0604020202020204" pitchFamily="34" charset="0"/>
              <a:buChar char="•"/>
            </a:pPr>
            <a:r>
              <a:rPr lang="pt-BR" sz="2400" dirty="0"/>
              <a:t xml:space="preserve">Dispersão e </a:t>
            </a:r>
            <a:r>
              <a:rPr lang="pt-BR" sz="2400" dirty="0" err="1"/>
              <a:t>quantis</a:t>
            </a:r>
            <a:r>
              <a:rPr lang="pt-BR" sz="2400" dirty="0"/>
              <a:t xml:space="preserve"> (quartis).</a:t>
            </a:r>
          </a:p>
          <a:p>
            <a:pPr marL="285737" indent="-285737">
              <a:buFont typeface="Arial" panose="020B0604020202020204" pitchFamily="34" charset="0"/>
              <a:buChar char="•"/>
            </a:pPr>
            <a:r>
              <a:rPr lang="pt-BR" sz="2400" dirty="0"/>
              <a:t xml:space="preserve">Aprender a esboçar e interpretar box </a:t>
            </a:r>
            <a:r>
              <a:rPr lang="pt-BR" sz="2400" dirty="0" err="1"/>
              <a:t>plots</a:t>
            </a:r>
            <a:r>
              <a:rPr lang="pt-BR" sz="2400" dirty="0"/>
              <a:t>.</a:t>
            </a:r>
          </a:p>
          <a:p>
            <a:r>
              <a:rPr lang="pt-BR" sz="2400" b="1" dirty="0"/>
              <a:t xml:space="preserve">Referências: 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 xml:space="preserve">Bussab, Morettin. </a:t>
            </a:r>
            <a:r>
              <a:rPr lang="pt-BR" sz="2000" b="1" dirty="0"/>
              <a:t>Estatística Básica</a:t>
            </a:r>
            <a:r>
              <a:rPr lang="pt-BR" sz="2000" dirty="0"/>
              <a:t>, 9ed — Cap. 3 (3.2 a 3.4)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 xml:space="preserve">Montgomery, Runger. </a:t>
            </a:r>
            <a:r>
              <a:rPr lang="pt-BR" sz="2000" b="1" dirty="0"/>
              <a:t>Applied Statistics and Probability for Engineers</a:t>
            </a:r>
            <a:r>
              <a:rPr lang="pt-BR" sz="2000" dirty="0"/>
              <a:t>, 7th ed — Cap. 6 (6.4)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 xml:space="preserve">Magalhães, Lima. </a:t>
            </a:r>
            <a:r>
              <a:rPr lang="pt-BR" sz="2000" b="1" dirty="0"/>
              <a:t>Noções de Probabilidade e Estatística</a:t>
            </a:r>
            <a:r>
              <a:rPr lang="pt-BR" sz="2000" dirty="0"/>
              <a:t>, 5ed — Cap. 4 (4.2, 4.3) e Cap. 1 (1.2, box-plot)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7389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58354"/>
            <a:ext cx="1118036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Medidas de dispersão</a:t>
            </a:r>
          </a:p>
          <a:p>
            <a:endParaRPr lang="pt-BR" sz="2800" dirty="0"/>
          </a:p>
          <a:p>
            <a:r>
              <a:rPr lang="pt-BR" sz="2800" dirty="0"/>
              <a:t>São medidas que mostram a variabilidade de um conjunto. Elas são calculadas a partir do desvio (ou erro) ao se aproximar os dados pela média.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/>
              <a:t xml:space="preserve">Desvio médio: </a:t>
            </a:r>
            <a:r>
              <a:rPr lang="pt-BR" sz="2800" dirty="0"/>
              <a:t>é a média dos desvios em valor absoluto.</a:t>
            </a:r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/>
              <a:t xml:space="preserve">Variância: </a:t>
            </a:r>
            <a:r>
              <a:rPr lang="pt-BR" sz="2800" dirty="0"/>
              <a:t>é a média dos quadrados dos desvios.</a:t>
            </a:r>
            <a:r>
              <a:rPr lang="pt-BR" sz="2800" b="1" dirty="0"/>
              <a:t xml:space="preserve"> </a:t>
            </a:r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4562238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50240" y="1458354"/>
                <a:ext cx="11180365" cy="48926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Medidas de dispersão</a:t>
                </a:r>
              </a:p>
              <a:p>
                <a:endParaRPr lang="pt-BR" sz="2800" dirty="0"/>
              </a:p>
              <a:p>
                <a:r>
                  <a:rPr lang="pt-BR" sz="2800" dirty="0"/>
                  <a:t xml:space="preserve">Sejam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 ⋯, </m:t>
                        </m:r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sz="2800" dirty="0"/>
                  <a:t xml:space="preserve"> um conjunto de dados (distintos ou não).</a:t>
                </a:r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Desvio médio:</a:t>
                </a:r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Variância (população):</a:t>
                </a:r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 xml:space="preserve">Desvio padrão: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pt-BR" sz="280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pt-BR" sz="28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𝑣𝑎𝑟</m:t>
                        </m:r>
                        <m:r>
                          <a:rPr lang="pt-BR" sz="28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8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8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rad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240" y="1458354"/>
                <a:ext cx="11180365" cy="4892621"/>
              </a:xfrm>
              <a:prstGeom prst="rect">
                <a:avLst/>
              </a:prstGeom>
              <a:blipFill>
                <a:blip r:embed="rId3"/>
                <a:stretch>
                  <a:fillRect l="-1145" t="-1121" b="-274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EBCD726B-B284-4F32-BD13-A061265941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7207" y="3154248"/>
            <a:ext cx="3543909" cy="1125863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6E367411-2840-4C33-BEA6-8F79880090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8263" y="4534558"/>
            <a:ext cx="4281242" cy="112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046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58354"/>
            <a:ext cx="11180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Exemplo:</a:t>
            </a:r>
            <a:r>
              <a:rPr lang="pt-BR" sz="2800" dirty="0"/>
              <a:t xml:space="preserve"> Considere os conjuntos de dados abaixo. Calcule a média e variância de cada um.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01A4BAA-ECFF-4FAE-B28C-A6EBEEB172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3458" y="3231587"/>
            <a:ext cx="6746264" cy="3002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2417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50240" y="1458354"/>
                <a:ext cx="11180365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 err="1"/>
                  <a:t>Quantis</a:t>
                </a:r>
                <a:r>
                  <a:rPr lang="pt-BR" sz="2800" b="1" dirty="0"/>
                  <a:t xml:space="preserve"> empíricos</a:t>
                </a:r>
              </a:p>
              <a:p>
                <a:endParaRPr lang="pt-BR" sz="2800" dirty="0"/>
              </a:p>
              <a:p>
                <a:r>
                  <a:rPr lang="pt-BR" sz="2800" dirty="0"/>
                  <a:t xml:space="preserve">Os </a:t>
                </a:r>
                <a:r>
                  <a:rPr lang="pt-BR" sz="2800" dirty="0" err="1"/>
                  <a:t>quantis</a:t>
                </a:r>
                <a:r>
                  <a:rPr lang="pt-BR" sz="2800" dirty="0"/>
                  <a:t xml:space="preserve"> ajudam a visualizar a distribuição dos dados.</a:t>
                </a:r>
              </a:p>
              <a:p>
                <a:endParaRPr lang="pt-BR" sz="2800" dirty="0"/>
              </a:p>
              <a:p>
                <a:pPr lvl="1"/>
                <a:r>
                  <a:rPr lang="pt-BR" sz="2800" b="1" dirty="0"/>
                  <a:t>Definição:</a:t>
                </a:r>
                <a:r>
                  <a:rPr lang="pt-BR" sz="2800" dirty="0"/>
                  <a:t xml:space="preserve"> um </a:t>
                </a:r>
                <a:r>
                  <a:rPr lang="pt-BR" sz="2800" dirty="0" err="1"/>
                  <a:t>quantil</a:t>
                </a:r>
                <a:r>
                  <a:rPr lang="pt-BR" sz="2800" dirty="0"/>
                  <a:t xml:space="preserve"> de ordem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sz="2800" dirty="0"/>
                  <a:t xml:space="preserve"> ou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sz="2800" dirty="0"/>
                  <a:t>-</a:t>
                </a:r>
                <a:r>
                  <a:rPr lang="pt-BR" sz="2800" dirty="0" err="1"/>
                  <a:t>quantil</a:t>
                </a:r>
                <a:r>
                  <a:rPr lang="pt-BR" sz="2800" dirty="0"/>
                  <a:t xml:space="preserve">, indicada por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 xml:space="preserve">, onde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sz="2800" dirty="0"/>
                  <a:t xml:space="preserve"> é uma proporção qualquer,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0 &lt; 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 &lt; 1</m:t>
                    </m:r>
                  </m:oMath>
                </a14:m>
                <a:r>
                  <a:rPr lang="pt-BR" sz="2800" dirty="0"/>
                  <a:t xml:space="preserve">, tal que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pt-BR" sz="2800" dirty="0"/>
                  <a:t xml:space="preserve"> das observações sejam menores do que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b="1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240" y="1458354"/>
                <a:ext cx="11180365" cy="3970318"/>
              </a:xfrm>
              <a:prstGeom prst="rect">
                <a:avLst/>
              </a:prstGeom>
              <a:blipFill>
                <a:blip r:embed="rId3"/>
                <a:stretch>
                  <a:fillRect l="-1145" t="-1380" r="-6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802385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58354"/>
            <a:ext cx="1118036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 err="1"/>
              <a:t>Quantis</a:t>
            </a:r>
            <a:r>
              <a:rPr lang="pt-BR" sz="2800" b="1" dirty="0"/>
              <a:t xml:space="preserve"> empíricos</a:t>
            </a:r>
          </a:p>
          <a:p>
            <a:endParaRPr lang="pt-BR" sz="2800" dirty="0"/>
          </a:p>
          <a:p>
            <a:pPr marL="457178" indent="-457178">
              <a:buFont typeface="Arial" panose="020B0604020202020204" pitchFamily="34" charset="0"/>
              <a:buChar char="•"/>
            </a:pPr>
            <a:endParaRPr lang="pt-BR" sz="2800" b="1" dirty="0"/>
          </a:p>
          <a:p>
            <a:pPr marL="457178" indent="-457178">
              <a:buFont typeface="Arial" panose="020B0604020202020204" pitchFamily="34" charset="0"/>
              <a:buChar char="•"/>
            </a:pPr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945707C1-31C0-49C7-88C6-9ACF9D61C8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39" y="2157106"/>
            <a:ext cx="10827959" cy="409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663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50240" y="1458354"/>
                <a:ext cx="11180365" cy="4401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Quantis empíricos</a:t>
                </a:r>
              </a:p>
              <a:p>
                <a:r>
                  <a:rPr lang="pt-BR" sz="2800" dirty="0"/>
                  <a:t>Exemplos:</a:t>
                </a:r>
                <a:endParaRPr lang="pt-BR" sz="2800" b="1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0,25</m:t>
                        </m:r>
                      </m:e>
                    </m:d>
                  </m:oMath>
                </a14:m>
                <a:endParaRPr lang="pt-BR" sz="2800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0,50</m:t>
                        </m:r>
                      </m:e>
                    </m:d>
                  </m:oMath>
                </a14:m>
                <a:endParaRPr lang="pt-BR" sz="2800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0,75</m:t>
                        </m:r>
                      </m:e>
                    </m:d>
                  </m:oMath>
                </a14:m>
                <a:endParaRPr lang="pt-BR" sz="2800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0,95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0,31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  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0,40</m:t>
                        </m:r>
                      </m:e>
                    </m:d>
                  </m:oMath>
                </a14:m>
                <a:r>
                  <a:rPr lang="pt-BR" sz="2800" dirty="0"/>
                  <a:t>, ...</a:t>
                </a:r>
                <a:endParaRPr lang="pt-BR" sz="2800" b="1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240" y="1458354"/>
                <a:ext cx="11180365" cy="4401205"/>
              </a:xfrm>
              <a:prstGeom prst="rect">
                <a:avLst/>
              </a:prstGeom>
              <a:blipFill>
                <a:blip r:embed="rId3"/>
                <a:stretch>
                  <a:fillRect l="-1145" t="-1247" b="-30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1010446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50240" y="1458354"/>
                <a:ext cx="11180365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 xml:space="preserve">Exemplo: </a:t>
                </a:r>
                <a:r>
                  <a:rPr lang="pt-BR" sz="2800" dirty="0"/>
                  <a:t xml:space="preserve">Vamos calcular os quartis do conjunto de dados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{15</m:t>
                    </m:r>
                    <m:r>
                      <a:rPr lang="pt-BR" sz="2800" i="1" dirty="0">
                        <a:latin typeface="Cambria Math" panose="02040503050406030204" pitchFamily="18" charset="0"/>
                      </a:rPr>
                      <m:t>, 5, 3, 8, 10, 2, 7, 11, 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12}.</m:t>
                    </m:r>
                  </m:oMath>
                </a14:m>
                <a:endParaRPr lang="pt-BR" sz="2800" b="1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240" y="1458354"/>
                <a:ext cx="11180365" cy="954107"/>
              </a:xfrm>
              <a:prstGeom prst="rect">
                <a:avLst/>
              </a:prstGeom>
              <a:blipFill>
                <a:blip r:embed="rId3"/>
                <a:stretch>
                  <a:fillRect l="-1145" t="-57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8420718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58354"/>
            <a:ext cx="111803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 xml:space="preserve">Exemplo: </a:t>
            </a:r>
            <a:r>
              <a:rPr lang="pt-BR" sz="2800" dirty="0"/>
              <a:t xml:space="preserve">Como calcular </a:t>
            </a:r>
            <a:r>
              <a:rPr lang="pt-BR" sz="2800" dirty="0" err="1"/>
              <a:t>quantis</a:t>
            </a:r>
            <a:r>
              <a:rPr lang="pt-BR" sz="2800" dirty="0"/>
              <a:t xml:space="preserve"> a partir de um histograma?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6755D78-C2EE-4C3E-9E5D-E6A5528176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40" y="2099168"/>
            <a:ext cx="6160280" cy="3806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2840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50240" y="1458354"/>
                <a:ext cx="11180365" cy="45274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Mais algumas definições</a:t>
                </a:r>
              </a:p>
              <a:p>
                <a:endParaRPr lang="pt-BR" sz="2800" b="1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Distância interquartil</a:t>
                </a:r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Medida resistente</a:t>
                </a:r>
                <a:endParaRPr lang="pt-BR" sz="2800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Pouco afetada por mudanças em poucos dados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Dispersão inferior</a:t>
                </a:r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𝑑𝑖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(1)</m:t>
                        </m:r>
                      </m:sub>
                    </m:sSub>
                  </m:oMath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Dispersão superior</a:t>
                </a:r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𝑑𝑠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240" y="1458354"/>
                <a:ext cx="11180365" cy="4527458"/>
              </a:xfrm>
              <a:prstGeom prst="rect">
                <a:avLst/>
              </a:prstGeom>
              <a:blipFill>
                <a:blip r:embed="rId3"/>
                <a:stretch>
                  <a:fillRect l="-1145" t="-1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5227698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58354"/>
            <a:ext cx="11180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Mais algumas definições</a:t>
            </a:r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764A055-2D4A-45CA-8FEB-BED3DE509F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4926" y="1942842"/>
            <a:ext cx="8610991" cy="1927973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2B8C5C3B-6FE8-4CB8-9B68-5D9B4E620F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4681" y="4015782"/>
            <a:ext cx="3791479" cy="245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1385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58354"/>
            <a:ext cx="11180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 xml:space="preserve">Box </a:t>
            </a:r>
            <a:r>
              <a:rPr lang="pt-BR" sz="2800" b="1" dirty="0" err="1"/>
              <a:t>plots</a:t>
            </a:r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C85683AF-6F62-463C-A1ED-B200F186D1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7839" y="1522046"/>
            <a:ext cx="4096322" cy="4601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58255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50240" y="1458354"/>
                <a:ext cx="11180365" cy="2246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 xml:space="preserve">Exemplo: </a:t>
                </a:r>
                <a:r>
                  <a:rPr lang="pt-BR" sz="2800" dirty="0"/>
                  <a:t xml:space="preserve">Esboce os </a:t>
                </a:r>
                <a:r>
                  <a:rPr lang="pt-BR" sz="2800" dirty="0" err="1"/>
                  <a:t>boxplots</a:t>
                </a:r>
                <a:r>
                  <a:rPr lang="pt-BR" sz="2800" dirty="0"/>
                  <a:t xml:space="preserve"> dos conjuntos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{1,2,3,4,5,6,7,8,9,10}</m:t>
                    </m:r>
                  </m:oMath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0" smtClean="0">
                        <a:latin typeface="Cambria Math" panose="02040503050406030204" pitchFamily="18" charset="0"/>
                      </a:rPr>
                      <m:t>{1,2,3,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8,8,8,9,9,9,10}</m:t>
                    </m:r>
                  </m:oMath>
                </a14:m>
                <a:endParaRPr lang="pt-BR" sz="2800" dirty="0"/>
              </a:p>
              <a:p>
                <a:endParaRPr lang="pt-BR" sz="2800" dirty="0"/>
              </a:p>
              <a:p>
                <a:endParaRPr lang="pt-BR" sz="2800" b="1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240" y="1458354"/>
                <a:ext cx="11180365" cy="2246769"/>
              </a:xfrm>
              <a:prstGeom prst="rect">
                <a:avLst/>
              </a:prstGeom>
              <a:blipFill>
                <a:blip r:embed="rId3"/>
                <a:stretch>
                  <a:fillRect l="-1145" t="-243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5858828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50240" y="1458354"/>
                <a:ext cx="11180365" cy="44315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Gráficos de simetria</a:t>
                </a:r>
              </a:p>
              <a:p>
                <a:endParaRPr lang="pt-BR" sz="2800" b="1" dirty="0"/>
              </a:p>
              <a:p>
                <a:r>
                  <a:rPr lang="pt-BR" sz="2800" dirty="0"/>
                  <a:t xml:space="preserve">Um conjunto de observações é dito simétricos se </a:t>
                </a:r>
              </a:p>
              <a:p>
                <a:endParaRPr lang="pt-BR" sz="2800" dirty="0"/>
              </a:p>
              <a:p>
                <a:pPr algn="ctr"/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0,5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d>
                          <m:d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d>
                          <m:d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+1−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(0,5)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algn="ctr"/>
                <a:endParaRPr lang="pt-BR" sz="2800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 xml:space="preserve">Se os </a:t>
                </a:r>
                <a:r>
                  <a:rPr lang="pt-BR" sz="2800" dirty="0" err="1"/>
                  <a:t>quantis</a:t>
                </a:r>
                <a:r>
                  <a:rPr lang="pt-BR" sz="2800" dirty="0"/>
                  <a:t xml:space="preserve"> da direita estão mais afastados da mediana, do que os da esquerda, os dados serão assimétricos à direita.</a:t>
                </a:r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Se ocorrer o contrário, os dados serão assimétricos à esquerda.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240" y="1458354"/>
                <a:ext cx="11180365" cy="4431534"/>
              </a:xfrm>
              <a:prstGeom prst="rect">
                <a:avLst/>
              </a:prstGeom>
              <a:blipFill>
                <a:blip r:embed="rId3"/>
                <a:stretch>
                  <a:fillRect l="-1145" t="-1238" b="-302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2499914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58354"/>
            <a:ext cx="1118036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Simetria de distribuições de frequência</a:t>
            </a:r>
          </a:p>
          <a:p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B33BACC-519E-45C4-9283-778AE251C4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0046" y="2048383"/>
            <a:ext cx="9011908" cy="22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0679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58354"/>
            <a:ext cx="111803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45518C42-FFBC-41DF-B4EE-D75064174A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0204" y="1276601"/>
            <a:ext cx="5047409" cy="5212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8934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58354"/>
            <a:ext cx="111803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F28022D-474D-4671-855C-B4CF01030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1461" y="1185283"/>
            <a:ext cx="6389077" cy="545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126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58354"/>
            <a:ext cx="11180365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Leitura complementar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3.6 Transformações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3.7 Exemplos computacionais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Complementos metodológicos</a:t>
            </a:r>
          </a:p>
          <a:p>
            <a:pPr marL="914389" lvl="1" indent="-457200">
              <a:buFont typeface="Arial" panose="020B0604020202020204" pitchFamily="34" charset="0"/>
              <a:buChar char="•"/>
            </a:pPr>
            <a:r>
              <a:rPr lang="pt-BR" sz="2800" dirty="0"/>
              <a:t xml:space="preserve">Exercício 17: </a:t>
            </a:r>
            <a:r>
              <a:rPr lang="pt-BR" sz="2800" dirty="0" err="1"/>
              <a:t>quantis</a:t>
            </a:r>
            <a:endParaRPr lang="pt-BR" sz="2800" dirty="0"/>
          </a:p>
          <a:p>
            <a:pPr marL="914389" lvl="1" indent="-457200">
              <a:buFont typeface="Arial" panose="020B0604020202020204" pitchFamily="34" charset="0"/>
              <a:buChar char="•"/>
            </a:pPr>
            <a:endParaRPr lang="pt-BR" sz="2800" b="1" dirty="0"/>
          </a:p>
          <a:p>
            <a:pPr marL="914389" lvl="1" indent="-457200">
              <a:buFont typeface="Arial" panose="020B0604020202020204" pitchFamily="34" charset="0"/>
              <a:buChar char="•"/>
            </a:pPr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7536152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2"/>
            <a:ext cx="10827959" cy="1641228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5"/>
            <a:ext cx="970464" cy="2027284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1032611" y="1941869"/>
            <a:ext cx="10827959" cy="38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Atividades referentes à aula</a:t>
            </a:r>
          </a:p>
          <a:p>
            <a:r>
              <a:rPr lang="pt-BR" sz="2000" dirty="0"/>
              <a:t>Leitura recomendada: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Bussab &amp; Morettin — Cap. 3: 3.2 a 3.4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Montgomery &amp; Runger — Cap. 6: 6.4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Magalhães &amp; Lima — Cap. 4: 4.2, 4.3; Cap. 1: 1.2 (box-plot)</a:t>
            </a:r>
          </a:p>
          <a:p>
            <a:r>
              <a:rPr lang="pt-BR" sz="2000" dirty="0"/>
              <a:t>Exercícios recomendados: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Bussab, Cap. 3: exercícios de 1 ao 13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Bussab, exercícios 3.8: 14, 15, 16, 19, 20, 22, 25, 26, 28, 29 e 30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49F6C3D-C6CD-46EB-B00C-3C31995D5B04}"/>
              </a:ext>
            </a:extLst>
          </p:cNvPr>
          <p:cNvSpPr txBox="1"/>
          <p:nvPr/>
        </p:nvSpPr>
        <p:spPr>
          <a:xfrm>
            <a:off x="361395" y="6488668"/>
            <a:ext cx="2348848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>
                <a:solidFill>
                  <a:schemeClr val="bg1"/>
                </a:solidFill>
              </a:rPr>
              <a:t>Professor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81342308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3111</TotalTime>
  <Words>870</Words>
  <Application>Microsoft Office PowerPoint</Application>
  <PresentationFormat>Widescreen</PresentationFormat>
  <Paragraphs>168</Paragraphs>
  <Slides>23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29" baseType="lpstr">
      <vt:lpstr>AlternateGothic2 BT</vt:lpstr>
      <vt:lpstr>Arial</vt:lpstr>
      <vt:lpstr>Calibri</vt:lpstr>
      <vt:lpstr>Calibri Light</vt:lpstr>
      <vt:lpstr>Cambria Math</vt:lpstr>
      <vt:lpstr>Tema do Office</vt:lpstr>
      <vt:lpstr>CEA055 – Estatística e Probabilidade Medidas-Resumo</vt:lpstr>
      <vt:lpstr>CEA055 – Estatística e Probabilidade Medidas-Resumo</vt:lpstr>
      <vt:lpstr>CEA055 – Estatística e Probabilidade Medidas-Resumo</vt:lpstr>
      <vt:lpstr>CEA055 – Estatística e Probabilidade Medidas-Resumo</vt:lpstr>
      <vt:lpstr>CEA055 – Estatística e Probabilidade Medidas-Resumo</vt:lpstr>
      <vt:lpstr>CEA055 – Estatística e Probabilidade Medidas-Resumo</vt:lpstr>
      <vt:lpstr>CEA055 – Estatística e Probabilidade Medidas-Resumo</vt:lpstr>
      <vt:lpstr>CEA055 – Estatística e Probabilidade Medidas-Resumo</vt:lpstr>
      <vt:lpstr>CEA055 – Estatística e Probabilidade Medidas-Resumo</vt:lpstr>
      <vt:lpstr>CEA055 – Estatística e Probabilidade Medidas-Resumo</vt:lpstr>
      <vt:lpstr>CEA055 – Estatística e Probabilidade Medidas-Resumo</vt:lpstr>
      <vt:lpstr>CEA055 – Estatística e Probabilidade Medidas-Resumo</vt:lpstr>
      <vt:lpstr>CEA055 – Estatística e Probabilidade Medidas-Resumo</vt:lpstr>
      <vt:lpstr>CEA055 – Estatística e Probabilidade Medidas-Resumo</vt:lpstr>
      <vt:lpstr>CEA055 – Estatística e Probabilidade Medidas-Resumo</vt:lpstr>
      <vt:lpstr>CEA055 – Estatística e Probabilidade Medidas-Resumo</vt:lpstr>
      <vt:lpstr>CEA055 – Estatística e Probabilidade Medidas-Resumo</vt:lpstr>
      <vt:lpstr>CEA055 – Estatística e Probabilidade Medidas-Resumo</vt:lpstr>
      <vt:lpstr>CEA055 – Estatística e Probabilidade Medidas-Resumo</vt:lpstr>
      <vt:lpstr>CEA055 – Estatística e Probabilidade Medidas-Resumo</vt:lpstr>
      <vt:lpstr>CEA055 – Estatística e Probabilidade Medidas-Resumo</vt:lpstr>
      <vt:lpstr>CEA055 – Estatística e Probabilidade Medidas-Resumo</vt:lpstr>
      <vt:lpstr>CEA055 – Estatística e Probabilidade Medidas-Resumo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Marcos Goulart Lima</dc:creator>
  <cp:lastModifiedBy>Marcos Goulart Lima</cp:lastModifiedBy>
  <cp:revision>89</cp:revision>
  <dcterms:created xsi:type="dcterms:W3CDTF">2020-07-20T19:35:15Z</dcterms:created>
  <dcterms:modified xsi:type="dcterms:W3CDTF">2024-04-02T23:23:42Z</dcterms:modified>
</cp:coreProperties>
</file>