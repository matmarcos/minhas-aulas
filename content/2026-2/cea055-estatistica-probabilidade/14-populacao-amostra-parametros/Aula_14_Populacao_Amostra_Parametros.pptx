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900" r:id="rId27"/>
    <p:sldId id="270" r:id="rId2"/>
    <p:sldId id="271" r:id="rId3"/>
    <p:sldId id="287" r:id="rId4"/>
    <p:sldId id="276" r:id="rId5"/>
    <p:sldId id="288" r:id="rId6"/>
    <p:sldId id="289" r:id="rId7"/>
    <p:sldId id="273" r:id="rId8"/>
    <p:sldId id="272" r:id="rId9"/>
    <p:sldId id="274" r:id="rId10"/>
    <p:sldId id="290" r:id="rId11"/>
    <p:sldId id="295" r:id="rId12"/>
    <p:sldId id="296" r:id="rId13"/>
    <p:sldId id="297" r:id="rId14"/>
    <p:sldId id="291" r:id="rId15"/>
    <p:sldId id="298" r:id="rId16"/>
    <p:sldId id="292" r:id="rId17"/>
    <p:sldId id="299" r:id="rId18"/>
    <p:sldId id="300" r:id="rId19"/>
    <p:sldId id="269" r:id="rId20"/>
    <p:sldId id="901" r:id="rId28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18" autoAdjust="0"/>
    <p:restoredTop sz="94660" autoAdjust="0"/>
  </p:normalViewPr>
  <p:slideViewPr>
    <p:cSldViewPr snapToGrid="0">
      <p:cViewPr varScale="1">
        <p:scale>
          <a:sx n="68" d="100"/>
          <a:sy n="68" d="100"/>
        </p:scale>
        <p:origin x="96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notesMaster" Target="notesMasters/notesMaster1.xml"/><Relationship Id="rId22" Type="http://schemas.openxmlformats.org/officeDocument/2006/relationships/commentAuthors" Target="commentAuthors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7F89C7-0D7F-4B10-AF98-1416A21C67FE}" type="slidenum">
              <a:rPr lang="pt-BR" smtClean="0"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6513236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06/09/2024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População, Amostra e Parâmetros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Objetivos do aula: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Compreender os conceitos de população e amostra.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Conhecer os tipos de amostragem, com foco na Amostragem Aleatória Simples (AAS).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400" dirty="0"/>
              <a:t>Diferenciar estatística (medida da amostra) de parâmetro (medida da população).</a:t>
            </a:r>
          </a:p>
          <a:p>
            <a:r>
              <a:rPr lang="pt-BR" sz="2400" b="1" dirty="0"/>
              <a:t xml:space="preserve">Referências: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Bussab, Morettin. </a:t>
            </a:r>
            <a:r>
              <a:rPr lang="pt-BR" sz="2000" b="1" dirty="0"/>
              <a:t>Estatística Básica</a:t>
            </a:r>
            <a:r>
              <a:rPr lang="pt-BR" sz="2000" dirty="0"/>
              <a:t>, 9ed — Cap. 10 (10.2, 10.4, 10.5, 10.6)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Montgomery, Runger. </a:t>
            </a:r>
            <a:r>
              <a:rPr lang="pt-BR" sz="2000" b="1" dirty="0"/>
              <a:t>Applied Statistics and Probability for Engineers</a:t>
            </a:r>
            <a:r>
              <a:rPr lang="pt-BR" sz="2000" dirty="0"/>
              <a:t>, 7th ed — Cap. 7 (7.1)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Magalhães, Lima. </a:t>
            </a:r>
            <a:r>
              <a:rPr lang="pt-BR" sz="2000" b="1" dirty="0"/>
              <a:t>Noções de Probabilidade e Estatística</a:t>
            </a:r>
            <a:r>
              <a:rPr lang="pt-BR" sz="2000" dirty="0"/>
              <a:t>, 5ed — Cap. 7 (7.1, 7.2)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 xml:space="preserve">Morettin. </a:t>
            </a:r>
            <a:r>
              <a:rPr lang="pt-BR" sz="2000" b="1" dirty="0"/>
              <a:t>Estatística Básica: Probabilidade e Inferência</a:t>
            </a:r>
            <a:r>
              <a:rPr lang="pt-BR" sz="2000" dirty="0"/>
              <a:t xml:space="preserve"> — Cap. 7 (7.1, 7.2); Cap. 8 (8.1)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50241" y="1506234"/>
            <a:ext cx="109087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Introdução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800" dirty="0"/>
              <a:t>Na Parte 1 - Resumo dos dados.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r>
              <a:rPr lang="pt-BR" sz="2800" dirty="0"/>
              <a:t>Na Parte 2 - Modelos teóricos (probabilísticos).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r>
              <a:rPr lang="pt-BR" sz="2800" dirty="0"/>
              <a:t>Nesta terceira parte apresentaremos os argumentos estatísticos para fazer afirmações sobre as características de uma população, com base em informações dadas por amostras.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74771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50241" y="1506234"/>
            <a:ext cx="1090871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Conceitos básicos</a:t>
            </a:r>
          </a:p>
          <a:p>
            <a:pPr marL="285737" indent="-285737">
              <a:buFont typeface="Arial" panose="020B0604020202020204" pitchFamily="34" charset="0"/>
              <a:buChar char="•"/>
            </a:pPr>
            <a:endParaRPr lang="pt-BR" sz="2800" dirty="0"/>
          </a:p>
          <a:p>
            <a:r>
              <a:rPr lang="pt-BR" sz="2800" b="1" dirty="0"/>
              <a:t>População</a:t>
            </a:r>
            <a:r>
              <a:rPr lang="pt-BR" sz="2800" dirty="0"/>
              <a:t xml:space="preserve"> é o conjunto formado por indivíduos ou objetos que têm pelo menos uma variável comum e observável.</a:t>
            </a:r>
          </a:p>
          <a:p>
            <a:endParaRPr lang="pt-BR" sz="2800" dirty="0"/>
          </a:p>
          <a:p>
            <a:r>
              <a:rPr lang="pt-BR" sz="2800" b="1" dirty="0"/>
              <a:t xml:space="preserve">Amostra: </a:t>
            </a:r>
            <a:r>
              <a:rPr lang="pt-BR" sz="2800" dirty="0"/>
              <a:t>fixada uma população, qualquer subconjunto formado exclusivamente por seus elementos é denominado amostra desta população.</a:t>
            </a:r>
          </a:p>
          <a:p>
            <a:endParaRPr lang="pt-BR" sz="2800" dirty="0"/>
          </a:p>
          <a:p>
            <a:r>
              <a:rPr lang="pt-BR" sz="2800" b="1" dirty="0"/>
              <a:t xml:space="preserve">Amostragem: </a:t>
            </a:r>
            <a:r>
              <a:rPr lang="pt-BR" sz="2800" dirty="0"/>
              <a:t>é o processo de seleção de uma amostra, que possibilita o estudo das características da população.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816178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50241" y="1506234"/>
                <a:ext cx="10908714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Erro amostral: </a:t>
                </a:r>
                <a:r>
                  <a:rPr lang="pt-BR" sz="2800" dirty="0"/>
                  <a:t>é o erro que ocorre justamente pelo uso da amostra.</a:t>
                </a:r>
              </a:p>
              <a:p>
                <a:endParaRPr lang="pt-BR" sz="2800" dirty="0"/>
              </a:p>
              <a:p>
                <a:r>
                  <a:rPr lang="pt-BR" sz="2800" b="1" dirty="0"/>
                  <a:t xml:space="preserve">Parâmetro </a:t>
                </a:r>
                <a14:m>
                  <m:oMath xmlns:m="http://schemas.openxmlformats.org/officeDocument/2006/math">
                    <m:r>
                      <a:rPr lang="pt-BR" sz="2800" b="1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pt-BR" sz="28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b="1" dirty="0"/>
                  <a:t xml:space="preserve"> :</a:t>
                </a:r>
                <a:r>
                  <a:rPr lang="pt-BR" sz="2800" dirty="0"/>
                  <a:t xml:space="preserve"> é a medida usada para descrever uma característica numérica populacional.</a:t>
                </a:r>
              </a:p>
              <a:p>
                <a:endParaRPr lang="pt-BR" sz="2800" dirty="0"/>
              </a:p>
              <a:p>
                <a:r>
                  <a:rPr lang="pt-BR" sz="2800" b="1" dirty="0"/>
                  <a:t xml:space="preserve">Estimador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pt-BR" sz="28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b="1" dirty="0"/>
                  <a:t xml:space="preserve">: </a:t>
                </a:r>
                <a:r>
                  <a:rPr lang="pt-BR" sz="2800" dirty="0"/>
                  <a:t xml:space="preserve">também denominado estatística de um parâmetro populacional; é uma característica numérica determinada na amostra, uma função de seus elementos. </a:t>
                </a:r>
              </a:p>
              <a:p>
                <a:endParaRPr lang="pt-BR" sz="2800" dirty="0"/>
              </a:p>
              <a:p>
                <a:r>
                  <a:rPr lang="pt-BR" sz="2800" b="1" dirty="0"/>
                  <a:t xml:space="preserve">Estimativa: </a:t>
                </a:r>
                <a:r>
                  <a:rPr lang="pt-BR" sz="2800" dirty="0"/>
                  <a:t xml:space="preserve">é o valor numérico determinado pelo estimador, que genericamente representaremos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41" y="1506234"/>
                <a:ext cx="10908714" cy="4832092"/>
              </a:xfrm>
              <a:prstGeom prst="rect">
                <a:avLst/>
              </a:prstGeom>
              <a:blipFill>
                <a:blip r:embed="rId2"/>
                <a:stretch>
                  <a:fillRect l="-1174" t="-1135" b="-26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458405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50241" y="1506234"/>
                <a:ext cx="10908714" cy="23387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 xml:space="preserve">O erro amostral, que pode ser denotado por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800" dirty="0"/>
                  <a:t xml:space="preserve"> é definido por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pt-BR" sz="2800" dirty="0"/>
              </a:p>
              <a:p>
                <a:r>
                  <a:rPr lang="pt-BR" sz="2800" dirty="0"/>
                  <a:t xml:space="preserve">Para cada amostra temos uma estimativa diferente. Logo,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pt-BR" sz="2800" dirty="0"/>
                  <a:t xml:space="preserve"> é uma variável aleatória e, como tal, podemos calcular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pt-BR" sz="2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</m:d>
                  </m:oMath>
                </a14:m>
                <a:r>
                  <a:rPr lang="pt-BR" sz="2800" dirty="0"/>
                  <a:t xml:space="preserve"> 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41" y="1506234"/>
                <a:ext cx="10908714" cy="2338782"/>
              </a:xfrm>
              <a:prstGeom prst="rect">
                <a:avLst/>
              </a:prstGeom>
              <a:blipFill>
                <a:blip r:embed="rId2"/>
                <a:stretch>
                  <a:fillRect l="-1174" t="-2344" r="-19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222582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50241" y="1506234"/>
            <a:ext cx="1090871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Viés de seleção</a:t>
            </a:r>
          </a:p>
          <a:p>
            <a:endParaRPr lang="pt-BR" sz="2800" dirty="0"/>
          </a:p>
          <a:p>
            <a:r>
              <a:rPr lang="pt-BR" sz="2800" dirty="0"/>
              <a:t>Tipos de amostragem</a:t>
            </a:r>
          </a:p>
          <a:p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Probabilística: todos tem a mesma probabilidade de serem selecionados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Não probabilística: um método é utilizado para selecionar os elementos da amostra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39318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50241" y="1506234"/>
            <a:ext cx="109087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>Viés de coleta de dados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sz="28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>Viés de estimação</a:t>
            </a: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822183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50241" y="1506234"/>
            <a:ext cx="1090871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Exemplos</a:t>
            </a:r>
          </a:p>
          <a:p>
            <a:pPr marL="514350" indent="-514350">
              <a:buAutoNum type="arabicParenR"/>
            </a:pPr>
            <a:r>
              <a:rPr lang="pt-BR" sz="2800" dirty="0"/>
              <a:t>Consideremos uma pesquisa para estudar os salários dos 500 funcionários da Companhia MB. Seleciona-se uma amostra de 36 indivíduos, e anotam-se os seus salários.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 xml:space="preserve"> </a:t>
            </a:r>
            <a:r>
              <a:rPr lang="pt-BR" sz="2800" b="1" dirty="0"/>
              <a:t xml:space="preserve">A variável </a:t>
            </a:r>
            <a:r>
              <a:rPr lang="pt-BR" sz="2800" dirty="0"/>
              <a:t>aleatória a ser observada é “salário”.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 xml:space="preserve"> </a:t>
            </a:r>
            <a:r>
              <a:rPr lang="pt-BR" sz="2800" b="1" dirty="0"/>
              <a:t xml:space="preserve">A população </a:t>
            </a:r>
            <a:r>
              <a:rPr lang="pt-BR" sz="2800" dirty="0"/>
              <a:t>é formada pelos 500 funcionários da companhia.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 xml:space="preserve"> </a:t>
            </a:r>
            <a:r>
              <a:rPr lang="pt-BR" sz="2800" b="1" dirty="0"/>
              <a:t xml:space="preserve">A amostra </a:t>
            </a:r>
            <a:r>
              <a:rPr lang="pt-BR" sz="2800" dirty="0"/>
              <a:t xml:space="preserve">é constituída pelos 36 indivíduos selecionados. </a:t>
            </a:r>
          </a:p>
          <a:p>
            <a:endParaRPr lang="pt-BR" sz="2800" dirty="0"/>
          </a:p>
          <a:p>
            <a:r>
              <a:rPr lang="pt-BR" sz="2800" dirty="0"/>
              <a:t>Podemos estudar a distribuição dos salários na amostra, e esperamos que esta reflita a distribuição de todos os salários, desde que a amostra tenha sido escolhida com cuidado.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896344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CEA307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 xml:space="preserve">Aula 10 - Inferência Estatística – Parte 1 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650241" y="1506234"/>
            <a:ext cx="1090871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arenR" startAt="2"/>
            </a:pPr>
            <a:r>
              <a:rPr lang="pt-BR" sz="2800" dirty="0"/>
              <a:t>Queremos estudar a proporção de indivíduos na cidade A que são favoráveis a certo projeto governamental. Uma amostra de 200 pessoas é sorteada, e a opinião de cada uma é registrada como sendo a favor ou contra o projeto.</a:t>
            </a:r>
          </a:p>
          <a:p>
            <a:r>
              <a:rPr lang="pt-BR" sz="2800" dirty="0"/>
              <a:t xml:space="preserve"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>A variável</a:t>
            </a:r>
            <a:r>
              <a:rPr lang="pt-BR" sz="2800" dirty="0"/>
              <a:t>, pode ser, X=1 (favorável) e X=0 (contrário).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 xml:space="preserve">A população </a:t>
            </a:r>
            <a:r>
              <a:rPr lang="pt-BR" sz="2800" dirty="0"/>
              <a:t>consiste de todos os moradores da cidade.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b="1" dirty="0"/>
              <a:t>Amostra</a:t>
            </a:r>
            <a:r>
              <a:rPr lang="pt-BR" sz="2800" dirty="0"/>
              <a:t xml:space="preserve"> é formada pelas 200 pessoas sorteadas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305035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650241" y="1506234"/>
                <a:ext cx="10908714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14350" indent="-514350">
                  <a:buFont typeface="+mj-lt"/>
                  <a:buAutoNum type="arabicParenR" startAt="3"/>
                </a:pPr>
                <a:r>
                  <a:rPr lang="pt-BR" sz="2800" dirty="0"/>
                  <a:t xml:space="preserve">Considere uma máquina que embala automaticamente café em pacotes de 500g. Digamos que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 represente o peso dos pacotes. Sabe-se que a distribuição de </a:t>
                </a:r>
                <a14:m>
                  <m:oMath xmlns:m="http://schemas.openxmlformats.org/officeDocument/2006/math">
                    <m:r>
                      <a:rPr lang="pt-BR" sz="28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pt-BR" sz="2800" dirty="0"/>
                  <a:t xml:space="preserve"> pode ser representada por uma normal, com parâmetros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sz="2800" dirty="0"/>
                  <a:t xml:space="preserve">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pt-BR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sz="2800" dirty="0"/>
                  <a:t>desconhecidos. Calcularemos esses parâmetros a partir de 100 pacotes sorteados.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 xml:space="preserve">A variável </a:t>
                </a:r>
                <a:r>
                  <a:rPr lang="pt-BR" sz="2800" dirty="0"/>
                  <a:t>é o peso dos pacotes (supostamente normal).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 xml:space="preserve">A população </a:t>
                </a:r>
                <a:r>
                  <a:rPr lang="pt-BR" sz="2800" dirty="0"/>
                  <a:t>é o conjunto de todos os pacotes enchidos ou que virão a ser enchidos pela máquina.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b="1" dirty="0"/>
                  <a:t xml:space="preserve">A amostra </a:t>
                </a:r>
                <a:r>
                  <a:rPr lang="pt-BR" sz="2800" dirty="0"/>
                  <a:t>são os 100 pacotes sorteados.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241" y="1506234"/>
                <a:ext cx="10908714" cy="4401205"/>
              </a:xfrm>
              <a:prstGeom prst="rect">
                <a:avLst/>
              </a:prstGeom>
              <a:blipFill>
                <a:blip r:embed="rId2"/>
                <a:stretch>
                  <a:fillRect l="-1174" t="-1524" r="-1174" b="-30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067955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39498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Tipos de amostragem</a:t>
                </a:r>
              </a:p>
              <a:p>
                <a:endParaRPr lang="pt-BR" sz="2800" b="1" dirty="0"/>
              </a:p>
              <a:p>
                <a:r>
                  <a:rPr lang="pt-BR" sz="2800" b="1" dirty="0"/>
                  <a:t xml:space="preserve">Definição.  </a:t>
                </a:r>
                <a:r>
                  <a:rPr lang="pt-BR" sz="2800" dirty="0"/>
                  <a:t xml:space="preserve">Considere uma população com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sz="2800" dirty="0"/>
                  <a:t xml:space="preserve"> elementos e represente um elementos genérico por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pt-BR" sz="2800" dirty="0"/>
                  <a:t xml:space="preserve">,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sz="2800" dirty="0"/>
                  <a:t xml:space="preserve"> e uma amostra com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 xml:space="preserve"> elementos e elementos genérico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800" dirty="0"/>
                  <a:t xml:space="preserve">,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 xml:space="preserve"> Uma </a:t>
                </a:r>
                <a:r>
                  <a:rPr lang="pt-BR" sz="2800" b="1" dirty="0"/>
                  <a:t xml:space="preserve">amostra se diz casual simples </a:t>
                </a:r>
                <a:r>
                  <a:rPr lang="pt-BR" sz="2800" dirty="0"/>
                  <a:t xml:space="preserve">quando </a:t>
                </a:r>
                <a:endParaRPr lang="pt-BR" sz="28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3949864"/>
              </a:xfrm>
              <a:prstGeom prst="rect">
                <a:avLst/>
              </a:prstGeom>
              <a:blipFill>
                <a:blip r:embed="rId2"/>
                <a:stretch>
                  <a:fillRect l="-1272" t="-138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5510273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073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Para amostras de tamanho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800" b="1" dirty="0"/>
                  <a:t xml:space="preserve"> temos</a:t>
                </a:r>
              </a:p>
              <a:p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800" dirty="0"/>
                  <a:t>Com reposição:</a:t>
                </a:r>
              </a:p>
              <a:p>
                <a:pPr marL="514350" indent="-514350">
                  <a:buFont typeface="+mj-lt"/>
                  <a:buAutoNum type="alphaLcParenR"/>
                </a:pPr>
                <a:endParaRPr lang="pt-BR" sz="2800" dirty="0"/>
              </a:p>
              <a:p>
                <a:pPr marL="971539" lvl="1" indent="-51435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=1/</m:t>
                    </m:r>
                    <m:sSup>
                      <m:sSup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pt-BR" sz="2800" dirty="0"/>
              </a:p>
              <a:p>
                <a:pPr marL="971539" lvl="1" indent="-51435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971539" lvl="1" indent="-5143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p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num>
                      <m:den>
                        <m:f>
                          <m:f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marL="971539" lvl="1" indent="-514350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073616"/>
              </a:xfrm>
              <a:prstGeom prst="rect">
                <a:avLst/>
              </a:prstGeom>
              <a:blipFill>
                <a:blip r:embed="rId2"/>
                <a:stretch>
                  <a:fillRect l="-1272" t="-134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333490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50987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 xml:space="preserve">Para amostras de tamanho </a:t>
                </a:r>
                <a14:m>
                  <m:oMath xmlns:m="http://schemas.openxmlformats.org/officeDocument/2006/math"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pt-BR" sz="2800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800" b="1" dirty="0"/>
                  <a:t xml:space="preserve"> temos</a:t>
                </a:r>
              </a:p>
              <a:p>
                <a:endParaRPr lang="pt-BR" sz="2800" dirty="0"/>
              </a:p>
              <a:p>
                <a:pPr marL="514350" indent="-514350">
                  <a:buFont typeface="+mj-lt"/>
                  <a:buAutoNum type="alphaLcParenR" startAt="2"/>
                </a:pPr>
                <a:r>
                  <a:rPr lang="pt-BR" sz="2800" dirty="0"/>
                  <a:t>Sem reposição:</a:t>
                </a:r>
              </a:p>
              <a:p>
                <a:pPr marL="514350" indent="-514350">
                  <a:buFont typeface="+mj-lt"/>
                  <a:buAutoNum type="alphaLcParenR" startAt="2"/>
                </a:pPr>
                <a:endParaRPr lang="pt-BR" sz="2800" dirty="0"/>
              </a:p>
              <a:p>
                <a:pPr marL="971539" lvl="1" indent="-514350">
                  <a:buFont typeface="Arial" panose="020B0604020202020204" pitchFamily="34" charset="0"/>
                  <a:buChar char="•"/>
                </a:pPr>
                <a:r>
                  <a:rPr lang="pt-BR" sz="2800" dirty="0"/>
                  <a:t xml:space="preserve">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=0.</m:t>
                    </m:r>
                  </m:oMath>
                </a14:m>
                <a:endParaRPr lang="pt-BR" sz="2800" dirty="0"/>
              </a:p>
              <a:p>
                <a:pPr marL="971539" lvl="1" indent="-51435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971539" lvl="1" indent="-5143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marL="971539" lvl="1" indent="-51435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971539" lvl="1" indent="-5143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f>
                          <m:f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num>
                      <m:den>
                        <m:f>
                          <m:fPr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den>
                        </m:f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pt-BR" sz="2800" dirty="0"/>
              </a:p>
              <a:p>
                <a:pPr marL="971539" lvl="1" indent="-514350">
                  <a:buFont typeface="Arial" panose="020B0604020202020204" pitchFamily="34" charset="0"/>
                  <a:buChar char="•"/>
                </a:pPr>
                <a:endParaRPr lang="pt-BR" sz="28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5098703"/>
              </a:xfrm>
              <a:prstGeom prst="rect">
                <a:avLst/>
              </a:prstGeom>
              <a:blipFill>
                <a:blip r:embed="rId2"/>
                <a:stretch>
                  <a:fillRect l="-1272" t="-10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4231203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Usando o mesmo argumento para todos os elementos, podemos formar o quadro:</a:t>
            </a:r>
          </a:p>
          <a:p>
            <a:pPr marL="971539" lvl="1" indent="-514350">
              <a:buFont typeface="Arial" panose="020B0604020202020204" pitchFamily="34" charset="0"/>
              <a:buChar char="•"/>
            </a:pP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3B96909-8A0F-4E38-E730-4912FD91C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218" y="2463924"/>
            <a:ext cx="7315306" cy="3813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38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7218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dirty="0"/>
                  <a:t>Concluímos que tanto para amostragem com reposição como para sem reposição, temos: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r>
                  <a:rPr lang="pt-BR" sz="2800" dirty="0"/>
                  <a:t>e</a:t>
                </a:r>
              </a:p>
              <a:p>
                <a:endParaRPr lang="pt-BR" sz="28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pt-BR" sz="280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sz="2800" b="0" i="1" dirty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8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pt-BR" sz="28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721805"/>
              </a:xfrm>
              <a:prstGeom prst="rect">
                <a:avLst/>
              </a:prstGeom>
              <a:blipFill>
                <a:blip r:embed="rId2"/>
                <a:stretch>
                  <a:fillRect l="-1272" t="-11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819704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Exemplo.</a:t>
                </a:r>
                <a:r>
                  <a:rPr lang="pt-BR" sz="2800" dirty="0"/>
                  <a:t xml:space="preserve">  Considere uma população formada por números de 1 à 9. </a:t>
                </a:r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r>
                  <a:rPr lang="pt-BR" sz="2800" dirty="0"/>
                  <a:t>Retiramos amostras de tamanho 3.</a:t>
                </a:r>
              </a:p>
              <a:p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800" dirty="0"/>
                  <a:t xml:space="preserve">Com reposição: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(1,1,1)</m:t>
                    </m:r>
                  </m:oMath>
                </a14:m>
                <a:r>
                  <a:rPr lang="pt-BR" sz="2800" dirty="0"/>
                  <a:t xml:space="preserve"> 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(9,9,9)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514350" indent="-514350">
                  <a:buFont typeface="+mj-lt"/>
                  <a:buAutoNum type="alphaLcParenR"/>
                </a:pPr>
                <a:endParaRPr lang="pt-BR" sz="2800" dirty="0"/>
              </a:p>
              <a:p>
                <a:pPr marL="514350" indent="-514350">
                  <a:buFont typeface="+mj-lt"/>
                  <a:buAutoNum type="alphaLcParenR"/>
                </a:pPr>
                <a:r>
                  <a:rPr lang="pt-BR" sz="2800" dirty="0"/>
                  <a:t xml:space="preserve">Sem reposição: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(1,2,3)</m:t>
                    </m:r>
                  </m:oMath>
                </a14:m>
                <a:r>
                  <a:rPr lang="pt-BR" sz="2800" dirty="0"/>
                  <a:t xml:space="preserve"> e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(7,8,9)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pPr marL="514350" indent="-514350">
                  <a:buFont typeface="+mj-lt"/>
                  <a:buAutoNum type="alphaLcParenR"/>
                </a:pPr>
                <a:endParaRPr lang="pt-BR" sz="2800" dirty="0"/>
              </a:p>
              <a:p>
                <a:r>
                  <a:rPr lang="pt-BR" sz="2800" dirty="0"/>
                  <a:t>Observe que com reposição o erro foi maior.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832092"/>
              </a:xfrm>
              <a:prstGeom prst="rect">
                <a:avLst/>
              </a:prstGeom>
              <a:blipFill>
                <a:blip r:embed="rId2"/>
                <a:stretch>
                  <a:fillRect l="-1272" t="-1135" r="-1454" b="-26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8811787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8320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Amostragem por estratificação</a:t>
                </a:r>
              </a:p>
              <a:p>
                <a:endParaRPr lang="pt-BR" sz="2800" b="1" dirty="0"/>
              </a:p>
              <a:p>
                <a:r>
                  <a:rPr lang="pt-BR" sz="2800" dirty="0"/>
                  <a:t>A amostra é obtida usando um critério de seleção.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No exemplo anterior, considere os estratos:</a:t>
                </a:r>
              </a:p>
              <a:p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:1,2,3</m:t>
                    </m:r>
                  </m:oMath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:4,5,6</m:t>
                    </m:r>
                  </m:oMath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pt-BR" sz="2800" b="0" i="1" dirty="0" smtClean="0">
                        <a:latin typeface="Cambria Math" panose="02040503050406030204" pitchFamily="18" charset="0"/>
                      </a:rPr>
                      <m:t>:7,8,9</m:t>
                    </m:r>
                  </m:oMath>
                </a14:m>
                <a:endParaRPr lang="pt-BR" sz="2800" b="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pt-BR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pt-BR" sz="2800" b="0" dirty="0"/>
                  <a:t xml:space="preserve">O que se pode observar sobre a média nos </a:t>
                </a:r>
                <a:r>
                  <a:rPr lang="pt-BR" sz="2800" dirty="0"/>
                  <a:t>estratos?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832092"/>
              </a:xfrm>
              <a:prstGeom prst="rect">
                <a:avLst/>
              </a:prstGeom>
              <a:blipFill>
                <a:blip r:embed="rId2"/>
                <a:stretch>
                  <a:fillRect l="-1272" t="-1135" b="-26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860884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0672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Amostragem por conglomerados</a:t>
            </a:r>
          </a:p>
          <a:p>
            <a:endParaRPr lang="pt-BR" sz="2800" b="1" dirty="0"/>
          </a:p>
          <a:p>
            <a:r>
              <a:rPr lang="pt-BR" sz="2800" dirty="0"/>
              <a:t>A amostra é dividindo a população em conglomerados que satisfazem as seguintes condições:</a:t>
            </a:r>
          </a:p>
          <a:p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Dentro de cada conglomerado há uma grande heterogeneidade, ou então uma grande variabilidade;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Entre os conglomerados há uma pequena variabilidade, ou então uma grande homogeneidade.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807241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067277" cy="47768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Amostragem sistemática</a:t>
                </a:r>
              </a:p>
              <a:p>
                <a:endParaRPr lang="pt-BR" sz="2800" b="1" dirty="0"/>
              </a:p>
              <a:p>
                <a:r>
                  <a:rPr lang="pt-BR" sz="2800" dirty="0"/>
                  <a:t xml:space="preserve">Consideramos uma população de tamanho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pt-BR" sz="2800" dirty="0"/>
                  <a:t xml:space="preserve"> e dela tiramos uma amostra de tamanho n. Definimos o fator de sistematização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pt-BR" sz="28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  <a:p>
                <a:r>
                  <a:rPr lang="pt-BR" sz="2800" dirty="0"/>
                  <a:t xml:space="preserve">Com a população ordenada, sorteamos um número entre 1 e s e selecionamos os elementos da forma </a:t>
                </a:r>
                <a14:m>
                  <m:oMath xmlns:m="http://schemas.openxmlformats.org/officeDocument/2006/math"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𝑘𝑠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0≤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pt-BR" sz="2800" dirty="0"/>
                  <a:t>.</a:t>
                </a:r>
              </a:p>
              <a:p>
                <a:endParaRPr lang="pt-BR" sz="2800" dirty="0"/>
              </a:p>
              <a:p>
                <a:r>
                  <a:rPr lang="pt-BR" sz="2800" b="1" dirty="0"/>
                  <a:t>Exemplo.</a:t>
                </a:r>
                <a:r>
                  <a:rPr lang="pt-BR" sz="2800" dirty="0"/>
                  <a:t xml:space="preserve"> Considere uma população com 1000 elementos e selecione 100.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067277" cy="4776885"/>
              </a:xfrm>
              <a:prstGeom prst="rect">
                <a:avLst/>
              </a:prstGeom>
              <a:blipFill>
                <a:blip r:embed="rId2"/>
                <a:stretch>
                  <a:fillRect l="-1272" t="-1148" b="-267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00047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5A34B6DD-B04E-45E9-94F0-530A0A455B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5"/>
            <a:ext cx="970464" cy="2027284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1032611" y="2041869"/>
            <a:ext cx="108279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 xml:space="preserve">Exercícios recomendados: leia </a:t>
            </a:r>
            <a:r>
              <a:rPr lang="pt-BR" sz="2800"/>
              <a:t>o capítulo 7</a:t>
            </a:r>
            <a:endParaRPr lang="pt-BR" sz="2800" dirty="0"/>
          </a:p>
          <a:p>
            <a:endParaRPr lang="pt-BR" sz="28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49F6C3D-C6CD-46EB-B00C-3C31995D5B04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>
                <a:solidFill>
                  <a:schemeClr val="bg1"/>
                </a:solidFill>
              </a:rPr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493953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4295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Atividades referentes à aula</a:t>
            </a:r>
          </a:p>
          <a:p>
            <a:r>
              <a:rPr lang="pt-BR" sz="2000" dirty="0"/>
              <a:t xml:space="preserve">Leitura recomendada: 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 &amp; Morettin — Cap. 10: 10.2, 10.4, 10.5, 10.6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Montgomery &amp; Runger — Cap. 7: 7.1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Magalhães &amp; Lima — Cap. 7: 7.1, 7.2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Morettin — Cap. 7: 7.1, 7.2; Cap. 8: 8.1</a:t>
            </a:r>
          </a:p>
          <a:p>
            <a:r>
              <a:rPr lang="pt-BR" sz="2000" dirty="0"/>
              <a:t>Exercícios recomendados:</a:t>
            </a:r>
          </a:p>
          <a:p>
            <a:pPr marL="457178" indent="-457178">
              <a:buFont typeface="Arial" panose="020B0604020202020204" pitchFamily="34" charset="0"/>
              <a:buChar char="•"/>
            </a:pPr>
            <a:r>
              <a:rPr lang="pt-BR" sz="2000" dirty="0"/>
              <a:t>Bussab, Cap. 10: exercícios sobre população, amostra e tipos de amostragem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4922</TotalTime>
  <Words>1142</Words>
  <Application>Microsoft Office PowerPoint</Application>
  <PresentationFormat>Widescreen</PresentationFormat>
  <Paragraphs>155</Paragraphs>
  <Slides>19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5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CEA307 – Estatística e Probabilidade Aula 10 - Inferência Estatística – Parte 1 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  <vt:lpstr>CEA055 – Estatística e Probabilidade Inferência Estatística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196</cp:revision>
  <dcterms:created xsi:type="dcterms:W3CDTF">2020-07-20T19:35:15Z</dcterms:created>
  <dcterms:modified xsi:type="dcterms:W3CDTF">2024-09-06T19:36:04Z</dcterms:modified>
</cp:coreProperties>
</file>