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200" r:id="rId2"/>
    <p:sldId id="1201" r:id="rId3"/>
    <p:sldId id="1202" r:id="rId4"/>
    <p:sldId id="1203" r:id="rId5"/>
    <p:sldId id="1204" r:id="rId6"/>
    <p:sldId id="1205" r:id="rId7"/>
    <p:sldId id="1206" r:id="rId8"/>
    <p:sldId id="1207" r:id="rId9"/>
    <p:sldId id="1208" r:id="rId10"/>
    <p:sldId id="1209" r:id="rId11"/>
    <p:sldId id="1210" r:id="rId12"/>
    <p:sldId id="1211" r:id="rId13"/>
    <p:sldId id="1212" r:id="rId14"/>
    <p:sldId id="1213" r:id="rId15"/>
    <p:sldId id="1214" r:id="rId16"/>
    <p:sldId id="1215" r:id="rId17"/>
    <p:sldId id="1216" r:id="rId18"/>
    <p:sldId id="1217" r:id="rId1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Correlação Linear e Modelo de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o coeficiente de correlação linear amostral 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o modelo de regressão linear simples e suas suposições.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Estimar os parâmetros do modelo pelo método dos mínimos quadrados.</a:t>
            </a:r>
          </a:p>
          <a:p>
            <a:r>
              <a:rPr lang="pt-BR" sz="19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16 (16.1, 16.2)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11 (11.2, 11.3, 11.8)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9 (9.5)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De associação a previsão</a:t>
            </a:r>
          </a:p>
          <a:p>
            <a:endParaRPr lang="pt-BR" sz="1800" dirty="0"/>
          </a:p>
          <a:p>
            <a:r>
              <a:rPr lang="pt-BR" sz="1800" dirty="0"/>
              <a:t>Na </a:t>
            </a:r>
            <a:r>
              <a:rPr lang="pt-BR" sz="1800"/>
              <a:t>Aula 24, </a:t>
            </a:r>
            <a:r>
              <a:rPr lang="pt-BR" sz="1800" dirty="0"/>
              <a:t>medimos a FORÇA da associação linear entre duas variáveis com ρ. Mas ainda não temos um MODELO que descreva essa relação.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Hoje damos o passo seguinte: ajustar uma reta que resuma a relação entre X e Y, e que permita PREVER Y a partir de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que usaremos: X = investimento em publicidade (mil R$), Y = vendas (mil unidades), em 8 lojas de uma rede.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primeiro passo: o diagrama de dispersão</a:t>
            </a:r>
          </a:p>
          <a:p>
            <a:r>
              <a:rPr lang="pt-BR" sz="1700" dirty="0"/>
              <a:t>Antes de qualquer cálculo, sempre visualize os dados:</a:t>
            </a:r>
          </a:p>
        </p:txBody>
      </p:sp>
      <p:pic>
        <p:nvPicPr>
          <p:cNvPr id="9" name="Diagrama de dispers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000" y="2600000"/>
            <a:ext cx="7400000" cy="40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Coeficiente de correlação amostral r</a:t>
            </a:r>
          </a:p>
          <a:p>
            <a:r>
              <a:rPr lang="pt-BR" sz="1700" dirty="0"/>
              <a:t>Com uma amostra de n pares (xᵢ, yᵢ), estimamos ρ (</a:t>
            </a:r>
            <a:r>
              <a:rPr lang="pt-BR" sz="1700"/>
              <a:t>Aula 24) </a:t>
            </a:r>
            <a:r>
              <a:rPr lang="pt-BR" sz="1700" dirty="0"/>
              <a:t>pelo coeficiente amostral r:</a:t>
            </a:r>
          </a:p>
        </p:txBody>
      </p:sp>
      <p:pic>
        <p:nvPicPr>
          <p:cNvPr id="9" name="Formula r amostr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100000"/>
            <a:ext cx="9000000" cy="13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Interpretando 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Mesma lógica de ρ (</a:t>
            </a:r>
            <a:r>
              <a:rPr lang="pt-BR" sz="1800"/>
              <a:t>Aula 24): </a:t>
            </a:r>
            <a:r>
              <a:rPr lang="pt-BR" sz="1800" dirty="0"/>
              <a:t>−1 ≤ r ≤ +1, sinal indica direção, magnitude indica força da associação LINEAR.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é uma ESTIMATIVA de ρ calculada a partir de uma amostra específica — outra amostra daria um r ligeiramente diferente.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Faixas usadas informalmente: |r| &gt; 0,7 costuma ser considerado forte; entre 0,3 e 0,7, moderado; abaixo de 0,3, fraco (não são regras rígidas).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Calculando r no exemplo da publicidade</a:t>
            </a:r>
          </a:p>
          <a:p>
            <a:endParaRPr lang="pt-BR" sz="1800" dirty="0"/>
          </a:p>
          <a:p>
            <a:r>
              <a:rPr lang="pt-BR" sz="1650" dirty="0"/>
              <a:t>Dados (n=8): X = 2,3,4,5,6,7,8,9 (mil R$); Y = 11,14,15,18,20,21,25,27 (mil unidades).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X̄ = 5,5;  Ȳ = 18,875.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Sₓₓ = Σ(xᵢ−X̄)² = 42,0;  Sᵧᵧ = Σ(yᵢ−Ȳ)² = 210,875;  Sₓᵧ = Σ(xᵢ−X̄)(yᵢ−Ȳ) = 93,5.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r = 93,5 / √(42,0 × 210,875) = 93,5 / 94,10 = 0,994.</a:t>
            </a:r>
          </a:p>
          <a:p>
            <a:endParaRPr lang="pt-BR" sz="1800" dirty="0"/>
          </a:p>
          <a:p>
            <a:r>
              <a:rPr lang="pt-BR" sz="1600" i="1" dirty="0"/>
              <a:t>Interpretação: correlação linear POSITIVA muito forte — mais investimento em publicidade está fortemente associado a mais vendas.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modelo de regressão linear simples</a:t>
            </a:r>
          </a:p>
          <a:p>
            <a:r>
              <a:rPr lang="pt-BR" sz="1700" dirty="0"/>
              <a:t>Um passo além da correlação: propor um modelo que descreve Y em função de X:</a:t>
            </a:r>
          </a:p>
        </p:txBody>
      </p:sp>
      <p:pic>
        <p:nvPicPr>
          <p:cNvPr id="9" name="Modelo Y=alpha+betaX+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0" y="3150000"/>
            <a:ext cx="4000000" cy="10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α (intercepto) e β (inclinação) são parâmetros desconhecidos, a estimar a partir dos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eᵢ é o erro aleatório — tudo que a reta não explica (variação individual de cada ponto).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Suposições do modelo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X é considerada fixa (controlada), sem erro de medida — só Y tem componente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eᵢ têm média zero: E(eᵢ|x) = 0 — a reta captura a tendência central corretamente.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têm variância constante em torno da reta, para qualquer valor de X (homocedasticidade).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não são correlacionados entre si.</a:t>
            </a:r>
          </a:p>
          <a:p>
            <a:endParaRPr lang="pt-BR" sz="1800" dirty="0"/>
          </a:p>
          <a:p>
            <a:r>
              <a:rPr lang="pt-BR" sz="1700" i="1" dirty="0"/>
              <a:t>Vamos verificar essas suposições na prática, com gráficos de resíduos, na </a:t>
            </a:r>
            <a:r>
              <a:rPr lang="pt-BR" sz="1700" i="1"/>
              <a:t>Aula 26.</a:t>
            </a:r>
            <a:endParaRPr lang="pt-BR" sz="1700" i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Interpretando α e β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α (intercepto): valor esperado de Y quando X = 0. Nem sempre tem interpretação prática direta (ex.: publicidade = 0 pode estar fora da faixa observada).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β (inclinação): o quanto Y muda, EM MÉDIA, para cada aumento de 1 unidade em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nosso exemplo: se β ≈ 2,2, cada mil R$ a mais em publicidade está associado a, em média, 2,2 mil unidades a mais vendidas.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método dos mínimos quadrados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Precisamos escolher os “melhores” valores de α e β para a reta. Mas “melhor” segundo qual critério?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Ideia: minimizar a soma dos quadrados das distâncias verticais entre os pontos observados e a reta (os resíduos).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Por que ao quadrado? Para que desvios positivos e negativos não se cancelem, e para penalizar mais os erros grandes.</a:t>
            </a:r>
          </a:p>
          <a:p>
            <a:endParaRPr lang="pt-BR" sz="1800" dirty="0"/>
          </a:p>
          <a:p>
            <a:r>
              <a:rPr lang="pt-BR" sz="1700" i="1" dirty="0"/>
              <a:t>Esse critério tem solução matemática exata, dada pelas fórmulas a seguir.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Os estimadores de mínimos quadrados</a:t>
            </a:r>
          </a:p>
          <a:p>
            <a:r>
              <a:rPr lang="pt-BR" sz="1700" dirty="0"/>
              <a:t>A inclinação e o intercepto que minimizam a soma dos quadrados dos resíduos são:</a:t>
            </a:r>
          </a:p>
        </p:txBody>
      </p:sp>
      <p:pic>
        <p:nvPicPr>
          <p:cNvPr id="9" name="beta 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00" y="2900000"/>
            <a:ext cx="9400000" cy="1100000"/>
          </a:xfrm>
          <a:prstGeom prst="rect">
            <a:avLst/>
          </a:prstGeom>
        </p:spPr>
      </p:pic>
      <p:pic>
        <p:nvPicPr>
          <p:cNvPr id="11" name="alpha 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00" y="4300000"/>
            <a:ext cx="4600000" cy="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Ajustando a reta ao exemplo da publicidade</a:t>
            </a:r>
          </a:p>
          <a:p>
            <a:endParaRPr lang="pt-BR" sz="1800" dirty="0"/>
          </a:p>
          <a:p>
            <a:r>
              <a:rPr lang="pt-BR" sz="1700" dirty="0"/>
              <a:t>Já temos Sₓₓ = 42,0 e Sₓᵧ = 93,5 (slide anterior). Calculamos: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β̂ = Sₓᵧ / Sₓₓ = 93,5 / 42,0 = 2,226.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α̂ = Ȳ − β̂·X̄ = 18,875 − 2,226×5,5 = 18,875 − 12,244 = 6,631.</a:t>
            </a:r>
          </a:p>
          <a:p>
            <a:endParaRPr lang="pt-BR" sz="1800" dirty="0"/>
          </a:p>
          <a:p>
            <a:r>
              <a:rPr lang="pt-BR" sz="1900" b="1" dirty="0"/>
              <a:t>Reta ajustada: Ŷ = 6,631 + 2,226·X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A reta ajustada</a:t>
            </a:r>
          </a:p>
          <a:p>
            <a:r>
              <a:rPr lang="pt-BR" sz="1700" b="1" dirty="0"/>
              <a:t>Ŷ = 6,631 + 2,226·X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Cada mil R$ investido em publicidade está associado a um aumento médio de 2.226 unidades vendidas.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O intercepto (6,631) seria a venda esperada sem publicidade nenhuma — mas atenção: X=0 está fora da faixa observada (2 a 9), então essa leitura deve ser vista com cautela.</a:t>
            </a:r>
          </a:p>
        </p:txBody>
      </p:sp>
      <p:pic>
        <p:nvPicPr>
          <p:cNvPr id="9" name="Reta ajust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400000"/>
            <a:ext cx="4900000" cy="34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Como r e β̂ se relacionam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e β̂ sempre têm o MESMO SINAL — ambos vêm do mesmo numerador Sₓᵧ.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são coisas diferentes: r não tem unidade (é adimensional); β̂ tem unidade de Y por unidade de X (aqui, mil unidades vendidas por mil R$ investido).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Relação exata: β̂ = r × (Sᵧ/Sₓ), em que Sᵧ e Sₓ são os desvios padrão amostrais de Y e X.</a:t>
            </a:r>
          </a:p>
          <a:p>
            <a:endParaRPr lang="pt-BR" sz="1800" dirty="0"/>
          </a:p>
          <a:p>
            <a:r>
              <a:rPr lang="pt-BR" sz="1700" i="1" dirty="0"/>
              <a:t>Em resumo: r mede a FORÇA da relação; β̂ mede o IMPACTO prático de X sobre Y, em suas próprias unidades.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Usando o modelo para prever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a reta ajustada, podemos prever Y para um novo valor de X, dentro da faixa observada.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quanto esperamos vender com X = 6,5 mil R$ de publicidade?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Ŷ = 6,631 + 2,226×6,5 = 6,631 + 14,469 = 21,10 mil unidades.</a:t>
            </a:r>
          </a:p>
          <a:p>
            <a:endParaRPr lang="pt-BR" sz="1800" dirty="0"/>
          </a:p>
          <a:p>
            <a:r>
              <a:rPr lang="pt-BR" sz="1700" i="1" dirty="0"/>
              <a:t>Essa previsão é uma estimativa da média de Y para X=6,5 — vendas reais variam em torno desse valor, devido ao erro aleatório eᵢ.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Cuidado com a extrapolação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modelo só foi validado dentro da faixa observada de X (no exemplo, de 2 a 9 mil R$).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Prever fora dessa faixa (ex.: X = 50 mil R$) é arriscado — não temos garantia de que a relação linear continua válida tão longe dos dados observados.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Investimentos muito altos podem ter retornos decrescentes (saturação de mercado) — um padrão que uma reta ajustada a dados pequenos não conseguiria capturar.</a:t>
            </a:r>
          </a:p>
          <a:p>
            <a:endParaRPr lang="pt-BR" sz="1800" dirty="0"/>
          </a:p>
          <a:p>
            <a:r>
              <a:rPr lang="pt-BR" sz="1700" i="1" dirty="0"/>
              <a:t>Regra prática: use o modelo para interpolar (dentro da faixa), com cautela redobrada ao extrapolar.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mede a força e direção da associação linear entre X e Y, numa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modelo Y = α + βX + e propõe uma relação linear entre as duas variáveis, com erro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método dos mínimos quadrados fornece as fórmulas de α̂ e β̂ que melhor ajustam a reta aos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reta ajustada permite interpolar previsões de Y, com cautela ao extrapolar.</a:t>
            </a:r>
          </a:p>
          <a:p>
            <a:endParaRPr lang="pt-BR" sz="1800" dirty="0"/>
          </a:p>
          <a:p>
            <a:r>
              <a:rPr lang="pt-BR" sz="1700" i="1" dirty="0"/>
              <a:t>Próxima aula: como avaliar se o modelo ajustado é realmente bom, usando resíduos e o coeficiente de determinação R².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16: 16.1, 16.2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11: 11.2, 11.3, 11.8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9: 9.5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Usando os mesmos dados do exemplo, calcule a previsão de vendas para X = 4,5 mil R$.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Colete (ou invente) 6 pares de dados de duas variáveis do seu cotidiano e ajuste uma reta de mínimos quadrados.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1589</Words>
  <Application>Microsoft Office PowerPoint</Application>
  <PresentationFormat>Widescreen</PresentationFormat>
  <Paragraphs>129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Tema do Office</vt:lpstr>
      <vt:lpstr>CEA055 – Estatística e Probabilidade Correlação Linear e Modelo de Regressão Simples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2026-10-28T12:40:56Z</dcterms:modified>
</cp:coreProperties>
</file>