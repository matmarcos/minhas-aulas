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00" r:id="rId17"/>
    <p:sldId id="601" r:id="rId18"/>
    <p:sldId id="602" r:id="rId19"/>
    <p:sldId id="603" r:id="rId20"/>
    <p:sldId id="604" r:id="rId21"/>
    <p:sldId id="605" r:id="rId22"/>
    <p:sldId id="606" r:id="rId23"/>
    <p:sldId id="607" r:id="rId24"/>
    <p:sldId id="608" r:id="rId25"/>
    <p:sldId id="609" r:id="rId26"/>
    <p:sldId id="610" r:id="rId27"/>
    <p:sldId id="611" r:id="rId28"/>
    <p:sldId id="612" r:id="rId29"/>
    <p:sldId id="613" r:id="rId30"/>
    <p:sldId id="614" r:id="rId31"/>
    <p:sldId id="615" r:id="rId32"/>
    <p:sldId id="616" r:id="rId33"/>
    <p:sldId id="617" r:id="rId3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45" d="100"/>
          <a:sy n="45" d="100"/>
        </p:scale>
        <p:origin x="816" y="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presProps" Target="presProps.xml"/><Relationship Id="rId12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09/10/2024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ic_prop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cond_prop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ic_var.png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chi2_asym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ic_dp.pn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n_media.png"/><Relationship Id="rId5" Type="http://schemas.openxmlformats.org/officeDocument/2006/relationships/image" Target="../media/img20_n_vs_e.png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0_n_prop.png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650000"/>
            <a:ext cx="10067277" cy="4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intervalos de confiança para uma proporção populacional.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intervalos de confiança para a variância e o desvio padrão populacionais.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Determinar o tamanho de amostra necessário para atingir uma margem de erro desejada.</a:t>
            </a:r>
          </a:p>
          <a:p>
            <a:pPr/>
            <a:r>
              <a:rPr lang="pt-BR" sz="19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Bussab, Morettin. Estatística Básica, 9ed — Cap. 11 (11.6); Cap. 10 (10.11)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Montgomery, Runger. Applied Statistics..., 7th ed — Cap. 8 (8.3, 8.4, 8.1.2)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Magalhães, Lima. Noções de Probabilidade e Estatística, 5ed — Cap. 7 (7.4, 7.5)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Morettin. Estatística Básica: Probabilidade e Inferência — Cap. 16 (16.2, 16.3)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Além da média: outras perguntas de inferência</a:t>
            </a:r>
          </a:p>
          <a:p>
            <a:endParaRPr lang="pt-BR" sz="1800" dirty="0"/>
          </a:p>
          <a:p>
            <a:pPr/>
            <a:r>
              <a:rPr lang="pt-BR" sz="1800" dirty="0"/>
              <a:t>Nem sempre queremos estimar uma média. Muitas perguntas práticas envolvem outras grandezas: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“Qual a proporção de eleitores que aprovam certa política?” — proporção populacional 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“Quão variável é o diâmetro das peças produzidas por uma máquina?” — variância σ².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“Quantas pessoas preciso entrevistar para um erro de no máximo 3%?” — tamanho de amostra n.</a:t>
            </a:r>
          </a:p>
          <a:p>
            <a:endParaRPr lang="pt-BR" sz="1800" dirty="0"/>
          </a:p>
          <a:p>
            <a:pPr/>
            <a:r>
              <a:rPr lang="pt-BR" sz="1700" i="1" dirty="0"/>
              <a:t>Hoje vamos construir intervalos de confiança para essas três situações.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Distribuição amostral da proporção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Seja p̂ = X/n a proporção amostral de “sucessos” numa amostra de tamanho n (revisão da Aula 16).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Pelo Teorema Central do Limite, para n suficientemente grande:</a:t>
            </a:r>
          </a:p>
          <a:p>
            <a:pPr/>
            <a:r>
              <a:rPr lang="pt-BR" sz="2000" b="1" dirty="0"/>
              <a:t>p̂ ≈ N( p ,  p(1−p)/n 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Ou seja, p̂ tem distribuição aproximadamente Normal, centrada na verdadeira proporção p, com erro padrão √[p(1−p)/n].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IC para a proporção populacional</a:t>
            </a:r>
          </a:p>
          <a:p>
            <a:pPr/>
            <a:r>
              <a:rPr lang="pt-BR" sz="1700" dirty="0"/>
              <a:t>Como p é desconhecida, estimamos o erro padrão substituindo p por p̂ (proporção amostral). O IC de nível (1 − α) para p é:</a:t>
            </a:r>
          </a:p>
        </p:txBody>
      </p:sp>
      <p:pic>
        <p:nvPicPr>
          <p:cNvPr id="9" name="IC proporca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00" y="3200000"/>
            <a:ext cx="10700000" cy="11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Quando essa aproximação vale?</a:t>
            </a:r>
          </a:p>
          <a:p>
            <a:pPr/>
            <a:r>
              <a:rPr lang="pt-BR" sz="1700" dirty="0"/>
              <a:t>A aproximação Normal para p̂ só é boa quando a amostra tem sucessos e fracassos em número suficiente. Regra prática:</a:t>
            </a:r>
          </a:p>
        </p:txBody>
      </p:sp>
      <p:pic>
        <p:nvPicPr>
          <p:cNvPr id="9" name="Condicao np&gt;=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00" y="3300000"/>
            <a:ext cx="62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6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a condição não for satisfeita, a distribuição Binomial deve ser usada diretamente (fora do escopo desta disciplina).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Amostras de pesquisa eleitoral e controle de qualidade em geral satisfazem essa condição com folga.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satisfação de clientes</a:t>
            </a:r>
          </a:p>
          <a:p>
            <a:endParaRPr lang="pt-BR" sz="1800" dirty="0"/>
          </a:p>
          <a:p>
            <a:pPr/>
            <a:r>
              <a:rPr lang="pt-BR" sz="1700" dirty="0"/>
              <a:t>Uma empresa entrevistou n = 250 clientes e 180 declararam estar satisfeitos com o atendimento.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verdadeira proporção p de clientes satisfeitos.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p̂ = 180/250 = 0,72. Verificando: n·p̂ = 180 ≥ 5 e n(1−p̂) = 70 ≥ 5. OK.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Erro padrão: √[0,72×0,28/250] = √0,000806 = 0,0284.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Margem de erro: 1,960 × 0,0284 = 0,0557.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IC(p; 95%) = [0,72 − 0,056 ; 0,72 + 0,056] = [0,664 ; 0,776], ou seja, entre 66,4% e 77,6%.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Cuidados com o IC para proporção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p̂ está próximo de 0 ou de 1, o intervalo pode extrapolar os limites [0, 1] — nesse caso, trunque nos limites naturais.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Amostras pequenas (mesmo satisfazendo np̂ ≥ 5) produzem intervalos largos e pouco informativos.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interpretação é análoga à do IC da média: em amostragens repetidas, cerca de (1 − α)×100% dos intervalos conteriam p.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200" b="1" dirty="0"/>
              <a:t>E se o interesse for a variabilidade?</a:t>
            </a:r>
          </a:p>
          <a:p>
            <a:endParaRPr lang="pt-BR" sz="1800" dirty="0"/>
          </a:p>
          <a:p>
            <a:pPr/>
            <a:r>
              <a:rPr lang="pt-BR" sz="1900" dirty="0"/>
              <a:t>Em controle de qualidade, muitas vezes o que importa não é a média do processo, mas sua variabilidade: peças muito diferentes entre si são um problema, mesmo com média correta.</a:t>
            </a:r>
          </a:p>
          <a:p>
            <a:endParaRPr lang="pt-BR" sz="1800" dirty="0"/>
          </a:p>
          <a:p>
            <a:pPr/>
            <a:r>
              <a:rPr lang="pt-BR" sz="1900" dirty="0"/>
              <a:t>Para isso, construímos um IC para a variância σ² — usando a distribuição qui-quadrado, revisada na Aula 18.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IC para a variância populacional</a:t>
            </a:r>
          </a:p>
          <a:p>
            <a:pPr/>
            <a:r>
              <a:rPr lang="pt-BR" sz="1600" dirty="0"/>
              <a:t>Se X₁,...,Xₙ é uma AAS de uma Normal(μ, σ²), sabemos que (n−1)S²/σ² ~ χ²_(n−1) (Aula 18). Isolando σ², o IC de nível (1 − α) é:</a:t>
            </a:r>
          </a:p>
        </p:txBody>
      </p:sp>
      <p:pic>
        <p:nvPicPr>
          <p:cNvPr id="9" name="IC varian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3250000"/>
            <a:ext cx="10800000" cy="11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Um detalhe importante: a assimetria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Diferente dos IC de média e proporção, o IC da variância NÃO é da forma “estimativa ± margem” — a χ² não é simétrica.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Usamos dois valores críticos diferentes: χ²_(α/2) para o limite inferior e χ²_(1−α/2) para o superior.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Atenção: o valor menor de χ² (χ²_(1−α/2)) vai no denominador do limite SUPERIOR do IC — é fácil trocar.</a:t>
            </a:r>
          </a:p>
        </p:txBody>
      </p:sp>
      <p:pic>
        <p:nvPicPr>
          <p:cNvPr id="9" name="Assimetria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controle de qualidade de parafusos</a:t>
            </a:r>
          </a:p>
          <a:p>
            <a:endParaRPr lang="pt-BR" sz="1800" dirty="0"/>
          </a:p>
          <a:p>
            <a:pPr/>
            <a:r>
              <a:rPr lang="pt-BR" sz="1700" dirty="0"/>
              <a:t>Uma amostra de n = 20 parafusos apresentou variância amostral S² = 0,0021 mm² no diâmetro (mesmo cenário da Aula 18).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variância populacional σ².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ν = n − 1 = 19. Na tabela χ²: χ²_0,025;19 = 32,852 e χ²_0,975;19 = 8,907.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Limite inferior: (19 × 0,0021)/32,852 = 0,001215.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Limite superior: (19 × 0,0021)/8,907 = 0,004480.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IC(σ²; 95%) = [0,00121 ; 0,00448] mm².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IC para o desvio padrão</a:t>
            </a:r>
          </a:p>
          <a:p>
            <a:pPr/>
            <a:r>
              <a:rPr lang="pt-BR" sz="1700" dirty="0"/>
              <a:t>Basta extrair a raiz quadrada dos limites do IC da variância — a transformação preserva a ordem (raiz é crescente):</a:t>
            </a:r>
          </a:p>
        </p:txBody>
      </p:sp>
      <p:pic>
        <p:nvPicPr>
          <p:cNvPr id="9" name="IC desvio padra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3250000"/>
            <a:ext cx="108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No exemplo anterior: IC(σ; 95%) = [√0,00121 ; √0,00448] = [0,0349 ; 0,0669] mm.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200" b="1" dirty="0"/>
              <a:t>E antes de coletar os dados?</a:t>
            </a:r>
          </a:p>
          <a:p>
            <a:endParaRPr lang="pt-BR" sz="1800" dirty="0"/>
          </a:p>
          <a:p>
            <a:pPr/>
            <a:r>
              <a:rPr lang="pt-BR" sz="1900" dirty="0"/>
              <a:t>Até agora partimos de uma amostra já coletada. Mas, ao planejar uma pesquisa, podemos escolher n para garantir uma margem de erro E desejada.</a:t>
            </a:r>
          </a:p>
          <a:p>
            <a:endParaRPr lang="pt-BR" sz="1800" dirty="0"/>
          </a:p>
          <a:p>
            <a:pPr/>
            <a:r>
              <a:rPr lang="pt-BR" sz="1900" dirty="0"/>
              <a:t>Basta “inverter” a fórmula da margem de erro do IC e isolar n.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Tamanho de amostra para a média</a:t>
            </a:r>
          </a:p>
          <a:p>
            <a:pPr/>
            <a:r>
              <a:rPr lang="pt-BR" sz="1600" dirty="0"/>
              <a:t>Partindo de E = zα/2·σ/√n e isolando n:</a:t>
            </a:r>
          </a:p>
        </p:txBody>
      </p:sp>
      <p:pic>
        <p:nvPicPr>
          <p:cNvPr id="9" name="n para me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50000"/>
            <a:ext cx="5400000" cy="8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3500000"/>
            <a:ext cx="54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500" dirty="0"/>
              <a:t>Arredonde sempre para cima (amostra “menor” que o necessário não garante a margem de erro).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500" dirty="0"/>
              <a:t>Requer conhecer (ou estimar) σ antecipadamente — de um estudo piloto ou da literatura.</a:t>
            </a:r>
          </a:p>
        </p:txBody>
      </p:sp>
      <p:pic>
        <p:nvPicPr>
          <p:cNvPr id="10" name="n vs margem de er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2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Tamanho de amostra para uma proporção</a:t>
            </a:r>
          </a:p>
          <a:p>
            <a:pPr/>
            <a:r>
              <a:rPr lang="pt-BR" sz="1700" dirty="0"/>
              <a:t>Analogamente, partindo de E = zα/2·√[p̂(1−p̂)/n]:</a:t>
            </a:r>
          </a:p>
        </p:txBody>
      </p:sp>
      <p:pic>
        <p:nvPicPr>
          <p:cNvPr id="9" name="n para proporca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0" y="3050000"/>
            <a:ext cx="11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400000"/>
            <a:ext cx="10800000" cy="20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não há estimativa prévia de p, use p̂ = 0,5 — é o valor que MAXIMIZA p̂(1−p̂), gerando o n mais conservador (nunca subestima o necessário).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uma pesquisa anterior sugere p ≈ 0,3, por exemplo, usar esse valor reduz o n necessário.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planejando uma pesquisa de opinião</a:t>
            </a:r>
          </a:p>
          <a:p>
            <a:endParaRPr lang="pt-BR" sz="1800" dirty="0"/>
          </a:p>
          <a:p>
            <a:pPr/>
            <a:r>
              <a:rPr lang="pt-BR" sz="1700" dirty="0"/>
              <a:t>Uma prefeitura quer estimar a proporção de moradores favoráveis a um novo projeto, com margem de erro de no máximo 3 pontos percentuais e 95% de confiança. Não há estimativa prévia de p.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Como não há p̂ anterior, usamos p̂ = 0,5 (caso conservador).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n = (1,960² × 0,5 × 0,5) / 0,03² = 0,9604 / 0,0009 = 1.067,1.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Arredondando para cima: são necessárias pelo menos 1.068 entrevistas.</a:t>
            </a:r>
          </a:p>
          <a:p>
            <a:endParaRPr lang="pt-BR" sz="1800" dirty="0"/>
          </a:p>
          <a:p>
            <a:pPr/>
            <a:r>
              <a:rPr lang="pt-BR" sz="1600" i="1" dirty="0"/>
              <a:t>Note como a exigência de margem de erro pequena (3%) já demanda uma amostra grande — típico de pesquisas eleitorais.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IC para proporção: usa a Normal, com erro padrão estimado por p̂(1−p̂)/n.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IC para variância: usa a qui-quadrado, é assimétrico e exige dois valores críticos distintos.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Tamanho de amostra: escolha n ANTES de coletar dados, a partir da margem de erro tolerável.</a:t>
            </a:r>
          </a:p>
          <a:p>
            <a:endParaRPr lang="pt-BR" sz="1800" dirty="0"/>
          </a:p>
          <a:p>
            <a:pPr/>
            <a:r>
              <a:rPr lang="pt-BR" sz="1700" i="1" dirty="0"/>
              <a:t>Com isso, encerramos o bloco de estimação. Próxima aula: como decidir entre duas hipóteses sobre um parâmetro — testes de hipótese.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45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11: 11.6; Cap. 10: 10.11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8.3, 8.4, 8.1.2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7.4, 7.5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16: 16.2, 16.3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de satisfação de clientes com n = 500 (mesma proporção) e compare a amplitude do 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Calcule o tamanho de amostra necessário no exemplo da pesquisa de opinião para margem de erro de 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5638</TotalTime>
  <Words>464</Words>
  <Application>Microsoft Office PowerPoint</Application>
  <PresentationFormat>Widescreen</PresentationFormat>
  <Paragraphs>68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  <vt:lpstr>CEA055 – Estatística e Probabilidade Estimação por intervalo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242</cp:revision>
  <dcterms:created xsi:type="dcterms:W3CDTF">2020-07-20T19:35:15Z</dcterms:created>
  <dcterms:modified xsi:type="dcterms:W3CDTF">2024-10-09T21:15:51Z</dcterms:modified>
</cp:coreProperties>
</file>