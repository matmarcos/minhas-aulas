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628" r:id="rId2"/>
    <p:sldId id="278" r:id="rId3"/>
    <p:sldId id="275" r:id="rId4"/>
    <p:sldId id="297" r:id="rId5"/>
    <p:sldId id="280" r:id="rId6"/>
    <p:sldId id="629" r:id="rId7"/>
    <p:sldId id="281" r:id="rId8"/>
    <p:sldId id="282" r:id="rId9"/>
    <p:sldId id="614" r:id="rId10"/>
    <p:sldId id="630" r:id="rId11"/>
    <p:sldId id="615" r:id="rId12"/>
    <p:sldId id="616" r:id="rId13"/>
    <p:sldId id="617" r:id="rId14"/>
    <p:sldId id="618" r:id="rId15"/>
    <p:sldId id="601" r:id="rId16"/>
    <p:sldId id="619" r:id="rId17"/>
  </p:sldIdLst>
  <p:sldSz cx="12192000" cy="6858000"/>
  <p:notesSz cx="7099300" cy="10234613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56" y="5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Condicional e Independência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Definir probabilidade condicional e calculá-la em problemas práticos.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Reconhecer e verificar a independência entre eventos aleatórios.</a:t>
            </a:r>
          </a:p>
          <a:p>
            <a:pPr>
              <a:lnSpc>
                <a:spcPct val="150000"/>
              </a:lnSpc>
            </a:pPr>
            <a:r>
              <a:rPr lang="pt-BR" sz="20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Bussab, Morettin. Estatística Básica, 9ed — Cap. 5 (5.3)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Montgomery, Runger</a:t>
            </a:r>
            <a:r>
              <a:rPr lang="pt-BR" sz="2000"/>
              <a:t>. Estatística Aplicada e Probabilidade para Engenheiros, 7ª ed. — </a:t>
            </a:r>
            <a:r>
              <a:rPr lang="pt-BR" sz="2000" dirty="0"/>
              <a:t>Cap. 2 (2.5, 2.7)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Magalhães, Lima. Noções de Probabilidade e Estatística, 5ed — Cap. 2 (2.2)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Morettin. Estatística Básica: Probabilidade e Inferência — Cap. 2 (2.4, 2.5)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B6431256-2B91-A171-D607-13D17425F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9138" y="602580"/>
            <a:ext cx="10748061" cy="557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Exemplo. </a:t>
            </a:r>
            <a:r>
              <a:rPr lang="pt-BR" sz="2400" dirty="0"/>
              <a:t>Uma universidade tem a seguinte distribuição de alunos, segundo o sexo e a escolha de curso: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a) </a:t>
            </a:r>
            <a:r>
              <a:rPr lang="pt-BR" sz="2200" dirty="0"/>
              <a:t>Escolhido ao acaso um aluno do curso de Matemática Aplicada, qual a probabilidade de ele ser homem? E de ser mulher?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b) Escolhido ao acaso um homem dentre todos os alunos da universidade, qual a probabilidade de ele ser do curso de Matemática Aplicada? E escolhida ao acaso uma mulher dentre todas, qual a probabilidade de ela ser do curso de </a:t>
            </a:r>
            <a:r>
              <a:rPr lang="pt-BR" sz="2200" dirty="0" err="1"/>
              <a:t>MatemáticaAplicada</a:t>
            </a:r>
            <a:r>
              <a:rPr lang="pt-BR" sz="2200" dirty="0"/>
              <a:t>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5BF1ABE-2001-ED4B-7383-480A8D7B7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856" y="1156394"/>
            <a:ext cx="6099305" cy="246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224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1969" y="652794"/>
                <a:ext cx="10748061" cy="5143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Probabilidade Condicional e Independência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Para dois eventos quaisquer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400" dirty="0"/>
                  <a:t>, sendo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sz="2400" dirty="0"/>
                  <a:t>, definimos a probabilidade condicional 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400" dirty="0"/>
                  <a:t> dado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como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b="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Observe que da definição podemos extrair a </a:t>
                </a:r>
                <a:r>
                  <a:rPr lang="pt-BR" sz="2400" b="1" dirty="0"/>
                  <a:t>regra do produto de probabilidades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69" y="652794"/>
                <a:ext cx="10748061" cy="5143716"/>
              </a:xfrm>
              <a:prstGeom prst="rect">
                <a:avLst/>
              </a:prstGeom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6929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21969" y="678920"/>
            <a:ext cx="1074806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Exemplo. Calculando P(A|B)</a:t>
            </a:r>
          </a:p>
          <a:p>
            <a:endParaRPr lang="pt-BR" sz="2800" dirty="0"/>
          </a:p>
          <a:p>
            <a:r>
              <a:rPr lang="pt-BR" sz="2800" dirty="0"/>
              <a:t>Se P(A) = 1/3, P(B) = 3/4 e P(A∪B) = 11/12, calcule P(A|B).</a:t>
            </a:r>
          </a:p>
          <a:p>
            <a:endParaRPr lang="pt-BR" sz="2800" dirty="0"/>
          </a:p>
          <a:p>
            <a:r>
              <a:rPr lang="pt-BR" sz="2800" dirty="0"/>
              <a:t>Resposta:</a:t>
            </a:r>
          </a:p>
          <a:p>
            <a:endParaRPr lang="pt-BR" sz="2800" dirty="0"/>
          </a:p>
          <a:p>
            <a:r>
              <a:rPr lang="pt-BR" sz="2800" dirty="0"/>
              <a:t>Da regra da soma: P(A∩B) = P(A) + P(B) − P(A∪B) = 1/3 + 3/4 − 11/12 = 1/6.</a:t>
            </a:r>
          </a:p>
          <a:p>
            <a:endParaRPr lang="pt-BR" sz="2800" dirty="0"/>
          </a:p>
          <a:p>
            <a:r>
              <a:rPr lang="pt-BR" sz="2800" dirty="0"/>
              <a:t>P(A|B) = P(A∩B) / P(B) = (1/6) / (3/4) = 2/9.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131317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21969" y="739879"/>
            <a:ext cx="10748061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Exemplo: </a:t>
            </a:r>
            <a:r>
              <a:rPr lang="pt-BR" sz="2400" dirty="0"/>
              <a:t>Urna sem reposição. Uma urna contém 2 bolas brancas (B) e 3 vermelhas (V). Sorteiam-se 2 bolas ao acaso, sem reposição. Quais são os resultados possíveis e suas probabilidades?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D111532-239E-48EB-A3D5-D8708BD43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69" y="2690601"/>
            <a:ext cx="5794328" cy="292642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911642" y="2436599"/>
            <a:ext cx="45583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Resultados possíveis</a:t>
            </a:r>
          </a:p>
          <a:p>
            <a:pPr algn="ctr"/>
            <a:endParaRPr lang="pt-BR" sz="2400" dirty="0"/>
          </a:p>
          <a:p>
            <a:r>
              <a:rPr lang="pt-BR" sz="2400" dirty="0"/>
              <a:t>BV</a:t>
            </a:r>
          </a:p>
          <a:p>
            <a:endParaRPr lang="pt-BR" sz="2400" dirty="0"/>
          </a:p>
          <a:p>
            <a:r>
              <a:rPr lang="pt-BR" sz="2400" dirty="0"/>
              <a:t>BB</a:t>
            </a:r>
          </a:p>
          <a:p>
            <a:endParaRPr lang="pt-BR" sz="2400" dirty="0"/>
          </a:p>
          <a:p>
            <a:r>
              <a:rPr lang="pt-BR" sz="2400" dirty="0"/>
              <a:t>VV</a:t>
            </a:r>
          </a:p>
          <a:p>
            <a:endParaRPr lang="pt-BR" sz="2400" dirty="0"/>
          </a:p>
          <a:p>
            <a:r>
              <a:rPr lang="pt-BR" sz="2400" dirty="0"/>
              <a:t>VB</a:t>
            </a:r>
          </a:p>
        </p:txBody>
      </p:sp>
    </p:spTree>
    <p:extLst>
      <p:ext uri="{BB962C8B-B14F-4D97-AF65-F5344CB8AC3E}">
        <p14:creationId xmlns:p14="http://schemas.microsoft.com/office/powerpoint/2010/main" val="3028240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8143" y="853091"/>
            <a:ext cx="10597137" cy="5196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50000"/>
              </a:lnSpc>
            </a:pPr>
            <a:r>
              <a:rPr lang="pt-BR" sz="2800" b="1" dirty="0"/>
              <a:t>Por que a probabilidade muda entre as extrações?</a:t>
            </a:r>
            <a:endParaRPr lang="pt-BR" sz="2800" dirty="0"/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pt-BR" sz="2800" dirty="0"/>
              <a:t> Se a primeira bola sorteada foi branca, quantas bolas brancas e quantas vermelhas sobram na urna para a segunda extração? E se a primeira foi vermelha?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pt-BR" sz="2800" dirty="0"/>
              <a:t> Com isso, qual é P(branca na 2ª | branca na 1ª)? E P(branca na 2ª | vermelha na 1ª)?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pt-BR" sz="2800" dirty="0"/>
              <a:t> O resultado da segunda extração depende do resultado da primeira? Por quê?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78139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58143" y="853091"/>
                <a:ext cx="10597137" cy="5020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Duas bolas vão ser retiradas de uma urna que contém 2 bolas brancas, 3 pretas e 4 verdes. Qual a probabilidade de que ambas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a) sejam verdes?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b) sejam da mesma cor?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Resposta: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a) P(ambas verdes)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𝑉𝑉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b) P(mesma cor) =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𝑉𝑉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)+(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)+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43" y="853091"/>
                <a:ext cx="10597137" cy="5020092"/>
              </a:xfrm>
              <a:prstGeom prst="rect">
                <a:avLst/>
              </a:prstGeom>
              <a:blipFill>
                <a:blip r:embed="rId2"/>
                <a:stretch>
                  <a:fillRect l="-921" b="-19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258435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644086"/>
                <a:ext cx="10748061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Definição: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O evento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 é independente do evento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> se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Neste caso,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Podemos assumir que,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𝑖𝑛𝑑𝑒𝑝𝑒𝑛𝑑𝑒𝑛𝑡𝑒𝑠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⟺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644086"/>
                <a:ext cx="10748061" cy="4616648"/>
              </a:xfrm>
              <a:prstGeom prst="rect">
                <a:avLst/>
              </a:prstGeom>
              <a:blipFill>
                <a:blip r:embed="rId2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617024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644086"/>
                <a:ext cx="10748061" cy="5626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b="1" dirty="0"/>
                  <a:t>Exemplo. </a:t>
                </a:r>
                <a:r>
                  <a:rPr lang="pt-BR" sz="2200" dirty="0"/>
                  <a:t>Lançam-se 3 moedas e definem-se 2 eventos: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A: sair cara na 1ª moeda. 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B: sair coroa na 2ª e  3ª moedas.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 A e B são independentes?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Resposta: Se forem independentes, esperamos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pt-BR" sz="2200" dirty="0"/>
                  <a:t>. Vamos calcular cada um deles: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O único resultado que satisfaz A e B ao mesmo tempo é "cara, coroa, coroa" (1 em 8 possibilidades): P(A∩B) = 1/8.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Como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pt-BR" sz="2200" dirty="0"/>
                  <a:t>, A e B são independentes.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644086"/>
                <a:ext cx="10748061" cy="5626027"/>
              </a:xfrm>
              <a:prstGeom prst="rect">
                <a:avLst/>
              </a:prstGeom>
              <a:blipFill>
                <a:blip r:embed="rId2"/>
                <a:stretch>
                  <a:fillRect l="-737" b="-11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633401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9138" y="644086"/>
            <a:ext cx="10748061" cy="5626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Exemplo. </a:t>
            </a:r>
            <a:r>
              <a:rPr lang="pt-BR" sz="2200" dirty="0"/>
              <a:t>Na mesma urna (2 brancas, 3 vermelhas, sem reposição), defina agora: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A: a 1ª bola é branca;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B: a 2ª bola é branca.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 A e B são independentes?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Resposta:     P(A) = 2/5 (lido direto da árvore).</a:t>
            </a:r>
          </a:p>
          <a:p>
            <a:pPr lvl="3">
              <a:lnSpc>
                <a:spcPct val="150000"/>
              </a:lnSpc>
            </a:pPr>
            <a:r>
              <a:rPr lang="pt-BR" sz="2200" dirty="0"/>
              <a:t>P(B) = P(BB) + P(VB) = 2/20 + 6/20 = 8/20 = 2/5 (somando os dois caminhos da árvore em que a 2ª bola sai branca). </a:t>
            </a:r>
          </a:p>
          <a:p>
            <a:pPr lvl="3">
              <a:lnSpc>
                <a:spcPct val="150000"/>
              </a:lnSpc>
            </a:pPr>
            <a:r>
              <a:rPr lang="pt-BR" sz="2200" dirty="0"/>
              <a:t>P(A∩B) = P(BB) = 2/20 = 1/10.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Se A e B fossem independentes, esperaríamos P(A∩B) = P(A)·P(B) = 2/5 · 2/5 = 4/25 = 0,16. Mas P(A∩B) = 0,1 ≠ 0,16.A e B não são independentes — faz sentido, já que a 2ª extração depende da 1ª (é exatamente o que a árvore mostra).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533743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644086"/>
                <a:ext cx="10748061" cy="5626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b="1" dirty="0"/>
                  <a:t>Independência de três eventos</a:t>
                </a:r>
              </a:p>
              <a:p>
                <a:pPr>
                  <a:lnSpc>
                    <a:spcPct val="150000"/>
                  </a:lnSpc>
                </a:pPr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Para que os eventos A, B e C sejam independentes, 4 condições precisam valer ao mesmo tempo:</a:t>
                </a:r>
              </a:p>
              <a:p>
                <a:pPr>
                  <a:lnSpc>
                    <a:spcPct val="150000"/>
                  </a:lnSpc>
                </a:pPr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>
                  <a:lnSpc>
                    <a:spcPct val="150000"/>
                  </a:lnSpc>
                </a:pPr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Se apenas uma dessas condições falhar, os eventos não são independentes.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644086"/>
                <a:ext cx="10748061" cy="5626027"/>
              </a:xfrm>
              <a:prstGeom prst="rect">
                <a:avLst/>
              </a:prstGeom>
              <a:blipFill>
                <a:blip r:embed="rId2"/>
                <a:stretch>
                  <a:fillRect l="-737" b="-11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046554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9138" y="644086"/>
            <a:ext cx="10748061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Exclusivos não são independentes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Se A e B são mutuamente exclusivos, então A e B são dependentes. 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Se A ocorre, B não ocorre — a ocorrência de um condiciona a não ocorrência do outro.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b="1" dirty="0"/>
              <a:t>Matematicamente:</a:t>
            </a:r>
            <a:r>
              <a:rPr lang="pt-BR" sz="2400" dirty="0"/>
              <a:t> se A e B são mutuamente exclusivos, A∩B = ∅, logo P(A∩B) = 0. Mas se P(A) &gt; 0 e P(B) &gt; 0, então P(A)·P(B) &gt; 0. Como P(A∩B) ≠ P(A)·P(B), a definição de independência falha — </a:t>
            </a:r>
            <a:r>
              <a:rPr lang="pt-BR" sz="2400" b="1" dirty="0"/>
              <a:t>A e B são dependentes</a:t>
            </a:r>
            <a:r>
              <a:rPr lang="pt-BR" sz="2400" dirty="0"/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735068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644086"/>
                <a:ext cx="10748061" cy="4464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Sejam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)=0,2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)=0,6</m:t>
                    </m:r>
                  </m:oMath>
                </a14:m>
                <a:r>
                  <a:rPr lang="pt-BR" sz="2400" dirty="0"/>
                  <a:t>. Calcule P(B), supondo A e B: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a) mutuamente exclusivos;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b) independentes.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a) Se mutuamente exclusivos: P(A∪B) = P(A) + P(B) ⟹ 0,6 = 0,2 + P(B) ⟹ P(B) = 0,4.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b) Se independentes: P(A∪B) = P(A) + P(B) − P(A)·P(B) ⟹ 0,6 = 0,2 + P(B) − 0,2·P(B)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⟹ P(B) = 0,5.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644086"/>
                <a:ext cx="10748061" cy="4464620"/>
              </a:xfrm>
              <a:prstGeom prst="rect">
                <a:avLst/>
              </a:prstGeom>
              <a:blipFill>
                <a:blip r:embed="rId2"/>
                <a:stretch>
                  <a:fillRect l="-851" b="-23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73070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644086"/>
                <a:ext cx="10748061" cy="4996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b="1" dirty="0"/>
                  <a:t>Exemplo. </a:t>
                </a:r>
                <a:r>
                  <a:rPr lang="pt-BR" sz="2200" dirty="0"/>
                  <a:t>Suponha que P(homem vivo em 30 anos) = 2/5; P(mulher viva em 30 anos) = 2/3. Os eventos são independentes. Calcule a probabilidade de que, daqui a 30 anos: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a) ambos estejam vivos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b) só o homem esteja vivo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c) só a mulher esteja viva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d) nenhum esteja vivo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e) pelo menos um esteja vivo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Resposta: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·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·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·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1 −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644086"/>
                <a:ext cx="10748061" cy="4996432"/>
              </a:xfrm>
              <a:prstGeom prst="rect">
                <a:avLst/>
              </a:prstGeom>
              <a:blipFill>
                <a:blip r:embed="rId2"/>
                <a:stretch>
                  <a:fillRect l="-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266711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12018" y="771308"/>
            <a:ext cx="10067277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800" b="1" dirty="0" err="1"/>
              <a:t>Leitura</a:t>
            </a:r>
            <a:r>
              <a:rPr sz="2800" b="1" dirty="0"/>
              <a:t> </a:t>
            </a:r>
            <a:r>
              <a:rPr sz="2800" b="1" dirty="0" err="1"/>
              <a:t>recomendada</a:t>
            </a:r>
            <a:r>
              <a:rPr sz="2800" b="1" dirty="0"/>
              <a:t>:</a:t>
            </a:r>
            <a:endParaRPr lang="pt-BR" sz="2800" dirty="0"/>
          </a:p>
          <a:p>
            <a:pPr>
              <a:lnSpc>
                <a:spcPct val="150000"/>
              </a:lnSpc>
            </a:pPr>
            <a:r>
              <a:rPr sz="2800" b="0" dirty="0" err="1"/>
              <a:t>Bussab</a:t>
            </a:r>
            <a:r>
              <a:rPr sz="2800" b="0" dirty="0"/>
              <a:t> &amp; </a:t>
            </a:r>
            <a:r>
              <a:rPr sz="2800" b="0" dirty="0" err="1"/>
              <a:t>Morettin</a:t>
            </a:r>
            <a:r>
              <a:rPr sz="2800" b="0" dirty="0"/>
              <a:t> — Cap. 5 (5.3)</a:t>
            </a:r>
          </a:p>
          <a:p>
            <a:pPr>
              <a:lnSpc>
                <a:spcPct val="150000"/>
              </a:lnSpc>
            </a:pPr>
            <a:r>
              <a:rPr sz="2800" b="0" dirty="0"/>
              <a:t>Montgomery &amp; </a:t>
            </a:r>
            <a:r>
              <a:rPr sz="2800" b="0" dirty="0" err="1"/>
              <a:t>Runger</a:t>
            </a:r>
            <a:r>
              <a:rPr sz="2800" b="0" dirty="0"/>
              <a:t> — Cap. 2 (2.5, 2.7)</a:t>
            </a:r>
          </a:p>
          <a:p>
            <a:pPr>
              <a:lnSpc>
                <a:spcPct val="150000"/>
              </a:lnSpc>
            </a:pPr>
            <a:r>
              <a:rPr sz="2800" b="0" dirty="0" err="1"/>
              <a:t>Magalhães</a:t>
            </a:r>
            <a:r>
              <a:rPr sz="2800" b="0" dirty="0"/>
              <a:t> &amp; Lima — Cap. 2 (2.2)</a:t>
            </a:r>
          </a:p>
          <a:p>
            <a:pPr>
              <a:lnSpc>
                <a:spcPct val="150000"/>
              </a:lnSpc>
            </a:pPr>
            <a:r>
              <a:rPr sz="2800" b="0" dirty="0" err="1"/>
              <a:t>Morettin</a:t>
            </a:r>
            <a:r>
              <a:rPr sz="2800" b="0" dirty="0"/>
              <a:t> — Cap. 2 (2.4, 2.5)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31451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12018" y="771308"/>
            <a:ext cx="10067277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800" b="1" dirty="0" err="1"/>
              <a:t>Exercícios</a:t>
            </a:r>
            <a:r>
              <a:rPr sz="2800" b="1" dirty="0"/>
              <a:t> </a:t>
            </a:r>
            <a:r>
              <a:rPr sz="2800" b="1" dirty="0" err="1"/>
              <a:t>recomendados</a:t>
            </a:r>
            <a:r>
              <a:rPr sz="2800" b="1" dirty="0"/>
              <a:t>:</a:t>
            </a:r>
            <a:endParaRPr lang="pt-BR" sz="2800" dirty="0"/>
          </a:p>
          <a:p>
            <a:pPr>
              <a:lnSpc>
                <a:spcPct val="150000"/>
              </a:lnSpc>
            </a:pPr>
            <a:r>
              <a:rPr sz="2800" b="0" dirty="0" err="1"/>
              <a:t>Bussab</a:t>
            </a:r>
            <a:r>
              <a:rPr sz="2800" b="0" dirty="0"/>
              <a:t> &amp; </a:t>
            </a:r>
            <a:r>
              <a:rPr sz="2800" b="0" dirty="0" err="1"/>
              <a:t>Morettin</a:t>
            </a:r>
            <a:r>
              <a:rPr sz="2800" b="0" dirty="0"/>
              <a:t>, Cap. 5: </a:t>
            </a:r>
            <a:r>
              <a:rPr sz="2800" b="0" dirty="0" err="1"/>
              <a:t>Problemas</a:t>
            </a:r>
            <a:r>
              <a:rPr sz="2800" b="0" dirty="0"/>
              <a:t> 15, 16, 17, 18, 19, 20, 21 e 22</a:t>
            </a:r>
          </a:p>
          <a:p>
            <a:pPr>
              <a:lnSpc>
                <a:spcPct val="150000"/>
              </a:lnSpc>
            </a:pPr>
            <a:r>
              <a:rPr sz="2800" b="0" dirty="0" err="1"/>
              <a:t>Magalhães</a:t>
            </a:r>
            <a:r>
              <a:rPr sz="2800" b="0" dirty="0"/>
              <a:t> &amp; Lima, Cap. 2 (§2.3): </a:t>
            </a:r>
            <a:r>
              <a:rPr sz="2800" b="0" dirty="0" err="1"/>
              <a:t>Exercícios</a:t>
            </a:r>
            <a:r>
              <a:rPr sz="2800" b="0" dirty="0"/>
              <a:t> 10, 11, 12, 13, 14, 17, 19, 20, 21 e 22</a:t>
            </a:r>
          </a:p>
          <a:p>
            <a:pPr>
              <a:lnSpc>
                <a:spcPct val="150000"/>
              </a:lnSpc>
            </a:pPr>
            <a:r>
              <a:rPr sz="2800" b="0" dirty="0"/>
              <a:t>Montgomery &amp; </a:t>
            </a:r>
            <a:r>
              <a:rPr sz="2800" b="0" dirty="0" err="1"/>
              <a:t>Runger</a:t>
            </a:r>
            <a:r>
              <a:rPr sz="2800" b="0" dirty="0"/>
              <a:t>, Cap. 2: </a:t>
            </a:r>
            <a:r>
              <a:rPr sz="2800" b="0" dirty="0" err="1"/>
              <a:t>Exercícios</a:t>
            </a:r>
            <a:r>
              <a:rPr sz="2800" b="0" dirty="0"/>
              <a:t> 2.5.1, 2.5.4, 2.5.6, 2.5.9, 2.5.11, 2.7.1, 2.7.2, 2.7.4, 2.7.6 e 2.7.10</a:t>
            </a:r>
          </a:p>
          <a:p>
            <a:pPr>
              <a:lnSpc>
                <a:spcPct val="150000"/>
              </a:lnSpc>
            </a:pPr>
            <a:r>
              <a:rPr sz="2800" b="0" dirty="0" err="1"/>
              <a:t>Morettin</a:t>
            </a:r>
            <a:r>
              <a:rPr sz="2800" b="0" dirty="0"/>
              <a:t>, Cap. 2: </a:t>
            </a:r>
            <a:r>
              <a:rPr sz="2800" b="0" dirty="0" err="1"/>
              <a:t>Exercício</a:t>
            </a:r>
            <a:r>
              <a:rPr sz="2800" b="0" dirty="0"/>
              <a:t> 18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3039285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3581</TotalTime>
  <Words>1719</Words>
  <Application>Microsoft Office PowerPoint</Application>
  <PresentationFormat>Widescreen</PresentationFormat>
  <Paragraphs>137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Probabilidade Condicional e Independência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151</cp:revision>
  <dcterms:created xsi:type="dcterms:W3CDTF">2020-07-20T19:35:15Z</dcterms:created>
  <dcterms:modified xsi:type="dcterms:W3CDTF">2026-10-22T11:30:40Z</dcterms:modified>
</cp:coreProperties>
</file>