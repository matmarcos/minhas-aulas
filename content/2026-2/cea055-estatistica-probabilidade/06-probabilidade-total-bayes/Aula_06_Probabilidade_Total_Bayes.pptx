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800" r:id="rId35"/>
    <p:sldId id="281" r:id="rId19"/>
    <p:sldId id="282" r:id="rId20"/>
    <p:sldId id="289" r:id="rId21"/>
    <p:sldId id="299" r:id="rId22"/>
    <p:sldId id="283" r:id="rId23"/>
    <p:sldId id="284" r:id="rId24"/>
    <p:sldId id="285" r:id="rId25"/>
    <p:sldId id="286" r:id="rId26"/>
    <p:sldId id="287" r:id="rId27"/>
    <p:sldId id="801" r:id="rId36"/>
  </p:sldIdLst>
  <p:sldSz cx="12192000" cy="6858000"/>
  <p:notesSz cx="7099300" cy="10234613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23" Type="http://schemas.openxmlformats.org/officeDocument/2006/relationships/slide" Target="slides/slide22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4623A65-BD25-40B6-8815-498297225DF7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15/07/2024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4005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Partição do espaço amostral</a:t>
                </a:r>
              </a:p>
              <a:p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Os eventos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 xml:space="preserve"> formam uma partição do espaço amostral se </a:t>
                </a:r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pt-BR" sz="2800" b="0" dirty="0"/>
                  <a:t>;</a:t>
                </a:r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∪ ⋯∪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800" b="0" dirty="0"/>
                  <a:t>.</a:t>
                </a:r>
              </a:p>
              <a:p>
                <a:pPr marL="571500" indent="-571500">
                  <a:buFont typeface="+mj-lt"/>
                  <a:buAutoNum type="romanLcPeriod"/>
                </a:pPr>
                <a:endParaRPr lang="pt-BR" sz="2800" b="0" dirty="0"/>
              </a:p>
              <a:p>
                <a:pPr marL="571500" indent="-571500">
                  <a:buFont typeface="+mj-lt"/>
                  <a:buAutoNum type="romanLcPeriod"/>
                </a:pPr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4005007"/>
              </a:xfrm>
              <a:prstGeom prst="rect">
                <a:avLst/>
              </a:prstGeom>
              <a:blipFill>
                <a:blip r:embed="rId2"/>
                <a:stretch>
                  <a:fillRect l="-1191" t="-13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78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Teorema da Probabilidade total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 xml:space="preserve">} uma partição do espaço amostral. 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Então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⋯+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2677656"/>
              </a:xfrm>
              <a:prstGeom prst="rect">
                <a:avLst/>
              </a:prstGeom>
              <a:blipFill>
                <a:blip r:embed="rId2"/>
                <a:stretch>
                  <a:fillRect l="-1191" t="-20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77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1506234"/>
            <a:ext cx="105971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 (pg. 25): </a:t>
            </a:r>
            <a:r>
              <a:rPr lang="pt-BR" sz="2800" dirty="0"/>
              <a:t>Uma urna contém 3 bolas brancas e duas amarelas. Uma segunda urna contém 4 bolas brancas e 2 amarelas. Escolhe-se, ao acaso, uma urna e dela retira-se, também ao acaso, uma bola. Qual a probabilidade que seja branca?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97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Teorema de </a:t>
            </a:r>
            <a:r>
              <a:rPr lang="pt-BR" sz="2800" b="1"/>
              <a:t xml:space="preserve">Bayes </a:t>
            </a:r>
            <a:endParaRPr lang="pt-BR" sz="2800" b="1" dirty="0"/>
          </a:p>
          <a:p>
            <a:endParaRPr lang="pt-BR" sz="2800" dirty="0"/>
          </a:p>
          <a:p>
            <a:r>
              <a:rPr lang="pt-BR" sz="2800" b="0" dirty="0"/>
              <a:t>Significado do teorema</a:t>
            </a:r>
          </a:p>
          <a:p>
            <a:pPr marL="571500" indent="-571500">
              <a:buFont typeface="+mj-lt"/>
              <a:buAutoNum type="romanLcPeriod"/>
            </a:pPr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20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0A9EB86-A8FD-4CA1-815E-A2B73DF37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" y="1316346"/>
            <a:ext cx="11210330" cy="19663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39BDD1-0BFE-4C1B-8F26-CA7C9C8E3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297" y="3575327"/>
            <a:ext cx="5921406" cy="2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26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08320" y="1506234"/>
                <a:ext cx="10748061" cy="4815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Dados: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=2/5</m:t>
                    </m:r>
                  </m:oMath>
                </a14:m>
                <a:r>
                  <a:rPr lang="pt-BR" sz="2800" dirty="0"/>
                  <a:t xml:space="preserve">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=2/5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=1/5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=3/6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/6</m:t>
                    </m:r>
                  </m:oMath>
                </a14:m>
                <a:r>
                  <a:rPr lang="pt-BR" sz="2800" dirty="0"/>
                  <a:t xml:space="preserve">,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800" dirty="0"/>
                  <a:t>1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1/5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20" y="1506234"/>
                <a:ext cx="10748061" cy="4815549"/>
              </a:xfrm>
              <a:prstGeom prst="rect">
                <a:avLst/>
              </a:prstGeom>
              <a:blipFill>
                <a:blip r:embed="rId2"/>
                <a:stretch>
                  <a:fillRect l="-1134" t="-11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001E6A3-452A-4BA3-9171-7D2DC75F8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694" y="1506234"/>
            <a:ext cx="3673876" cy="175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30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 xml:space="preserve">Calculando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523220"/>
              </a:xfrm>
              <a:prstGeom prst="rect">
                <a:avLst/>
              </a:prstGeom>
              <a:blipFill>
                <a:blip r:embed="rId2"/>
                <a:stretch>
                  <a:fillRect l="-1191" t="-10465" b="-325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1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4989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Teorema de </a:t>
                </a:r>
                <a:r>
                  <a:rPr lang="pt-BR" sz="2800" b="1" dirty="0" err="1"/>
                  <a:t>Bayes</a:t>
                </a:r>
                <a:endParaRPr lang="pt-BR" sz="2800" b="1" dirty="0"/>
              </a:p>
              <a:p>
                <a:endParaRPr lang="pt-BR" sz="2800" b="1" dirty="0"/>
              </a:p>
              <a:p>
                <a:r>
                  <a:rPr lang="pt-BR" sz="2800" dirty="0"/>
                  <a:t>Suponha que:</a:t>
                </a:r>
              </a:p>
              <a:p>
                <a:pPr marL="571500" indent="-571500">
                  <a:buFont typeface="+mj-lt"/>
                  <a:buAutoNum type="romanLcPeriod"/>
                </a:pPr>
                <a:r>
                  <a:rPr lang="pt-BR" sz="2800" b="1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,⋯,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t-BR" sz="2800" dirty="0"/>
                  <a:t xml:space="preserve"> seja uma partição do espaço amostral;</a:t>
                </a:r>
              </a:p>
              <a:p>
                <a:pPr marL="571500" indent="-571500">
                  <a:buFont typeface="+mj-lt"/>
                  <a:buAutoNum type="romanLcPeriod"/>
                </a:pPr>
                <a:r>
                  <a:rPr lang="pt-BR" sz="2800" dirty="0"/>
                  <a:t xml:space="preserve">São conhecidas as probabilidades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/>
                  <a:t xml:space="preserve"> 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Então,</a:t>
                </a:r>
              </a:p>
              <a:p>
                <a:r>
                  <a:rPr lang="pt-BR" sz="2800" dirty="0"/>
                  <a:t xml:space="preserve">a probabilidade de ocorrência do evento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/>
                  <a:t xml:space="preserve">, supondo-se a ocorrência do evento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 xml:space="preserve"> é dada por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4989379"/>
              </a:xfrm>
              <a:prstGeom prst="rect">
                <a:avLst/>
              </a:prstGeom>
              <a:blipFill>
                <a:blip r:embed="rId2"/>
                <a:stretch>
                  <a:fillRect l="-1191" t="-1099" r="-3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5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1032611" y="1506234"/>
                <a:ext cx="10597137" cy="3257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 xml:space="preserve">Exemplo (pg. 25): </a:t>
                </a:r>
                <a:r>
                  <a:rPr lang="pt-BR" sz="2800" dirty="0"/>
                  <a:t xml:space="preserve">A urna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 xml:space="preserve"> contém 3 fichas vermelhas e 2 azuis, e a urna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 xml:space="preserve"> contém 2 vermelhas e 8 azuis. Joga-se uma moeda "honesta". Se a moeda der cara, extrai-se uma ficha da urna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 xml:space="preserve">; se der coroa, extrai-se uma ficha da urna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>. Uma ficha vermelha é extraída. Qual a probabilidade de ter saído cara no lançamento?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611" y="1506234"/>
                <a:ext cx="10597137" cy="3257174"/>
              </a:xfrm>
              <a:prstGeom prst="rect">
                <a:avLst/>
              </a:prstGeom>
              <a:blipFill>
                <a:blip r:embed="rId2"/>
                <a:stretch>
                  <a:fillRect l="-1150" r="-1725" b="-44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99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Teorema de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Aplicar a regra da probabilidade total a partir de uma partição do espaço amostral.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Utilizar o Teorema de Bayes para revisar probabilidades à luz de nova informação.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5 (5.4)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2 (2.6, 2.8)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2 (2.2)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2 (2.6)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5: 5.4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2: 2.6, 2.8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2: 2.2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2: 2.6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5: exercícios sobre probabilidade total e Teorema de Bayes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3378</TotalTime>
  <Words>1382</Words>
  <Application>Microsoft Office PowerPoint</Application>
  <PresentationFormat>Widescreen</PresentationFormat>
  <Paragraphs>211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</vt:lpstr>
      <vt:lpstr>CEA055 – Estatística e Probabilidade Probabilidades – Pt1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121</cp:revision>
  <dcterms:created xsi:type="dcterms:W3CDTF">2020-07-20T19:35:15Z</dcterms:created>
  <dcterms:modified xsi:type="dcterms:W3CDTF">2024-07-15T19:43:35Z</dcterms:modified>
</cp:coreProperties>
</file>