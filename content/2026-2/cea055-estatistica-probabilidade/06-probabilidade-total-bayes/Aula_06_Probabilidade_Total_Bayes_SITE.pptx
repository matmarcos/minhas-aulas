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800" r:id="rId2"/>
    <p:sldId id="281" r:id="rId3"/>
    <p:sldId id="802" r:id="rId4"/>
    <p:sldId id="282" r:id="rId5"/>
    <p:sldId id="289" r:id="rId6"/>
    <p:sldId id="805" r:id="rId7"/>
    <p:sldId id="299" r:id="rId8"/>
    <p:sldId id="803" r:id="rId9"/>
    <p:sldId id="806" r:id="rId10"/>
    <p:sldId id="807" r:id="rId11"/>
    <p:sldId id="283" r:id="rId12"/>
    <p:sldId id="284" r:id="rId13"/>
    <p:sldId id="286" r:id="rId14"/>
    <p:sldId id="287" r:id="rId15"/>
    <p:sldId id="808" r:id="rId16"/>
    <p:sldId id="801" r:id="rId17"/>
    <p:sldId id="809" r:id="rId18"/>
  </p:sldIdLst>
  <p:sldSz cx="12192000" cy="6858000"/>
  <p:notesSz cx="7099300" cy="10234613"/>
  <p:defaultTextStyle>
    <a:defPPr>
      <a:defRPr lang="pt-BR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rcos Goulart Lima" initials="MGL" lastIdx="1" clrIdx="0">
    <p:extLst>
      <p:ext uri="{19B8F6BF-5375-455C-9EA6-DF929625EA0E}">
        <p15:presenceInfo xmlns:p15="http://schemas.microsoft.com/office/powerpoint/2012/main" userId="809befc0d8c5df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 autoAdjust="0"/>
  </p:normalViewPr>
  <p:slideViewPr>
    <p:cSldViewPr snapToGrid="0">
      <p:cViewPr varScale="1">
        <p:scale>
          <a:sx n="73" d="100"/>
          <a:sy n="73" d="100"/>
        </p:scale>
        <p:origin x="56" y="540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5" d="100"/>
          <a:sy n="65" d="100"/>
        </p:scale>
        <p:origin x="4690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commentAuthors" Target="comment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021294" y="0"/>
            <a:ext cx="3076363" cy="513508"/>
          </a:xfrm>
          <a:prstGeom prst="rect">
            <a:avLst/>
          </a:prstGeom>
        </p:spPr>
        <p:txBody>
          <a:bodyPr vert="horz" lIns="99048" tIns="49524" rIns="99048" bIns="49524" rtlCol="0"/>
          <a:lstStyle>
            <a:lvl1pPr algn="r">
              <a:defRPr sz="1300"/>
            </a:lvl1pPr>
          </a:lstStyle>
          <a:p>
            <a:fld id="{44623A65-BD25-40B6-8815-498297225DF7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79425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48" tIns="49524" rIns="99048" bIns="49524" rtlCol="0" anchor="ctr"/>
          <a:lstStyle/>
          <a:p>
            <a:endParaRPr lang="pt-BR" dirty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09930" y="4925407"/>
            <a:ext cx="5679440" cy="4029879"/>
          </a:xfrm>
          <a:prstGeom prst="rect">
            <a:avLst/>
          </a:prstGeom>
        </p:spPr>
        <p:txBody>
          <a:bodyPr vert="horz" lIns="99048" tIns="49524" rIns="99048" bIns="49524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l">
              <a:defRPr sz="1300"/>
            </a:lvl1pPr>
          </a:lstStyle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021294" y="9721107"/>
            <a:ext cx="3076363" cy="513507"/>
          </a:xfrm>
          <a:prstGeom prst="rect">
            <a:avLst/>
          </a:prstGeom>
        </p:spPr>
        <p:txBody>
          <a:bodyPr vert="horz" lIns="99048" tIns="49524" rIns="99048" bIns="49524" rtlCol="0" anchor="b"/>
          <a:lstStyle>
            <a:lvl1pPr algn="r">
              <a:defRPr sz="1300"/>
            </a:lvl1pPr>
          </a:lstStyle>
          <a:p>
            <a:fld id="{7D7F89C7-0D7F-4B10-AF98-1416A21C67FE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292120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FB549B-B83A-404E-9BD8-A560AB294D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7CE2CF-ACA4-4F2F-B0E6-62AA8A4CA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78" indent="0" algn="ctr">
              <a:buNone/>
              <a:defRPr sz="2000"/>
            </a:lvl2pPr>
            <a:lvl3pPr marL="914354" indent="0" algn="ctr">
              <a:buNone/>
              <a:defRPr sz="1800"/>
            </a:lvl3pPr>
            <a:lvl4pPr marL="1371532" indent="0" algn="ctr">
              <a:buNone/>
              <a:defRPr sz="1600"/>
            </a:lvl4pPr>
            <a:lvl5pPr marL="1828709" indent="0" algn="ctr">
              <a:buNone/>
              <a:defRPr sz="1600"/>
            </a:lvl5pPr>
            <a:lvl6pPr marL="2285886" indent="0" algn="ctr">
              <a:buNone/>
              <a:defRPr sz="1600"/>
            </a:lvl6pPr>
            <a:lvl7pPr marL="2743062" indent="0" algn="ctr">
              <a:buNone/>
              <a:defRPr sz="1600"/>
            </a:lvl7pPr>
            <a:lvl8pPr marL="3200240" indent="0" algn="ctr">
              <a:buNone/>
              <a:defRPr sz="1600"/>
            </a:lvl8pPr>
            <a:lvl9pPr marL="3657418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15145D-ED8E-485D-AFAA-0637E3DDC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C10A484-EBAA-4375-B22B-EB352202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CBFC011-A4F5-4C4D-B328-90D3A1C70F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32127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DDC2C77-41CB-40C6-8592-F2323898B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A2E0EDC-CFA2-4EB2-951C-00B6285C61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7430C6-C7CB-4882-8EDC-12D186CAC1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44677D-F5A4-4226-8F80-D16E10238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DAB1963-7DC3-48C6-816F-DB898EB17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590665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659C7D4-175E-4544-B2C7-10CBDC0B06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345EC1-929C-4442-826F-033EE78936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78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5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06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24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41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D04775A-17A7-4EC4-9798-1A34FD10E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F42EA98-8D10-4ED3-B93F-FC711F0CD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9B97DE-6B04-4B6F-86E9-1D88F55F5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23122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BAA362-A45A-480A-9074-096724BCA1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17FAB7C-66B6-413A-A532-7B4B35F4FB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E989473-C5DE-4037-A42E-A0EACF6670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3249F76-8985-4102-AAA2-0AF7D18B3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59E6D85-4300-4D4B-9EF8-C400BC246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2F353B-CB0E-4E22-9F25-903B9054A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548933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0DC1B8-1341-4AB7-B041-922244C5C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8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3C1DFC-5D65-46F4-994E-FD066564E0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CCD66570-19DA-43E0-B668-A0064803DB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F031A902-2182-44D2-92A6-7D350E01E03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78" indent="0">
              <a:buNone/>
              <a:defRPr sz="2000" b="1"/>
            </a:lvl2pPr>
            <a:lvl3pPr marL="914354" indent="0">
              <a:buNone/>
              <a:defRPr sz="1800" b="1"/>
            </a:lvl3pPr>
            <a:lvl4pPr marL="1371532" indent="0">
              <a:buNone/>
              <a:defRPr sz="1600" b="1"/>
            </a:lvl4pPr>
            <a:lvl5pPr marL="1828709" indent="0">
              <a:buNone/>
              <a:defRPr sz="1600" b="1"/>
            </a:lvl5pPr>
            <a:lvl6pPr marL="2285886" indent="0">
              <a:buNone/>
              <a:defRPr sz="1600" b="1"/>
            </a:lvl6pPr>
            <a:lvl7pPr marL="2743062" indent="0">
              <a:buNone/>
              <a:defRPr sz="1600" b="1"/>
            </a:lvl7pPr>
            <a:lvl8pPr marL="3200240" indent="0">
              <a:buNone/>
              <a:defRPr sz="1600" b="1"/>
            </a:lvl8pPr>
            <a:lvl9pPr marL="3657418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F11DEC4-4ED6-4D01-8E2F-F8DFBFBB0D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51D8EF-D452-4BEB-B271-9A45BCDDD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874A662-49D6-4C3B-B580-C42ED1ECEE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B64F4DA-4AAA-4F61-9D50-9FBA731DC7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0865270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5CE28C-348A-4584-BBD8-F7D4E80ACE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27A591-6069-48B6-9538-6A690479E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F4B20B4-5872-4798-8273-172F9B79B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0218E22-3A9A-4526-9A35-8F67CBEAC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99807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8C9ED03-39FE-4839-912F-74079DC07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2202958-2868-421E-B634-EC4F79F445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A1E4208-F91B-406F-93C9-909632019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163851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03AC6E-A8A4-484F-AB72-E01568BAD6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652402C-474E-4A4C-BBB4-72C4459FD2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45932530-DB56-4B02-AAD7-0B0DAE05AC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5269F7A-8509-44B5-A449-BA774B8D6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AC7A0F7-9932-436F-9AE3-AFF4AA2B6B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2EED5AD-F121-4389-805A-1761D5E18C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6460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6E0AC3B-59EE-40F2-994F-F86E662CEC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38B4DB5-6F6C-4DA5-9A20-AC29F1233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178" indent="0">
              <a:buNone/>
              <a:defRPr sz="2800"/>
            </a:lvl2pPr>
            <a:lvl3pPr marL="914354" indent="0">
              <a:buNone/>
              <a:defRPr sz="2400"/>
            </a:lvl3pPr>
            <a:lvl4pPr marL="1371532" indent="0">
              <a:buNone/>
              <a:defRPr sz="2000"/>
            </a:lvl4pPr>
            <a:lvl5pPr marL="1828709" indent="0">
              <a:buNone/>
              <a:defRPr sz="2000"/>
            </a:lvl5pPr>
            <a:lvl6pPr marL="2285886" indent="0">
              <a:buNone/>
              <a:defRPr sz="2000"/>
            </a:lvl6pPr>
            <a:lvl7pPr marL="2743062" indent="0">
              <a:buNone/>
              <a:defRPr sz="2000"/>
            </a:lvl7pPr>
            <a:lvl8pPr marL="3200240" indent="0">
              <a:buNone/>
              <a:defRPr sz="2000"/>
            </a:lvl8pPr>
            <a:lvl9pPr marL="3657418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BE271B5-C93D-4796-9358-1D1489AD91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1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178" indent="0">
              <a:buNone/>
              <a:defRPr sz="1400"/>
            </a:lvl2pPr>
            <a:lvl3pPr marL="914354" indent="0">
              <a:buNone/>
              <a:defRPr sz="1200"/>
            </a:lvl3pPr>
            <a:lvl4pPr marL="1371532" indent="0">
              <a:buNone/>
              <a:defRPr sz="1000"/>
            </a:lvl4pPr>
            <a:lvl5pPr marL="1828709" indent="0">
              <a:buNone/>
              <a:defRPr sz="1000"/>
            </a:lvl5pPr>
            <a:lvl6pPr marL="2285886" indent="0">
              <a:buNone/>
              <a:defRPr sz="1000"/>
            </a:lvl6pPr>
            <a:lvl7pPr marL="2743062" indent="0">
              <a:buNone/>
              <a:defRPr sz="1000"/>
            </a:lvl7pPr>
            <a:lvl8pPr marL="3200240" indent="0">
              <a:buNone/>
              <a:defRPr sz="1000"/>
            </a:lvl8pPr>
            <a:lvl9pPr marL="3657418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70EE369-01D5-4D19-9174-7B158A7B7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AD9A84F-D4C0-4CF0-B94A-BD00C58CCE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5C5E872-5A54-4124-AFFF-F672D0693F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77097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682B53-B921-43B0-B70C-89461FC53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CD7C9CB-B075-433C-911D-C898E41105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6A9F18-28DC-4676-99F1-455FE41D8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6122BC6-1417-41C0-ABAB-3814030C5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1D411FB-88FD-4753-AD8A-28F528B3E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699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A7E2BA7-069E-46BC-89D6-D7C2DC18A2A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6"/>
            <a:ext cx="2628900" cy="5811839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6D25537-8E8B-46D8-8D94-91EDEBEF2C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6"/>
            <a:ext cx="7734300" cy="581183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8151BBF-6817-43B4-9E70-9E5D97182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27DCBE-1398-4403-B8D9-E76E3BB1A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57CFCFD-A47F-4C7B-B8FA-ADA430CE0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1761690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5">
                <a:lumMod val="60000"/>
                <a:lumOff val="40000"/>
              </a:schemeClr>
            </a:gs>
            <a:gs pos="19000">
              <a:schemeClr val="bg1"/>
            </a:gs>
            <a:gs pos="95000">
              <a:schemeClr val="bg1"/>
            </a:gs>
            <a:gs pos="100000">
              <a:schemeClr val="accent5">
                <a:lumMod val="40000"/>
                <a:lumOff val="6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14E2DD83-FDEA-4717-875C-AE246EABA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8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8727906-6A75-4D24-84E2-D534D8BE7C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73EF87-9823-417E-B531-F5CFE53CC6D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E566-B383-4B2D-B951-1136FD38326E}" type="datetimeFigureOut">
              <a:rPr lang="pt-BR" smtClean="0"/>
              <a:t>22/10/2026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A912461-C5F3-4639-9852-55C185CA89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549E10-6FAB-43E0-BE2A-E81BCD879D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F45F78-8E39-4E0D-8BA4-956BA9D160F0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4159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354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9" indent="-228589" algn="l" defTabSz="914354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6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4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20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98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74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652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829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006" indent="-228589" algn="l" defTabSz="914354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7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54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3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09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86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062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240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418" algn="l" defTabSz="91435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C798918-7CB4-450A-A042-F0B538CA25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2611" y="0"/>
            <a:ext cx="10827959" cy="1574800"/>
          </a:xfrm>
        </p:spPr>
        <p:txBody>
          <a:bodyPr>
            <a:normAutofit/>
          </a:bodyPr>
          <a:lstStyle/>
          <a:p>
            <a:pPr algn="ctr"/>
            <a:r>
              <a:rPr lang="pt-BR" dirty="0">
                <a:latin typeface="AlternateGothic2 BT" panose="020B0608020202050204" pitchFamily="34" charset="0"/>
              </a:rPr>
              <a:t>CEA055 – Estatística e Probabilidade</a:t>
            </a:r>
            <a:br>
              <a:rPr lang="pt-BR" dirty="0">
                <a:latin typeface="AlternateGothic2 BT" panose="020B0608020202050204" pitchFamily="34" charset="0"/>
              </a:rPr>
            </a:br>
            <a:r>
              <a:rPr lang="pt-BR" sz="2200" b="1" dirty="0"/>
              <a:t>Probabilidade Total e Teorema de Bayes</a:t>
            </a:r>
            <a:endParaRPr lang="pt-BR" dirty="0">
              <a:latin typeface="AlternateGothic2 BT" panose="020B0608020202050204" pitchFamily="34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340760"/>
            <a:ext cx="10067277" cy="46517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Objetivos da aula: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Aplicar a regra da probabilidade total a partir de uma partição do espaço amostral.</a:t>
            </a:r>
          </a:p>
          <a:p>
            <a:pPr marL="285737" indent="-285737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Utilizar o Teorema de Bayes para revisar probabilidades à luz de nova informação.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Referências: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Bussab, Morettin. </a:t>
            </a:r>
            <a:r>
              <a:rPr lang="pt-BR" sz="2200" b="1" dirty="0"/>
              <a:t>Estatística Básica</a:t>
            </a:r>
            <a:r>
              <a:rPr lang="pt-BR" sz="2200" dirty="0"/>
              <a:t>, 9ed — Cap. 5 (5.4)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Montgomery, Runger. </a:t>
            </a:r>
            <a:r>
              <a:rPr lang="pt-BR" sz="2200" b="1" dirty="0"/>
              <a:t>Applied Statistics and Probability for Engineers</a:t>
            </a:r>
            <a:r>
              <a:rPr lang="pt-BR" sz="2200" dirty="0"/>
              <a:t>, 7th ed — Cap. 2 (2.6, 2.8)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Magalhães, Lima. </a:t>
            </a:r>
            <a:r>
              <a:rPr lang="pt-BR" sz="2200" b="1" dirty="0"/>
              <a:t>Noções de Probabilidade e Estatística</a:t>
            </a:r>
            <a:r>
              <a:rPr lang="pt-BR" sz="2200" dirty="0"/>
              <a:t>, 5ed — Cap. 2 (2.2)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Morettin. </a:t>
            </a:r>
            <a:r>
              <a:rPr lang="pt-BR" sz="2200" b="1" dirty="0"/>
              <a:t>Estatística Básica: Probabilidade e Inferência</a:t>
            </a:r>
            <a:r>
              <a:rPr lang="pt-BR" sz="2200" dirty="0"/>
              <a:t> — Cap. 2 (2.6)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2395336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Professor: Marcos Goulart Lima</a:t>
            </a:r>
          </a:p>
        </p:txBody>
      </p:sp>
      <p:pic>
        <p:nvPicPr>
          <p:cNvPr id="8" name="Espaço Reservado para Conteúdo 4">
            <a:extLst>
              <a:ext uri="{FF2B5EF4-FFF2-40B4-BE49-F238E27FC236}">
                <a16:creationId xmlns:a16="http://schemas.microsoft.com/office/drawing/2014/main" id="{65AB402D-D1A8-4F31-BA42-34A6F0FC69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44" y="112237"/>
            <a:ext cx="588096" cy="122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Partição do espaço amostral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Os eventos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400" dirty="0"/>
                  <a:t> formam uma partição do espaço amostral se 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∩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=∅</m:t>
                    </m:r>
                  </m:oMath>
                </a14:m>
                <a:r>
                  <a:rPr lang="pt-BR" sz="2400" b="0" dirty="0"/>
                  <a:t>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∪ ⋯∪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pt-BR" sz="2400" b="0" i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b="0" dirty="0"/>
                  <a:t>.</a:t>
                </a:r>
              </a:p>
              <a:p>
                <a:pPr marL="571500" indent="-571500">
                  <a:buFont typeface="+mj-lt"/>
                  <a:buAutoNum type="romanLcPeriod"/>
                </a:pPr>
                <a:endParaRPr lang="pt-BR" sz="2800" b="0" dirty="0"/>
              </a:p>
              <a:p>
                <a:pPr marL="571500" indent="-571500">
                  <a:buFont typeface="+mj-lt"/>
                  <a:buAutoNum type="romanLcPeriod"/>
                </a:pPr>
                <a:endParaRPr lang="pt-BR" sz="2800" dirty="0"/>
              </a:p>
              <a:p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3645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3266788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Exemplo. </a:t>
                </a:r>
                <a:r>
                  <a:rPr lang="pt-BR" sz="2400" dirty="0"/>
                  <a:t>Sorteando ao acaso um integrante da Sociedade do Anel, o espaço amostral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pt-BR" sz="2400" dirty="0"/>
                  <a:t> é o conjunto dos 9 membros. As raças formam uma partição de Ω: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C₁ = </a:t>
                </a:r>
                <a:r>
                  <a:rPr lang="pt-BR" sz="2400" dirty="0" err="1"/>
                  <a:t>Hobbits</a:t>
                </a:r>
                <a:r>
                  <a:rPr lang="pt-BR" sz="2400" dirty="0"/>
                  <a:t> (Frodo, Sam, </a:t>
                </a:r>
                <a:r>
                  <a:rPr lang="pt-BR" sz="2400" dirty="0" err="1"/>
                  <a:t>Merry</a:t>
                </a:r>
                <a:r>
                  <a:rPr lang="pt-BR" sz="2400" dirty="0"/>
                  <a:t>, Pippin)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C₂ = Homens (Aragorn, </a:t>
                </a:r>
                <a:r>
                  <a:rPr lang="pt-BR" sz="2400" dirty="0" err="1"/>
                  <a:t>Boromir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C₃ = Elfo (Legolas)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C₄ = Anão (</a:t>
                </a:r>
                <a:r>
                  <a:rPr lang="pt-BR" sz="2400" dirty="0" err="1"/>
                  <a:t>Gimli</a:t>
                </a:r>
                <a:r>
                  <a:rPr lang="pt-BR" sz="2400" dirty="0"/>
                  <a:t>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C₅ = Mago (Gandalf)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Todo integrante pertence a exatamente uma raça — ninguém pertence a duas ao mesmo tempo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ᵢ∩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ⱼ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=∅)</m:t>
                    </m:r>
                  </m:oMath>
                </a14:m>
                <a:r>
                  <a:rPr lang="pt-BR" sz="2400" dirty="0"/>
                  <a:t> e ninguém fica de fora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₄∪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₅=</m:t>
                    </m:r>
                    <m:r>
                      <m:rPr>
                        <m:sty m:val="p"/>
                      </m:rPr>
                      <a:rPr lang="pt-BR" sz="2400" i="0" dirty="0" smtClean="0">
                        <a:latin typeface="Cambria Math" panose="02040503050406030204" pitchFamily="18" charset="0"/>
                      </a:rPr>
                      <m:t>Ω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340760"/>
                <a:ext cx="10748061" cy="5033494"/>
              </a:xfrm>
              <a:prstGeom prst="rect">
                <a:avLst/>
              </a:prstGeom>
              <a:blipFill>
                <a:blip r:embed="rId2"/>
                <a:stretch>
                  <a:fillRect l="-908" b="-169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69695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2800" b="1" dirty="0"/>
                  <a:t>Teorema da Probabilidade total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Seja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800" b="0" i="1" smtClean="0">
                        <a:latin typeface="Cambria Math" panose="02040503050406030204" pitchFamily="18" charset="0"/>
                      </a:rPr>
                      <m:t>, ⋯, </m:t>
                    </m:r>
                    <m:sSub>
                      <m:sSubPr>
                        <m:ctrlPr>
                          <a:rPr lang="pt-BR" sz="2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pt-BR" sz="2800" dirty="0"/>
                  <a:t>} uma partição do espaço amostral. </a:t>
                </a:r>
              </a:p>
              <a:p>
                <a:endParaRPr lang="pt-BR" sz="2800" dirty="0"/>
              </a:p>
              <a:p>
                <a:r>
                  <a:rPr lang="pt-BR" sz="2800" dirty="0"/>
                  <a:t>Então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i="1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i="1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pt-BR" sz="28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⋯+</m:t>
                      </m:r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8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800" b="0" i="1" smtClean="0">
                              <a:latin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8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pt-BR" sz="28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8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506234"/>
                <a:ext cx="10748061" cy="2677656"/>
              </a:xfrm>
              <a:prstGeom prst="rect">
                <a:avLst/>
              </a:prstGeom>
              <a:blipFill>
                <a:blip r:embed="rId2"/>
                <a:stretch>
                  <a:fillRect l="-1191" t="-2050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2634772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506234"/>
            <a:ext cx="10597137" cy="26108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800" b="1" dirty="0"/>
              <a:t>Exemplo (pg. 25): </a:t>
            </a:r>
            <a:r>
              <a:rPr lang="pt-BR" sz="2800" dirty="0"/>
              <a:t>Uma urna contém 3 bolas brancas e duas amarelas. Uma segunda urna contém 4 bolas brancas e 2 amarelas. Escolhe-se, ao acaso, uma urna e dela retira-se, também ao acaso, uma bola. Qual a probabilidade que seja branca?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882097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1032611" y="1370472"/>
            <a:ext cx="10597137" cy="51181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Exemplo. </a:t>
            </a:r>
            <a:r>
              <a:rPr lang="pt-BR" sz="2200" dirty="0"/>
              <a:t>Numa convenção de quadrinhos, todo visitante se fantasiou de um herói de uma entre três franquias: Marvel, DC ou Star Wars — as três se particionam o público (C₁, C₂, C₃). Sabe-se que: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P(Marvel ∩ ganhou prêmio) = 0,15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P(DC ∩ ganhou prêmio) = 0,08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P(Star Wars ∩ ganhou prêmio) = 0,02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Qual a probabilidade de um visitante escolhido ao acaso ter ganhado o prêmio de melhor fantasia?</a:t>
            </a:r>
          </a:p>
          <a:p>
            <a:pPr>
              <a:lnSpc>
                <a:spcPct val="150000"/>
              </a:lnSpc>
            </a:pPr>
            <a:r>
              <a:rPr lang="pt-BR" sz="2200" b="1" dirty="0"/>
              <a:t>Resolução:</a:t>
            </a:r>
            <a:r>
              <a:rPr lang="pt-BR" sz="2200" dirty="0"/>
              <a:t> P(prêmio) = P(prêmio ∩ Marvel) + P(prêmio ∩ DC) + P(prêmio ∩ Star Wars) = 0,15 + 0,08 + 0,02 = 0,25.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29878019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5021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rtl="0"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Num torneio de Mario Kart, 60% dos jogadores escolhem um kart leve e 40% escolhem um kart pesado. A taxa de vitória numa corrida é de 30% para quem usa kart leve e 55% para quem usa kart pesado. Escolhendo um jogador ao acaso, qual a probabilidade de ele vencer a corrida?</a:t>
            </a:r>
          </a:p>
          <a:p>
            <a:pPr rtl="0">
              <a:lnSpc>
                <a:spcPct val="150000"/>
              </a:lnSpc>
            </a:pPr>
            <a:endParaRPr lang="pt-BR" sz="2400" dirty="0"/>
          </a:p>
          <a:p>
            <a:pPr rtl="0">
              <a:lnSpc>
                <a:spcPct val="150000"/>
              </a:lnSpc>
            </a:pPr>
            <a:r>
              <a:rPr lang="pt-BR" sz="2400" b="1" dirty="0"/>
              <a:t>Resolução: </a:t>
            </a:r>
            <a:r>
              <a:rPr lang="pt-BR" sz="2400" dirty="0"/>
              <a:t>P(leve) = 0,6, P(pesado) = 0,4.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</a:t>
            </a:r>
            <a:r>
              <a:rPr lang="pt-BR" sz="2400" dirty="0" err="1"/>
              <a:t>vitória|leve</a:t>
            </a:r>
            <a:r>
              <a:rPr lang="pt-BR" sz="2400" dirty="0"/>
              <a:t>) = 0,3, P(</a:t>
            </a:r>
            <a:r>
              <a:rPr lang="pt-BR" sz="2400" dirty="0" err="1"/>
              <a:t>vitória|pesado</a:t>
            </a:r>
            <a:r>
              <a:rPr lang="pt-BR" sz="2400" dirty="0"/>
              <a:t>) = 0,55. </a:t>
            </a:r>
          </a:p>
          <a:p>
            <a:pPr rtl="0">
              <a:lnSpc>
                <a:spcPct val="150000"/>
              </a:lnSpc>
            </a:pPr>
            <a:r>
              <a:rPr lang="pt-BR" sz="2400" dirty="0"/>
              <a:t>P(vitória) = P(leve)·P(</a:t>
            </a:r>
            <a:r>
              <a:rPr lang="pt-BR" sz="2400" dirty="0" err="1"/>
              <a:t>vitória|leve</a:t>
            </a:r>
            <a:r>
              <a:rPr lang="pt-BR" sz="2400" dirty="0"/>
              <a:t>) + P(pesado)·P(</a:t>
            </a:r>
            <a:r>
              <a:rPr lang="pt-BR" sz="2400" dirty="0" err="1"/>
              <a:t>vitória|pesado</a:t>
            </a:r>
            <a:r>
              <a:rPr lang="pt-BR" sz="2400" dirty="0"/>
              <a:t>) = 0,6·0,3 + 0,4·0,55 = 0,18 + 0,22 = </a:t>
            </a:r>
            <a:r>
              <a:rPr lang="pt-BR" sz="2400" b="1" dirty="0"/>
              <a:t>0,40</a:t>
            </a:r>
            <a:r>
              <a:rPr lang="pt-BR" sz="2400" dirty="0"/>
              <a:t>.</a:t>
            </a:r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47302000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800" b="1" dirty="0"/>
              <a:t>Teorema de </a:t>
            </a:r>
            <a:r>
              <a:rPr lang="pt-BR" sz="2800" b="1" dirty="0" err="1"/>
              <a:t>Bayes</a:t>
            </a:r>
            <a:r>
              <a:rPr lang="pt-BR" sz="2800" b="1" dirty="0"/>
              <a:t>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O Teorema de </a:t>
            </a:r>
            <a:r>
              <a:rPr lang="pt-BR" sz="2400" b="0" dirty="0" err="1"/>
              <a:t>Bayes</a:t>
            </a:r>
            <a:r>
              <a:rPr lang="pt-BR" sz="2400" b="0" dirty="0"/>
              <a:t> serve para inverter uma probabilidade condicional: a partir de P(</a:t>
            </a:r>
            <a:r>
              <a:rPr lang="pt-BR" sz="2400" b="0" dirty="0" err="1"/>
              <a:t>efeito|causa</a:t>
            </a:r>
            <a:r>
              <a:rPr lang="pt-BR" sz="2400" b="0" dirty="0"/>
              <a:t>), ele calcula P(causa | efeito). </a:t>
            </a:r>
          </a:p>
          <a:p>
            <a:pPr>
              <a:lnSpc>
                <a:spcPct val="150000"/>
              </a:lnSpc>
            </a:pPr>
            <a:r>
              <a:rPr lang="pt-BR" sz="2400" b="0" dirty="0"/>
              <a:t>É exatamente o problema do "Detector de mentiras" da Aula 5 — sabíamos que o teste falha com probabilidade 0,8 quando a pessoa é ladrão </a:t>
            </a:r>
            <a:r>
              <a:rPr lang="pt-BR" sz="2400" b="1" dirty="0"/>
              <a:t>(P(</a:t>
            </a:r>
            <a:r>
              <a:rPr lang="pt-BR" sz="2400" b="1" dirty="0" err="1"/>
              <a:t>falhou|ladrão</a:t>
            </a:r>
            <a:r>
              <a:rPr lang="pt-BR" sz="2400" b="1" dirty="0"/>
              <a:t>) = 0,8)</a:t>
            </a:r>
            <a:r>
              <a:rPr lang="pt-BR" sz="2400" b="0" dirty="0"/>
              <a:t>, mas a pergunta que interessava de verdade era a contrária: de quem falhou no teste, qual a probabilidade de ser realmente ladrão? </a:t>
            </a:r>
            <a:r>
              <a:rPr lang="pt-BR" sz="2400" b="1" dirty="0"/>
              <a:t>(P(</a:t>
            </a:r>
            <a:r>
              <a:rPr lang="pt-BR" sz="2400" b="1" dirty="0" err="1"/>
              <a:t>ladrão|falhou</a:t>
            </a:r>
            <a:r>
              <a:rPr lang="pt-BR" sz="2400" b="1" dirty="0"/>
              <a:t>) = 0,31).</a:t>
            </a:r>
            <a:r>
              <a:rPr lang="pt-BR" sz="2400" b="0" dirty="0"/>
              <a:t> O Teorema de </a:t>
            </a:r>
            <a:r>
              <a:rPr lang="pt-BR" sz="2400" b="0" dirty="0" err="1"/>
              <a:t>Bayes</a:t>
            </a:r>
            <a:r>
              <a:rPr lang="pt-BR" sz="2400" b="0" dirty="0"/>
              <a:t> formaliza essa inversão.</a:t>
            </a:r>
            <a:endParaRPr lang="pt-BR" sz="24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91540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 5.15. </a:t>
            </a:r>
            <a:r>
              <a:rPr lang="pt-BR" sz="2400" dirty="0"/>
              <a:t>(Bussab &amp; </a:t>
            </a:r>
            <a:r>
              <a:rPr lang="pt-BR" sz="2400" dirty="0" err="1"/>
              <a:t>Morettin</a:t>
            </a:r>
            <a:r>
              <a:rPr lang="pt-BR" sz="2400" dirty="0"/>
              <a:t>) Numa empresa, candidatos fazem um curso de treinamento e são classificados como Bons (25%), Médios (50%) ou Fracos (25%). Um teste alternativo, aplicado antes do curso, tem taxa de aprovação de 80% para quem seria Bom, 50% para Médio e 20% para Fraco. </a:t>
            </a:r>
          </a:p>
          <a:p>
            <a:pPr>
              <a:lnSpc>
                <a:spcPct val="150000"/>
              </a:lnSpc>
            </a:pPr>
            <a:endParaRPr lang="pt-BR" sz="2400" dirty="0"/>
          </a:p>
          <a:p>
            <a:pPr>
              <a:lnSpc>
                <a:spcPct val="150000"/>
              </a:lnSpc>
            </a:pPr>
            <a:r>
              <a:rPr lang="pt-BR" sz="2400" dirty="0"/>
              <a:t>Qual a probabilidade de um candidato aprovado no teste ser, na verdade, Fraco?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958118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E7D7DF4-BC75-6BC5-7A2A-4E0A379630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731" y="1501352"/>
            <a:ext cx="4635738" cy="3073558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E02383C-1B39-9EEC-06BC-556CDEFAD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2006" y="1501352"/>
            <a:ext cx="4036231" cy="310667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/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𝐹𝑟𝑎𝑐𝑜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err="1" smtClean="0">
                        <a:latin typeface="Cambria Math" panose="02040503050406030204" pitchFamily="18" charset="0"/>
                      </a:rPr>
                      <m:t>𝐴𝑝𝑟𝑜𝑣𝑎𝑑𝑜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f>
                      <m:fPr>
                        <m:ctrlPr>
                          <a:rPr lang="pt-BR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𝐹𝑟𝑎𝑐𝑜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num>
                      <m:den>
                        <m:r>
                          <a:rPr lang="pt-BR" sz="2400" i="1" dirty="0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sz="2400" i="1" dirty="0" smtClean="0">
                                <a:latin typeface="Cambria Math" panose="02040503050406030204" pitchFamily="18" charset="0"/>
                              </a:rPr>
                              <m:t>𝐴𝑝𝑟𝑜𝑣𝑎𝑑𝑜</m:t>
                            </m:r>
                          </m:e>
                        </m:d>
                      </m:den>
                    </m:f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=0,05/0,50=</m:t>
                    </m:r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0,10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(No denominador nós usamos o Teorema da Probabilidade Total)</a:t>
                </a:r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BF56E022-A72E-E493-9B83-91EE419563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096" y="5013071"/>
                <a:ext cx="8465779" cy="1475597"/>
              </a:xfrm>
              <a:prstGeom prst="rect">
                <a:avLst/>
              </a:prstGeom>
              <a:blipFill>
                <a:blip r:embed="rId5"/>
                <a:stretch>
                  <a:fillRect l="-1153" b="-867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11584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506234"/>
            <a:ext cx="1074806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2800" dirty="0"/>
          </a:p>
          <a:p>
            <a:endParaRPr lang="pt-BR" sz="2800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D39BDD1-0BFE-4C1B-8F26-CA7C9C8E39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2536" y="3759512"/>
            <a:ext cx="5709393" cy="2729155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563EA47F-ECFD-24EA-1A3D-DE427B8EA6A4}"/>
              </a:ext>
            </a:extLst>
          </p:cNvPr>
          <p:cNvSpPr txBox="1"/>
          <p:nvPr/>
        </p:nvSpPr>
        <p:spPr>
          <a:xfrm>
            <a:off x="1032612" y="1436914"/>
            <a:ext cx="10277702" cy="28050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400" b="1" dirty="0"/>
              <a:t>Exemplo. </a:t>
            </a:r>
            <a:r>
              <a:rPr lang="pt-BR" sz="2400" dirty="0"/>
              <a:t>Temos cinco urnas, cada uma com seis bolas. Duas dessas urnas (tipo C₁) têm 3 bolas brancas, duas outras (tipo C₂) têm 2 bolas brancas, e a última urna (tipo C₃) tem 6 bolas brancas. Escolhemos uma urna ao acaso e dela retiramos uma bola.  Qual a probabilidade de a urna escolhida ser do tipo C₃, sabendo-se que a bola sorteada é branca?</a:t>
            </a:r>
          </a:p>
        </p:txBody>
      </p:sp>
    </p:spTree>
    <p:extLst>
      <p:ext uri="{BB962C8B-B14F-4D97-AF65-F5344CB8AC3E}">
        <p14:creationId xmlns:p14="http://schemas.microsoft.com/office/powerpoint/2010/main" val="29772264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=2/5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=1/5</m:t>
                    </m:r>
                  </m:oMath>
                </a14:m>
                <a:r>
                  <a:rPr lang="pt-BR" sz="2400" dirty="0"/>
                  <a:t>.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=3/6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;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pt-BR" sz="2400" i="1">
                        <a:latin typeface="Cambria Math" panose="02040503050406030204" pitchFamily="18" charset="0"/>
                      </a:rPr>
                      <m:t>/6</m:t>
                    </m:r>
                  </m:oMath>
                </a14:m>
                <a:r>
                  <a:rPr lang="pt-BR" sz="2400" dirty="0"/>
                  <a:t>, </a:t>
                </a:r>
                <a14:m>
                  <m:oMath xmlns:m="http://schemas.openxmlformats.org/officeDocument/2006/math">
                    <m:r>
                      <a:rPr lang="pt-BR" sz="2400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i="1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e>
                        <m:sSub>
                          <m:sSubPr>
                            <m:ctrlPr>
                              <a:rPr lang="pt-BR" sz="24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  <m:r>
                      <a:rPr lang="pt-BR" sz="2400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pt-BR" sz="2400" dirty="0"/>
                  <a:t>1</a:t>
                </a: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∩</m:t>
                            </m:r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𝐵</m:t>
                            </m:r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pt-BR" sz="24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b>
                            </m:sSub>
                          </m:e>
                        </m:d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endParaRPr lang="pt-BR" sz="2400" i="1" dirty="0">
                  <a:latin typeface="Cambria Math" panose="02040503050406030204" pitchFamily="18" charset="0"/>
                </a:endParaRPr>
              </a:p>
              <a:p>
                <a:pPr marL="457200" indent="-4572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)=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₁)+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₂)+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₃)·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₃)</m:t>
                    </m:r>
                  </m:oMath>
                </a14:m>
                <a:endParaRPr lang="pt-BR" sz="2400" i="1" dirty="0"/>
              </a:p>
              <a:p>
                <a:pPr>
                  <a:lnSpc>
                    <a:spcPct val="20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i="1" dirty="0" smtClean="0">
                          <a:latin typeface="Cambria Math" panose="02040503050406030204" pitchFamily="18" charset="0"/>
                        </a:rPr>
                        <m:t>= 2/10 + 2/15 + 1/5 = 3/15 + 2/15 + 3/15 = </m:t>
                      </m:r>
                      <m:r>
                        <a:rPr lang="pt-BR" sz="2400" b="0" i="1" dirty="0" smtClean="0">
                          <a:latin typeface="Cambria Math" panose="02040503050406030204" pitchFamily="18" charset="0"/>
                        </a:rPr>
                        <m:t>8/15</m:t>
                      </m:r>
                    </m:oMath>
                  </m:oMathPara>
                </a14:m>
                <a:endParaRPr lang="pt-BR" sz="2400" i="1" dirty="0"/>
              </a:p>
              <a:p>
                <a:pPr marL="342900" indent="-342900">
                  <a:lnSpc>
                    <a:spcPct val="200000"/>
                  </a:lnSpc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pt-BR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1/5</m:t>
                        </m:r>
                      </m:num>
                      <m:den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8/15</m:t>
                        </m:r>
                      </m:den>
                    </m:f>
                    <m:r>
                      <a:rPr lang="pt-BR" sz="2400" b="0" i="1" dirty="0" smtClean="0">
                        <a:latin typeface="Cambria Math" panose="02040503050406030204" pitchFamily="18" charset="0"/>
                      </a:rPr>
                      <m:t>=3/8</m:t>
                    </m:r>
                  </m:oMath>
                </a14:m>
                <a:endParaRPr lang="pt-BR" sz="2400" i="1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4446" y="1218636"/>
                <a:ext cx="10748061" cy="5270032"/>
              </a:xfrm>
              <a:prstGeom prst="rect">
                <a:avLst/>
              </a:prstGeom>
              <a:blipFill>
                <a:blip r:embed="rId2"/>
                <a:stretch>
                  <a:fillRect l="-7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8001E6A3-452A-4BA3-9171-7D2DC75F87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2921" y="1340760"/>
            <a:ext cx="4628209" cy="221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67307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881687" y="1132887"/>
                <a:ext cx="10748061" cy="52806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Teorema de </a:t>
                </a:r>
                <a:r>
                  <a:rPr lang="pt-BR" sz="2400" b="1" dirty="0" err="1"/>
                  <a:t>Bayes</a:t>
                </a:r>
                <a:endParaRPr lang="pt-BR" sz="2400" b="1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Suponha que: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b="1" dirty="0"/>
                  <a:t>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,⋯, 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pt-BR" sz="2400" dirty="0"/>
                  <a:t> seja uma partição do espaço amostral;</a:t>
                </a:r>
              </a:p>
              <a:p>
                <a:pPr marL="571500" indent="-571500">
                  <a:lnSpc>
                    <a:spcPct val="150000"/>
                  </a:lnSpc>
                  <a:buFont typeface="+mj-lt"/>
                  <a:buAutoNum type="romanLcPeriod"/>
                </a:pPr>
                <a:r>
                  <a:rPr lang="pt-BR" sz="2400" dirty="0"/>
                  <a:t>São conhecidas as probabilidades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sz="2400" dirty="0"/>
                  <a:t> e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e>
                        <m:sSub>
                          <m:sSubPr>
                            <m:ctrlP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pt-BR" sz="2400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 1≤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≤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pt-BR" sz="2400" dirty="0"/>
                  <a:t>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Então,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a probabilidade de ocorrência do evento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sz="2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pt-BR" sz="24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pt-BR" sz="2400" dirty="0"/>
                  <a:t>, supondo-se a ocorrência do evento </a:t>
                </a:r>
                <a14:m>
                  <m:oMath xmlns:m="http://schemas.openxmlformats.org/officeDocument/2006/math"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pt-BR" sz="24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pt-BR" sz="2400" dirty="0"/>
                  <a:t> é dada por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pt-BR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pt-BR" sz="24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nary>
                            <m:naryPr>
                              <m:chr m:val="∑"/>
                              <m:ctrl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p>
                            <m:e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d>
                                <m:d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𝐶</m:t>
                                      </m:r>
                                    </m:e>
                                    <m:sub>
                                      <m:r>
                                        <a:rPr lang="pt-BR" sz="2400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sSub>
                                <m:sSubPr>
                                  <m:ctrlP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𝐶</m:t>
                                  </m:r>
                                </m:e>
                                <m:sub>
                                  <m:r>
                                    <a:rPr lang="pt-BR" sz="2400" b="0" i="1" smtClean="0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  <m:r>
                                <a:rPr lang="pt-BR" sz="2400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den>
                      </m:f>
                      <m:r>
                        <a:rPr lang="pt-BR" sz="2400" b="0" i="1" smtClean="0">
                          <a:latin typeface="Cambria Math" panose="02040503050406030204" pitchFamily="18" charset="0"/>
                        </a:rPr>
                        <m:t>.</m:t>
                      </m:r>
                    </m:oMath>
                  </m:oMathPara>
                </a14:m>
                <a:endParaRPr lang="pt-BR" sz="2400" dirty="0"/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1687" y="1132887"/>
                <a:ext cx="10748061" cy="5280613"/>
              </a:xfrm>
              <a:prstGeom prst="rect">
                <a:avLst/>
              </a:prstGeom>
              <a:blipFill>
                <a:blip r:embed="rId2"/>
                <a:stretch>
                  <a:fillRect l="-9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31360538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400" b="1" dirty="0"/>
                  <a:t>Exemplo (pg. 25): </a:t>
                </a:r>
                <a:r>
                  <a:rPr lang="pt-BR" sz="2400" dirty="0"/>
                  <a:t>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 contém 3 fichas vermelhas e 2 azuis, e 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 contém 2 vermelhas e 8 azuis. Joga-se uma moeda "honesta". Se a moeda der cara,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pt-BR" sz="2400" dirty="0"/>
                  <a:t>; se der coroa, extrai-se uma ficha da urna </a:t>
                </a:r>
                <a14:m>
                  <m:oMath xmlns:m="http://schemas.openxmlformats.org/officeDocument/2006/math">
                    <m:r>
                      <a:rPr lang="pt-BR" sz="2400" i="1" dirty="0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pt-BR" sz="2400" dirty="0"/>
                  <a:t>. Uma ficha vermelha é extraída. </a:t>
                </a:r>
              </a:p>
              <a:p>
                <a:pPr>
                  <a:lnSpc>
                    <a:spcPct val="150000"/>
                  </a:lnSpc>
                </a:pPr>
                <a:endParaRPr lang="pt-BR" sz="2400" dirty="0"/>
              </a:p>
              <a:p>
                <a:pPr>
                  <a:lnSpc>
                    <a:spcPct val="150000"/>
                  </a:lnSpc>
                </a:pPr>
                <a:r>
                  <a:rPr lang="pt-BR" sz="2400" dirty="0"/>
                  <a:t>Qual a probabilidade de ter saído cara no lançamento?</a:t>
                </a:r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32611" y="1506234"/>
                <a:ext cx="10597137" cy="3359061"/>
              </a:xfrm>
              <a:prstGeom prst="rect">
                <a:avLst/>
              </a:prstGeom>
              <a:blipFill>
                <a:blip r:embed="rId2"/>
                <a:stretch>
                  <a:fillRect l="-863" r="-1380" b="-32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551996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/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pt-BR" sz="2200" dirty="0"/>
                  <a:t>Resolução: 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P(cara) = P(coroa) = 1/2. </a:t>
                </a:r>
              </a:p>
              <a:p>
                <a:pPr marL="342900" indent="-342900">
                  <a:lnSpc>
                    <a:spcPct val="150000"/>
                  </a:lnSpc>
                  <a:buFont typeface="Arial" panose="020B0604020202020204" pitchFamily="34" charset="0"/>
                  <a:buChar char="•"/>
                </a:pPr>
                <a:r>
                  <a:rPr lang="pt-BR" sz="2200" dirty="0"/>
                  <a:t>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= 3/5. 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= 2/10.</a:t>
                </a:r>
              </a:p>
              <a:p>
                <a:pPr>
                  <a:lnSpc>
                    <a:spcPct val="150000"/>
                  </a:lnSpc>
                </a:pPr>
                <a:endParaRPr lang="pt-BR" sz="2200" dirty="0"/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Primeiro, calculamos P(vermelha) pelo Teorema da Probabilidade Total: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P(vermelha) = P(cara)·P(</a:t>
                </a:r>
                <a:r>
                  <a:rPr lang="pt-BR" sz="2200" dirty="0" err="1"/>
                  <a:t>vermelha|cara</a:t>
                </a:r>
                <a:r>
                  <a:rPr lang="pt-BR" sz="2200" dirty="0"/>
                  <a:t>) + P(coroa)·P(</a:t>
                </a:r>
                <a:r>
                  <a:rPr lang="pt-BR" sz="2200" dirty="0" err="1"/>
                  <a:t>vermelha|coroa</a:t>
                </a:r>
                <a:r>
                  <a:rPr lang="pt-BR" sz="2200" dirty="0"/>
                  <a:t>) 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= 1/2·3/5 + 1/2·2/10 = 3/10 + 1/10 = 4/10 = 2/5</a:t>
                </a:r>
              </a:p>
              <a:p>
                <a:pPr>
                  <a:lnSpc>
                    <a:spcPct val="150000"/>
                  </a:lnSpc>
                </a:pPr>
                <a:r>
                  <a:rPr lang="pt-BR" sz="2200" dirty="0"/>
                  <a:t>Agora, pelo Teorema de </a:t>
                </a:r>
                <a:r>
                  <a:rPr lang="pt-BR" sz="2200" dirty="0" err="1"/>
                  <a:t>Bayes</a:t>
                </a:r>
                <a:r>
                  <a:rPr lang="pt-BR" sz="2200" dirty="0"/>
                  <a:t>:</a:t>
                </a: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20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pt-BR" sz="2200" i="1" dirty="0" err="1">
                          <a:latin typeface="Cambria Math" panose="02040503050406030204" pitchFamily="18" charset="0"/>
                        </a:rPr>
                        <m:t>𝑣𝑒𝑟𝑚𝑒𝑙h𝑎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𝑐𝑎𝑟𝑎</m:t>
                      </m:r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)·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  <m:e>
                              <m:r>
                                <a:rPr lang="pt-BR" sz="2200" i="1" dirty="0" err="1">
                                  <a:latin typeface="Cambria Math" panose="02040503050406030204" pitchFamily="18" charset="0"/>
                                </a:rPr>
                                <m:t>𝑐𝑎𝑟𝑎</m:t>
                              </m:r>
                            </m:e>
                          </m:d>
                        </m:num>
                        <m:den>
                          <m:r>
                            <a:rPr lang="pt-BR" sz="2200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pt-BR" sz="2200" i="1" dirty="0">
                                  <a:latin typeface="Cambria Math" panose="02040503050406030204" pitchFamily="18" charset="0"/>
                                </a:rPr>
                                <m:t>𝑣𝑒𝑟𝑚𝑒𝑙h𝑎</m:t>
                              </m:r>
                            </m:e>
                          </m:d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pt-BR" sz="22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3/10</m:t>
                          </m:r>
                        </m:num>
                        <m:den>
                          <m:r>
                            <a:rPr lang="pt-BR" sz="2200" b="0" i="1" dirty="0" smtClean="0">
                              <a:latin typeface="Cambria Math" panose="02040503050406030204" pitchFamily="18" charset="0"/>
                            </a:rPr>
                            <m:t>4/10</m:t>
                          </m:r>
                        </m:den>
                      </m:f>
                      <m:r>
                        <a:rPr lang="pt-BR" sz="2200" i="1" dirty="0">
                          <a:latin typeface="Cambria Math" panose="02040503050406030204" pitchFamily="18" charset="0"/>
                        </a:rPr>
                        <m:t> = 3/4 = 0,75</m:t>
                      </m:r>
                    </m:oMath>
                  </m:oMathPara>
                </a14:m>
                <a:endParaRPr lang="pt-BR" sz="22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720B10DA-C761-4DEE-8D86-E170E1C2E9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01982" y="1340760"/>
                <a:ext cx="10597137" cy="5212389"/>
              </a:xfrm>
              <a:prstGeom prst="rect">
                <a:avLst/>
              </a:prstGeom>
              <a:blipFill>
                <a:blip r:embed="rId2"/>
                <a:stretch>
                  <a:fillRect l="-74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05366343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3086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Atividades referentes à aula</a:t>
            </a:r>
          </a:p>
          <a:p>
            <a:pPr>
              <a:lnSpc>
                <a:spcPct val="150000"/>
              </a:lnSpc>
            </a:pPr>
            <a:r>
              <a:rPr lang="pt-BR" sz="2200" dirty="0"/>
              <a:t>Leitura recomendada: 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5.4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2.6, 2.8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2: 2.2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 err="1"/>
              <a:t>Morettin</a:t>
            </a:r>
            <a:r>
              <a:rPr lang="pt-BR" sz="2200" dirty="0"/>
              <a:t> — Cap. 2: 2.6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6707389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aixaDeTexto 5">
            <a:extLst>
              <a:ext uri="{FF2B5EF4-FFF2-40B4-BE49-F238E27FC236}">
                <a16:creationId xmlns:a16="http://schemas.microsoft.com/office/drawing/2014/main" id="{720B10DA-C761-4DEE-8D86-E170E1C2E981}"/>
              </a:ext>
            </a:extLst>
          </p:cNvPr>
          <p:cNvSpPr txBox="1"/>
          <p:nvPr/>
        </p:nvSpPr>
        <p:spPr>
          <a:xfrm>
            <a:off x="881687" y="1441868"/>
            <a:ext cx="10067277" cy="25790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pt-BR" sz="2200" b="1" dirty="0"/>
              <a:t>Exercícios recomendados: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Bussab &amp; </a:t>
            </a:r>
            <a:r>
              <a:rPr lang="pt-BR" sz="2200" dirty="0" err="1"/>
              <a:t>Morettin</a:t>
            </a:r>
            <a:r>
              <a:rPr lang="pt-BR" sz="2200" dirty="0"/>
              <a:t> — Cap. 5: Problemas 23, 24, 25, 26, 27 e 37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Magalhães &amp; Lima — Cap. 2 (§2.3): Exercícios 18, 25, 26, 28 e 29</a:t>
            </a:r>
          </a:p>
          <a:p>
            <a:pPr marL="457178" indent="-457178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sz="2200" dirty="0"/>
              <a:t>Montgomery &amp; </a:t>
            </a:r>
            <a:r>
              <a:rPr lang="pt-BR" sz="2200" dirty="0" err="1"/>
              <a:t>Runger</a:t>
            </a:r>
            <a:r>
              <a:rPr lang="pt-BR" sz="2200" dirty="0"/>
              <a:t> — Cap. 2: Exercícios 2.6.1, 2.6.3, 2.6.4, 2.6.6, 2.6.7, 2.8.1, 2.8.3, 2.8.4, 2.8.7 e 2.8.9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9131A04-B5D6-4211-8B49-4615DE5797E9}"/>
              </a:ext>
            </a:extLst>
          </p:cNvPr>
          <p:cNvSpPr txBox="1"/>
          <p:nvPr/>
        </p:nvSpPr>
        <p:spPr>
          <a:xfrm>
            <a:off x="361395" y="6488668"/>
            <a:ext cx="7620000" cy="3002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351" dirty="0"/>
              <a:t>CEA055 - Estatística e Probabilidade - Professor: Marcos Goulart Lima</a:t>
            </a:r>
          </a:p>
        </p:txBody>
      </p:sp>
    </p:spTree>
    <p:extLst>
      <p:ext uri="{BB962C8B-B14F-4D97-AF65-F5344CB8AC3E}">
        <p14:creationId xmlns:p14="http://schemas.microsoft.com/office/powerpoint/2010/main" val="18490966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3441</TotalTime>
  <Words>1556</Words>
  <Application>Microsoft Office PowerPoint</Application>
  <PresentationFormat>Widescreen</PresentationFormat>
  <Paragraphs>100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3" baseType="lpstr">
      <vt:lpstr>AlternateGothic2 BT</vt:lpstr>
      <vt:lpstr>Arial</vt:lpstr>
      <vt:lpstr>Calibri</vt:lpstr>
      <vt:lpstr>Calibri Light</vt:lpstr>
      <vt:lpstr>Cambria Math</vt:lpstr>
      <vt:lpstr>Tema do Office</vt:lpstr>
      <vt:lpstr>CEA055 – Estatística e Probabilidade Probabilidade Total e Teorema de Bayes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Marcos Goulart Lima</dc:creator>
  <cp:lastModifiedBy>Marcos Goulart Lima</cp:lastModifiedBy>
  <cp:revision>124</cp:revision>
  <dcterms:created xsi:type="dcterms:W3CDTF">2020-07-20T19:35:15Z</dcterms:created>
  <dcterms:modified xsi:type="dcterms:W3CDTF">2026-10-22T03:31:38Z</dcterms:modified>
</cp:coreProperties>
</file>