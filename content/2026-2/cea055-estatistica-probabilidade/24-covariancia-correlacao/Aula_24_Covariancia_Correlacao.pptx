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1100" r:id="rId2"/>
    <p:sldId id="1101" r:id="rId3"/>
    <p:sldId id="1102" r:id="rId4"/>
    <p:sldId id="1103" r:id="rId5"/>
    <p:sldId id="1104" r:id="rId6"/>
    <p:sldId id="1105" r:id="rId7"/>
    <p:sldId id="1106" r:id="rId8"/>
    <p:sldId id="1107" r:id="rId9"/>
    <p:sldId id="1108" r:id="rId10"/>
    <p:sldId id="1109" r:id="rId11"/>
    <p:sldId id="1110" r:id="rId12"/>
    <p:sldId id="1111" r:id="rId13"/>
    <p:sldId id="1112" r:id="rId14"/>
    <p:sldId id="1113" r:id="rId15"/>
    <p:sldId id="1114" r:id="rId16"/>
  </p:sldIdLst>
  <p:sldSz cx="12192000" cy="6858000"/>
  <p:notesSz cx="6858000" cy="9144000"/>
  <p:defaultTextStyle>
    <a:defPPr>
      <a:defRPr lang="pt-BR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cos Goulart Lima" initials="MGL" lastIdx="1" clrIdx="0">
    <p:extLst>
      <p:ext uri="{19B8F6BF-5375-455C-9EA6-DF929625EA0E}">
        <p15:presenceInfo xmlns:p15="http://schemas.microsoft.com/office/powerpoint/2012/main" userId="809befc0d8c5dfd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 autoAdjust="0"/>
  </p:normalViewPr>
  <p:slideViewPr>
    <p:cSldViewPr snapToGrid="0">
      <p:cViewPr varScale="1">
        <p:scale>
          <a:sx n="65" d="100"/>
          <a:sy n="65" d="100"/>
        </p:scale>
        <p:origin x="48" y="451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4690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623A65-BD25-40B6-8815-498297225DF7}" type="datetimeFigureOut">
              <a:rPr lang="pt-BR" smtClean="0"/>
              <a:t>28/10/2026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7F89C7-0D7F-4B10-AF98-1416A21C67FE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29212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FB549B-B83A-404E-9BD8-A560AB294D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D7CE2CF-ACA4-4F2F-B0E6-62AA8A4CA0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215145D-ED8E-485D-AFAA-0637E3DDC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28/10/2026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C10A484-EBAA-4375-B22B-EB352202B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CBFC011-A4F5-4C4D-B328-90D3A1C70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32127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DC2C77-41CB-40C6-8592-F2323898B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A2E0EDC-CFA2-4EB2-951C-00B6285C61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67430C6-C7CB-4882-8EDC-12D186CAC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28/10/2026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044677D-F5A4-4226-8F80-D16E10238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DAB1963-7DC3-48C6-816F-DB898EB17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59066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59C7D4-175E-4544-B2C7-10CBDC0B0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1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9345EC1-929C-4442-826F-033EE7893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D04775A-17A7-4EC4-9798-1A34FD10E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28/10/2026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F42EA98-8D10-4ED3-B93F-FC711F0CD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39B97DE-6B04-4B6F-86E9-1D88F55F5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2312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BAA362-A45A-480A-9074-096724BCA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7FAB7C-66B6-413A-A532-7B4B35F4FB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E989473-C5DE-4037-A42E-A0EACF6670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3249F76-8985-4102-AAA2-0AF7D18B3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28/10/2026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59E6D85-4300-4D4B-9EF8-C400BC246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82F353B-CB0E-4E22-9F25-903B9054A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54893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0DC1B8-1341-4AB7-B041-922244C5C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8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33C1DFC-5D65-46F4-994E-FD066564E0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CD66570-19DA-43E0-B668-A0064803DB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031A902-2182-44D2-92A6-7D350E01E0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F11DEC4-4ED6-4D01-8E2F-F8DFBFBB0D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251D8EF-D452-4BEB-B271-9A45BCDDD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28/10/2026</a:t>
            </a:fld>
            <a:endParaRPr lang="pt-BR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874A662-49D6-4C3B-B580-C42ED1ECE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B64F4DA-4AAA-4F61-9D50-9FBA731DC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86527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5CE28C-348A-4584-BBD8-F7D4E80AC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727A591-6069-48B6-9538-6A690479E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28/10/2026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F4B20B4-5872-4798-8273-172F9B79B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0218E22-3A9A-4526-9A35-8F67CBEAC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99807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8C9ED03-39FE-4839-912F-74079DC07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28/10/2026</a:t>
            </a:fld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2202958-2868-421E-B634-EC4F79F44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A1E4208-F91B-406F-93C9-909632019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16385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03AC6E-A8A4-484F-AB72-E01568BAD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652402C-474E-4A4C-BBB4-72C4459FD2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5932530-DB56-4B02-AAD7-0B0DAE05AC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5269F7A-8509-44B5-A449-BA774B8D6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28/10/2026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AC7A0F7-9932-436F-9AE3-AFF4AA2B6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2EED5AD-F121-4389-805A-1761D5E18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64605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E0AC3B-59EE-40F2-994F-F86E662CE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38B4DB5-6F6C-4DA5-9A20-AC29F12332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78" indent="0">
              <a:buNone/>
              <a:defRPr sz="2800"/>
            </a:lvl2pPr>
            <a:lvl3pPr marL="914354" indent="0">
              <a:buNone/>
              <a:defRPr sz="2400"/>
            </a:lvl3pPr>
            <a:lvl4pPr marL="1371532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2" indent="0">
              <a:buNone/>
              <a:defRPr sz="2000"/>
            </a:lvl7pPr>
            <a:lvl8pPr marL="3200240" indent="0">
              <a:buNone/>
              <a:defRPr sz="2000"/>
            </a:lvl8pPr>
            <a:lvl9pPr marL="3657418" indent="0">
              <a:buNone/>
              <a:defRPr sz="2000"/>
            </a:lvl9pPr>
          </a:lstStyle>
          <a:p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BE271B5-C93D-4796-9358-1D1489AD91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70EE369-01D5-4D19-9174-7B158A7B7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28/10/2026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AD9A84F-D4C0-4CF0-B94A-BD00C58CC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5C5E872-5A54-4124-AFFF-F672D0693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77097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682B53-B921-43B0-B70C-89461FC53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CD7C9CB-B075-433C-911D-C898E41105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6A9F18-28DC-4676-99F1-455FE41D8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28/10/2026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6122BC6-1417-41C0-ABAB-3814030C5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1D411FB-88FD-4753-AD8A-28F528B3E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9699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A7E2BA7-069E-46BC-89D6-D7C2DC18A2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2" y="365126"/>
            <a:ext cx="2628900" cy="5811839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6D25537-8E8B-46D8-8D94-91EDEBEF2C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2" y="365126"/>
            <a:ext cx="7734300" cy="581183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8151BBF-6817-43B4-9E70-9E5D97182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28/10/2026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A27DCBE-1398-4403-B8D9-E76E3BB1A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57CFCFD-A47F-4C7B-B8FA-ADA430CE0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76169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60000"/>
                <a:lumOff val="40000"/>
              </a:schemeClr>
            </a:gs>
            <a:gs pos="19000">
              <a:schemeClr val="bg1"/>
            </a:gs>
            <a:gs pos="95000">
              <a:schemeClr val="bg1"/>
            </a:gs>
            <a:gs pos="100000">
              <a:schemeClr val="accent5">
                <a:lumMod val="40000"/>
                <a:lumOff val="6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14E2DD83-FDEA-4717-875C-AE246EABA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8727906-6A75-4D24-84E2-D534D8BE7C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D73EF87-9823-417E-B531-F5CFE53CC6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45E566-B383-4B2D-B951-1136FD38326E}" type="datetimeFigureOut">
              <a:rPr lang="pt-BR" smtClean="0"/>
              <a:t>28/10/2026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A912461-C5F3-4639-9852-55C185CA89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D549E10-6FAB-43E0-BE2A-E81BCD879D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41590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Covariância e Correlação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1032608" y="1750000"/>
            <a:ext cx="10067277" cy="42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2000" b="1" dirty="0"/>
              <a:t>Objetivos da aula: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900" dirty="0"/>
              <a:t>Definir e calcular a covariância entre duas variáveis aleatórias.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900" dirty="0"/>
              <a:t>Relacionar a covariância à variância da soma de duas variáveis.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900" dirty="0"/>
              <a:t>Definir o coeficiente de correlação e interpretar sua força e direção.</a:t>
            </a:r>
          </a:p>
          <a:p>
            <a:r>
              <a:rPr lang="pt-BR" sz="2000" b="1" dirty="0"/>
              <a:t>Referências: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Bussab, Morettin. Estatística Básica, 9ed — Cap. 8 (8.4)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Montgomery, Runger. Applied Statistics..., 7th ed — Cap. 5 (5.4)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Magalhães, Lima. Noções de Probabilidade e Estatística, 5ed — Cap. 5 (5.2)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"/>
          <p:cNvSpPr txBox="1"/>
          <p:nvPr/>
        </p:nvSpPr>
        <p:spPr>
          <a:xfrm>
            <a:off x="685800" y="1600000"/>
            <a:ext cx="10800000" cy="45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2000" b="1" dirty="0"/>
              <a:t>Medindo a associação entre duas variáveis</a:t>
            </a:r>
          </a:p>
          <a:p>
            <a:endParaRPr lang="pt-BR" sz="1800" dirty="0"/>
          </a:p>
          <a:p>
            <a:r>
              <a:rPr lang="pt-BR" sz="1800" dirty="0"/>
              <a:t>Na </a:t>
            </a:r>
            <a:r>
              <a:rPr lang="pt-BR" sz="1800"/>
              <a:t>Aula 23, </a:t>
            </a:r>
            <a:r>
              <a:rPr lang="pt-BR" sz="1800" dirty="0"/>
              <a:t>vimos como verificar SE duas v.a. são independentes. Mas quando não são, como medir o QUANTO e em que DIREÇÃO elas variam juntas?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A covariância é a primeira ferramenta para isso: um número que resume a tendência de X e Y variarem no mesmo sentido, em sentidos opostos, ou sem padrão.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"/>
          <p:cNvSpPr txBox="1"/>
          <p:nvPr/>
        </p:nvSpPr>
        <p:spPr>
          <a:xfrm>
            <a:off x="685800" y="1150000"/>
            <a:ext cx="10800000" cy="1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2000" b="1" dirty="0"/>
              <a:t>Definição de covariância</a:t>
            </a:r>
          </a:p>
          <a:p>
            <a:r>
              <a:rPr lang="pt-BR" sz="1700" dirty="0"/>
              <a:t>A covariância entre X e Y é o valor esperado do produto dos desvios de cada variável em relação à sua média:</a:t>
            </a:r>
          </a:p>
        </p:txBody>
      </p:sp>
      <p:pic>
        <p:nvPicPr>
          <p:cNvPr id="9" name="Definicao covarianci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000" y="3200000"/>
            <a:ext cx="9000000" cy="900000"/>
          </a:xfrm>
          <a:prstGeom prst="rect">
            <a:avLst/>
          </a:prstGeom>
        </p:spPr>
      </p:pic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"/>
          <p:cNvSpPr txBox="1"/>
          <p:nvPr/>
        </p:nvSpPr>
        <p:spPr>
          <a:xfrm>
            <a:off x="685800" y="1150000"/>
            <a:ext cx="10800000" cy="1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2000" b="1" dirty="0"/>
              <a:t>Uma fórmula mais fácil de calcular</a:t>
            </a:r>
          </a:p>
          <a:p>
            <a:r>
              <a:rPr lang="pt-BR" sz="1700" dirty="0"/>
              <a:t>Expandindo a definição, chega-se a uma forma equivalente e mais prática para os cálculos:</a:t>
            </a:r>
          </a:p>
        </p:txBody>
      </p:sp>
      <p:pic>
        <p:nvPicPr>
          <p:cNvPr id="9" name="Formula covariancia calcul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000" y="3200000"/>
            <a:ext cx="9000000" cy="900000"/>
          </a:xfrm>
          <a:prstGeom prst="rect">
            <a:avLst/>
          </a:prstGeom>
        </p:spPr>
      </p:pic>
      <p:sp>
        <p:nvSpPr>
          <p:cNvPr id="11" name="Caixa"/>
          <p:cNvSpPr txBox="1"/>
          <p:nvPr/>
        </p:nvSpPr>
        <p:spPr>
          <a:xfrm>
            <a:off x="685800" y="4500000"/>
            <a:ext cx="10800000" cy="15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Essa é a mesma relação usada para a variância: Var(X) = E(X²) − [E(X)]², agora estendida para duas variáveis.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"/>
          <p:cNvSpPr txBox="1"/>
          <p:nvPr/>
        </p:nvSpPr>
        <p:spPr>
          <a:xfrm>
            <a:off x="685800" y="1150000"/>
            <a:ext cx="10800000" cy="1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2000" b="1" dirty="0"/>
              <a:t>Calculando a covariância no exemplo da </a:t>
            </a:r>
            <a:r>
              <a:rPr lang="pt-BR" sz="2000" b="1"/>
              <a:t>Aula 23</a:t>
            </a:r>
            <a:endParaRPr lang="pt-BR" sz="2000" b="1" dirty="0"/>
          </a:p>
          <a:p>
            <a:r>
              <a:rPr lang="pt-BR" sz="1600" dirty="0"/>
              <a:t>Retomando a central de atendimento (X = chamados recebidos, Y = resolvidos sem escalonamento):</a:t>
            </a:r>
          </a:p>
        </p:txBody>
      </p:sp>
      <p:pic>
        <p:nvPicPr>
          <p:cNvPr id="9" name="Tabela conjunt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0000" y="2950000"/>
            <a:ext cx="6900000" cy="2000000"/>
          </a:xfrm>
          <a:prstGeom prst="rect">
            <a:avLst/>
          </a:prstGeom>
        </p:spPr>
      </p:pic>
      <p:sp>
        <p:nvSpPr>
          <p:cNvPr id="11" name="Caixa"/>
          <p:cNvSpPr txBox="1"/>
          <p:nvPr/>
        </p:nvSpPr>
        <p:spPr>
          <a:xfrm>
            <a:off x="685800" y="5100000"/>
            <a:ext cx="10800000" cy="13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1600" b="1" dirty="0"/>
              <a:t>Já calculamos: E(X) = 1,35; E(Y) = 0,65; E(XY) = 1,00.  Cov(X,Y) = 1,00 − (1,35×0,65) = 1,00 − 0,8775 = 0,1225.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"/>
          <p:cNvSpPr txBox="1"/>
          <p:nvPr/>
        </p:nvSpPr>
        <p:spPr>
          <a:xfrm>
            <a:off x="685800" y="1150000"/>
            <a:ext cx="10800000" cy="16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2000" b="1" dirty="0"/>
              <a:t>Interpretando o sinal da covariância</a:t>
            </a:r>
          </a:p>
          <a:p>
            <a:r>
              <a:rPr lang="pt-BR" sz="1700" dirty="0"/>
              <a:t>O SINAL de Cov(X,Y) indica a direção da associação linear entre X e Y:</a:t>
            </a:r>
          </a:p>
        </p:txBody>
      </p:sp>
      <p:pic>
        <p:nvPicPr>
          <p:cNvPr id="9" name="Sinais da covarianci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900000"/>
            <a:ext cx="10800000" cy="3100000"/>
          </a:xfrm>
          <a:prstGeom prst="rect">
            <a:avLst/>
          </a:prstGeom>
        </p:spPr>
      </p:pic>
      <p:sp>
        <p:nvSpPr>
          <p:cNvPr id="11" name="Caixa"/>
          <p:cNvSpPr txBox="1"/>
          <p:nvPr/>
        </p:nvSpPr>
        <p:spPr>
          <a:xfrm>
            <a:off x="685800" y="6050000"/>
            <a:ext cx="10800000" cy="7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1500" i="1" dirty="0"/>
              <a:t>No nosso exemplo, Cov = 0,1225 &gt; 0: X e Y tendem a crescer juntas.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"/>
          <p:cNvSpPr txBox="1"/>
          <p:nvPr/>
        </p:nvSpPr>
        <p:spPr>
          <a:xfrm>
            <a:off x="685800" y="1150000"/>
            <a:ext cx="10800000" cy="4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2000" b="1" dirty="0"/>
              <a:t>Covariância zero ≠ independência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Se X e Y são independentes, então Cov(X,Y) = 0 (não há associação linear a medir).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MAS a recíproca é falsa: Cov(X,Y) = 0 não garante independência — pode haver uma relação não linear forte, que a covariância não enxerga.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Exemplo clássico: se Y = X² e X é simétrica em torno de 0, Cov(X,Y) pode ser exatamente zero, mesmo Y sendo completamente determinada por X.</a:t>
            </a:r>
          </a:p>
          <a:p>
            <a:endParaRPr lang="pt-BR" sz="1800" dirty="0"/>
          </a:p>
          <a:p>
            <a:r>
              <a:rPr lang="pt-BR" sz="1700" i="1" dirty="0"/>
              <a:t>Conclusão: covariância mede apenas associação LINEAR — relações em “U” ou curvas podem passar despercebidas.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"/>
          <p:cNvSpPr txBox="1"/>
          <p:nvPr/>
        </p:nvSpPr>
        <p:spPr>
          <a:xfrm>
            <a:off x="685800" y="1150000"/>
            <a:ext cx="10800000" cy="1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2000" b="1" dirty="0"/>
              <a:t>Por que a covariância importa: variância da soma</a:t>
            </a:r>
          </a:p>
          <a:p>
            <a:r>
              <a:rPr lang="pt-BR" sz="1700" dirty="0"/>
              <a:t>Já anunciamos essa fórmula na </a:t>
            </a:r>
            <a:r>
              <a:rPr lang="pt-BR" sz="1700"/>
              <a:t>Aula 23 </a:t>
            </a:r>
            <a:r>
              <a:rPr lang="pt-BR" sz="1700" dirty="0"/>
              <a:t>— agora com a covariância definida, ela fica completa:</a:t>
            </a:r>
          </a:p>
        </p:txBody>
      </p:sp>
      <p:pic>
        <p:nvPicPr>
          <p:cNvPr id="9" name="Variancia da som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0" y="3100000"/>
            <a:ext cx="10000000" cy="900000"/>
          </a:xfrm>
          <a:prstGeom prst="rect">
            <a:avLst/>
          </a:prstGeom>
        </p:spPr>
      </p:pic>
      <p:sp>
        <p:nvSpPr>
          <p:cNvPr id="11" name="Caixa"/>
          <p:cNvSpPr txBox="1"/>
          <p:nvPr/>
        </p:nvSpPr>
        <p:spPr>
          <a:xfrm>
            <a:off x="685800" y="4400000"/>
            <a:ext cx="10800000" cy="1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Se Cov(X,Y) = 0 (inclusive quando são independentes), recuperamos Var(X+Y) = Var(X) + Var(Y).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Se Cov(X,Y) &gt; 0, a soma X+Y é MAIS variável do que a soma das variâncias individuais sugeriria.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"/>
          <p:cNvSpPr txBox="1"/>
          <p:nvPr/>
        </p:nvSpPr>
        <p:spPr>
          <a:xfrm>
            <a:off x="685800" y="1150000"/>
            <a:ext cx="10800000" cy="4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2000" b="1" dirty="0"/>
              <a:t>O problema da escala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A covariância depende das UNIDADES de X e Y — isso dificulta comparar a “força” da associação entre pares de variáveis diferentes.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Exemplo: Cov(altura em cm, peso em kg) terá um valor numérico diferente de Cov(altura em metros, peso em kg) — mesma relação, escala diferente.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Precisamos de uma versão “padronizada” da covariância, que não dependa da escala — é isso que o coeficiente de correlação resolve.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"/>
          <p:cNvSpPr txBox="1"/>
          <p:nvPr/>
        </p:nvSpPr>
        <p:spPr>
          <a:xfrm>
            <a:off x="685800" y="1150000"/>
            <a:ext cx="10800000" cy="1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2000" b="1" dirty="0"/>
              <a:t>Coeficiente de correlação ρ</a:t>
            </a:r>
          </a:p>
          <a:p>
            <a:r>
              <a:rPr lang="pt-BR" sz="1700" dirty="0"/>
              <a:t>Padronizamos a covariância dividindo pelos desvios padrão de X e de Y:</a:t>
            </a:r>
          </a:p>
        </p:txBody>
      </p:sp>
      <p:pic>
        <p:nvPicPr>
          <p:cNvPr id="9" name="Definicao rh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0" y="3100000"/>
            <a:ext cx="5000000" cy="1100000"/>
          </a:xfrm>
          <a:prstGeom prst="rect">
            <a:avLst/>
          </a:prstGeom>
        </p:spPr>
      </p:pic>
      <p:sp>
        <p:nvSpPr>
          <p:cNvPr id="11" name="Caixa"/>
          <p:cNvSpPr txBox="1"/>
          <p:nvPr/>
        </p:nvSpPr>
        <p:spPr>
          <a:xfrm>
            <a:off x="685800" y="4650000"/>
            <a:ext cx="10800000" cy="17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Essa razão elimina as unidades de medida: ρ é sempre um número puro, entre −1 e +1.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−1 ≤ ρ(X,Y) ≤ +1, sempre — essa é a grande vantagem sobre a covariância.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"/>
          <p:cNvSpPr txBox="1"/>
          <p:nvPr/>
        </p:nvSpPr>
        <p:spPr>
          <a:xfrm>
            <a:off x="685800" y="1150000"/>
            <a:ext cx="10800000" cy="4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2000" b="1" dirty="0"/>
              <a:t>Interpretando o coeficiente de correlação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50" dirty="0"/>
              <a:t>ρ = +1: associação linear POSITIVA perfeita (todos os pontos numa reta crescente).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50" dirty="0"/>
              <a:t>ρ = −1: associação linear NEGATIVA perfeita (reta decrescente).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50" dirty="0"/>
              <a:t>ρ = 0: nenhuma associação LINEAR (mas pode haver associação não linear, como na </a:t>
            </a:r>
            <a:r>
              <a:rPr lang="pt-BR" sz="1750"/>
              <a:t>Aula 23).</a:t>
            </a:r>
            <a:endParaRPr lang="pt-BR" sz="175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50" dirty="0"/>
              <a:t>Quanto mais próximo de ±1, mais forte a associação linear; quanto mais próximo de 0, mais fraca.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50" dirty="0"/>
              <a:t>Valores intermediários (ex.: ρ = 0,3 ou ρ = −0,7) são os mais comuns na prática — raramente vemos ρ exatamente ±1 ou 0.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"/>
          <p:cNvSpPr txBox="1"/>
          <p:nvPr/>
        </p:nvSpPr>
        <p:spPr>
          <a:xfrm>
            <a:off x="685800" y="1150000"/>
            <a:ext cx="10800000" cy="51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2000" b="1" dirty="0"/>
              <a:t>Calculando ρ no exemplo da central de atendimento</a:t>
            </a:r>
          </a:p>
          <a:p>
            <a:endParaRPr lang="pt-BR" sz="1800" dirty="0"/>
          </a:p>
          <a:p>
            <a:r>
              <a:rPr lang="pt-BR" sz="1700" dirty="0"/>
              <a:t>Já temos: Cov(X,Y) = 0,1225. Precisamos agora de Var(X) e Var(Y).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Var(X) = E(X²) − [E(X)]² = 2,35 − 1,35² = 0,5275  →  σₓ = √0,5275 = 0,726.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Var(Y) = E(Y²) − [E(Y)]² = 0,65 − 0,65² = 0,2275  →  σᵧ = √0,2275 = 0,477.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ρ(X,Y) = 0,1225 / (0,726 × 0,477) = 0,1225 / 0,3465 = 0,354.</a:t>
            </a:r>
          </a:p>
          <a:p>
            <a:endParaRPr lang="pt-BR" sz="1800" dirty="0"/>
          </a:p>
          <a:p>
            <a:r>
              <a:rPr lang="pt-BR" sz="1650" i="1" dirty="0"/>
              <a:t>Interpretação: correlação positiva moderada — mais chamados recebidos tende a vir com mais resoluções sem escalonamento, mas a relação não é muito forte.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"/>
          <p:cNvSpPr txBox="1"/>
          <p:nvPr/>
        </p:nvSpPr>
        <p:spPr>
          <a:xfrm>
            <a:off x="685800" y="1150000"/>
            <a:ext cx="10800000" cy="4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2000" b="1" dirty="0"/>
              <a:t>Cuidado: correlação não é causalidade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Duas variáveis correlacionadas podem estar associadas por uma TERCEIRA variável, sem que uma cause a outra.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Exemplo clássico: vendas de sorvete e afogamentos são correlacionados positivamente — mas o calor do verão causa ambos, um não causa o outro.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Antes de concluir causalidade a partir de uma correlação, é preciso um desenho experimental adequado (ex.: estudo controlado), não apenas dados observacionais.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"/>
          <p:cNvSpPr txBox="1"/>
          <p:nvPr/>
        </p:nvSpPr>
        <p:spPr>
          <a:xfrm>
            <a:off x="685800" y="1150000"/>
            <a:ext cx="10800000" cy="4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2000" b="1" dirty="0"/>
              <a:t>Resumo da aula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Covariância: Cov(X,Y) = E(XY) − E(X)E(Y) — mede direção da associação linear, mas depende da escala.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Coeficiente de correlação: ρ = Cov(X,Y)/(σₓσᵧ) — versão padronizada, sempre entre −1 e +1.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Cov(X,Y) = 0 (ou ρ = 0) não implica independência — apenas ausência de associação LINEAR.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Correlação mede associação, não causalidade.</a:t>
            </a:r>
          </a:p>
          <a:p>
            <a:endParaRPr lang="pt-BR" sz="1800" dirty="0"/>
          </a:p>
          <a:p>
            <a:r>
              <a:rPr lang="pt-BR" sz="1700" i="1" dirty="0"/>
              <a:t>Próximas aulas: usaremos essas ideias para construir um modelo que PREVÊ uma variável a partir da outra — a regressão linear.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"/>
          <p:cNvSpPr txBox="1"/>
          <p:nvPr/>
        </p:nvSpPr>
        <p:spPr>
          <a:xfrm>
            <a:off x="881687" y="1506234"/>
            <a:ext cx="10618651" cy="502105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2400" b="1" dirty="0"/>
              <a:t>Atividades referentes à aula</a:t>
            </a:r>
          </a:p>
          <a:p>
            <a:endParaRPr lang="pt-BR" sz="2400" dirty="0"/>
          </a:p>
          <a:p>
            <a:r>
              <a:rPr lang="pt-BR" sz="2000" b="1" dirty="0"/>
              <a:t>Leitura recomendada: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Bussab &amp; Morettin — Cap. 8: 8.4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Montgomery &amp; Runger — Cap. 5: 5.4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Magalhães &amp; Lima — Cap. 5: 5.2</a:t>
            </a:r>
          </a:p>
          <a:p>
            <a:endParaRPr lang="pt-BR" sz="1800" dirty="0"/>
          </a:p>
          <a:p>
            <a:r>
              <a:rPr lang="pt-BR" sz="2000" b="1" dirty="0"/>
              <a:t>Exercícios recomendados: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Usando a tabela do Exemplo 2 da </a:t>
            </a:r>
            <a:r>
              <a:rPr lang="pt-BR" sz="1800"/>
              <a:t>Aula 23 </a:t>
            </a:r>
            <a:r>
              <a:rPr lang="pt-BR" sz="1800" dirty="0"/>
              <a:t>(inspeção de peças), calcule Cov(X,Y) e ρ(X,Y).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Explique com suas palavras por que Cov(X,Y)=0 não garante independência, usando um exemplo próprio.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6164</TotalTime>
  <Words>1398</Words>
  <Application>Microsoft Office PowerPoint</Application>
  <PresentationFormat>Widescreen</PresentationFormat>
  <Paragraphs>99</Paragraphs>
  <Slides>15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20" baseType="lpstr">
      <vt:lpstr>AlternateGothic2 BT</vt:lpstr>
      <vt:lpstr>Arial</vt:lpstr>
      <vt:lpstr>Calibri</vt:lpstr>
      <vt:lpstr>Calibri Light</vt:lpstr>
      <vt:lpstr>Tema do Office</vt:lpstr>
      <vt:lpstr>CEA055 – Estatística e Probabilidade Covariância e Correlação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Marcos Goulart Lima</dc:creator>
  <cp:lastModifiedBy>Marcos Goulart Lima</cp:lastModifiedBy>
  <cp:revision>230</cp:revision>
  <dcterms:created xsi:type="dcterms:W3CDTF">2020-07-20T19:35:15Z</dcterms:created>
  <dcterms:modified xsi:type="dcterms:W3CDTF">2026-10-28T12:40:56Z</dcterms:modified>
</cp:coreProperties>
</file>