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500" r:id="rId2"/>
    <p:sldId id="413" r:id="rId3"/>
    <p:sldId id="272" r:id="rId4"/>
    <p:sldId id="271" r:id="rId5"/>
    <p:sldId id="602" r:id="rId6"/>
    <p:sldId id="276" r:id="rId7"/>
    <p:sldId id="603" r:id="rId8"/>
    <p:sldId id="604" r:id="rId9"/>
    <p:sldId id="605" r:id="rId10"/>
    <p:sldId id="269" r:id="rId11"/>
    <p:sldId id="607" r:id="rId12"/>
    <p:sldId id="608" r:id="rId13"/>
    <p:sldId id="609" r:id="rId14"/>
    <p:sldId id="606" r:id="rId15"/>
    <p:sldId id="501" r:id="rId16"/>
    <p:sldId id="610" r:id="rId17"/>
    <p:sldId id="611" r:id="rId18"/>
    <p:sldId id="612" r:id="rId19"/>
    <p:sldId id="613" r:id="rId20"/>
    <p:sldId id="278" r:id="rId21"/>
    <p:sldId id="275" r:id="rId22"/>
    <p:sldId id="297" r:id="rId23"/>
    <p:sldId id="280" r:id="rId24"/>
    <p:sldId id="281" r:id="rId25"/>
    <p:sldId id="282" r:id="rId26"/>
    <p:sldId id="614" r:id="rId27"/>
    <p:sldId id="615" r:id="rId28"/>
    <p:sldId id="616" r:id="rId29"/>
    <p:sldId id="617" r:id="rId30"/>
    <p:sldId id="618" r:id="rId31"/>
    <p:sldId id="601" r:id="rId32"/>
    <p:sldId id="619" r:id="rId33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30.xml"/><Relationship Id="rId26" Type="http://schemas.openxmlformats.org/officeDocument/2006/relationships/slide" Target="slides/slide32.xml"/><Relationship Id="rId27" Type="http://schemas.openxmlformats.org/officeDocument/2006/relationships/slide" Target="slides/slide33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8.xml"/><Relationship Id="rId32" Type="http://schemas.openxmlformats.org/officeDocument/2006/relationships/slide" Target="slides/slide39.xml"/><Relationship Id="rId33" Type="http://schemas.openxmlformats.org/officeDocument/2006/relationships/slide" Target="slides/slide40.xml"/><Relationship Id="rId3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 e 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Calcular probabilidades em espaços amostrais finitos utilizando o princípio multiplicativo e a análise combinatória (arranjo, permutação, combinação).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Definir probabilidade condicional e calculá-la em problemas práticos.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Reconhecer e verificar a independência entre eventos aleatórios.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(5.2, 5.3)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(2.2, 2.5, 2.7)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(2.1, 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2 (2.2 a 2.5)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Eventos equiprováveis (revisando)</a:t>
            </a:r>
          </a:p>
          <a:p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dirty="0"/>
              <a:t>Se todos os n pontos de um espaço amostral são igualmente prováveis (equiprováveis), cada um tem probabilidade 1/n. Um evento A com K desses pontos tem </a:t>
            </a:r>
            <a:r>
              <a:rPr lang="pt-BR" sz="2800" b="1" dirty="0"/>
              <a:t>P(A) = K/n</a:t>
            </a:r>
            <a:r>
              <a:rPr lang="pt-BR" sz="28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239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 Retira-se uma carta de um baralho completo de 52 cartas. Qual a probabilidade de sair um rei ou uma carta de espadas?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: sair rei;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: sair espadas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pt-BR" sz="2800" dirty="0"/>
                  <a:t>{rei de espadas}.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4/52 + 13/52 − 1/52 = 16/52 = 4/13.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8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O seguinte grupo de pessoas está numa sala: 5 rapazes com mais de 21 anos, 4 rapazes com menos de 21 anos, 6 moças com mais de 21 anos e 3 moças com menos de 21 anos. Uma pessoa é escolhida ao acaso entre as 18. Os seguintes eventos são definidos: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A: a pessoa tem mais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B: a pessoa tem menos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C: a pessoa é um rapaz;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D: a pessoa é uma moça.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Calcular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blipFill>
                <a:blip r:embed="rId2"/>
                <a:stretch>
                  <a:fillRect l="-851" r="-1134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3376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11/18   </m:t>
                    </m:r>
                  </m:oMath>
                </a14:m>
                <a:r>
                  <a:rPr lang="pt-BR" sz="2200" dirty="0"/>
                  <a:t>(5 rapazes + 6 moças &gt;21)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7/18    </m:t>
                    </m:r>
                  </m:oMath>
                </a14:m>
                <a:r>
                  <a:rPr lang="pt-BR" sz="2200" dirty="0"/>
                  <a:t>(4 rapazes + 3 moças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9/18    </m:t>
                    </m:r>
                  </m:oMath>
                </a14:m>
                <a:r>
                  <a:rPr lang="pt-BR" sz="2200" dirty="0"/>
                  <a:t>(5 rapazes &gt;21 + 4 rapazes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9/18    </m:t>
                    </m:r>
                  </m:oMath>
                </a14:m>
                <a:r>
                  <a:rPr lang="pt-BR" sz="2200" dirty="0"/>
                  <a:t>(6 moças &gt;21 + 3 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3/18   </m:t>
                    </m:r>
                  </m:oMath>
                </a14:m>
                <a:r>
                  <a:rPr lang="pt-BR" sz="2200" dirty="0"/>
                  <a:t>(moças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7/18 + 9/18 − 3/18 = 13/18.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5/18   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𝑟𝑎𝑝𝑎𝑧𝑒𝑠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&gt;21)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11/18 + 9/18 − 5/18 = 15/18 = 5/6.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1 − 5/6 = 1/6</m:t>
                    </m:r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5592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lnSpc>
                    <a:spcPct val="150000"/>
                  </a:lnSpc>
                </a:pPr>
                <a:r>
                  <a:rPr lang="pt-BR" sz="2800" b="1" dirty="0"/>
                  <a:t>Quando não dá para enumerar </a:t>
                </a:r>
                <a14:m>
                  <m:oMath xmlns:m="http://schemas.openxmlformats.org/officeDocument/2006/math">
                    <m:r>
                      <a:rPr lang="pt-BR" sz="2800" b="1" i="0" dirty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pt-BR" sz="2800" dirty="0"/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Nem sempre é possível enumerar o espaço amostral ponto a ponto.</a:t>
                </a:r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Nesses casos, usa-se a análise combinatória (arranjo, permutação, combinação) como processo de contagem dos casos favoráveis e possíveis.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283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Princípio multiplicativo</a:t>
                </a:r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Se uma operação é feita em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sz="2800" dirty="0"/>
                  <a:t> etapas, e a etapa i pode ser realizada de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pt-BR" sz="2800" dirty="0"/>
                  <a:t> maneiras, o total de maneiras de completar a operação é</a:t>
                </a:r>
              </a:p>
              <a:p>
                <a:pPr algn="ctr" rtl="0">
                  <a:lnSpc>
                    <a:spcPct val="150000"/>
                  </a:lnSpc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₁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₂ × …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ₖ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Também chamada </a:t>
                </a:r>
                <a:r>
                  <a:rPr lang="pt-BR" sz="2800" b="1" dirty="0"/>
                  <a:t>princípio multiplicativo</a:t>
                </a:r>
                <a:r>
                  <a:rPr lang="pt-BR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0366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(Montgomery &amp; </a:t>
                </a:r>
                <a:r>
                  <a:rPr lang="pt-BR" sz="2800" dirty="0" err="1"/>
                  <a:t>Runger</a:t>
                </a:r>
                <a:r>
                  <a:rPr lang="pt-BR" sz="2800" dirty="0"/>
                  <a:t> 2.7.)</a:t>
                </a:r>
                <a:r>
                  <a:rPr lang="pt-BR" sz="2800" b="1" dirty="0"/>
                  <a:t> </a:t>
                </a:r>
                <a:r>
                  <a:rPr lang="pt-BR" sz="2800" dirty="0"/>
                  <a:t>Projeto de site - Um site tem 4 cores, 3 fontes e 3 posições de imagem possíveis. Quantos projetos diferentes é possível fazer com as opções acima?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Pela regra da multiplicação: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4 × 3 × 3 = 36 </m:t>
                    </m:r>
                  </m:oMath>
                </a14:m>
                <a:r>
                  <a:rPr lang="pt-BR" sz="2800" dirty="0"/>
                  <a:t>projetos diferentes possíveis.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3710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sz="2800" b="1" dirty="0"/>
                  <a:t> </a:t>
                </a:r>
                <a:r>
                  <a:rPr lang="pt-BR" sz="2800" dirty="0"/>
                  <a:t>(ou permutação simples)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permutação de um conjunto é uma sequência ordenada de seus elementos.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</a:t>
                </a:r>
                <a:r>
                  <a:rPr lang="pt-BR" sz="2800" dirty="0"/>
                  <a:t> Quantas permutações existem do conjunto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𝑎𝑏𝑐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𝑎𝑐𝑏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𝑏𝑎𝑐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𝑏𝑐𝑎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𝑐𝑎𝑏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𝑐𝑏𝑎</m:t>
                    </m:r>
                  </m:oMath>
                </a14:m>
                <a:r>
                  <a:rPr lang="pt-BR" sz="2800" dirty="0"/>
                  <a:t> — 6 permutações.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Em geral, o número de permutações de n elementos diferentes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 (aqui,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3! = 6</m:t>
                    </m:r>
                  </m:oMath>
                </a14:m>
                <a:r>
                  <a:rPr lang="pt-BR" sz="2800" dirty="0"/>
                  <a:t>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blipFill>
                <a:blip r:embed="rId2"/>
                <a:stretch>
                  <a:fillRect l="-1134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485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Arranjo simples</a:t>
                </a:r>
              </a:p>
              <a:p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 arranjo é uma escolha ordenada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, sem repetição — a </a:t>
                </a:r>
                <a:r>
                  <a:rPr lang="pt-BR" sz="2800" b="1" dirty="0"/>
                  <a:t>ordem em que os elementos são escolhidos diferencia </a:t>
                </a:r>
                <a:r>
                  <a:rPr lang="pt-BR" sz="2800" dirty="0"/>
                  <a:t>um arranjo do outro.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— total de elementos disponíveis;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— elementos selecionados, em ordem.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blipFill>
                <a:blip r:embed="rId2"/>
                <a:stretch>
                  <a:fillRect l="-1191" t="-1101" b="-1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785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</a:t>
                </a:r>
                <a:r>
                  <a:rPr lang="pt-BR" sz="2400" dirty="0"/>
                  <a:t> — números de 4 dígitos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números diferentes de 4 dígitos podemos formar, usando 4 desses 8 algarismos, sem repetir nenhum?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 ordem importa — o número 1234 é diferente de 4321. Escolhas sucessivas: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- 1º dígito: 8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- 2º dígito: 7 opções (não pode repetir o 1º)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- 3º dígito: 6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- 4º dígito: 5 opções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(8,4)=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8!</m:t>
                        </m:r>
                      </m:num>
                      <m:den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8−4</m:t>
                            </m:r>
                          </m:e>
                        </m:d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=8×7 × 6 × 5=1.680</m:t>
                    </m:r>
                  </m:oMath>
                </a14:m>
                <a:r>
                  <a:rPr lang="pt-BR" sz="2400" dirty="0"/>
                  <a:t> números diferentes.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7062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Combinação simples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Uma combinação é uma escolha não ordenada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, sem repetição — trocar a ordem dos elementos escolhidos não gera uma combinação diferente.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 — total de elementos disponíveis; p — elementos selecionados, sem ordem.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Difere do arranjo por não distinguir a ordem de seleção.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blipFill>
                <a:blip r:embed="rId2"/>
                <a:stretch>
                  <a:fillRect l="-908" b="-15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2659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subconjuntos de 4 números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subconjuntos diferentes de 4 números podemos escolher dentre esses 8, sem se importar com 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Aqui a ordem não importa — escolher {1,2,3,4} é o mesmo que escolher {4,3,2,1}.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(8,4)=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4!·4!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70 </m:t>
                    </m:r>
                  </m:oMath>
                </a14:m>
                <a:r>
                  <a:rPr lang="pt-BR" sz="2400" dirty="0"/>
                  <a:t>subconjuntos diferentes.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Compare com o arranjo: A(8,4) = 1.680 = C(8,4) × 4! — cada subconjunto de 4 números pode ser ordenado de 4! = 24 formas diferentes (1.680/70 = 24).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blipFill>
                <a:blip r:embed="rId2"/>
                <a:stretch>
                  <a:fillRect l="-908" b="-14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1148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0430" y="826966"/>
            <a:ext cx="10748061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Exemplo.</a:t>
            </a:r>
            <a:r>
              <a:rPr lang="pt-BR" sz="2800" dirty="0"/>
              <a:t> Em um congresso científico existem 15 matemáticos e 12 estatísticos. Qual a probabilidade de se formar uma comissão com 5 membros, na qual figurem 3 matemáticos e 2 estatísticos?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2699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Resposta: </a:t>
                </a:r>
                <a:endParaRPr lang="pt-BR" sz="2400" dirty="0"/>
              </a:p>
              <a:p>
                <a:endParaRPr lang="pt-BR" sz="2200" dirty="0"/>
              </a:p>
              <a:p>
                <a:r>
                  <a:rPr lang="pt-BR" sz="22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qualquer comissão de 5 pessoas dentre as 27, sem distinguir cargo — a ordem não importa numa comissão, então é uma combinação: </a:t>
                </a:r>
                <a:r>
                  <a:rPr lang="pt-BR" sz="2200" b="1" dirty="0"/>
                  <a:t>n = C(27,5) = 80.730.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a comissão precisa ter exatamente 3 matemáticos E 2 estatísticos. Como são duas escolhas independentes (escolher os matemáticos não afeta escolher os estatísticos), usamos a regra da multiplicação:</a:t>
                </a:r>
              </a:p>
              <a:p>
                <a:r>
                  <a:rPr lang="pt-BR" sz="2200" dirty="0"/>
                  <a:t>- escolher 3 matemáticos dentre 15: C(15,3) = 455</a:t>
                </a:r>
              </a:p>
              <a:p>
                <a:r>
                  <a:rPr lang="pt-BR" sz="2200" dirty="0"/>
                  <a:t>- escolher 2 estatísticos dentre 12: C(12,2) = 66</a:t>
                </a:r>
              </a:p>
              <a:p>
                <a:r>
                  <a:rPr lang="pt-BR" sz="2200" dirty="0"/>
                  <a:t>- </a:t>
                </a:r>
                <a:r>
                  <a:rPr lang="pt-BR" sz="2200" b="1" dirty="0"/>
                  <a:t>K = 455 × 66 = 30.030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Como o espaço amostral é equiprovável (cada comissão de 5 pessoas é igualmente provável):</a:t>
                </a:r>
              </a:p>
              <a:p>
                <a:endParaRPr lang="pt-BR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30.030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80.730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77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207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≈ 0,372.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blipFill>
                <a:blip r:embed="rId2"/>
                <a:stretch>
                  <a:fillRect l="-898" t="-887" r="-13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</a:t>
                </a:r>
                <a:r>
                  <a:rPr lang="pt-BR" sz="2400" dirty="0"/>
                  <a:t>quadra no baralho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Retiram-se 4 cartas de um baralho de 52, sem reposição. Qual a probabilidade de sair uma quadra (as 4 cartas do mesmo valor)?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C(52,4) = 270.725.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13 valores possíveis, cada um com só 1 jeito de pegar as 4 cartas daquele valor: 13 × C(4,4) = 13.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270.725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20.825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blipFill>
                <a:blip r:embed="rId2"/>
                <a:stretch>
                  <a:fillRect l="-898" r="-11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17763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6853" y="553594"/>
            <a:ext cx="10866176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(caras e coroas) Uma moeda é lançada 5 vezes. Qual a probabilidade de sair </a:t>
            </a:r>
            <a:r>
              <a:rPr lang="pt-BR" sz="2400" b="1" dirty="0"/>
              <a:t>exatamente 3 caras e 2 coroas</a:t>
            </a:r>
            <a:r>
              <a:rPr lang="pt-BR" sz="2400" dirty="0"/>
              <a:t>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Resposta: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possíveis: cada lance tem 2 resultados (cara ou coroa), e são 5 lances independentes: 2⁵ = 32.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favoráveis: dentre os 5 lances, escolher quais 3 serão caras (a ordem entre os lances não importa, é uma combinação): C(5,3) = 10.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P(A) = 10/32 = 5/16.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21468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de objetos similares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Quando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objetos não são todos diferentes —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pt-BR" sz="2800" dirty="0"/>
                  <a:t> são de um tipo,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lang="pt-BR" sz="2800" dirty="0"/>
                  <a:t> de outro, etc.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₁+…+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ᵣ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— o número de permutações distintas é menor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, porque trocar objetos iguais entre si não gera uma sequência nova.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 … ·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ᵣ!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61336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(Palavra "ARARAS”). Uma urna contém as letras A, A, A, R, R, S. Retirando-se as letras uma a uma, sem reposição, qual a probabilidade de sair exatamente a palavra ARARAS, nessa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Casos possíveis: permutações distintas dessas 6 letras, considerando as repetições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(3 </a:t>
                </a:r>
                <a:r>
                  <a:rPr lang="pt-BR" sz="2400" dirty="0" err="1"/>
                  <a:t>A's</a:t>
                </a:r>
                <a:r>
                  <a:rPr lang="pt-BR" sz="2400" dirty="0"/>
                  <a:t>, 2 </a:t>
                </a:r>
                <a:r>
                  <a:rPr lang="pt-BR" sz="2400" dirty="0" err="1"/>
                  <a:t>R's</a:t>
                </a:r>
                <a:r>
                  <a:rPr lang="pt-BR" sz="2400" dirty="0"/>
                  <a:t>, 1 S):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6!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3!·2!·1!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=60.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favoráveis: só existe 1 ordem que forma exatamente a palavra ARARAS.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P(A) = 1/60.</a:t>
                </a:r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blipFill>
                <a:blip r:embed="rId2"/>
                <a:stretch>
                  <a:fillRect l="-898" r="-1459" b="-1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2541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02580"/>
            <a:ext cx="10748061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Exemplo. </a:t>
            </a:r>
            <a:r>
              <a:rPr lang="pt-BR" sz="2400" dirty="0"/>
              <a:t>Uma universidade tem a seguinte distribuição de alunos, segundo o sexo e a escolha de curso: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a) Escolhido um aluno do curso de Matemática Aplicada, qual a probabilidade de ele ser homem? E de ser mulher?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b) Agora ao contrário: escolhido um homem ao acaso, qual a probabilidade de ele ser do curso de Matemática Aplicada? E escolhida uma mulher ao acaso?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BF1ABE-2001-ED4B-7383-480A8D7B7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00" y="1461193"/>
            <a:ext cx="6099305" cy="24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24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652794"/>
                <a:ext cx="10748061" cy="5143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Probabilidade Condicional e Independência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dois eventos quaisquer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, sendo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sz="2400" dirty="0"/>
                  <a:t>, definimos a probabilidade condicional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dado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como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Observe que da definição podemos extrair a </a:t>
                </a:r>
                <a:r>
                  <a:rPr lang="pt-BR" sz="2400" b="1" dirty="0"/>
                  <a:t>regra do produto de probabilidades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652794"/>
                <a:ext cx="10748061" cy="5143716"/>
              </a:xfrm>
              <a:prstGeom prst="rect">
                <a:avLst/>
              </a:prstGeo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6929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1969" y="678920"/>
            <a:ext cx="107480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Calculando P(A|B)</a:t>
            </a:r>
          </a:p>
          <a:p>
            <a:endParaRPr lang="pt-BR" sz="2800" dirty="0"/>
          </a:p>
          <a:p>
            <a:r>
              <a:rPr lang="pt-BR" sz="2800" dirty="0"/>
              <a:t>Se P(A) = 1/3, P(B) = 3/4 e P(A∪B) = 11/12, calcule P(A|B).</a:t>
            </a:r>
          </a:p>
          <a:p>
            <a:endParaRPr lang="pt-BR" sz="2800" dirty="0"/>
          </a:p>
          <a:p>
            <a:r>
              <a:rPr lang="pt-BR" sz="2800" dirty="0"/>
              <a:t>Resposta:</a:t>
            </a:r>
          </a:p>
          <a:p>
            <a:endParaRPr lang="pt-BR" sz="2800" dirty="0"/>
          </a:p>
          <a:p>
            <a:r>
              <a:rPr lang="pt-BR" sz="2800" dirty="0"/>
              <a:t>Da regra da soma: P(A∩B) = P(A) + P(B) − P(A∪B) = 1/3 + 3/4 − 11/12 = 1/6.</a:t>
            </a:r>
          </a:p>
          <a:p>
            <a:endParaRPr lang="pt-BR" sz="2800" dirty="0"/>
          </a:p>
          <a:p>
            <a:r>
              <a:rPr lang="pt-BR" sz="2800" dirty="0"/>
              <a:t>P(A|B) = P(A∩B) / P(B) = (1/6) / (3/4) = 2/9.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31317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1969" y="739879"/>
            <a:ext cx="10748061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</a:t>
            </a:r>
            <a:r>
              <a:rPr lang="pt-BR" sz="2400" dirty="0"/>
              <a:t>Urna sem reposição. Uma urna contém 2 bolas brancas (B) e 3 vermelhas (V). Sorteiam-se 2 bolas ao acaso, sem reposição. Quais são os resultados possíveis e suas probabilidades?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111532-239E-48EB-A3D5-D8708BD4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9" y="2690601"/>
            <a:ext cx="5794328" cy="292642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911642" y="2436599"/>
            <a:ext cx="4558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Resultados possíveis</a:t>
            </a:r>
          </a:p>
          <a:p>
            <a:pPr algn="ctr"/>
            <a:endParaRPr lang="pt-BR" sz="2400" dirty="0"/>
          </a:p>
          <a:p>
            <a:r>
              <a:rPr lang="pt-BR" sz="2400" dirty="0"/>
              <a:t>BV</a:t>
            </a:r>
          </a:p>
          <a:p>
            <a:endParaRPr lang="pt-BR" sz="2400" dirty="0"/>
          </a:p>
          <a:p>
            <a:r>
              <a:rPr lang="pt-BR" sz="2400" dirty="0"/>
              <a:t>BB</a:t>
            </a:r>
          </a:p>
          <a:p>
            <a:endParaRPr lang="pt-BR" sz="2400" dirty="0"/>
          </a:p>
          <a:p>
            <a:r>
              <a:rPr lang="pt-BR" sz="2400" dirty="0"/>
              <a:t>VV</a:t>
            </a:r>
          </a:p>
          <a:p>
            <a:endParaRPr lang="pt-BR" sz="2400" dirty="0"/>
          </a:p>
          <a:p>
            <a:r>
              <a:rPr lang="pt-BR" sz="2400" dirty="0"/>
              <a:t>VB</a:t>
            </a:r>
          </a:p>
        </p:txBody>
      </p:sp>
    </p:spTree>
    <p:extLst>
      <p:ext uri="{BB962C8B-B14F-4D97-AF65-F5344CB8AC3E}">
        <p14:creationId xmlns:p14="http://schemas.microsoft.com/office/powerpoint/2010/main" val="3028240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8143" y="853091"/>
                <a:ext cx="10597137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Duas bolas vão ser retiradas de uma urna que contém 2 bolas brancas, 3 pretas e 4 verdes. Qual a probabilidade de que ambas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a) sejam verdes?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b) sejam da mesma cor?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a) P(ambas verdes)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4/9·3/8 = 1/6.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b) P(mesma cor) = P(BB) + P(PP) + P(VV) = (2/9·1/8) + (3/9·2/8) + 1/6 = 5/18.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43" y="853091"/>
                <a:ext cx="10597137" cy="5196166"/>
              </a:xfrm>
              <a:prstGeom prst="rect">
                <a:avLst/>
              </a:prstGeom>
              <a:blipFill>
                <a:blip r:embed="rId2"/>
                <a:stretch>
                  <a:fillRect l="-1208" r="-921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58435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é independente do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 se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Neste caso,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Podemos assumir que,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𝑖𝑛𝑑𝑒𝑝𝑒𝑛𝑑𝑒𝑛𝑡𝑒𝑠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⟺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4616648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17024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44086"/>
            <a:ext cx="10748061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Exemplo. </a:t>
            </a:r>
            <a:r>
              <a:rPr lang="pt-BR" sz="2200" dirty="0"/>
              <a:t>Lançam-se 3 moedas e definem-se 2 eventos: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A: sair cara na 1ª moeda.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B: sair coroa na 2ª e  3ª moedas.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 A e B são independentes?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Resposta: Se forem independentes, esperamos P(A∩B) = P(A)·P(B) = 1/8. Vamos calcular cada um deles: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P(A) = 1/2.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P(B) = 1/4.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O único resultado que satisfaz A e B ao mesmo tempo é "cara, coroa, coroa" (1 em 8 possibilidades): P(A∩B) = 1/8. 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Como P(A∩B) = P(A)·P(B) = 1/8, A e B são independentes.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33401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Independência de três eventos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Para que os eventos A, B e C sejam independentes, 4 condições precisam valer ao mesmo tempo: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Se apenas uma dessas condições falhar, os eventos não são independentes.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blipFill>
                <a:blip r:embed="rId2"/>
                <a:stretch>
                  <a:fillRect l="-737" b="-11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46554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44086"/>
            <a:ext cx="1074806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Exclusivos não são independentes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Se A e B são mutuamente exclusivos, então A e B são dependentes. 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Se A ocorre, B não ocorre — a ocorrência de um condiciona a não ocorrência do outro.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35068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5018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Exercício — exclusivos vs. independentes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0,2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)=0,6</m:t>
                    </m:r>
                  </m:oMath>
                </a14:m>
                <a:r>
                  <a:rPr lang="pt-BR" sz="2400" dirty="0"/>
                  <a:t>. Calcule P(B), supondo A e B: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mutuamente exclusivos;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independentes.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Se mutuamente exclusivos: P(A∪B) = P(A) + P(B) ⟹ 0,6 = 0,2 + P(B) ⟹ P(B) = 0,4.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Se independentes: P(A∪B) = P(A) + P(B) − P(A)·P(B) ⟹ 0,6 = 0,2 + P(B) − 0,2·P(B)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⟹ P(B) = 0,5.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5018618"/>
              </a:xfrm>
              <a:prstGeom prst="rect">
                <a:avLst/>
              </a:prstGeom>
              <a:blipFill>
                <a:blip r:embed="rId2"/>
                <a:stretch>
                  <a:fillRect l="-851" b="-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30708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4996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Exemplo. </a:t>
                </a:r>
                <a:r>
                  <a:rPr lang="pt-BR" sz="2200" dirty="0"/>
                  <a:t>Suponha que P(homem vivo em 30 anos) = 2/5; P(mulher viva em 30 anos) = 2/3. Os eventos são independentes. Calcule a probabilidade de que, daqui a 30 anos: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a) ambos estejam vivos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b) só o homem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c) só a mulher esteja viva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d) nenhum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e) pelo menos um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1 −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4996432"/>
              </a:xfrm>
              <a:prstGeom prst="rect">
                <a:avLst/>
              </a:prstGeom>
              <a:blipFill>
                <a:blip r:embed="rId2"/>
                <a:stretch>
                  <a:fillRect l="-1134" b="-8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66711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2018" y="771308"/>
            <a:ext cx="10067277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Leitura recomendada:</a:t>
            </a: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Bussab &amp; </a:t>
            </a:r>
            <a:r>
              <a:rPr lang="pt-BR" sz="2800" dirty="0" err="1"/>
              <a:t>Morettin</a:t>
            </a:r>
            <a:r>
              <a:rPr lang="pt-BR" sz="2800" dirty="0"/>
              <a:t> — Cap. 5 (5.2, 5.3)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Montgomery &amp; </a:t>
            </a:r>
            <a:r>
              <a:rPr lang="pt-BR" sz="2800" dirty="0" err="1"/>
              <a:t>Runger</a:t>
            </a:r>
            <a:r>
              <a:rPr lang="pt-BR" sz="2800" dirty="0"/>
              <a:t> — Cap. 2 (2.2, 2.5, 2.7)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Magalhães &amp; Lima — Cap. 2 (2.1, 2.2)</a:t>
            </a:r>
          </a:p>
          <a:p>
            <a:pPr>
              <a:lnSpc>
                <a:spcPct val="150000"/>
              </a:lnSpc>
            </a:pPr>
            <a:r>
              <a:rPr lang="pt-BR" sz="2800" dirty="0" err="1"/>
              <a:t>Morettin</a:t>
            </a:r>
            <a:r>
              <a:rPr lang="pt-BR" sz="2800" dirty="0"/>
              <a:t> — Cap. 2 (2.2 a 2.5)</a:t>
            </a:r>
          </a:p>
          <a:p>
            <a:pPr>
              <a:lnSpc>
                <a:spcPct val="150000"/>
              </a:lnSpc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31451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2018" y="771308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Exercícios recomendados:</a:t>
            </a: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Bussab &amp; </a:t>
            </a:r>
            <a:r>
              <a:rPr lang="pt-BR" sz="2400" dirty="0" err="1"/>
              <a:t>Morettin</a:t>
            </a:r>
            <a:r>
              <a:rPr lang="pt-BR" sz="2400" dirty="0"/>
              <a:t>, Cap. 5: Problema 11 (contagem); Problemas 15 a 22 (condicional e independência)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Magalhães &amp; Lima, Cap. 2 (§2.3): Exercícios 10, 11, 12, 13, 14, 17, 19, 20, 21 e 22 (condicional e independência)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Montgomery &amp; </a:t>
            </a:r>
            <a:r>
              <a:rPr lang="pt-BR" sz="2400" dirty="0" err="1"/>
              <a:t>Runger</a:t>
            </a:r>
            <a:r>
              <a:rPr lang="pt-BR" sz="2400" dirty="0"/>
              <a:t>, Cap. 2: Exercícios 2.2.3, 2.2.4, 2.2.5, 2.2.6, 2.2.7, 2.2.9, 2.2.10, 2.2.11, 2.2.12 e 2.2.14 (contagem); 2.5.1, 2.5.4, 2.5.6, 2.5.9, 2.5.11, 2.7.1, 2.7.2, 2.7.4, 2.7.6 e 2.7.10 (condicional e independência)</a:t>
            </a:r>
          </a:p>
          <a:p>
            <a:pPr>
              <a:lnSpc>
                <a:spcPct val="150000"/>
              </a:lnSpc>
            </a:pPr>
            <a:r>
              <a:rPr lang="pt-BR" sz="2400" dirty="0" err="1"/>
              <a:t>Morettin</a:t>
            </a:r>
            <a:r>
              <a:rPr lang="pt-BR" sz="2400" dirty="0"/>
              <a:t>, Cap. 2: Exercícios 5, 6, 7, 8, 9, 10, 11, 12, 13 e 17 (contagem); Exercício 18 (independência)</a:t>
            </a: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039285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3545</TotalTime>
  <Words>3062</Words>
  <Application>Microsoft Office PowerPoint</Application>
  <PresentationFormat>Widescreen</PresentationFormat>
  <Paragraphs>249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Técnicas de Contagem e Probabilidade Condicional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143</cp:revision>
  <dcterms:created xsi:type="dcterms:W3CDTF">2020-07-20T19:35:15Z</dcterms:created>
  <dcterms:modified xsi:type="dcterms:W3CDTF">2026-09-08T00:30:23Z</dcterms:modified>
</cp:coreProperties>
</file>