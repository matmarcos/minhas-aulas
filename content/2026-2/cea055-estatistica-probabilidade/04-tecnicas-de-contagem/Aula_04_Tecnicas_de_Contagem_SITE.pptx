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500" r:id="rId2"/>
    <p:sldId id="413" r:id="rId3"/>
    <p:sldId id="272" r:id="rId4"/>
    <p:sldId id="271" r:id="rId5"/>
    <p:sldId id="602" r:id="rId6"/>
    <p:sldId id="276" r:id="rId7"/>
    <p:sldId id="603" r:id="rId8"/>
    <p:sldId id="604" r:id="rId9"/>
    <p:sldId id="605" r:id="rId10"/>
    <p:sldId id="269" r:id="rId11"/>
    <p:sldId id="607" r:id="rId12"/>
    <p:sldId id="608" r:id="rId13"/>
    <p:sldId id="609" r:id="rId14"/>
    <p:sldId id="606" r:id="rId15"/>
    <p:sldId id="501" r:id="rId16"/>
    <p:sldId id="610" r:id="rId17"/>
    <p:sldId id="611" r:id="rId18"/>
    <p:sldId id="612" r:id="rId19"/>
    <p:sldId id="613" r:id="rId20"/>
    <p:sldId id="624" r:id="rId21"/>
    <p:sldId id="625" r:id="rId22"/>
  </p:sldIdLst>
  <p:sldSz cx="12192000" cy="6858000"/>
  <p:notesSz cx="7099300" cy="10234613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1" d="100"/>
          <a:sy n="61" d="100"/>
        </p:scale>
        <p:origin x="1968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4623A65-BD25-40B6-8815-498297225DF7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Técnicas de Contagem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/>
              <a:t>Objetivos da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Calcular probabilidades em espaços amostrais finitos utilizando o princípio multiplicativo e a análise combinatória (arranjo, permutação, combinação).</a:t>
            </a:r>
          </a:p>
          <a:p>
            <a:pPr>
              <a:lnSpc>
                <a:spcPct val="150000"/>
              </a:lnSpc>
            </a:pPr>
            <a:r>
              <a:rPr lang="pt-BR" sz="20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5 (5.2)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Montgomery, Runger</a:t>
            </a:r>
            <a:r>
              <a:rPr lang="pt-BR" sz="2000"/>
              <a:t>. </a:t>
            </a:r>
            <a:r>
              <a:rPr lang="pt-BR" sz="2000" b="1"/>
              <a:t>Estatística Aplicada e Probabilidade para Engenheiros</a:t>
            </a:r>
            <a:r>
              <a:rPr lang="pt-BR" sz="2000"/>
              <a:t>, 7ª ed. — </a:t>
            </a:r>
            <a:r>
              <a:rPr lang="pt-BR" sz="2000" dirty="0"/>
              <a:t>Cap. 2 (2.2)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2 (2.1)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> — Cap. 2 (2.2, 2.3)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3269" y="671347"/>
            <a:ext cx="10748061" cy="28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Eventos equiprováveis (revisando)</a:t>
            </a:r>
          </a:p>
          <a:p>
            <a:endParaRPr lang="pt-BR" sz="2800" b="1" dirty="0"/>
          </a:p>
          <a:p>
            <a:pPr>
              <a:lnSpc>
                <a:spcPct val="150000"/>
              </a:lnSpc>
            </a:pPr>
            <a:r>
              <a:rPr lang="pt-BR" sz="2800" dirty="0"/>
              <a:t>Se todos os n pontos de um espaço amostral são igualmente prováveis (equiprováveis), cada um tem probabilidade 1/n. Um evento A com K desses pontos tem </a:t>
            </a:r>
            <a:r>
              <a:rPr lang="pt-BR" sz="2800" b="1" dirty="0"/>
              <a:t>P(A) = K/n</a:t>
            </a:r>
            <a:r>
              <a:rPr lang="pt-BR" sz="2800" dirty="0"/>
              <a:t>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132394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1969" y="751344"/>
                <a:ext cx="10748061" cy="4616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Exemplo. </a:t>
                </a:r>
                <a:r>
                  <a:rPr lang="pt-BR" sz="2800" dirty="0"/>
                  <a:t> Retira-se uma carta de um baralho completo de 52 cartas. Qual a probabilidade de sair um rei ou uma carta de espadas?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>: sair rei;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800" dirty="0"/>
                  <a:t>: sair espadas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pt-BR" sz="2800" dirty="0"/>
                  <a:t>{rei de espadas}.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pt-BR" sz="28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52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13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52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52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52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13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69" y="751344"/>
                <a:ext cx="10748061" cy="4616648"/>
              </a:xfrm>
              <a:prstGeom prst="rect">
                <a:avLst/>
              </a:prstGeom>
              <a:blipFill>
                <a:blip r:embed="rId2"/>
                <a:stretch>
                  <a:fillRect l="-11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54384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29138" y="487331"/>
                <a:ext cx="10748061" cy="5573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O seguinte grupo de pessoas está numa sala: 5 rapazes com mais de 21 anos, 4 rapazes com menos de 21 anos, 6 moças com mais de 21 anos e 3 moças com menos de 21 anos. Uma pessoa é escolhida ao acaso entre as 18. Os seguintes eventos são definidos: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A: a pessoa tem mais de 21 anos;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B: a pessoa tem menos de 21 anos;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C: a pessoa é um rapaz;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D: a pessoa é uma moça.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Calcular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pt-BR" sz="2400" i="1">
                        <a:latin typeface="Cambria Math" panose="02040503050406030204" pitchFamily="18" charset="0"/>
                      </a:rPr>
                      <m:t>∩</m:t>
                    </m:r>
                    <m:acc>
                      <m:accPr>
                        <m:chr m:val="̅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38" y="487331"/>
                <a:ext cx="10748061" cy="5573192"/>
              </a:xfrm>
              <a:prstGeom prst="rect">
                <a:avLst/>
              </a:prstGeom>
              <a:blipFill>
                <a:blip r:embed="rId2"/>
                <a:stretch>
                  <a:fillRect l="-851" r="-1134" b="-16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233766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29138" y="487331"/>
                <a:ext cx="10748061" cy="5867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200" dirty="0"/>
                  <a:t>Resposta: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11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18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pt-BR" sz="2200" dirty="0"/>
                  <a:t>(5 rapazes + 6 moças &gt;21)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18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pt-BR" sz="2200" dirty="0"/>
                  <a:t>(4 rapazes + 3 moças &lt;21)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18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pt-BR" sz="2200" dirty="0"/>
                  <a:t>(5 rapazes &gt;21 + 4 rapazes &lt;21)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18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pt-BR" sz="2200" dirty="0"/>
                  <a:t>(6 moças &gt;21 + 3 moças &lt;21)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18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pt-BR" sz="2200" dirty="0"/>
                  <a:t>(moças &lt;21)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−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18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18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18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13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18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18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  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𝑟𝑎𝑝𝑎𝑧𝑒𝑠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&gt;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21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−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11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18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18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18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18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∩</m:t>
                        </m:r>
                        <m:acc>
                          <m:accPr>
                            <m:chr m:val="̅"/>
                            <m:ctrlP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d>
                          </m:e>
                          <m:sup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pt-BR" sz="22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38" y="487331"/>
                <a:ext cx="10748061" cy="5867375"/>
              </a:xfrm>
              <a:prstGeom prst="rect">
                <a:avLst/>
              </a:prstGeom>
              <a:blipFill>
                <a:blip r:embed="rId2"/>
                <a:stretch>
                  <a:fillRect l="-7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55925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1969" y="818257"/>
                <a:ext cx="10748061" cy="3903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0">
                  <a:lnSpc>
                    <a:spcPct val="150000"/>
                  </a:lnSpc>
                </a:pPr>
                <a:r>
                  <a:rPr lang="pt-BR" sz="2800" b="1" dirty="0"/>
                  <a:t>Quando não dá para enumerar </a:t>
                </a:r>
                <a14:m>
                  <m:oMath xmlns:m="http://schemas.openxmlformats.org/officeDocument/2006/math">
                    <m:r>
                      <a:rPr lang="pt-BR" sz="2800" b="1" i="0" dirty="0" smtClean="0"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endParaRPr lang="pt-BR" sz="2800" dirty="0"/>
              </a:p>
              <a:p>
                <a:pPr marL="457200" indent="-457200" rtl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Nem sempre é possível enumerar o espaço amostral ponto a ponto.</a:t>
                </a:r>
              </a:p>
              <a:p>
                <a:pPr marL="457200" indent="-457200" rtl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Nesses casos, usa-se a análise combinatória (arranjo, permutação, combinação) como processo de contagem dos casos favoráveis e possíveis.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69" y="818257"/>
                <a:ext cx="10748061" cy="3903504"/>
              </a:xfrm>
              <a:prstGeom prst="rect">
                <a:avLst/>
              </a:prstGeom>
              <a:blipFill>
                <a:blip r:embed="rId2"/>
                <a:stretch>
                  <a:fillRect l="-11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52838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85596" y="661503"/>
                <a:ext cx="10748061" cy="3903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Princípio multiplicativo</a:t>
                </a:r>
              </a:p>
              <a:p>
                <a:pPr rtl="0">
                  <a:lnSpc>
                    <a:spcPct val="150000"/>
                  </a:lnSpc>
                </a:pPr>
                <a:r>
                  <a:rPr lang="pt-BR" sz="2800" dirty="0"/>
                  <a:t>Se uma operação é feita em </a:t>
                </a:r>
                <a14:m>
                  <m:oMath xmlns:m="http://schemas.openxmlformats.org/officeDocument/2006/math"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pt-BR" sz="2800" dirty="0"/>
                  <a:t> etapas, e a etapa i pode ser realizada de </a:t>
                </a:r>
                <a14:m>
                  <m:oMath xmlns:m="http://schemas.openxmlformats.org/officeDocument/2006/math"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ᵢ</m:t>
                    </m:r>
                  </m:oMath>
                </a14:m>
                <a:r>
                  <a:rPr lang="pt-BR" sz="2800" dirty="0"/>
                  <a:t> maneiras, o total de maneiras de completar a operação é</a:t>
                </a:r>
              </a:p>
              <a:p>
                <a:pPr algn="ctr" rtl="0">
                  <a:lnSpc>
                    <a:spcPct val="150000"/>
                  </a:lnSpc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₁ × 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₂ × … × 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ₖ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rtl="0">
                  <a:lnSpc>
                    <a:spcPct val="150000"/>
                  </a:lnSpc>
                </a:pPr>
                <a:r>
                  <a:rPr lang="pt-BR" sz="2800" dirty="0"/>
                  <a:t>Também chamada </a:t>
                </a:r>
                <a:r>
                  <a:rPr lang="pt-BR" sz="2800" b="1" dirty="0"/>
                  <a:t>princípio multiplicativo</a:t>
                </a:r>
                <a:r>
                  <a:rPr lang="pt-BR" sz="28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96" y="661503"/>
                <a:ext cx="10748061" cy="3903504"/>
              </a:xfrm>
              <a:prstGeom prst="rect">
                <a:avLst/>
              </a:prstGeom>
              <a:blipFill>
                <a:blip r:embed="rId2"/>
                <a:stretch>
                  <a:fillRect l="-11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703661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85596" y="661503"/>
                <a:ext cx="10748061" cy="3903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Exemplo. </a:t>
                </a:r>
                <a:r>
                  <a:rPr lang="pt-BR" sz="2800" dirty="0"/>
                  <a:t>(Montgomery &amp; </a:t>
                </a:r>
                <a:r>
                  <a:rPr lang="pt-BR" sz="2800" dirty="0" err="1"/>
                  <a:t>Runger</a:t>
                </a:r>
                <a:r>
                  <a:rPr lang="pt-BR" sz="2800" dirty="0"/>
                  <a:t> 2.7.)</a:t>
                </a:r>
                <a:r>
                  <a:rPr lang="pt-BR" sz="2800" b="1" dirty="0"/>
                  <a:t> </a:t>
                </a:r>
                <a:r>
                  <a:rPr lang="pt-BR" sz="2800" dirty="0"/>
                  <a:t>Projeto de site - Um site tem 4 cores, 3 fontes e 3 posições de imagem possíveis. Quantos projetos diferentes é possível fazer com as opções acima?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Resposta: Pela regra da multiplicação: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36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/>
                  <a:t>projetos diferentes possíveis.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96" y="661503"/>
                <a:ext cx="10748061" cy="3903504"/>
              </a:xfrm>
              <a:prstGeom prst="rect">
                <a:avLst/>
              </a:prstGeom>
              <a:blipFill>
                <a:blip r:embed="rId2"/>
                <a:stretch>
                  <a:fillRect l="-1134" b="-35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37101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85596" y="661503"/>
                <a:ext cx="10748061" cy="5196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Permutação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pt-BR" sz="2800" b="1" dirty="0"/>
                  <a:t> </a:t>
                </a:r>
                <a:r>
                  <a:rPr lang="pt-BR" sz="2800" dirty="0"/>
                  <a:t>(ou permutação simples)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Uma permutação de um conjunto é uma sequência ordenada de seus elementos.</a:t>
                </a:r>
              </a:p>
              <a:p>
                <a:pPr>
                  <a:lnSpc>
                    <a:spcPct val="150000"/>
                  </a:lnSpc>
                </a:pPr>
                <a:endParaRPr lang="pt-BR" sz="2800" b="1" dirty="0"/>
              </a:p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Exemplo:</a:t>
                </a:r>
                <a:r>
                  <a:rPr lang="pt-BR" sz="2800" dirty="0"/>
                  <a:t> Quantas permutações existem do conjunto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pt-BR" sz="2800" dirty="0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Resposta: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𝑎𝑏𝑐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err="1" smtClean="0">
                        <a:latin typeface="Cambria Math" panose="02040503050406030204" pitchFamily="18" charset="0"/>
                      </a:rPr>
                      <m:t>𝑎𝑐𝑏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err="1" smtClean="0">
                        <a:latin typeface="Cambria Math" panose="02040503050406030204" pitchFamily="18" charset="0"/>
                      </a:rPr>
                      <m:t>𝑏𝑎𝑐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err="1" smtClean="0">
                        <a:latin typeface="Cambria Math" panose="02040503050406030204" pitchFamily="18" charset="0"/>
                      </a:rPr>
                      <m:t>𝑏𝑐𝑎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err="1" smtClean="0">
                        <a:latin typeface="Cambria Math" panose="02040503050406030204" pitchFamily="18" charset="0"/>
                      </a:rPr>
                      <m:t>𝑐𝑎𝑏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err="1" smtClean="0">
                        <a:latin typeface="Cambria Math" panose="02040503050406030204" pitchFamily="18" charset="0"/>
                      </a:rPr>
                      <m:t>𝑐𝑏𝑎</m:t>
                    </m:r>
                  </m:oMath>
                </a14:m>
                <a:r>
                  <a:rPr lang="pt-BR" sz="2800" dirty="0"/>
                  <a:t> — 6 permutações.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Em geral, o número de permutações de n elementos diferentes 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pt-BR" sz="2800" dirty="0"/>
                  <a:t> (aqui,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! =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pt-BR" sz="2800" dirty="0"/>
                  <a:t>).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96" y="661503"/>
                <a:ext cx="10748061" cy="5196166"/>
              </a:xfrm>
              <a:prstGeom prst="rect">
                <a:avLst/>
              </a:prstGeom>
              <a:blipFill>
                <a:blip r:embed="rId2"/>
                <a:stretch>
                  <a:fillRect l="-1134" b="-24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264850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498510" y="670212"/>
                <a:ext cx="10748061" cy="5535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Arranjo simples</a:t>
                </a:r>
              </a:p>
              <a:p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Um arranjo é uma escolha ordenada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> elementos dentre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, sem repetição — a </a:t>
                </a:r>
                <a:r>
                  <a:rPr lang="pt-BR" sz="2800" b="1" dirty="0"/>
                  <a:t>ordem em que os elementos são escolhidos diferencia </a:t>
                </a:r>
                <a:r>
                  <a:rPr lang="pt-BR" sz="2800" dirty="0"/>
                  <a:t>um arranjo do outro.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err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i="1" dirty="0" err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i="1" dirty="0" err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/>
                  <a:t>— total de elementos disponíveis;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> — elementos selecionados, em ordem.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10" y="670212"/>
                <a:ext cx="10748061" cy="5535811"/>
              </a:xfrm>
              <a:prstGeom prst="rect">
                <a:avLst/>
              </a:prstGeom>
              <a:blipFill>
                <a:blip r:embed="rId2"/>
                <a:stretch>
                  <a:fillRect l="-1191" t="-1101" b="-14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543785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94304" y="498037"/>
                <a:ext cx="10748061" cy="5861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</a:t>
                </a:r>
                <a:r>
                  <a:rPr lang="pt-BR" sz="2400" dirty="0"/>
                  <a:t> — números de 4 dígitos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Temos os algarismos de 1 a 8. Quantos números diferentes de 4 dígitos podemos formar, usando 4 desses 8 algarismos, sem repetir nenhum?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Resposta: A ordem importa — o número 1234 é diferente de 4321. Escolhas sucessivas: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- 1º dígito: 8 opções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- 2º dígito: 7 opções (não pode repetir o 1º)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- 3º dígito: 6 opções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- 4º dígito: 5 opções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680</m:t>
                    </m:r>
                  </m:oMath>
                </a14:m>
                <a:r>
                  <a:rPr lang="pt-BR" sz="2400" dirty="0"/>
                  <a:t> números diferentes.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04" y="498037"/>
                <a:ext cx="10748061" cy="5861926"/>
              </a:xfrm>
              <a:prstGeom prst="rect">
                <a:avLst/>
              </a:prstGeom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270626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59470" y="565709"/>
                <a:ext cx="10748061" cy="5597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Combinação simples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Uma combinação é uma escolha não ordenada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400" dirty="0"/>
                  <a:t> elementos dentre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/>
                  <a:t>, sem repetição — trocar a ordem dos elementos escolhidos não gera uma combinação diferente.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err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i="1" dirty="0" err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n — total de elementos disponíveis; p — elementos selecionados, sem ordem.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Difere do arranjo por não distinguir a ordem de seleção.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70" y="565709"/>
                <a:ext cx="10748061" cy="5597558"/>
              </a:xfrm>
              <a:prstGeom prst="rect">
                <a:avLst/>
              </a:prstGeom>
              <a:blipFill>
                <a:blip r:embed="rId2"/>
                <a:stretch>
                  <a:fillRect l="-908" b="-15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26598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59470" y="565709"/>
                <a:ext cx="10748061" cy="5816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 — subconjuntos de 4 números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Temos os algarismos de 1 a 8. Quantos subconjuntos diferentes de 4 números podemos escolher dentre esses 8, sem se importar com a ordem?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Resposta: Aqui a ordem não importa — escolher {1,2,3,4} é o mesmo que escolher {4,3,2,1}.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!·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70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subconjuntos diferentes.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Compare com o arranjo: A(8,4) = 1.680 = C(8,4) × 4! — cada subconjunto de 4 números pode ser ordenado de 4! = 24 formas diferentes (1.680/70 = 24).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70" y="565709"/>
                <a:ext cx="10748061" cy="5816016"/>
              </a:xfrm>
              <a:prstGeom prst="rect">
                <a:avLst/>
              </a:prstGeom>
              <a:blipFill>
                <a:blip r:embed="rId2"/>
                <a:stretch>
                  <a:fillRect l="-908" b="-14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611486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0430" y="826966"/>
            <a:ext cx="10748061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Exemplo.</a:t>
            </a:r>
            <a:r>
              <a:rPr lang="pt-BR" sz="2800" dirty="0"/>
              <a:t> Em um congresso científico existem 15 matemáticos e 12 estatísticos. Qual a probabilidade de se formar uma comissão com 5 membros, na qual figurem 3 matemáticos e 2 estatísticos?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426993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46853" y="553594"/>
                <a:ext cx="10866176" cy="5496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b="1" dirty="0"/>
                  <a:t>Resposta: </a:t>
                </a:r>
                <a:endParaRPr lang="pt-BR" sz="2400" dirty="0"/>
              </a:p>
              <a:p>
                <a:endParaRPr lang="pt-BR" sz="2200" dirty="0"/>
              </a:p>
              <a:p>
                <a:r>
                  <a:rPr lang="pt-BR" sz="2200" dirty="0"/>
                  <a:t>Casos possíveis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: qualquer comissão de 5 pessoas dentre as 27, sem distinguir cargo — a ordem não importa numa comissão, então é uma combinação: </a:t>
                </a:r>
                <a:r>
                  <a:rPr lang="pt-BR" sz="2200" b="1" dirty="0"/>
                  <a:t>n = C(27,5) = 80.730.</a:t>
                </a:r>
              </a:p>
              <a:p>
                <a:endParaRPr lang="pt-BR" sz="2200" dirty="0"/>
              </a:p>
              <a:p>
                <a:r>
                  <a:rPr lang="pt-BR" sz="2200" dirty="0"/>
                  <a:t>Casos favoráveis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: a comissão precisa ter exatamente 3 matemáticos E 2 estatísticos. Como são duas escolhas independentes (escolher os matemáticos não afeta escolher os estatísticos), usamos a regra da multiplicação:</a:t>
                </a:r>
              </a:p>
              <a:p>
                <a:r>
                  <a:rPr lang="pt-BR" sz="2200" dirty="0"/>
                  <a:t>- escolher 3 matemáticos dentre 15: C(15,3) = 455</a:t>
                </a:r>
              </a:p>
              <a:p>
                <a:r>
                  <a:rPr lang="pt-BR" sz="2200" dirty="0"/>
                  <a:t>- escolher 2 estatísticos dentre 12: C(12,2) = 66</a:t>
                </a:r>
              </a:p>
              <a:p>
                <a:r>
                  <a:rPr lang="pt-BR" sz="2200" dirty="0"/>
                  <a:t>- </a:t>
                </a:r>
                <a:r>
                  <a:rPr lang="pt-BR" sz="2200" b="1" dirty="0"/>
                  <a:t>K = 455 × 66 = 30.030</a:t>
                </a:r>
              </a:p>
              <a:p>
                <a:endParaRPr lang="pt-BR" sz="2200" dirty="0"/>
              </a:p>
              <a:p>
                <a:r>
                  <a:rPr lang="pt-BR" sz="2200" dirty="0"/>
                  <a:t>Como o espaço amostral é equiprovável (cada comissão de 5 pessoas é igualmente provável):</a:t>
                </a:r>
              </a:p>
              <a:p>
                <a:endParaRPr lang="pt-BR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30.030</m:t>
                          </m:r>
                        </m:num>
                        <m:den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80.730</m:t>
                          </m:r>
                        </m:den>
                      </m:f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77</m:t>
                          </m:r>
                        </m:num>
                        <m:den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207</m:t>
                          </m:r>
                        </m:den>
                      </m:f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≈ 0,372.</m:t>
                      </m:r>
                    </m:oMath>
                  </m:oMathPara>
                </a14:m>
                <a:endParaRPr lang="pt-BR" sz="2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53" y="553594"/>
                <a:ext cx="10866176" cy="5496761"/>
              </a:xfrm>
              <a:prstGeom prst="rect">
                <a:avLst/>
              </a:prstGeom>
              <a:blipFill>
                <a:blip r:embed="rId2"/>
                <a:stretch>
                  <a:fillRect l="-898" t="-887" r="-13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46853" y="553594"/>
                <a:ext cx="10866176" cy="556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 — </a:t>
                </a:r>
                <a:r>
                  <a:rPr lang="pt-BR" sz="2400" dirty="0"/>
                  <a:t>quadra no baralho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Retiram-se 4 cartas de um baralho de 52, sem reposição. Qual a probabilidade de sair uma quadra (as 4 cartas do mesmo valor)?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Resposta: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Casos possíveis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: C(52,4) = 270.725.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Casos favoráveis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: 13 valores possíveis, cada um com só 1 jeito de pegar as 4 cartas daquele valor: 13 × C(4,4) = 13.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270.725</m:t>
                          </m:r>
                        </m:den>
                      </m:f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20.825</m:t>
                          </m:r>
                        </m:den>
                      </m:f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53" y="553594"/>
                <a:ext cx="10866176" cy="5565178"/>
              </a:xfrm>
              <a:prstGeom prst="rect">
                <a:avLst/>
              </a:prstGeom>
              <a:blipFill>
                <a:blip r:embed="rId2"/>
                <a:stretch>
                  <a:fillRect l="-898" r="-11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917763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46853" y="553594"/>
            <a:ext cx="10866176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Exemplo. </a:t>
            </a:r>
            <a:r>
              <a:rPr lang="pt-BR" sz="2400" dirty="0"/>
              <a:t>(caras e coroas) Uma moeda é lançada 5 vezes. Qual a probabilidade de sair </a:t>
            </a:r>
            <a:r>
              <a:rPr lang="pt-BR" sz="2400" b="1" dirty="0"/>
              <a:t>exatamente 3 caras e 2 coroas</a:t>
            </a:r>
            <a:r>
              <a:rPr lang="pt-BR" sz="2400" dirty="0"/>
              <a:t>?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Resposta: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Casos possíveis: cada lance tem 2 resultados (cara ou coroa), e são 5 lances independentes: 2⁵ = 32.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Casos favoráveis: dentre os 5 lances, escolher quais 3 serão caras (a ordem entre os lances não importa, é uma combinação): C(5,3) = 10.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P(A) = 10/32 = 5/16.</a:t>
            </a:r>
            <a:endParaRPr lang="pt-BR" sz="2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921468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46853" y="553594"/>
                <a:ext cx="10866176" cy="5325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Permutação de objetos similares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Quando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 objetos não são todos diferentes —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₁</m:t>
                    </m:r>
                  </m:oMath>
                </a14:m>
                <a:r>
                  <a:rPr lang="pt-BR" sz="2800" dirty="0"/>
                  <a:t> são de um tipo,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₂</m:t>
                    </m:r>
                  </m:oMath>
                </a14:m>
                <a:r>
                  <a:rPr lang="pt-BR" sz="2800" dirty="0"/>
                  <a:t> de outro, etc.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₁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+…+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ᵣ =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800" dirty="0"/>
                  <a:t>— o número de permutações distintas é menor que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pt-BR" sz="2800" dirty="0"/>
                  <a:t>, porque trocar objetos iguais entre si não gera uma sequência nova.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!·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!· … ·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ᵣ!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53" y="553594"/>
                <a:ext cx="10866176" cy="5325304"/>
              </a:xfrm>
              <a:prstGeom prst="rect">
                <a:avLst/>
              </a:prstGeom>
              <a:blipFill>
                <a:blip r:embed="rId2"/>
                <a:stretch>
                  <a:fillRect l="-11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561336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46853" y="553594"/>
                <a:ext cx="10866176" cy="526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(Palavra "ARARAS”). Uma urna contém as letras A, A, A, R, R, S. Retirando-se as letras uma a uma, sem reposição, qual a probabilidade de sair exatamente a palavra ARARAS, nessa ordem?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Resposta: Casos possíveis: permutações distintas dessas 6 letras, considerando as repetições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(3 </a:t>
                </a:r>
                <a:r>
                  <a:rPr lang="pt-BR" sz="2400" dirty="0" err="1"/>
                  <a:t>A's</a:t>
                </a:r>
                <a:r>
                  <a:rPr lang="pt-BR" sz="2400" dirty="0"/>
                  <a:t>, 2 </a:t>
                </a:r>
                <a:r>
                  <a:rPr lang="pt-BR" sz="2400" dirty="0" err="1"/>
                  <a:t>R's</a:t>
                </a:r>
                <a:r>
                  <a:rPr lang="pt-BR" sz="2400" dirty="0"/>
                  <a:t>, 1 S):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!·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!·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Casos favoráveis: só existe 1 ordem que forma exatamente a palavra ARARAS.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P(A) = 1/60.</a:t>
                </a:r>
                <a:endParaRPr lang="pt-BR" sz="2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53" y="553594"/>
                <a:ext cx="10866176" cy="5264775"/>
              </a:xfrm>
              <a:prstGeom prst="rect">
                <a:avLst/>
              </a:prstGeom>
              <a:blipFill>
                <a:blip r:embed="rId2"/>
                <a:stretch>
                  <a:fillRect l="-898" r="-1459" b="-17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5725418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3269" y="671347"/>
            <a:ext cx="10748061" cy="28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/>
              <a:t>Leitura recomendada:</a:t>
            </a:r>
          </a:p>
          <a:p>
            <a:r>
              <a:rPr sz="2800" b="0"/>
              <a:t>Bussab &amp; Morettin — Cap. 5 (5.2)</a:t>
            </a:r>
          </a:p>
          <a:p>
            <a:r>
              <a:rPr sz="2800" b="0"/>
              <a:t>Montgomery &amp; Runger — Cap. 2 (2.2)</a:t>
            </a:r>
          </a:p>
          <a:p>
            <a:r>
              <a:rPr sz="2800" b="0"/>
              <a:t>Magalhães &amp; Lima — Cap. 2 (2.1)</a:t>
            </a:r>
          </a:p>
          <a:p>
            <a:r>
              <a:rPr sz="2800" b="0"/>
              <a:t>Morettin — Cap. 2 (2.2, 2.3)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3269" y="671347"/>
            <a:ext cx="10748061" cy="28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/>
              <a:t>Exercícios recomendados:</a:t>
            </a:r>
          </a:p>
          <a:p>
            <a:r>
              <a:rPr sz="2800" b="0"/>
              <a:t>Bussab &amp; Morettin, Cap. 5: Problema 11</a:t>
            </a:r>
          </a:p>
          <a:p>
            <a:r>
              <a:rPr sz="2800" b="0"/>
              <a:t>Montgomery &amp; Runger, Cap. 2: Exercícios 2.2.3, 2.2.4, 2.2.5, 2.2.6, 2.2.7, 2.2.9, 2.2.10, 2.2.11, 2.2.12 e 2.2.14</a:t>
            </a:r>
          </a:p>
          <a:p>
            <a:r>
              <a:rPr sz="2800" b="0"/>
              <a:t>Morettin, Cap. 2: Exercícios 5, 6, 7, 8, 9, 10, 11, 12, 13 e 17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3545</TotalTime>
  <Words>1888</Words>
  <Application>Microsoft Office PowerPoint</Application>
  <PresentationFormat>Widescreen</PresentationFormat>
  <Paragraphs>146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Técnicas de Contagem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144</cp:revision>
  <dcterms:created xsi:type="dcterms:W3CDTF">2020-07-20T19:35:15Z</dcterms:created>
  <dcterms:modified xsi:type="dcterms:W3CDTF">2026-10-22T11:30:39Z</dcterms:modified>
</cp:coreProperties>
</file>