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902" r:id="rId2"/>
    <p:sldId id="903" r:id="rId3"/>
    <p:sldId id="904" r:id="rId4"/>
    <p:sldId id="922" r:id="rId5"/>
    <p:sldId id="920" r:id="rId6"/>
    <p:sldId id="907" r:id="rId8"/>
    <p:sldId id="908" r:id="rId9"/>
    <p:sldId id="926" r:id="rId10"/>
    <p:sldId id="923" r:id="rId11"/>
    <p:sldId id="911" r:id="rId13"/>
    <p:sldId id="912" r:id="rId14"/>
    <p:sldId id="925" r:id="rId15"/>
    <p:sldId id="927" r:id="rId16"/>
    <p:sldId id="913" r:id="rId17"/>
    <p:sldId id="928" r:id="rId18"/>
    <p:sldId id="914" r:id="rId20"/>
    <p:sldId id="915" r:id="rId21"/>
    <p:sldId id="916" r:id="rId22"/>
    <p:sldId id="929" r:id="rId23"/>
    <p:sldId id="930" r:id="rId24"/>
    <p:sldId id="917" r:id="rId26"/>
    <p:sldId id="935" r:id="rId27"/>
  </p:sldIdLst>
  <p:sldSz cx="12192000" cy="6858000"/>
  <p:notesSz cx="6858000" cy="9144000"/>
  <p:defaultTextStyle>
    <a:defPPr>
      <a:defRPr lang="pt-BR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cos Goulart Lima" initials="MGL" lastIdx="1" clrIdx="0">
    <p:extLst>
      <p:ext uri="{19B8F6BF-5375-455C-9EA6-DF929625EA0E}">
        <p15:presenceInfo xmlns:p15="http://schemas.microsoft.com/office/powerpoint/2012/main" userId="809befc0d8c5dfd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 autoAdjust="0"/>
  </p:normalViewPr>
  <p:slideViewPr>
    <p:cSldViewPr snapToGrid="0">
      <p:cViewPr varScale="1">
        <p:scale>
          <a:sx n="73" d="100"/>
          <a:sy n="73" d="100"/>
        </p:scale>
        <p:origin x="56" y="5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4690" y="43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commentAuthors" Target="commentAuthors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623A65-BD25-40B6-8815-498297225DF7}" type="datetimeFigureOut">
              <a:rPr lang="pt-BR" smtClean="0"/>
              <a:t>28/09/2026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7F89C7-0D7F-4B10-AF98-1416A21C67F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29212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FB549B-B83A-404E-9BD8-A560AB294D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D7CE2CF-ACA4-4F2F-B0E6-62AA8A4CA0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15145D-ED8E-485D-AFAA-0637E3DDC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28/09/2026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C10A484-EBAA-4375-B22B-EB352202B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BFC011-A4F5-4C4D-B328-90D3A1C70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32127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DC2C77-41CB-40C6-8592-F2323898B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A2E0EDC-CFA2-4EB2-951C-00B6285C6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67430C6-C7CB-4882-8EDC-12D186CAC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28/09/2026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044677D-F5A4-4226-8F80-D16E10238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AB1963-7DC3-48C6-816F-DB898EB1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9066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59C7D4-175E-4544-B2C7-10CBDC0B0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9345EC1-929C-4442-826F-033EE789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D04775A-17A7-4EC4-9798-1A34FD10E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28/09/2026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42EA98-8D10-4ED3-B93F-FC711F0CD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39B97DE-6B04-4B6F-86E9-1D88F55F5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2312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BAA362-A45A-480A-9074-096724BCA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7FAB7C-66B6-413A-A532-7B4B35F4FB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E989473-C5DE-4037-A42E-A0EACF667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3249F76-8985-4102-AAA2-0AF7D18B3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28/09/2026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9E6D85-4300-4D4B-9EF8-C400BC246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82F353B-CB0E-4E22-9F25-903B9054A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54893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0DC1B8-1341-4AB7-B041-922244C5C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8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33C1DFC-5D65-46F4-994E-FD066564E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D66570-19DA-43E0-B668-A0064803DB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031A902-2182-44D2-92A6-7D350E01E0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11DEC4-4ED6-4D01-8E2F-F8DFBFBB0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251D8EF-D452-4BEB-B271-9A45BCDDD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28/09/2026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B874A662-49D6-4C3B-B580-C42ED1ECE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B64F4DA-4AAA-4F61-9D50-9FBA731D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86527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5CE28C-348A-4584-BBD8-F7D4E80AC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727A591-6069-48B6-9538-6A690479E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28/09/2026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F4B20B4-5872-4798-8273-172F9B79B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0218E22-3A9A-4526-9A35-8F67CBEA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99807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8C9ED03-39FE-4839-912F-74079DC07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28/09/2026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2202958-2868-421E-B634-EC4F79F44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1E4208-F91B-406F-93C9-909632019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16385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03AC6E-A8A4-484F-AB72-E01568BAD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52402C-474E-4A4C-BBB4-72C4459FD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5932530-DB56-4B02-AAD7-0B0DAE05AC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269F7A-8509-44B5-A449-BA774B8D6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28/09/2026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AC7A0F7-9932-436F-9AE3-AFF4AA2B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EED5AD-F121-4389-805A-1761D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64605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E0AC3B-59EE-40F2-994F-F86E662CE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38B4DB5-6F6C-4DA5-9A20-AC29F12332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4" indent="0">
              <a:buNone/>
              <a:defRPr sz="2400"/>
            </a:lvl3pPr>
            <a:lvl4pPr marL="1371532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2" indent="0">
              <a:buNone/>
              <a:defRPr sz="2000"/>
            </a:lvl7pPr>
            <a:lvl8pPr marL="3200240" indent="0">
              <a:buNone/>
              <a:defRPr sz="2000"/>
            </a:lvl8pPr>
            <a:lvl9pPr marL="3657418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BE271B5-C93D-4796-9358-1D1489AD91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70EE369-01D5-4D19-9174-7B158A7B7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28/09/2026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AD9A84F-D4C0-4CF0-B94A-BD00C58CC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5C5E872-5A54-4124-AFFF-F672D0693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77097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82B53-B921-43B0-B70C-89461FC53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CD7C9CB-B075-433C-911D-C898E41105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6A9F18-28DC-4676-99F1-455FE41D8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28/09/2026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6122BC6-1417-41C0-ABAB-3814030C5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D411FB-88FD-4753-AD8A-28F528B3E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96999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A7E2BA7-069E-46BC-89D6-D7C2DC18A2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6"/>
            <a:ext cx="2628900" cy="581183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6D25537-8E8B-46D8-8D94-91EDEBEF2C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6"/>
            <a:ext cx="7734300" cy="581183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151BBF-6817-43B4-9E70-9E5D97182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28/09/2026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A27DCBE-1398-4403-B8D9-E76E3BB1A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57CFCFD-A47F-4C7B-B8FA-ADA430CE0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761690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60000"/>
                <a:lumOff val="40000"/>
              </a:schemeClr>
            </a:gs>
            <a:gs pos="19000">
              <a:schemeClr val="bg1"/>
            </a:gs>
            <a:gs pos="95000">
              <a:schemeClr val="bg1"/>
            </a:gs>
            <a:gs pos="100000">
              <a:schemeClr val="accent5">
                <a:lumMod val="40000"/>
                <a:lumOff val="6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4E2DD83-FDEA-4717-875C-AE246EAB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8727906-6A75-4D24-84E2-D534D8BE7C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D73EF87-9823-417E-B531-F5CFE53CC6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45E566-B383-4B2D-B951-1136FD38326E}" type="datetimeFigureOut">
              <a:rPr lang="pt-BR" smtClean="0"/>
              <a:t>28/09/2026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912461-C5F3-4639-9852-55C185CA8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D549E10-6FAB-43E0-BE2A-E81BCD879D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41590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Modelos Discretos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441868"/>
            <a:ext cx="10067277" cy="46103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200" b="1" dirty="0"/>
              <a:t>Objetivos da aula:</a:t>
            </a:r>
          </a:p>
          <a:p>
            <a:pPr marL="285737" indent="-285737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Conhecer a distribuição uniforme discreta e a distribuição de Bernoulli.</a:t>
            </a:r>
          </a:p>
          <a:p>
            <a:pPr marL="285737" indent="-285737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Conhecer a distribuição geométrica e calcular suas probabilidades.</a:t>
            </a:r>
          </a:p>
          <a:p>
            <a:pPr>
              <a:lnSpc>
                <a:spcPct val="150000"/>
              </a:lnSpc>
            </a:pPr>
            <a:r>
              <a:rPr lang="pt-BR" sz="2200" b="1" dirty="0"/>
              <a:t>Referências: 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Bussab, Morettin. </a:t>
            </a:r>
            <a:r>
              <a:rPr lang="pt-BR" sz="2200" b="1" dirty="0"/>
              <a:t>Estatística Básica</a:t>
            </a:r>
            <a:r>
              <a:rPr lang="pt-BR" sz="2200" dirty="0"/>
              <a:t>, 9ed — Cap. 6 (6.6.1, 6.6.2)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Montgomery, Runger. </a:t>
            </a:r>
            <a:r>
              <a:rPr lang="pt-BR" sz="2200" b="1" dirty="0"/>
              <a:t>Applied Statistics and Probability for Engineers</a:t>
            </a:r>
            <a:r>
              <a:rPr lang="pt-BR" sz="2200" dirty="0"/>
              <a:t>, 7th ed — Cap. 3 (3.4, 3.6)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Magalhães, Lima. </a:t>
            </a:r>
            <a:r>
              <a:rPr lang="pt-BR" sz="2200" b="1" dirty="0"/>
              <a:t>Noções de Probabilidade e Estatística</a:t>
            </a:r>
            <a:r>
              <a:rPr lang="pt-BR" sz="2200" dirty="0"/>
              <a:t>, 5ed — Cap. 3 (3.2, 3.3)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Morettin. </a:t>
            </a:r>
            <a:r>
              <a:rPr lang="pt-BR" sz="2200" b="1" dirty="0"/>
              <a:t>Estatística Básica: Probabilidade e Inferência</a:t>
            </a:r>
            <a:r>
              <a:rPr lang="pt-BR" sz="2200" dirty="0"/>
              <a:t> — Cap. 4 (4.1, 4.2, 4.3)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1516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94601" y="713754"/>
                <a:ext cx="10067277" cy="5574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Distribuição Uniforme Discreta</a:t>
                </a:r>
              </a:p>
              <a:p>
                <a:pPr marL="285737" indent="-285737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Definição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A v.a. discreta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400" dirty="0"/>
                  <a:t>, assumindo os valores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, …, </m:t>
                    </m:r>
                    <m:sSub>
                      <m:sSubPr>
                        <m:ctrlPr>
                          <a:rPr lang="pt-BR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2400" i="1" dirty="0" err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sz="2400" dirty="0"/>
                  <a:t>, tem distribuição uniforme se, e somente se, 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 = </m:t>
                          </m:r>
                          <m:sSub>
                            <m:sSubPr>
                              <m:ctrlPr>
                                <a:rPr lang="pt-BR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 = 1/</m:t>
                      </m:r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para todo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= 1, 2, …, 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:endParaRPr lang="pt-BR" sz="2400" b="1" dirty="0"/>
              </a:p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Notação: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4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~</m:t>
                    </m:r>
                    <m:sSub>
                      <m:sSub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[1,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sz="2400" dirty="0"/>
                  <a:t> (valores de 1 a k.)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601" y="713754"/>
                <a:ext cx="10067277" cy="5574090"/>
              </a:xfrm>
              <a:prstGeom prst="rect">
                <a:avLst/>
              </a:prstGeom>
              <a:blipFill>
                <a:blip r:embed="rId2"/>
                <a:stretch>
                  <a:fillRect l="-908" b="-164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4054787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51058" y="751603"/>
                <a:ext cx="10067277" cy="56524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400" b="1" dirty="0"/>
                  <a:t>Distribuição Uniforme Discreta</a:t>
                </a:r>
              </a:p>
              <a:p>
                <a:pPr marL="285737" indent="-285737">
                  <a:buFont typeface="Arial" panose="020B0604020202020204" pitchFamily="34" charset="0"/>
                  <a:buChar char="•"/>
                </a:pPr>
                <a:endParaRPr lang="pt-BR" sz="24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400" dirty="0"/>
                  <a:t>Esperança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400" b="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400" dirty="0"/>
                  <a:t>Variância</a:t>
                </a:r>
              </a:p>
              <a:p>
                <a:endParaRPr lang="pt-BR" sz="2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𝑉𝑎𝑟</m:t>
                      </m:r>
                      <m:d>
                        <m:d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pt-BR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d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pt-BR" sz="2400" dirty="0" err="1"/>
                  <a:t>F.d.a</a:t>
                </a:r>
                <a:endParaRPr lang="pt-BR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058" y="751603"/>
                <a:ext cx="10067277" cy="5652445"/>
              </a:xfrm>
              <a:prstGeom prst="rect">
                <a:avLst/>
              </a:prstGeom>
              <a:blipFill>
                <a:blip r:embed="rId2"/>
                <a:stretch>
                  <a:fillRect l="-908" t="-86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6965613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aixaDeTexto 7"/>
          <p:cNvSpPr txBox="1"/>
          <p:nvPr/>
        </p:nvSpPr>
        <p:spPr>
          <a:xfrm>
            <a:off x="751058" y="749300"/>
            <a:ext cx="10909719" cy="177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b="1" dirty="0"/>
              <a:t>Exemplo. </a:t>
            </a:r>
            <a:r>
              <a:rPr lang="pt-BR" sz="2400" dirty="0"/>
              <a:t> Em um RPG de mesa, um jogador rola um dado de 8 lados (d8) para determinar o dano de um feitiço. Seja X o resultado do lançamento.</a:t>
            </a:r>
          </a:p>
          <a:p>
            <a:pPr>
              <a:lnSpc>
                <a:spcPct val="150000"/>
              </a:lnSpc>
            </a:pPr>
            <a:r>
              <a:rPr lang="pt-BR" sz="2400" dirty="0"/>
              <a:t>Tabela de distribuição de probabilidade:</a:t>
            </a:r>
          </a:p>
        </p:txBody>
      </p:sp>
      <p:graphicFrame>
        <p:nvGraphicFramePr>
          <p:cNvPr id="7" name="Tabela distribuicao"/>
          <p:cNvGraphicFramePr>
            <a:graphicFrameLocks noGrp="1"/>
          </p:cNvGraphicFramePr>
          <p:nvPr/>
        </p:nvGraphicFramePr>
        <p:xfrm>
          <a:off x="838200" y="2565400"/>
          <a:ext cx="10731500" cy="1016000"/>
        </p:xfrm>
        <a:graphic>
          <a:graphicData uri="http://schemas.openxmlformats.org/drawingml/2006/table">
            <a:tbl>
              <a:tblPr firstRow="1"/>
              <a:tblGrid>
                <a:gridCol w="158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pt-BR" sz="2400" b="1" dirty="0"/>
                        <a:t>x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b="1" dirty="0"/>
                        <a:t>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b="1" dirty="0"/>
                        <a:t>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b="1" dirty="0"/>
                        <a:t>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b="1" dirty="0"/>
                        <a:t>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b="1" dirty="0"/>
                        <a:t>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b="1" dirty="0"/>
                        <a:t>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b="1" dirty="0"/>
                        <a:t>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b="1" dirty="0"/>
                        <a:t>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BFBFB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pt-BR" sz="2400" b="1" dirty="0"/>
                        <a:t>P(X = x)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BFBFBF"/>
                      </a:solidFill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1/8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BFBFBF"/>
                      </a:solidFill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1/8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BFBFBF"/>
                      </a:solidFill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1/8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BFBFBF"/>
                      </a:solidFill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1/8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BFBFBF"/>
                      </a:solidFill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1/8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BFBFBF"/>
                      </a:solidFill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1/8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BFBFBF"/>
                      </a:solidFill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1/8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BFBFBF"/>
                      </a:solidFill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1/8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BFBFBF"/>
                      </a:solidFill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51058" y="3708400"/>
                <a:ext cx="10909719" cy="24155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dirty="0"/>
                  <a:t>Esperança: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1+2+3+4+5+6+7+8</m:t>
                          </m:r>
                        </m:num>
                        <m:den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=36/8=4,5</m:t>
                      </m:r>
                    </m:oMath>
                  </m:oMathPara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Fórmula geral: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b="0" i="1" dirty="0" smtClean="0">
                            <a:latin typeface="Cambria Math" panose="02040503050406030204" pitchFamily="18" charset="0"/>
                          </a:rPr>
                          <m:t>9</m:t>
                        </m:r>
                      </m:num>
                      <m:den>
                        <m:r>
                          <a:rPr lang="pt-BR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4,5</m:t>
                    </m:r>
                  </m:oMath>
                </a14:m>
                <a:endParaRPr lang="pt-BR" sz="24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058" y="3708400"/>
                <a:ext cx="10909719" cy="2415533"/>
              </a:xfrm>
              <a:prstGeom prst="rect">
                <a:avLst/>
              </a:prstGeom>
              <a:blipFill>
                <a:blip r:embed="rId2"/>
                <a:stretch>
                  <a:fillRect l="-838" b="-15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5452073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41140" y="407046"/>
                <a:ext cx="10909719" cy="58621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dirty="0"/>
                  <a:t>Variância: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1+4+9+16+25+36+49+64</m:t>
                          </m:r>
                        </m:num>
                        <m:den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204</m:t>
                          </m:r>
                        </m:num>
                        <m:den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=25,5</m:t>
                      </m:r>
                    </m:oMath>
                  </m:oMathPara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𝑉𝑎𝑟</m:t>
                      </m:r>
                      <m:d>
                        <m:d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− </m:t>
                      </m:r>
                      <m:sSup>
                        <m:sSup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d>
                                <m:dPr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 25,5 − 20,25 = 5,25 =</m:t>
                      </m:r>
                      <m:f>
                        <m:f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num>
                        <m:den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Fórmula geral: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𝑉𝑎𝑟</m:t>
                    </m:r>
                    <m:d>
                      <m:d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pt-BR" sz="240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pt-BR" sz="240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num>
                      <m:den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12</m:t>
                        </m:r>
                      </m:den>
                    </m:f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63</m:t>
                        </m:r>
                      </m:num>
                      <m:den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12</m:t>
                        </m:r>
                      </m:den>
                    </m:f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=</m:t>
                    </m:r>
                    <m:f>
                      <m:f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21</m:t>
                        </m:r>
                      </m:num>
                      <m:den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= 5,25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Função de distribuição acumulada (FDA): </a:t>
                </a:r>
                <a14:m>
                  <m:oMath xmlns:m="http://schemas.openxmlformats.org/officeDocument/2006/math">
                    <m:r>
                      <a:rPr lang="pt-BR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pt-BR" sz="240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         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&lt;1</m:t>
                            </m:r>
                          </m:e>
                          <m:e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&amp;</m:t>
                            </m:r>
                            <m:r>
                              <m:rPr>
                                <m:nor/>
                              </m:rPr>
                              <a:rPr lang="pt-BR" sz="2400" dirty="0"/>
                              <m:t>⌊</m:t>
                            </m:r>
                            <m:r>
                              <m:rPr>
                                <m:nor/>
                              </m:rPr>
                              <a:rPr lang="pt-BR" sz="2400" dirty="0"/>
                              <m:t>x</m:t>
                            </m:r>
                            <m:r>
                              <m:rPr>
                                <m:nor/>
                              </m:rPr>
                              <a:rPr lang="pt-BR" sz="2400" dirty="0"/>
                              <m:t>⌋/8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nor/>
                              </m:rPr>
                              <a:rPr lang="pt-BR" sz="2400" b="0" i="0" smtClean="0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  <m:r>
                              <m:rPr>
                                <m:nor/>
                              </m:rPr>
                              <a:rPr lang="pt-BR" sz="2400" dirty="0"/>
                              <m:t>se</m:t>
                            </m:r>
                            <m:r>
                              <m:rPr>
                                <m:nor/>
                              </m:rPr>
                              <a:rPr lang="pt-BR" sz="2400" dirty="0"/>
                              <m:t> 1 ≤ </m:t>
                            </m:r>
                            <m:r>
                              <m:rPr>
                                <m:nor/>
                              </m:rPr>
                              <a:rPr lang="pt-BR" sz="2400" dirty="0"/>
                              <m:t>x</m:t>
                            </m:r>
                            <m:r>
                              <m:rPr>
                                <m:nor/>
                              </m:rPr>
                              <a:rPr lang="pt-BR" sz="2400" dirty="0"/>
                              <m:t> &lt; 8 </m:t>
                            </m:r>
                          </m:e>
                          <m:e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1,           </m:t>
                            </m:r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≥8</m:t>
                            </m:r>
                          </m:e>
                        </m:eqArr>
                      </m:e>
                    </m:d>
                  </m:oMath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(degraus de altura 1/8 em cada valor inteiro de 1 a 8)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140" y="407046"/>
                <a:ext cx="10909719" cy="5862118"/>
              </a:xfrm>
              <a:prstGeom prst="rect">
                <a:avLst/>
              </a:prstGeom>
              <a:blipFill>
                <a:blip r:embed="rId2"/>
                <a:stretch>
                  <a:fillRect l="-838" b="-14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328382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CC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775960" y="457200"/>
            <a:ext cx="640080" cy="640080"/>
          </a:xfrm>
          <a:prstGeom prst="ellipse">
            <a:avLst/>
          </a:prstGeom>
          <a:solidFill>
            <a:srgbClr val="8A3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8A3B3F"/>
                </a:solidFill>
              </a:rPr>
              <a:t>VERIFICAÇÃO RÁPIDA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103120"/>
            <a:ext cx="981456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sz="2600" b="1">
                <a:solidFill>
                  <a:srgbClr val="3D1F21"/>
                </a:solidFill>
              </a:rPr>
              <a:t>"Se o d8 fosse viciado — cada face com uma probabilidade diferente — ainda poderíamos usar as fórmulas E(X)=(n+1)/2 e Var(X)=(n²-1)/12?"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577840"/>
            <a:ext cx="1036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i="1">
                <a:solidFill>
                  <a:srgbClr val="8A5C5E"/>
                </a:solidFill>
              </a:rPr>
              <a:t>Sorteie um aluno antes de continuar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>
                <a:solidFill>
                  <a:srgbClr val="595959"/>
                </a:solidFill>
              </a:rPr>
              <a:t>CEA055 - Estatística e Probabilidade - Professor: Marcos Goulart Lima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596765" y="505695"/>
                <a:ext cx="10067277" cy="51961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Distribuição de Bernoulli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Definição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A variável aleatória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800" dirty="0"/>
                  <a:t>, que assume apenas os valores 0 e 1 (sucesso e fracasso), com função de probabilidade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pt-BR" sz="2800" dirty="0"/>
                  <a:t> tal que:</a:t>
                </a:r>
              </a:p>
              <a:p>
                <a:pPr>
                  <a:lnSpc>
                    <a:spcPct val="150000"/>
                  </a:lnSpc>
                </a:pPr>
                <a:endParaRPr lang="pt-BR" sz="28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(0) = 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 = 0) = 1 – 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8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(1) = 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 = 1) = 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800" dirty="0"/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é chamada variável aleatória de Bernoulli.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765" y="505695"/>
                <a:ext cx="10067277" cy="5196166"/>
              </a:xfrm>
              <a:prstGeom prst="rect">
                <a:avLst/>
              </a:prstGeom>
              <a:blipFill>
                <a:blip r:embed="rId2"/>
                <a:stretch>
                  <a:fillRect l="-1272" r="-61" b="-246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03038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03391" y="683070"/>
                <a:ext cx="10067277" cy="57390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Distribuição de Bernoulli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  <m:sSup>
                      <m:sSupPr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d>
                      </m:e>
                      <m:sup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</m:oMath>
                </a14:m>
                <a:endParaRPr lang="pt-BR" sz="240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400" dirty="0"/>
                  <a:t>Esperança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400" b="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400" dirty="0"/>
                  <a:t>Variância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𝑉𝑎𝑟</m:t>
                      </m:r>
                      <m:d>
                        <m:d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pt-BR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pt-BR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).</m:t>
                      </m:r>
                    </m:oMath>
                  </m:oMathPara>
                </a14:m>
                <a:endParaRPr lang="pt-BR" sz="240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400" dirty="0" err="1"/>
                  <a:t>F.d.a</a:t>
                </a:r>
                <a:endParaRPr lang="pt-BR" sz="24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</m:e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</m:e>
                          </m:eqAr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   </m:t>
                      </m:r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&lt;0,</m:t>
                            </m:r>
                          </m:e>
                        </m:mr>
                        <m:mr>
                          <m:e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𝑠𝑒</m:t>
                            </m:r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 0≤</m:t>
                            </m:r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 1,</m:t>
                            </m:r>
                          </m:e>
                        </m:mr>
                        <m:mr>
                          <m:e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𝑠𝑒</m:t>
                            </m:r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≥</m:t>
                            </m:r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1.</m:t>
                            </m:r>
                          </m:e>
                        </m:mr>
                      </m:m>
                    </m:oMath>
                  </m:oMathPara>
                </a14:m>
                <a:endParaRPr lang="pt-BR" sz="2400" dirty="0"/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391" y="683070"/>
                <a:ext cx="10067277" cy="5739007"/>
              </a:xfrm>
              <a:prstGeom prst="rect">
                <a:avLst/>
              </a:prstGeom>
              <a:blipFill>
                <a:blip r:embed="rId2"/>
                <a:stretch>
                  <a:fillRect l="-9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7657624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69652" y="649940"/>
                <a:ext cx="10067277" cy="44670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Exemplo.</a:t>
                </a:r>
                <a:r>
                  <a:rPr lang="pt-BR" sz="2400" b="0" dirty="0"/>
                  <a:t> Uma urna tem 30 bolas brancas e 20 verdes. Retira-se uma bola dessa urna. Seja </a:t>
                </a:r>
                <a14:m>
                  <m:oMath xmlns:m="http://schemas.openxmlformats.org/officeDocument/2006/math"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400" b="0" dirty="0"/>
                  <a:t> o número de bolas verdes, calcular </a:t>
                </a:r>
                <a14:m>
                  <m:oMath xmlns:m="http://schemas.openxmlformats.org/officeDocument/2006/math"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400" b="0" dirty="0"/>
                  <a:t> e </a:t>
                </a:r>
                <a14:m>
                  <m:oMath xmlns:m="http://schemas.openxmlformats.org/officeDocument/2006/math"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𝑉𝐴𝑅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400" b="0" dirty="0"/>
                  <a:t> e determinar </a:t>
                </a:r>
                <a14:m>
                  <m:oMath xmlns:m="http://schemas.openxmlformats.org/officeDocument/2006/math"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400" b="0" dirty="0"/>
                  <a:t>.</a:t>
                </a:r>
              </a:p>
              <a:p>
                <a:pPr>
                  <a:lnSpc>
                    <a:spcPct val="150000"/>
                  </a:lnSpc>
                </a:pPr>
                <a:endParaRPr lang="pt-BR" sz="2400" b="0" dirty="0"/>
              </a:p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Resolução</a:t>
                </a:r>
                <a:r>
                  <a:rPr lang="pt-BR" sz="2400" b="0" dirty="0"/>
                  <a:t>: como só há duas possibilidades (bola verde ou branca), </a:t>
                </a:r>
                <a14:m>
                  <m:oMath xmlns:m="http://schemas.openxmlformats.org/officeDocument/2006/math"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400" b="0" dirty="0"/>
                  <a:t> é uma variável aleatória de Bernoulli: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b="0" dirty="0"/>
                  <a:t>X = 1, se a bola retirada for verde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b="0" dirty="0"/>
                  <a:t>X = 0, se a bola retirada for branca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652" y="649940"/>
                <a:ext cx="10067277" cy="4467057"/>
              </a:xfrm>
              <a:prstGeom prst="rect">
                <a:avLst/>
              </a:prstGeom>
              <a:blipFill>
                <a:blip r:embed="rId2"/>
                <a:stretch>
                  <a:fillRect l="-969" r="-1393" b="-23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838826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69652" y="649940"/>
                <a:ext cx="10067277" cy="56784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200" b="0" dirty="0"/>
                  <a:t>Parâmetro </a:t>
                </a:r>
                <a14:m>
                  <m:oMath xmlns:m="http://schemas.openxmlformats.org/officeDocument/2006/math"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sz="2200" b="0" dirty="0"/>
                  <a:t> (probabilidade de sucesso = sair bola verde):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=1) =</m:t>
                    </m:r>
                  </m:oMath>
                </a14:m>
                <a:r>
                  <a:rPr lang="pt-BR" sz="2200" b="0" dirty="0"/>
                  <a:t> bolas verdes / total de bolas </a:t>
                </a:r>
                <a14:m>
                  <m:oMath xmlns:m="http://schemas.openxmlformats.org/officeDocument/2006/math"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= 20/50 = 2/5 = 0,4</m:t>
                    </m:r>
                  </m:oMath>
                </a14:m>
                <a:endParaRPr lang="pt-BR" sz="2200" b="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=0) = 1 − 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 = 30/50 = 3/5 = 0,6</m:t>
                    </m:r>
                  </m:oMath>
                </a14:m>
                <a:r>
                  <a:rPr lang="pt-BR" sz="2200" b="0" dirty="0"/>
                  <a:t> 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200" b="0" dirty="0"/>
                  <a:t>Função de probabilidade P(X):</a:t>
                </a:r>
              </a:p>
              <a:p>
                <a:pPr>
                  <a:lnSpc>
                    <a:spcPct val="150000"/>
                  </a:lnSpc>
                </a:pPr>
                <a:endParaRPr lang="pt-BR" sz="2200" b="0" dirty="0"/>
              </a:p>
              <a:p>
                <a:pPr>
                  <a:lnSpc>
                    <a:spcPct val="150000"/>
                  </a:lnSpc>
                </a:pPr>
                <a:endParaRPr lang="pt-BR" sz="2200" b="0" dirty="0"/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pt-BR" sz="2200" b="0" dirty="0"/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200" b="0" dirty="0"/>
                  <a:t>Esperança: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200" b="0" i="1" dirty="0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sz="22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200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200" b="0" i="1" dirty="0" smtClean="0"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pt-BR" sz="2200" b="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pt-BR" sz="2200" b="0" i="1" dirty="0" smtClean="0">
                          <a:latin typeface="Cambria Math" panose="02040503050406030204" pitchFamily="18" charset="0"/>
                        </a:rPr>
                        <m:t> = 0,4</m:t>
                      </m:r>
                    </m:oMath>
                  </m:oMathPara>
                </a14:m>
                <a:endParaRPr lang="pt-BR" sz="2200" b="0" dirty="0"/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200" b="0" dirty="0"/>
                  <a:t>Variância: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200" b="0" i="1" dirty="0" smtClean="0"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sz="22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200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200" b="0" i="1" dirty="0" smtClean="0"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pt-BR" sz="2200" b="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pt-BR" sz="2200" b="0" i="1" dirty="0" smtClean="0"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pt-BR" sz="2200" b="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pt-BR" sz="2200" b="0" i="1" dirty="0" smtClean="0"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pt-BR" sz="2200" b="0" i="1" dirty="0" err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pt-BR" sz="2200" b="0" i="1" dirty="0" err="1"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pt-BR" sz="2200" b="0" i="1" dirty="0" err="1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pt-BR" sz="2200" b="0" i="1" dirty="0">
                          <a:latin typeface="Cambria Math" panose="02040503050406030204" pitchFamily="18" charset="0"/>
                        </a:rPr>
                        <m:t> = 0,4 × 0,6 = 0,24</m:t>
                      </m:r>
                    </m:oMath>
                  </m:oMathPara>
                </a14:m>
                <a:endParaRPr lang="pt-BR" sz="2200" b="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652" y="649940"/>
                <a:ext cx="10067277" cy="5678478"/>
              </a:xfrm>
              <a:prstGeom prst="rect">
                <a:avLst/>
              </a:prstGeom>
              <a:blipFill>
                <a:blip r:embed="rId2"/>
                <a:stretch>
                  <a:fillRect l="-72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p:graphicFrame>
        <p:nvGraphicFramePr>
          <p:cNvPr id="7" name="Tabela distribuica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0543979"/>
              </p:ext>
            </p:extLst>
          </p:nvPr>
        </p:nvGraphicFramePr>
        <p:xfrm>
          <a:off x="1093305" y="2921000"/>
          <a:ext cx="4412973" cy="1016000"/>
        </p:xfrm>
        <a:graphic>
          <a:graphicData uri="http://schemas.openxmlformats.org/drawingml/2006/table">
            <a:tbl>
              <a:tblPr firstRow="1"/>
              <a:tblGrid>
                <a:gridCol w="11862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33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33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pt-BR" sz="2400" b="1" dirty="0"/>
                        <a:t>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pt-BR" sz="2400" b="1" dirty="0"/>
                        <a:t>P(X = x)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0,6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400" dirty="0"/>
                        <a:t>0,4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82135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CC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775960" y="457200"/>
            <a:ext cx="640080" cy="640080"/>
          </a:xfrm>
          <a:prstGeom prst="ellipse">
            <a:avLst/>
          </a:prstGeom>
          <a:solidFill>
            <a:srgbClr val="8A3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8A3B3F"/>
                </a:solidFill>
              </a:rPr>
              <a:t>VERIFICAÇÃO RÁPIDA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103120"/>
            <a:ext cx="981456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sz="2800" b="1">
                <a:solidFill>
                  <a:srgbClr val="3D1F21"/>
                </a:solidFill>
              </a:rPr>
              <a:t>"Por que a Esperança da Bernoulli, aqui, é igual a p — sem precisar de nenhuma soma?"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577840"/>
            <a:ext cx="1036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i="1">
                <a:solidFill>
                  <a:srgbClr val="8A5C5E"/>
                </a:solidFill>
              </a:rPr>
              <a:t>Sorteie um aluno antes de continuar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>
                <a:solidFill>
                  <a:srgbClr val="595959"/>
                </a:solidFill>
              </a:rPr>
              <a:t>CEA055 - Estatística e Probabilidade - Professor: Marcos Goulart Lima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89530" y="663192"/>
                <a:ext cx="10067277" cy="53420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Distribuição Geométrica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Definição 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Interpretando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sz="2400" dirty="0"/>
                  <a:t> como probabilidade de sucesso, a distribuição geométrica pode ser pensada como o número de ensaios de Bernoulli </a:t>
                </a:r>
                <a:r>
                  <a:rPr lang="pt-BR" sz="2400" b="1" dirty="0"/>
                  <a:t>até o primeiro sucesso (inclusive).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Função de probabilidade: 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pt-BR" sz="2400" dirty="0"/>
              </a:p>
              <a:p>
                <a:endParaRPr lang="pt-BR" sz="2400" dirty="0"/>
              </a:p>
              <a:p>
                <a:r>
                  <a:rPr lang="pt-BR" sz="2400" dirty="0"/>
                  <a:t>Alguns livros usam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d>
                      </m:e>
                      <m:sup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pt-BR" sz="2400" dirty="0"/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530" y="663192"/>
                <a:ext cx="10067277" cy="5342040"/>
              </a:xfrm>
              <a:prstGeom prst="rect">
                <a:avLst/>
              </a:prstGeom>
              <a:blipFill>
                <a:blip r:embed="rId2"/>
                <a:stretch>
                  <a:fillRect l="-908" b="-5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019263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35304" y="570427"/>
                <a:ext cx="10067277" cy="38205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400" b="1" dirty="0"/>
                  <a:t>Distribuição Geométrica</a:t>
                </a:r>
              </a:p>
              <a:p>
                <a:endParaRPr lang="pt-BR" sz="24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400" dirty="0"/>
                  <a:t>Esperança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</m:oMath>
                  </m:oMathPara>
                </a14:m>
                <a:endParaRPr lang="pt-BR" sz="24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4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400" dirty="0"/>
                  <a:t>Variância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𝑉𝐴𝑅</m:t>
                      </m:r>
                      <m:d>
                        <m:d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num>
                        <m:den>
                          <m:sSup>
                            <m:sSup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304" y="570427"/>
                <a:ext cx="10067277" cy="3820533"/>
              </a:xfrm>
              <a:prstGeom prst="rect">
                <a:avLst/>
              </a:prstGeom>
              <a:blipFill>
                <a:blip r:embed="rId2"/>
                <a:stretch>
                  <a:fillRect l="-909" t="-12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9903732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55183" y="490913"/>
                <a:ext cx="10067277" cy="57600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Exemplo. </a:t>
                </a:r>
                <a:r>
                  <a:rPr lang="pt-BR" sz="2400" dirty="0"/>
                  <a:t>A probabilidade de se encontrar aberto o sinal de trânsito numa esquina é 0,20. Qual a probabilidade de que seja necessário passar pelo local 5 vezes para encontrar o sinal aberto pela primeira vez? 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Resolução:</a:t>
                </a:r>
                <a:r>
                  <a:rPr lang="pt-BR" sz="2400" dirty="0"/>
                  <a:t> seja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400" dirty="0"/>
                  <a:t> o número de tentativas (passagens pelo local) até encontrar o sinal aberto pela primeira vez. Como cada tentativa é independente e tem a mesma probabilidade de sucesso, X segue uma distribuição geométrica com parâmetro: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sz="2400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pt-BR" sz="2400" i="1" dirty="0">
                                  <a:latin typeface="Cambria Math" panose="02040503050406030204" pitchFamily="18" charset="0"/>
                                </a:rPr>
                                <m:t> = 0,20</m:t>
                              </m:r>
                              <m:r>
                                <m:rPr>
                                  <m:nor/>
                                </m:rPr>
                                <a:rPr lang="pt-BR" sz="2400" dirty="0"/>
                                <m:t> (</m:t>
                              </m:r>
                              <m:r>
                                <m:rPr>
                                  <m:nor/>
                                </m:rPr>
                                <a:rPr lang="pt-BR" sz="2400" dirty="0"/>
                                <m:t>probabilidade</m:t>
                              </m:r>
                              <m:r>
                                <m:rPr>
                                  <m:nor/>
                                </m:rPr>
                                <a:rPr lang="pt-BR" sz="2400" dirty="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pt-BR" sz="2400" dirty="0"/>
                                <m:t>de</m:t>
                              </m:r>
                              <m:r>
                                <m:rPr>
                                  <m:nor/>
                                </m:rPr>
                                <a:rPr lang="pt-BR" sz="2400" dirty="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pt-BR" sz="2400" dirty="0"/>
                                <m:t>sucesso</m:t>
                              </m:r>
                              <m:r>
                                <m:rPr>
                                  <m:nor/>
                                </m:rPr>
                                <a:rPr lang="pt-BR" sz="2400" dirty="0"/>
                                <m:t>) </m:t>
                              </m:r>
                            </m:e>
                            <m:e>
                              <m:r>
                                <a:rPr lang="pt-BR" sz="2400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sz="2400" i="1" dirty="0">
                                  <a:latin typeface="Cambria Math" panose="02040503050406030204" pitchFamily="18" charset="0"/>
                                </a:rPr>
                                <m:t> =  0,80</m:t>
                              </m:r>
                              <m:r>
                                <m:rPr>
                                  <m:nor/>
                                </m:rPr>
                                <a:rPr lang="pt-BR" sz="2400" dirty="0"/>
                                <m:t> (</m:t>
                              </m:r>
                              <m:r>
                                <m:rPr>
                                  <m:nor/>
                                </m:rPr>
                                <a:rPr lang="pt-BR" sz="2400" dirty="0"/>
                                <m:t>probabilidade</m:t>
                              </m:r>
                              <m:r>
                                <m:rPr>
                                  <m:nor/>
                                </m:rPr>
                                <a:rPr lang="pt-BR" sz="2400" dirty="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pt-BR" sz="2400" dirty="0"/>
                                <m:t>de</m:t>
                              </m:r>
                              <m:r>
                                <m:rPr>
                                  <m:nor/>
                                </m:rPr>
                                <a:rPr lang="pt-BR" sz="2400" dirty="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pt-BR" sz="2400" dirty="0"/>
                                <m:t>fracasso</m:t>
                              </m:r>
                              <m:r>
                                <m:rPr>
                                  <m:nor/>
                                </m:rPr>
                                <a:rPr lang="pt-BR" sz="2400" dirty="0"/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183" y="490913"/>
                <a:ext cx="10067277" cy="5760038"/>
              </a:xfrm>
              <a:prstGeom prst="rect">
                <a:avLst/>
              </a:prstGeom>
              <a:blipFill>
                <a:blip r:embed="rId2"/>
                <a:stretch>
                  <a:fillRect l="-908" r="-157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7075097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55183" y="490913"/>
                <a:ext cx="10067277" cy="5030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dirty="0"/>
                  <a:t>Função de probabilidade: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)= </m:t>
                      </m:r>
                      <m:sSup>
                        <m:sSup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p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 = 1, 2, 3, …</m:t>
                      </m:r>
                    </m:oMath>
                  </m:oMathPara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Cálculo para k = 5: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=5)=</m:t>
                      </m:r>
                      <m:sSup>
                        <m:sSup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0,80</m:t>
                              </m:r>
                            </m:e>
                          </m:d>
                        </m:e>
                        <m:sup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×0,20=0,4096×0,20=0,08192</m:t>
                      </m:r>
                    </m:oMath>
                  </m:oMathPara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Ou seja, há aproximadamente 8,19% de chance de que sejam necessárias exatamente 5 passagens pelo local até encontrar o sinal aberto pela primeira vez.</a:t>
                </a:r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183" y="490913"/>
                <a:ext cx="10067277" cy="5030864"/>
              </a:xfrm>
              <a:prstGeom prst="rect">
                <a:avLst/>
              </a:prstGeom>
              <a:blipFill>
                <a:blip r:embed="rId2"/>
                <a:stretch>
                  <a:fillRect l="-908" b="-181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8205080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22661" y="543922"/>
                <a:ext cx="10067277" cy="50200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Exemplo. </a:t>
                </a:r>
                <a:r>
                  <a:rPr lang="pt-BR" sz="2400" dirty="0"/>
                  <a:t>Qual a probabilidade de que um dado deva ser lançado 15 vezes para que na 15ª vez ocorra a face 6 pela primeira vez?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Resolução. </a:t>
                </a:r>
                <a:r>
                  <a:rPr lang="pt-BR" sz="2400" dirty="0"/>
                  <a:t>seja X o número de lançamentos até que a face 6 ocorra pela primeira vez. Como cada lançamento é independente e tem a mesma probabilidade de sucesso, X segue uma distribuição geométrica com parâmetro: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= 1/6 ≈ 0,1667 </m:t>
                    </m:r>
                  </m:oMath>
                </a14:m>
                <a:r>
                  <a:rPr lang="pt-BR" sz="2400" dirty="0"/>
                  <a:t>(probabilidade de sair face 6)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= 1 − 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= 5/6 ≈ 0,8333 </m:t>
                    </m:r>
                  </m:oMath>
                </a14:m>
                <a:r>
                  <a:rPr lang="pt-BR" sz="2400" dirty="0"/>
                  <a:t>(probabilidade de não sair face 6)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661" y="543922"/>
                <a:ext cx="10067277" cy="5020092"/>
              </a:xfrm>
              <a:prstGeom prst="rect">
                <a:avLst/>
              </a:prstGeom>
              <a:blipFill>
                <a:blip r:embed="rId2"/>
                <a:stretch>
                  <a:fillRect l="-969" r="-727" b="-182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7247271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22661" y="543922"/>
                <a:ext cx="10067277" cy="52661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dirty="0"/>
                  <a:t>Função de probabilidade: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) = </m:t>
                      </m:r>
                      <m:sSup>
                        <m:sSup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p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· 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sSup>
                        <m:sSup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 = 1, 2, 3, …</m:t>
                      </m:r>
                    </m:oMath>
                  </m:oMathPara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Cálculo para k = 15: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=15) = </m:t>
                      </m:r>
                      <m:sSup>
                        <m:sSup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num>
                                <m:den>
                                  <m: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p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</m:e>
                      </m:d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 ≈ 0,077887 × 0,1667 ≈ 0,012981</m:t>
                      </m:r>
                    </m:oMath>
                  </m:oMathPara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Ou seja, há aproximadamente 1,30% de chance de que sejam necessários exatamente 15 lançamentos até sair a face 6 pela primeira vez.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661" y="543922"/>
                <a:ext cx="10067277" cy="5266122"/>
              </a:xfrm>
              <a:prstGeom prst="rect">
                <a:avLst/>
              </a:prstGeom>
              <a:blipFill>
                <a:blip r:embed="rId2"/>
                <a:stretch>
                  <a:fillRect l="-969" b="-185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4034171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CC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775960" y="457200"/>
            <a:ext cx="640080" cy="640080"/>
          </a:xfrm>
          <a:prstGeom prst="ellipse">
            <a:avLst/>
          </a:prstGeom>
          <a:solidFill>
            <a:srgbClr val="8A3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8A3B3F"/>
                </a:solidFill>
              </a:rPr>
              <a:t>VERIFICAÇÃO RÁPIDA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103120"/>
            <a:ext cx="9814560" cy="2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sz="2400" b="1">
                <a:solidFill>
                  <a:srgbClr val="3D1F21"/>
                </a:solidFill>
              </a:rPr>
              <a:t>"Por que a probabilidade de o primeiro "6" aparecer só no 15º lançamento é tão menor do que aparecer logo nos primeiros lançamentos — mesmo a chance de sair "6" sendo sempre a mesma (1/6) em cada tentativa?"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577840"/>
            <a:ext cx="1036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i="1">
                <a:solidFill>
                  <a:srgbClr val="8A5C5E"/>
                </a:solidFill>
              </a:rPr>
              <a:t>Sorteie um aluno antes de continuar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>
                <a:solidFill>
                  <a:srgbClr val="595959"/>
                </a:solidFill>
              </a:rPr>
              <a:t>CEA055 - Estatística e Probabilidade - Professor: Marcos Goulart Lima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17957"/>
            <a:ext cx="100672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7DF8CC13-1F17-4EC3-90EF-982BD09392E0}"/>
                  </a:ext>
                </a:extLst>
              </p:cNvPr>
              <p:cNvSpPr txBox="1"/>
              <p:nvPr/>
            </p:nvSpPr>
            <p:spPr>
              <a:xfrm>
                <a:off x="697146" y="751672"/>
                <a:ext cx="10966944" cy="44670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Distribuição de Pascal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Um experimento aleatório é repetido de forma independente até que o evento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sz="2400" dirty="0"/>
                  <a:t> ocorra pela </a:t>
                </a:r>
                <a:r>
                  <a:rPr lang="pt-BR" sz="2400" b="1" dirty="0"/>
                  <a:t>r-</a:t>
                </a:r>
                <a:r>
                  <a:rPr lang="pt-BR" sz="2400" b="1" dirty="0" err="1"/>
                  <a:t>ésima</a:t>
                </a:r>
                <a:r>
                  <a:rPr lang="pt-BR" sz="2400" dirty="0"/>
                  <a:t> vez.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=</m:t>
                    </m:r>
                  </m:oMath>
                </a14:m>
                <a:r>
                  <a:rPr lang="pt-BR" sz="2400" dirty="0"/>
                  <a:t> probabilidade de sucesso e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=</m:t>
                    </m:r>
                  </m:oMath>
                </a14:m>
                <a:r>
                  <a:rPr lang="pt-BR" sz="2400" dirty="0"/>
                  <a:t> probabilidade de fracasso, em cada tentativa.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= </m:t>
                    </m:r>
                  </m:oMath>
                </a14:m>
                <a:r>
                  <a:rPr lang="pt-BR" sz="2400" dirty="0"/>
                  <a:t>número de tentativas necessárias até a r-</a:t>
                </a:r>
                <a:r>
                  <a:rPr lang="pt-BR" sz="2400" dirty="0" err="1"/>
                  <a:t>ésima</a:t>
                </a:r>
                <a:r>
                  <a:rPr lang="pt-BR" sz="2400" dirty="0"/>
                  <a:t> ocorrência de A.</a:t>
                </a:r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7DF8CC13-1F17-4EC3-90EF-982BD09392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146" y="751672"/>
                <a:ext cx="10966944" cy="4467057"/>
              </a:xfrm>
              <a:prstGeom prst="rect">
                <a:avLst/>
              </a:prstGeom>
              <a:blipFill>
                <a:blip r:embed="rId2"/>
                <a:stretch>
                  <a:fillRect l="-834" b="-218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82444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17957"/>
            <a:ext cx="100672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7DF8CC13-1F17-4EC3-90EF-982BD09392E0}"/>
                  </a:ext>
                </a:extLst>
              </p:cNvPr>
              <p:cNvSpPr txBox="1"/>
              <p:nvPr/>
            </p:nvSpPr>
            <p:spPr>
              <a:xfrm>
                <a:off x="683894" y="559970"/>
                <a:ext cx="10966944" cy="57690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dirty="0"/>
                  <a:t>Se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= 1, </m:t>
                    </m:r>
                  </m:oMath>
                </a14:m>
                <a:r>
                  <a:rPr lang="pt-BR" sz="2400" dirty="0"/>
                  <a:t>X tem distribuição geométrica.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Se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sz="2400" dirty="0"/>
                  <a:t>, o evento A </a:t>
                </a:r>
                <a:r>
                  <a:rPr lang="pt-BR" sz="2400" b="1" dirty="0"/>
                  <a:t>ocorre pela r-</a:t>
                </a:r>
                <a:r>
                  <a:rPr lang="pt-BR" sz="2400" b="1" dirty="0" err="1"/>
                  <a:t>ésima</a:t>
                </a:r>
                <a:r>
                  <a:rPr lang="pt-BR" sz="2400" b="1" dirty="0"/>
                  <a:t> vez na repetição de número x</a:t>
                </a:r>
                <a:r>
                  <a:rPr lang="pt-BR" sz="2400" dirty="0"/>
                  <a:t>. Logo, A ocorreu (r−1) vezes nas (x−1) repetições anteriores.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Portanto,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−1, </m:t>
                        </m:r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·</m:t>
                    </m:r>
                    <m:sSup>
                      <m:sSupPr>
                        <m:ctrlPr>
                          <a:rPr lang="pt-BR" sz="2400" i="1" dirty="0" err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400" i="1" dirty="0" err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pt-BR" sz="2400" i="1" dirty="0" err="1" smtClean="0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p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·</m:t>
                    </m:r>
                    <m:sSup>
                      <m:sSup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sz="24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 dirty="0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sz="2400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d>
                      </m:e>
                      <m:sup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p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𝑝𝑎𝑟𝑎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≥ 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Podemos usar a notação:</a:t>
                </a:r>
                <a:endParaRPr lang="pt-BR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sz="2400" i="1" dirty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pt-BR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pt-BR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pt-BR" sz="2400" b="0" i="1" dirty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num>
                            <m:den>
                              <m:r>
                                <a:rPr lang="pt-BR" sz="2400" b="0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pt-BR" sz="2400" b="0" i="1" dirty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den>
                          </m:f>
                        </m:e>
                      </m:d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.</m:t>
                      </m:r>
                      <m:sSup>
                        <m:sSupPr>
                          <m:ctrlPr>
                            <a:rPr lang="pt-BR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400" i="1" dirty="0" err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pt-BR" sz="24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·</m:t>
                      </m:r>
                      <m:sSup>
                        <m:sSupPr>
                          <m:ctrlPr>
                            <a:rPr lang="pt-BR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 dirty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pt-BR" sz="2400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pt-BR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4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7DF8CC13-1F17-4EC3-90EF-982BD09392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894" y="559970"/>
                <a:ext cx="10966944" cy="5769080"/>
              </a:xfrm>
              <a:prstGeom prst="rect">
                <a:avLst/>
              </a:prstGeom>
              <a:blipFill>
                <a:blip r:embed="rId2"/>
                <a:stretch>
                  <a:fillRect l="-83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17015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17957"/>
            <a:ext cx="100672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7DF8CC13-1F17-4EC3-90EF-982BD09392E0}"/>
                  </a:ext>
                </a:extLst>
              </p:cNvPr>
              <p:cNvSpPr txBox="1"/>
              <p:nvPr/>
            </p:nvSpPr>
            <p:spPr>
              <a:xfrm>
                <a:off x="612528" y="539308"/>
                <a:ext cx="10966944" cy="26607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400" b="0" dirty="0"/>
                  <a:t> Variância e Esperança</a:t>
                </a:r>
              </a:p>
              <a:p>
                <a:endParaRPr lang="pt-BR" sz="2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</m:oMath>
                  </m:oMathPara>
                </a14:m>
                <a:endParaRPr lang="pt-BR" sz="2400" dirty="0"/>
              </a:p>
              <a:p>
                <a:endParaRPr lang="pt-BR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𝑉𝐴𝑅</m:t>
                      </m:r>
                      <m:d>
                        <m:d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p>
                            <m:sSup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7DF8CC13-1F17-4EC3-90EF-982BD09392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528" y="539308"/>
                <a:ext cx="10966944" cy="2660793"/>
              </a:xfrm>
              <a:prstGeom prst="rect">
                <a:avLst/>
              </a:prstGeom>
              <a:blipFill>
                <a:blip r:embed="rId2"/>
                <a:stretch>
                  <a:fillRect l="-222" t="-183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3347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17957"/>
            <a:ext cx="100672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7DF8CC13-1F17-4EC3-90EF-982BD09392E0}"/>
                  </a:ext>
                </a:extLst>
              </p:cNvPr>
              <p:cNvSpPr txBox="1"/>
              <p:nvPr/>
            </p:nvSpPr>
            <p:spPr>
              <a:xfrm>
                <a:off x="612528" y="639029"/>
                <a:ext cx="10966944" cy="55750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Exemplo. </a:t>
                </a:r>
                <a:r>
                  <a:rPr lang="pt-BR" sz="2400" dirty="0"/>
                  <a:t>A probabilidade de que um sinal de trânsito esteja aberto numa esquina é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0,20</m:t>
                    </m:r>
                  </m:oMath>
                </a14:m>
                <a:r>
                  <a:rPr lang="pt-BR" sz="2400" dirty="0"/>
                  <a:t>. Qual a probabilidade de que seja necessário passar pelo local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10 </m:t>
                    </m:r>
                  </m:oMath>
                </a14:m>
                <a:r>
                  <a:rPr lang="pt-BR" sz="2400" dirty="0"/>
                  <a:t>vezes para encontrá-lo aberto pela 4ª vez?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Resolução: Modelagem: seja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400" dirty="0"/>
                  <a:t> o número de tentativas (passagens pelo local) necessárias até encontrar o sinal aberto pela 4ª vez (r = 4). Cada tentativa é independente, com: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= 0,20 </m:t>
                    </m:r>
                  </m:oMath>
                </a14:m>
                <a:r>
                  <a:rPr lang="pt-BR" sz="2400" dirty="0"/>
                  <a:t>(probabilidade de sucesso)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= 1 − 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= 0,80 </m:t>
                    </m:r>
                  </m:oMath>
                </a14:m>
                <a:r>
                  <a:rPr lang="pt-BR" sz="2400" dirty="0"/>
                  <a:t>(probabilidade de fracasso)</a:t>
                </a:r>
                <a:endParaRPr lang="pt-BR" sz="2800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7DF8CC13-1F17-4EC3-90EF-982BD09392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528" y="639029"/>
                <a:ext cx="10966944" cy="5575052"/>
              </a:xfrm>
              <a:prstGeom prst="rect">
                <a:avLst/>
              </a:prstGeom>
              <a:blipFill>
                <a:blip r:embed="rId2"/>
                <a:stretch>
                  <a:fillRect l="-833" b="-164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54795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517957"/>
            <a:ext cx="100672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7DF8CC13-1F17-4EC3-90EF-982BD09392E0}"/>
                  </a:ext>
                </a:extLst>
              </p:cNvPr>
              <p:cNvSpPr txBox="1"/>
              <p:nvPr/>
            </p:nvSpPr>
            <p:spPr>
              <a:xfrm>
                <a:off x="612528" y="639029"/>
                <a:ext cx="10966944" cy="44670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Função de probabilidade:</a:t>
                </a:r>
                <a:endParaRPr lang="pt-BR" sz="24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· </m:t>
                      </m:r>
                      <m:sSup>
                        <m:sSupPr>
                          <m:ctrlPr>
                            <a:rPr lang="pt-BR" sz="2400" i="1" dirty="0" err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400" i="1" dirty="0" err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pt-BR" sz="2400" i="1" dirty="0" err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 ·</m:t>
                      </m:r>
                      <m:sSup>
                        <m:sSupPr>
                          <m:ctrlPr>
                            <a:rPr lang="pt-BR" sz="2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 dirty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pt-BR" sz="2400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pt-BR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4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 ≥ </m:t>
                      </m:r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Cálculo para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= 10, 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= 4:</m:t>
                    </m:r>
                  </m:oMath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=10)=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(9,3)×</m:t>
                      </m:r>
                      <m:sSup>
                        <m:sSup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0,20</m:t>
                              </m:r>
                            </m:e>
                          </m:d>
                        </m:e>
                        <m:sup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pt-BR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 dirty="0" smtClean="0">
                                  <a:latin typeface="Cambria Math" panose="02040503050406030204" pitchFamily="18" charset="0"/>
                                </a:rPr>
                                <m:t>0,80</m:t>
                              </m:r>
                            </m:e>
                          </m:d>
                        </m:e>
                        <m:sup>
                          <m:r>
                            <a:rPr lang="pt-BR" sz="2400" i="1" dirty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p>
                      <m:r>
                        <a:rPr lang="pt-BR" sz="2400" i="1" dirty="0" smtClean="0">
                          <a:latin typeface="Cambria Math" panose="02040503050406030204" pitchFamily="18" charset="0"/>
                        </a:rPr>
                        <m:t>=84×0,0016×0,262144=0,03523</m:t>
                      </m:r>
                    </m:oMath>
                  </m:oMathPara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Ou seja, há aproximadamente 3,52% de chance de serem necessárias exatamente 10 passagens pelo local para encontrar o sinal aberto pela 4ª vez.</a:t>
                </a:r>
                <a:endParaRPr lang="pt-BR" sz="2800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7DF8CC13-1F17-4EC3-90EF-982BD09392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528" y="639029"/>
                <a:ext cx="10966944" cy="4467057"/>
              </a:xfrm>
              <a:prstGeom prst="rect">
                <a:avLst/>
              </a:prstGeom>
              <a:blipFill>
                <a:blip r:embed="rId2"/>
                <a:stretch>
                  <a:fillRect l="-833" b="-218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14553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CC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775960" y="457200"/>
            <a:ext cx="640080" cy="640080"/>
          </a:xfrm>
          <a:prstGeom prst="ellipse">
            <a:avLst/>
          </a:prstGeom>
          <a:solidFill>
            <a:srgbClr val="8A3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8A3B3F"/>
                </a:solidFill>
              </a:rPr>
              <a:t>VERIFICAÇÃO RÁPIDA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103120"/>
            <a:ext cx="981456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sz="2800" b="1">
                <a:solidFill>
                  <a:srgbClr val="3D1F21"/>
                </a:solidFill>
              </a:rPr>
              <a:t>"Por que, se r=1, a fórmula de Pascal vira exatamente a fórmula da geométrica?"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577840"/>
            <a:ext cx="1036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i="1">
                <a:solidFill>
                  <a:srgbClr val="8A5C5E"/>
                </a:solidFill>
              </a:rPr>
              <a:t>Sorteie um aluno antes de continuar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>
                <a:solidFill>
                  <a:srgbClr val="595959"/>
                </a:solidFill>
              </a:rPr>
              <a:t>CEA055 - Estatística e Probabilidade - Professor: Marcos Goulart Lima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722661" y="587103"/>
            <a:ext cx="10067277" cy="5021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b="1" dirty="0"/>
              <a:t>Atividades referentes à aula</a:t>
            </a:r>
          </a:p>
          <a:p>
            <a:pPr>
              <a:lnSpc>
                <a:spcPct val="150000"/>
              </a:lnSpc>
            </a:pPr>
            <a:r>
              <a:rPr lang="pt-BR" sz="2400" dirty="0"/>
              <a:t>Leitura recomendada: 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Bussab &amp; Morettin — Cap. 6: 6.6.1, 6.6.2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Montgomery &amp; Runger — Cap. 3: 3.4, 3.6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Magalhães &amp; Lima — Cap. 3: 3.2, 3.3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Morettin — Cap. 4: 4.1, 4.2, 4.3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7927067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722661" y="587103"/>
            <a:ext cx="10067277" cy="5021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b="1" dirty="0"/>
              <a:t>Atividades referentes à aula (continuação)</a:t>
            </a:r>
          </a:p>
          <a:p>
            <a:pPr>
              <a:lnSpc>
                <a:spcPct val="150000"/>
              </a:lnSpc>
            </a:pPr>
            <a:r>
              <a:rPr lang="pt-BR" sz="2400" dirty="0"/>
              <a:t>Exercícios recomendados: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Bussab &amp; Morettin — Cap. 6: Problema 20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Magalhães &amp; Lima — Cap. 3 (3.4 Exercícios): 24 e 25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Montgomery &amp; Runger — Cap. 3: 3.4.1, 3.4.2, 3.4.3, 3.4.4, 3.4.5, 3.6.1, 3.6.3, 3.6.4, 3.6.5 e 3.6.6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7620000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61C097B-F802-48F1-A508-1B622AAC75E0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473666dd-440f-4b1f-be23-e6f44dff86f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4309</TotalTime>
  <Words>1890</Words>
  <Application>Microsoft Office PowerPoint</Application>
  <PresentationFormat>Widescreen</PresentationFormat>
  <Paragraphs>219</Paragraphs>
  <Slides>26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26</vt:i4>
      </vt:variant>
    </vt:vector>
  </HeadingPairs>
  <TitlesOfParts>
    <vt:vector size="32" baseType="lpstr">
      <vt:lpstr>AlternateGothic2 BT</vt:lpstr>
      <vt:lpstr>Arial</vt:lpstr>
      <vt:lpstr>Calibri</vt:lpstr>
      <vt:lpstr>Calibri Light</vt:lpstr>
      <vt:lpstr>Cambria Math</vt:lpstr>
      <vt:lpstr>Tema do Office</vt:lpstr>
      <vt:lpstr>CEA055 – Estatística e Probabilidade Modelos Discretos I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Marcos Goulart Lima</dc:creator>
  <cp:lastModifiedBy>Marcos Goulart Lima</cp:lastModifiedBy>
  <cp:revision>160</cp:revision>
  <dcterms:created xsi:type="dcterms:W3CDTF">2020-07-20T19:35:15Z</dcterms:created>
  <dcterms:modified xsi:type="dcterms:W3CDTF">2026-09-28T18:33:08Z</dcterms:modified>
</cp:coreProperties>
</file>