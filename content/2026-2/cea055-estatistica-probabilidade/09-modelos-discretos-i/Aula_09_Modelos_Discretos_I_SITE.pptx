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902" r:id="rId2"/>
    <p:sldId id="903" r:id="rId3"/>
    <p:sldId id="904" r:id="rId4"/>
    <p:sldId id="922" r:id="rId5"/>
    <p:sldId id="920" r:id="rId6"/>
    <p:sldId id="907" r:id="rId7"/>
    <p:sldId id="908" r:id="rId8"/>
    <p:sldId id="926" r:id="rId9"/>
    <p:sldId id="923" r:id="rId10"/>
    <p:sldId id="911" r:id="rId11"/>
    <p:sldId id="912" r:id="rId12"/>
    <p:sldId id="925" r:id="rId13"/>
    <p:sldId id="927" r:id="rId14"/>
    <p:sldId id="913" r:id="rId15"/>
    <p:sldId id="928" r:id="rId16"/>
    <p:sldId id="914" r:id="rId17"/>
    <p:sldId id="915" r:id="rId18"/>
    <p:sldId id="916" r:id="rId19"/>
    <p:sldId id="929" r:id="rId20"/>
    <p:sldId id="930" r:id="rId21"/>
    <p:sldId id="917" r:id="rId22"/>
    <p:sldId id="935" r:id="rId23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Modelos Discretos I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61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Conhecer a distribuição uniforme discreta e a distribuição de Bernoulli.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Conhecer a distribuição geométrica e calcular suas probabilidades.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6 (6.6.1, 6.6.2)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</a:t>
            </a:r>
            <a:r>
              <a:rPr lang="pt-BR" sz="2200"/>
              <a:t>. </a:t>
            </a:r>
            <a:r>
              <a:rPr lang="pt-BR" sz="2200" b="1"/>
              <a:t>Estatística Aplicada e Probabilidade para Engenheiros</a:t>
            </a:r>
            <a:r>
              <a:rPr lang="pt-BR" sz="2200"/>
              <a:t>, 7ª ed. — </a:t>
            </a:r>
            <a:r>
              <a:rPr lang="pt-BR" sz="2200" dirty="0"/>
              <a:t>Cap. 3 (3.4, 3.6)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3 (3.2, 3.3)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Morettin. </a:t>
            </a:r>
            <a:r>
              <a:rPr lang="pt-BR" sz="2200" b="1" dirty="0"/>
              <a:t>Estatística Básica: Probabilidade e Inferência</a:t>
            </a:r>
            <a:r>
              <a:rPr lang="pt-BR" sz="2200" dirty="0"/>
              <a:t> — Cap. 4 (4.1, 4.2, 4.3)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515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94601" y="713754"/>
                <a:ext cx="10067277" cy="55740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Uniforme Discreta</a:t>
                </a:r>
              </a:p>
              <a:p>
                <a:pPr marL="285737" indent="-285737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v.a. discreta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, assumindo os valores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400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pt-BR" sz="2400" dirty="0"/>
                  <a:t>, tem distribuição uniforme se, e somente se,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 = </m:t>
                          </m:r>
                          <m:sSub>
                            <m:sSub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1/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para todo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1, 2, …,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Notação: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[1,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pt-BR" sz="2400" dirty="0"/>
                  <a:t> (valores de 1 a k.)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601" y="713754"/>
                <a:ext cx="10067277" cy="5574090"/>
              </a:xfrm>
              <a:prstGeom prst="rect">
                <a:avLst/>
              </a:prstGeom>
              <a:blipFill>
                <a:blip r:embed="rId2"/>
                <a:stretch>
                  <a:fillRect l="-908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405478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1058" y="751603"/>
                <a:ext cx="10067277" cy="56524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Distribuição Uniforme Discreta</a:t>
                </a:r>
              </a:p>
              <a:p>
                <a:pPr marL="285737" indent="-285737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endParaRPr lang="pt-B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nary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pt-BR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pt-BR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p>
                                        <m:e>
                                          <m:sSub>
                                            <m:sSubPr>
                                              <m:ctrlP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pt-BR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e>
                                  </m:d>
                                </m:e>
                                <m:sup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400" dirty="0" err="1"/>
                  <a:t>F.d.a</a:t>
                </a: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23"/>
                            </m:rP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den>
                          </m:f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58" y="751603"/>
                <a:ext cx="10067277" cy="5652445"/>
              </a:xfrm>
              <a:prstGeom prst="rect">
                <a:avLst/>
              </a:prstGeom>
              <a:blipFill>
                <a:blip r:embed="rId2"/>
                <a:stretch>
                  <a:fillRect l="-908" t="-8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696561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751058" y="749300"/>
            <a:ext cx="10909719" cy="177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 Em um RPG de mesa, um jogador rola um dado de 8 lados (d8) para determinar o dano de um feitiço. Seja X o resultado do lançamento.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Tabela de distribuição de probabilidade:</a:t>
            </a:r>
          </a:p>
        </p:txBody>
      </p:sp>
      <p:graphicFrame>
        <p:nvGraphicFramePr>
          <p:cNvPr id="7" name="Tabela distribuicao"/>
          <p:cNvGraphicFramePr>
            <a:graphicFrameLocks noGrp="1"/>
          </p:cNvGraphicFramePr>
          <p:nvPr/>
        </p:nvGraphicFramePr>
        <p:xfrm>
          <a:off x="838200" y="2565400"/>
          <a:ext cx="10731500" cy="1016000"/>
        </p:xfrm>
        <a:graphic>
          <a:graphicData uri="http://schemas.openxmlformats.org/drawingml/2006/table">
            <a:tbl>
              <a:tblPr firstRow="1"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400" b="1" dirty="0"/>
                        <a:t>x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4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400" b="1" dirty="0"/>
                        <a:t>P(X = x)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1/8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BFBFBF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51058" y="3708400"/>
                <a:ext cx="10909719" cy="2415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Esperança: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1+2+3+4+5+6+7+8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=36/8=4,5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Fórmula geral: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4,5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058" y="3708400"/>
                <a:ext cx="10909719" cy="2415533"/>
              </a:xfrm>
              <a:prstGeom prst="rect">
                <a:avLst/>
              </a:prstGeom>
              <a:blipFill>
                <a:blip r:embed="rId2"/>
                <a:stretch>
                  <a:fillRect l="-838" b="-15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54520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41140" y="407046"/>
                <a:ext cx="10909719" cy="58621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Variância: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1+4+9+16+25+36+49+64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204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=25,5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−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25,5 − 20,25 = 5,25 =</m:t>
                      </m:r>
                      <m:f>
                        <m:f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Fórmula geral: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5,25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distribuição acumulada (FDA): </a:t>
                </a:r>
                <a14:m>
                  <m:oMath xmlns:m="http://schemas.openxmlformats.org/officeDocument/2006/math">
                    <m:r>
                      <a:rPr lang="pt-BR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        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  <m:e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⌊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⌋/8</m:t>
                            </m:r>
                            <m:r>
                              <a:rPr lang="pt-BR" sz="240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pt-BR" sz="2400" b="0" i="0" smtClean="0">
                                <a:latin typeface="Cambria Math" panose="02040503050406030204" pitchFamily="18" charset="0"/>
                              </a:rPr>
                              <m:t>     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se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 1 ≤ 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x</m:t>
                            </m:r>
                            <m:r>
                              <m:rPr>
                                <m:nor/>
                              </m:rPr>
                              <a:rPr lang="pt-BR" sz="2400" dirty="0"/>
                              <m:t> &lt; 8 </m:t>
                            </m:r>
                          </m:e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1,           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≥8</m:t>
                            </m:r>
                          </m:e>
                        </m:eqArr>
                      </m:e>
                    </m:d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(degraus de altura 1/8 em cada valor inteiro de 1 a 8)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140" y="407046"/>
                <a:ext cx="10909719" cy="5862118"/>
              </a:xfrm>
              <a:prstGeom prst="rect">
                <a:avLst/>
              </a:prstGeom>
              <a:blipFill>
                <a:blip r:embed="rId2"/>
                <a:stretch>
                  <a:fillRect l="-838" b="-14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32838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596765" y="505695"/>
                <a:ext cx="10067277" cy="5196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Distribuição de Bernoulli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b="1" dirty="0"/>
                  <a:t>Definição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A variável aleatória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>, que assume apenas os valores 0 e 1 (sucesso e fracasso), com função de probabilidade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pt-BR" sz="2800" dirty="0"/>
                  <a:t> tal que:</a:t>
                </a:r>
              </a:p>
              <a:p>
                <a:pPr>
                  <a:lnSpc>
                    <a:spcPct val="150000"/>
                  </a:lnSpc>
                </a:pPr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(0)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0) = 1 –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(1)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 = 1) = 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800" dirty="0"/>
              </a:p>
              <a:p>
                <a:pPr>
                  <a:lnSpc>
                    <a:spcPct val="150000"/>
                  </a:lnSpc>
                </a:pPr>
                <a:r>
                  <a:rPr lang="pt-BR" sz="2800" dirty="0"/>
                  <a:t>é chamada variável aleatória de Bernoulli.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765" y="505695"/>
                <a:ext cx="10067277" cy="5196166"/>
              </a:xfrm>
              <a:prstGeom prst="rect">
                <a:avLst/>
              </a:prstGeom>
              <a:blipFill>
                <a:blip r:embed="rId2"/>
                <a:stretch>
                  <a:fillRect l="-1272" r="-61" b="-246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3038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03391" y="683070"/>
                <a:ext cx="10067277" cy="5739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de Bernoulli</a:t>
                </a:r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pt-BR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2400" b="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pt-BR" sz="2400" dirty="0"/>
              </a:p>
              <a:p>
                <a:pPr marL="457200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400" dirty="0" err="1"/>
                  <a:t>F.d.a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1,</m:t>
                              </m:r>
                            </m:e>
                          </m:eqAr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&lt;0,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0≤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&lt; 1,</m:t>
                            </m:r>
                          </m:e>
                        </m:mr>
                        <m:m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≥1.</m:t>
                            </m:r>
                          </m:e>
                        </m:mr>
                      </m:m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91" y="683070"/>
                <a:ext cx="10067277" cy="5739007"/>
              </a:xfrm>
              <a:prstGeom prst="rect">
                <a:avLst/>
              </a:prstGeom>
              <a:blipFill>
                <a:blip r:embed="rId2"/>
                <a:stretch>
                  <a:fillRect l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76576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69652" y="649940"/>
                <a:ext cx="10067277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</a:t>
                </a:r>
                <a:r>
                  <a:rPr lang="pt-BR" sz="2400" b="0" dirty="0"/>
                  <a:t> Uma urna tem 30 bolas brancas e 20 verdes. Retira-se uma bola dessa urna. Seja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b="0" dirty="0"/>
                  <a:t> o número de bolas verdes, calcular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b="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𝑉𝐴𝑅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b="0" dirty="0"/>
                  <a:t> e determinar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endParaRPr lang="pt-BR" sz="2400" b="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</a:t>
                </a:r>
                <a:r>
                  <a:rPr lang="pt-BR" sz="2400" b="0" dirty="0"/>
                  <a:t>: como só há duas possibilidades (bola verde ou branca), </a:t>
                </a:r>
                <a14:m>
                  <m:oMath xmlns:m="http://schemas.openxmlformats.org/officeDocument/2006/math"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b="0" dirty="0"/>
                  <a:t> é uma variável aleatória de Bernoulli: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0" dirty="0"/>
                  <a:t>X = 1, se a bola retirada for verde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0" dirty="0"/>
                  <a:t>X = 0, se a bola retirada for branca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52" y="649940"/>
                <a:ext cx="10067277" cy="4467057"/>
              </a:xfrm>
              <a:prstGeom prst="rect">
                <a:avLst/>
              </a:prstGeom>
              <a:blipFill>
                <a:blip r:embed="rId2"/>
                <a:stretch>
                  <a:fillRect l="-969" r="-1393" b="-23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38826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69652" y="649940"/>
                <a:ext cx="10067277" cy="5678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b="0" dirty="0"/>
                  <a:t>Parâmetro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200" b="0" dirty="0"/>
                  <a:t> (probabilidade de sucesso = sair bola verde):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=1) =</m:t>
                    </m:r>
                  </m:oMath>
                </a14:m>
                <a:r>
                  <a:rPr lang="pt-BR" sz="2200" b="0" dirty="0"/>
                  <a:t> bolas verdes / total de bolas </a:t>
                </a: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 20/50 = 2/5 = 0,4</m:t>
                    </m:r>
                  </m:oMath>
                </a14:m>
                <a:endParaRPr lang="pt-BR" sz="2200" b="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=0) = 1 − 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200" b="0" i="1" dirty="0" smtClean="0">
                        <a:latin typeface="Cambria Math" panose="02040503050406030204" pitchFamily="18" charset="0"/>
                      </a:rPr>
                      <m:t> = 30/50 = 3/5 = 0,6</m:t>
                    </m:r>
                  </m:oMath>
                </a14:m>
                <a:r>
                  <a:rPr lang="pt-BR" sz="2200" b="0" dirty="0"/>
                  <a:t>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b="0" dirty="0"/>
                  <a:t>Função de probabilidade P(X):</a:t>
                </a:r>
              </a:p>
              <a:p>
                <a:pPr>
                  <a:lnSpc>
                    <a:spcPct val="150000"/>
                  </a:lnSpc>
                </a:pPr>
                <a:endParaRPr lang="pt-BR" sz="2200" b="0" dirty="0"/>
              </a:p>
              <a:p>
                <a:pPr>
                  <a:lnSpc>
                    <a:spcPct val="150000"/>
                  </a:lnSpc>
                </a:pPr>
                <a:endParaRPr lang="pt-BR" sz="22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pt-BR" sz="22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b="0" dirty="0"/>
                  <a:t>Esperança: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 = 0,4</m:t>
                      </m:r>
                    </m:oMath>
                  </m:oMathPara>
                </a14:m>
                <a:endParaRPr lang="pt-BR" sz="2200" b="0" dirty="0"/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b="0" dirty="0"/>
                  <a:t>Variância: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200" b="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pt-BR" sz="2200" b="0" i="1" dirty="0" err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200" b="0" i="1" dirty="0" err="1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200" b="0" i="1" dirty="0" err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pt-BR" sz="2200" b="0" i="1" dirty="0">
                          <a:latin typeface="Cambria Math" panose="02040503050406030204" pitchFamily="18" charset="0"/>
                        </a:rPr>
                        <m:t> = 0,4 × 0,6 = 0,24</m:t>
                      </m:r>
                    </m:oMath>
                  </m:oMathPara>
                </a14:m>
                <a:endParaRPr lang="pt-BR" sz="2200" b="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52" y="649940"/>
                <a:ext cx="10067277" cy="5678478"/>
              </a:xfrm>
              <a:prstGeom prst="rect">
                <a:avLst/>
              </a:prstGeom>
              <a:blipFill>
                <a:blip r:embed="rId2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graphicFrame>
        <p:nvGraphicFramePr>
          <p:cNvPr id="7" name="Tabela distribuica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543979"/>
              </p:ext>
            </p:extLst>
          </p:nvPr>
        </p:nvGraphicFramePr>
        <p:xfrm>
          <a:off x="1093305" y="2921000"/>
          <a:ext cx="4412973" cy="1016000"/>
        </p:xfrm>
        <a:graphic>
          <a:graphicData uri="http://schemas.openxmlformats.org/drawingml/2006/table">
            <a:tbl>
              <a:tblPr firstRow="1"/>
              <a:tblGrid>
                <a:gridCol w="1186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33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400" b="1" dirty="0"/>
                        <a:t>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pt-BR" sz="2400" b="1" dirty="0"/>
                        <a:t>P(X = 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0,4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213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89530" y="663192"/>
                <a:ext cx="10067277" cy="53420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Geométrica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Definição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Interpretando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 como probabilidade de sucesso, a distribuição geométrica pode ser pensada como o número de ensaios de Bernoulli </a:t>
                </a:r>
                <a:r>
                  <a:rPr lang="pt-BR" sz="2400" b="1" dirty="0"/>
                  <a:t>até o primeiro sucesso (inclusive).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probabilidade: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Alguns livros usam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30" y="663192"/>
                <a:ext cx="10067277" cy="5342040"/>
              </a:xfrm>
              <a:prstGeom prst="rect">
                <a:avLst/>
              </a:prstGeom>
              <a:blipFill>
                <a:blip r:embed="rId2"/>
                <a:stretch>
                  <a:fillRect l="-908" b="-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192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35304" y="570427"/>
                <a:ext cx="10067277" cy="3820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1" dirty="0"/>
                  <a:t>Distribuição Geométrica</a:t>
                </a:r>
              </a:p>
              <a:p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Esperança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400" dirty="0"/>
                  <a:t>Variância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𝑉𝐴𝑅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04" y="570427"/>
                <a:ext cx="10067277" cy="3820533"/>
              </a:xfrm>
              <a:prstGeom prst="rect">
                <a:avLst/>
              </a:prstGeom>
              <a:blipFill>
                <a:blip r:embed="rId2"/>
                <a:stretch>
                  <a:fillRect l="-909" t="-12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90373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55183" y="490913"/>
                <a:ext cx="10067277" cy="5760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A probabilidade de se encontrar aberto o sinal de trânsito numa esquina é 0,20. Qual a probabilidade de que seja necessário passar pelo local 5 vezes para encontrar o sinal aberto pela primeira vez? 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Resolução:</a:t>
                </a:r>
                <a:r>
                  <a:rPr lang="pt-BR" sz="2400" dirty="0"/>
                  <a:t> 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o número de tentativas (passagens pelo local) até encontrar o sinal aberto pela primeira vez. Como cada tentativa é independente e tem a mesma probabilidade de sucesso, X segue uma distribuição geométrica com parâmetro: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 = 0,20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probabilidade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sucesso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) </m:t>
                              </m:r>
                            </m:e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 =  0,80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(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probabilidade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de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fracasso</m:t>
                              </m:r>
                              <m:r>
                                <m:rPr>
                                  <m:nor/>
                                </m:rPr>
                                <a:rPr lang="pt-BR" sz="2400" dirty="0"/>
                                <m:t>)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83" y="490913"/>
                <a:ext cx="10067277" cy="5760038"/>
              </a:xfrm>
              <a:prstGeom prst="rect">
                <a:avLst/>
              </a:prstGeom>
              <a:blipFill>
                <a:blip r:embed="rId2"/>
                <a:stretch>
                  <a:fillRect l="-908" r="-15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0750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55183" y="490913"/>
                <a:ext cx="10067277" cy="5030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probabilidade: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)=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1, 2, 3, …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Cálculo para k = 5: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=5)=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0,80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×0,20=0,4096×0,20=0,08192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Ou seja, há aproximadamente 8,19% de chance de que sejam necessárias exatamente 5 passagens pelo local até encontrar o sinal aberto pela primeira vez.</a:t>
                </a:r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183" y="490913"/>
                <a:ext cx="10067277" cy="5030864"/>
              </a:xfrm>
              <a:prstGeom prst="rect">
                <a:avLst/>
              </a:prstGeom>
              <a:blipFill>
                <a:blip r:embed="rId2"/>
                <a:stretch>
                  <a:fillRect l="-908" b="-18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20508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2661" y="543922"/>
                <a:ext cx="10067277" cy="5020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Qual a probabilidade de que um dado deva ser lançado 15 vezes para que na 15ª vez ocorra a face 6 pela primeira vez?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Resolução. </a:t>
                </a:r>
                <a:r>
                  <a:rPr lang="pt-BR" sz="2400" dirty="0"/>
                  <a:t>seja X o número de lançamentos até que a face 6 ocorra pela primeira vez. Como cada lançamento é independente e tem a mesma probabilidade de sucesso, X segue uma distribuição geométrica com parâmetro: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1/6 ≈ 0,1667 </m:t>
                    </m:r>
                  </m:oMath>
                </a14:m>
                <a:r>
                  <a:rPr lang="pt-BR" sz="2400" dirty="0"/>
                  <a:t>(probabilidade de sair face 6)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1 −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5/6 ≈ 0,8333 </m:t>
                    </m:r>
                  </m:oMath>
                </a14:m>
                <a:r>
                  <a:rPr lang="pt-BR" sz="2400" dirty="0"/>
                  <a:t>(probabilidade de não sair face 6)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543922"/>
                <a:ext cx="10067277" cy="5020092"/>
              </a:xfrm>
              <a:prstGeom prst="rect">
                <a:avLst/>
              </a:prstGeom>
              <a:blipFill>
                <a:blip r:embed="rId2"/>
                <a:stretch>
                  <a:fillRect l="-969" r="-727" b="-182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24727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722661" y="543922"/>
                <a:ext cx="10067277" cy="52661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Função de probabilidade: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) =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= 1, 2, 3, …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Cálculo para k = 15: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=15) = 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num>
                                <m:den>
                                  <m:r>
                                    <a:rPr lang="pt-BR" sz="2400" i="1" dirty="0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 ≈ 0,077887 × 0,1667 ≈ 0,012981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Ou seja, há aproximadamente 1,30% de chance de que sejam necessários exatamente 15 lançamentos até sair a face 6 pela primeira vez.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61" y="543922"/>
                <a:ext cx="10067277" cy="5266122"/>
              </a:xfrm>
              <a:prstGeom prst="rect">
                <a:avLst/>
              </a:prstGeom>
              <a:blipFill>
                <a:blip r:embed="rId2"/>
                <a:stretch>
                  <a:fillRect l="-969" b="-18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03417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97146" y="751672"/>
                <a:ext cx="10966944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Distribuição de Pascal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Um experimento aleatório é repetido de forma independente até que o evento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ocorra pela </a:t>
                </a:r>
                <a:r>
                  <a:rPr lang="pt-BR" sz="2400" b="1" dirty="0"/>
                  <a:t>r-</a:t>
                </a:r>
                <a:r>
                  <a:rPr lang="pt-BR" sz="2400" b="1" dirty="0" err="1"/>
                  <a:t>ésima</a:t>
                </a:r>
                <a:r>
                  <a:rPr lang="pt-BR" sz="2400" dirty="0"/>
                  <a:t> vez.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sz="2400" dirty="0"/>
                  <a:t> probabilidade de sucesso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pt-BR" sz="2400" dirty="0"/>
                  <a:t> probabilidade de fracasso, em cada tentativa.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</m:oMath>
                </a14:m>
                <a:r>
                  <a:rPr lang="pt-BR" sz="2400" dirty="0"/>
                  <a:t>número de tentativas necessárias até a r-</a:t>
                </a:r>
                <a:r>
                  <a:rPr lang="pt-BR" sz="2400" dirty="0" err="1"/>
                  <a:t>ésima</a:t>
                </a:r>
                <a:r>
                  <a:rPr lang="pt-BR" sz="2400" dirty="0"/>
                  <a:t> ocorrência de A.</a:t>
                </a: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46" y="751672"/>
                <a:ext cx="10966944" cy="4467057"/>
              </a:xfrm>
              <a:prstGeom prst="rect">
                <a:avLst/>
              </a:prstGeom>
              <a:blipFill>
                <a:blip r:embed="rId2"/>
                <a:stretch>
                  <a:fillRect l="-834" b="-21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24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83894" y="559970"/>
                <a:ext cx="10966944" cy="5769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1, </m:t>
                    </m:r>
                  </m:oMath>
                </a14:m>
                <a:r>
                  <a:rPr lang="pt-BR" sz="2400" dirty="0"/>
                  <a:t>X tem distribuição geométrica.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, o evento A </a:t>
                </a:r>
                <a:r>
                  <a:rPr lang="pt-BR" sz="2400" b="1" dirty="0"/>
                  <a:t>ocorre pela r-</a:t>
                </a:r>
                <a:r>
                  <a:rPr lang="pt-BR" sz="2400" b="1" dirty="0" err="1"/>
                  <a:t>ésima</a:t>
                </a:r>
                <a:r>
                  <a:rPr lang="pt-BR" sz="2400" b="1" dirty="0"/>
                  <a:t> vez na repetição de número x</a:t>
                </a:r>
                <a:r>
                  <a:rPr lang="pt-BR" sz="2400" dirty="0"/>
                  <a:t>. Logo, A ocorreu (r−1) vezes nas (x−1) repetições anteriores.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Portanto,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−1, 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i="1" dirty="0" err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pt-BR" sz="2400" i="1" dirty="0" err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·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𝑝𝑎𝑟𝑎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≥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Podemos usar a notação:</a:t>
                </a:r>
                <a:endParaRPr lang="pt-BR" sz="240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pt-BR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d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4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4" y="559970"/>
                <a:ext cx="10966944" cy="5769080"/>
              </a:xfrm>
              <a:prstGeom prst="rect">
                <a:avLst/>
              </a:prstGeom>
              <a:blipFill>
                <a:blip r:embed="rId2"/>
                <a:stretch>
                  <a:fillRect l="-8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1701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12528" y="539308"/>
                <a:ext cx="10966944" cy="26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400" b="0" dirty="0"/>
                  <a:t> Variância e Esperança</a:t>
                </a:r>
              </a:p>
              <a:p>
                <a:endParaRPr lang="pt-BR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pt-BR" sz="2400" dirty="0"/>
              </a:p>
              <a:p>
                <a:endParaRPr lang="pt-BR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𝑉𝐴𝑅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28" y="539308"/>
                <a:ext cx="10966944" cy="2660793"/>
              </a:xfrm>
              <a:prstGeom prst="rect">
                <a:avLst/>
              </a:prstGeom>
              <a:blipFill>
                <a:blip r:embed="rId2"/>
                <a:stretch>
                  <a:fillRect l="-222" t="-183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34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12528" y="639029"/>
                <a:ext cx="10966944" cy="5575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A probabilidade de que um sinal de trânsito esteja aberto numa esquina é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0,20</m:t>
                    </m:r>
                  </m:oMath>
                </a14:m>
                <a:r>
                  <a:rPr lang="pt-BR" sz="2400" dirty="0"/>
                  <a:t>. Qual a probabilidade de que seja necessário passar pelo local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10 </m:t>
                    </m:r>
                  </m:oMath>
                </a14:m>
                <a:r>
                  <a:rPr lang="pt-BR" sz="2400" dirty="0"/>
                  <a:t>vezes para encontrá-lo aberto pela 4ª vez?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Resolução: Modelagem: seja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400" dirty="0"/>
                  <a:t> o número de tentativas (passagens pelo local) necessárias até encontrar o sinal aberto pela 4ª vez (r = 4). Cada tentativa é independente, com: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0,20 </m:t>
                    </m:r>
                  </m:oMath>
                </a14:m>
                <a:r>
                  <a:rPr lang="pt-BR" sz="2400" dirty="0"/>
                  <a:t>(probabilidade de sucesso)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1 −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0,80 </m:t>
                    </m:r>
                  </m:oMath>
                </a14:m>
                <a:r>
                  <a:rPr lang="pt-BR" sz="2400" dirty="0"/>
                  <a:t>(probabilidade de fracasso)</a:t>
                </a:r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28" y="639029"/>
                <a:ext cx="10966944" cy="5575052"/>
              </a:xfrm>
              <a:prstGeom prst="rect">
                <a:avLst/>
              </a:prstGeom>
              <a:blipFill>
                <a:blip r:embed="rId2"/>
                <a:stretch>
                  <a:fillRect l="-833" b="-16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547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17957"/>
            <a:ext cx="100672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b="1" dirty="0"/>
          </a:p>
          <a:p>
            <a:endParaRPr lang="pt-BR" sz="2800" b="1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/>
              <p:nvPr/>
            </p:nvSpPr>
            <p:spPr>
              <a:xfrm>
                <a:off x="612528" y="639029"/>
                <a:ext cx="10966944" cy="446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Função de probabilidade:</a:t>
                </a:r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· </m:t>
                      </m:r>
                      <m:sSup>
                        <m:sSupPr>
                          <m:ctrlPr>
                            <a:rPr lang="pt-BR" sz="2400" i="1" dirty="0" err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pt-BR" sz="2400" i="1" dirty="0" err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·</m:t>
                      </m:r>
                      <m:sSup>
                        <m:sSupPr>
                          <m:ctrlPr>
                            <a:rPr lang="pt-BR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pt-BR" sz="24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 ≥ </m:t>
                      </m:r>
                      <m:r>
                        <a:rPr lang="pt-BR" sz="2400" i="1" dirty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Cálculo para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10,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4:</m:t>
                    </m:r>
                  </m:oMath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=10)=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(9,3)×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0,20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pt-BR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 dirty="0" smtClean="0">
                                  <a:latin typeface="Cambria Math" panose="02040503050406030204" pitchFamily="18" charset="0"/>
                                </a:rPr>
                                <m:t>0,80</m:t>
                              </m:r>
                            </m:e>
                          </m:d>
                        </m:e>
                        <m:sup>
                          <m:r>
                            <a:rPr lang="pt-BR" sz="240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=84×0,0016×0,262144=0,03523</m:t>
                      </m:r>
                    </m:oMath>
                  </m:oMathPara>
                </a14:m>
                <a:endParaRPr lang="pt-BR" sz="2400" dirty="0"/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Ou seja, há aproximadamente 3,52% de chance de serem necessárias exatamente 10 passagens pelo local para encontrar o sinal aberto pela 4ª vez.</a:t>
                </a:r>
                <a:endParaRPr lang="pt-BR" sz="2800" dirty="0"/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7DF8CC13-1F17-4EC3-90EF-982BD0939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28" y="639029"/>
                <a:ext cx="10966944" cy="4467057"/>
              </a:xfrm>
              <a:prstGeom prst="rect">
                <a:avLst/>
              </a:prstGeom>
              <a:blipFill>
                <a:blip r:embed="rId2"/>
                <a:stretch>
                  <a:fillRect l="-833" b="-218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1455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2661" y="587103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6: 6.6.1, 6.6.2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3: 3.4, 3.6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3: 3.2, 3.3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Morettin — Cap. 4: 4.1, 4.2, 4.3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7927067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722661" y="587103"/>
            <a:ext cx="10067277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Atividades referentes à aula (continuação)</a:t>
            </a:r>
          </a:p>
          <a:p>
            <a:pPr>
              <a:lnSpc>
                <a:spcPct val="150000"/>
              </a:lnSpc>
            </a:pPr>
            <a:r>
              <a:rPr lang="pt-BR" sz="2400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Bussab &amp; Morettin — Cap. 6: Problema 20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Magalhães &amp; Lima — Cap. 3 (3.4 Exercícios): 24 e 25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400" dirty="0"/>
              <a:t>Montgomery &amp; Runger — Cap. 3: 3.4.1, 3.4.2, 3.4.3, 3.4.4, 3.4.5, 3.6.1, 3.6.3, 3.6.4, 3.6.5 e 3.6.6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61C097B-F802-48F1-A508-1B622AAC75E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473666dd-440f-4b1f-be23-e6f44dff86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4309</TotalTime>
  <Words>1688</Words>
  <Application>Microsoft Office PowerPoint</Application>
  <PresentationFormat>Widescreen</PresentationFormat>
  <Paragraphs>199</Paragraphs>
  <Slides>22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8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Modelos Discretos 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161</cp:revision>
  <dcterms:created xsi:type="dcterms:W3CDTF">2020-07-20T19:35:15Z</dcterms:created>
  <dcterms:modified xsi:type="dcterms:W3CDTF">2026-10-22T11:30:26Z</dcterms:modified>
</cp:coreProperties>
</file>