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theme/themeOverride1.xml" ContentType="application/vnd.openxmlformats-officedocument.themeOverride+xml"/>
  <Override PartName="/ppt/charts/chart5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heme/themeOverride2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7"/>
  </p:notesMasterIdLst>
  <p:sldIdLst>
    <p:sldId id="311" r:id="rId2"/>
    <p:sldId id="312" r:id="rId3"/>
    <p:sldId id="313" r:id="rId4"/>
    <p:sldId id="314" r:id="rId5"/>
    <p:sldId id="315" r:id="rId6"/>
    <p:sldId id="316" r:id="rId7"/>
    <p:sldId id="317" r:id="rId8"/>
    <p:sldId id="318" r:id="rId9"/>
    <p:sldId id="319" r:id="rId10"/>
    <p:sldId id="320" r:id="rId11"/>
    <p:sldId id="321" r:id="rId12"/>
    <p:sldId id="322" r:id="rId13"/>
    <p:sldId id="323" r:id="rId14"/>
    <p:sldId id="324" r:id="rId15"/>
    <p:sldId id="325" r:id="rId16"/>
    <p:sldId id="343" r:id="rId17"/>
    <p:sldId id="351" r:id="rId18"/>
    <p:sldId id="344" r:id="rId19"/>
    <p:sldId id="327" r:id="rId20"/>
    <p:sldId id="328" r:id="rId21"/>
    <p:sldId id="354" r:id="rId22"/>
    <p:sldId id="329" r:id="rId23"/>
    <p:sldId id="330" r:id="rId24"/>
    <p:sldId id="331" r:id="rId25"/>
    <p:sldId id="332" r:id="rId26"/>
    <p:sldId id="333" r:id="rId27"/>
    <p:sldId id="334" r:id="rId28"/>
    <p:sldId id="335" r:id="rId29"/>
    <p:sldId id="336" r:id="rId30"/>
    <p:sldId id="338" r:id="rId31"/>
    <p:sldId id="339" r:id="rId32"/>
    <p:sldId id="340" r:id="rId33"/>
    <p:sldId id="341" r:id="rId34"/>
    <p:sldId id="342" r:id="rId35"/>
    <p:sldId id="355" r:id="rId36"/>
  </p:sldIdLst>
  <p:sldSz cx="12192000" cy="6858000"/>
  <p:notesSz cx="6858000" cy="9144000"/>
  <p:defaultTextStyle>
    <a:defPPr>
      <a:defRPr lang="pt-BR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60" autoAdjust="0"/>
  </p:normalViewPr>
  <p:slideViewPr>
    <p:cSldViewPr snapToGrid="0">
      <p:cViewPr varScale="1">
        <p:scale>
          <a:sx n="96" d="100"/>
          <a:sy n="96" d="100"/>
        </p:scale>
        <p:origin x="2108" y="5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5" d="100"/>
          <a:sy n="65" d="100"/>
        </p:scale>
        <p:origin x="4690" y="43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Pasta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4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.xlsx"/><Relationship Id="rId1" Type="http://schemas.openxmlformats.org/officeDocument/2006/relationships/themeOverride" Target="../theme/themeOverride1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.xml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300" b="1" i="0" u="none" strike="noStrike" kern="1200" spc="0" baseline="0">
                <a:solidFill>
                  <a:srgbClr val="1F6FA5"/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Figura 2.2: Gráfico em barras para a variável Y: grau de instrução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300" b="1" i="0" u="none" strike="noStrike" kern="1200" spc="0" baseline="0">
              <a:solidFill>
                <a:srgbClr val="1F6FA5"/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Planilha1!$B$2</c:f>
              <c:strCache>
                <c:ptCount val="1"/>
                <c:pt idx="0">
                  <c:v>Freq 
ni</c:v>
                </c:pt>
              </c:strCache>
            </c:strRef>
          </c:tx>
          <c:spPr>
            <a:solidFill>
              <a:srgbClr val="7CA6C4"/>
            </a:solidFill>
            <a:ln>
              <a:noFill/>
            </a:ln>
            <a:effectLst/>
          </c:spPr>
          <c:invertIfNegative val="0"/>
          <c:cat>
            <c:strRef>
              <c:f>Planilha1!$A$3:$A$5</c:f>
              <c:strCache>
                <c:ptCount val="3"/>
                <c:pt idx="0">
                  <c:v>Fundamental</c:v>
                </c:pt>
                <c:pt idx="1">
                  <c:v>Médio</c:v>
                </c:pt>
                <c:pt idx="2">
                  <c:v>Superior</c:v>
                </c:pt>
              </c:strCache>
            </c:strRef>
          </c:cat>
          <c:val>
            <c:numRef>
              <c:f>Planilha1!$B$3:$B$5</c:f>
              <c:numCache>
                <c:formatCode>General</c:formatCode>
                <c:ptCount val="3"/>
                <c:pt idx="0">
                  <c:v>12</c:v>
                </c:pt>
                <c:pt idx="1">
                  <c:v>18</c:v>
                </c:pt>
                <c:pt idx="2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6AA-4F3E-AFD2-1F28BC72D57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overlap val="-27"/>
        <c:axId val="48134592"/>
        <c:axId val="48135072"/>
      </c:barChart>
      <c:catAx>
        <c:axId val="4813459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48135072"/>
        <c:crosses val="autoZero"/>
        <c:auto val="1"/>
        <c:lblAlgn val="ctr"/>
        <c:lblOffset val="100"/>
        <c:noMultiLvlLbl val="0"/>
      </c:catAx>
      <c:valAx>
        <c:axId val="481350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pt-BR"/>
                  <a:t>Freqüência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4813459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rgbClr val="DCEAF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pt-BR"/>
  <c:roundedCorners val="1"/>
  <c:style val="2"/>
  <c:chart>
    <c:title>
      <c:tx>
        <c:rich>
          <a:bodyPr/>
          <a:lstStyle/>
          <a:p>
            <a:pPr>
              <a:defRPr sz="1600"/>
            </a:pPr>
            <a:r>
              <a:rPr lang="pt-BR" sz="1600"/>
              <a:t>Gráfico de Barras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v>Alunos</c:v>
          </c:tx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/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4"/>
              <c:pt idx="0">
                <c:v>Matemática</c:v>
              </c:pt>
              <c:pt idx="1">
                <c:v>Estatística</c:v>
              </c:pt>
              <c:pt idx="2">
                <c:v>Física</c:v>
              </c:pt>
              <c:pt idx="3">
                <c:v>Química</c:v>
              </c:pt>
            </c:strLit>
          </c:cat>
          <c:val>
            <c:numLit>
              <c:formatCode>General</c:formatCode>
              <c:ptCount val="4"/>
              <c:pt idx="0">
                <c:v>18</c:v>
              </c:pt>
              <c:pt idx="1">
                <c:v>25</c:v>
              </c:pt>
              <c:pt idx="2">
                <c:v>12</c:v>
              </c:pt>
              <c:pt idx="3">
                <c:v>15</c:v>
              </c:pt>
            </c:numLit>
          </c:val>
          <c:extLst>
            <c:ext xmlns:c16="http://schemas.microsoft.com/office/drawing/2014/chart" uri="{C3380CC4-5D6E-409C-BE32-E72D297353CC}">
              <c16:uniqueId val="{00000000-808F-4523-A281-E7AAB2EE023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11"/>
        <c:axId val="222"/>
      </c:barChart>
      <c:catAx>
        <c:axId val="11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400"/>
            </a:pPr>
            <a:endParaRPr lang="pt-BR"/>
          </a:p>
        </c:txPr>
        <c:crossAx val="222"/>
        <c:crosses val="autoZero"/>
        <c:auto val="1"/>
        <c:lblAlgn val="ctr"/>
        <c:lblOffset val="100"/>
        <c:noMultiLvlLbl val="1"/>
      </c:catAx>
      <c:valAx>
        <c:axId val="222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400"/>
            </a:pPr>
            <a:endParaRPr lang="pt-BR"/>
          </a:p>
        </c:txPr>
        <c:crossAx val="111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1400"/>
          </a:pPr>
          <a:endParaRPr lang="pt-BR"/>
        </a:p>
      </c:txPr>
    </c:legend>
    <c:plotVisOnly val="1"/>
    <c:dispBlanksAs val="zero"/>
    <c:showDLblsOverMax val="1"/>
  </c:char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pt-BR"/>
  <c:roundedCorners val="1"/>
  <c:style val="2"/>
  <c:chart>
    <c:title>
      <c:tx>
        <c:rich>
          <a:bodyPr/>
          <a:lstStyle/>
          <a:p>
            <a:pPr>
              <a:defRPr sz="1600"/>
            </a:pPr>
            <a:r>
              <a:rPr lang="pt-BR" sz="1600"/>
              <a:t>Histograma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v>Notas</c:v>
          </c:tx>
          <c:invertIfNegative val="1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/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5"/>
              <c:pt idx="0">
                <c:v>0 - 2</c:v>
              </c:pt>
              <c:pt idx="1">
                <c:v>2 - 4</c:v>
              </c:pt>
              <c:pt idx="2">
                <c:v>4 - 6</c:v>
              </c:pt>
              <c:pt idx="3">
                <c:v>6 - 8</c:v>
              </c:pt>
              <c:pt idx="4">
                <c:v>8 - 10</c:v>
              </c:pt>
            </c:strLit>
          </c:cat>
          <c:val>
            <c:numLit>
              <c:formatCode>0.00</c:formatCode>
              <c:ptCount val="5"/>
              <c:pt idx="0">
                <c:v>0.03</c:v>
              </c:pt>
              <c:pt idx="1">
                <c:v>0.08</c:v>
              </c:pt>
              <c:pt idx="2">
                <c:v>0.2</c:v>
              </c:pt>
              <c:pt idx="3">
                <c:v>0.14000000000000001</c:v>
              </c:pt>
              <c:pt idx="4">
                <c:v>0.05</c:v>
              </c:pt>
            </c:numLit>
          </c:val>
          <c:extLst>
            <c:ext xmlns:c16="http://schemas.microsoft.com/office/drawing/2014/chart" uri="{C3380CC4-5D6E-409C-BE32-E72D297353CC}">
              <c16:uniqueId val="{00000000-2143-46E4-B6AB-E4465758163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axId val="333"/>
        <c:axId val="444"/>
      </c:barChart>
      <c:catAx>
        <c:axId val="333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400"/>
            </a:pPr>
            <a:endParaRPr lang="pt-BR"/>
          </a:p>
        </c:txPr>
        <c:crossAx val="444"/>
        <c:crosses val="autoZero"/>
        <c:auto val="1"/>
        <c:lblAlgn val="ctr"/>
        <c:lblOffset val="100"/>
        <c:noMultiLvlLbl val="1"/>
      </c:catAx>
      <c:valAx>
        <c:axId val="444"/>
        <c:scaling>
          <c:orientation val="minMax"/>
        </c:scaling>
        <c:delete val="0"/>
        <c:axPos val="l"/>
        <c:title>
          <c:tx>
            <c:rich>
              <a:bodyPr rot="-5400000" vert="horz"/>
              <a:lstStyle/>
              <a:p>
                <a:pPr>
                  <a:defRPr sz="1400"/>
                </a:pPr>
                <a:r>
                  <a:rPr lang="pt-BR" sz="1400"/>
                  <a:t>Densidade de frequência</a:t>
                </a:r>
              </a:p>
            </c:rich>
          </c:tx>
          <c:overlay val="0"/>
        </c:title>
        <c:numFmt formatCode="0.00" sourceLinked="1"/>
        <c:majorTickMark val="out"/>
        <c:minorTickMark val="none"/>
        <c:tickLblPos val="nextTo"/>
        <c:txPr>
          <a:bodyPr/>
          <a:lstStyle/>
          <a:p>
            <a:pPr>
              <a:defRPr sz="1400"/>
            </a:pPr>
            <a:endParaRPr lang="pt-BR"/>
          </a:p>
        </c:txPr>
        <c:crossAx val="333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1400"/>
          </a:pPr>
          <a:endParaRPr lang="pt-BR"/>
        </a:p>
      </c:txPr>
    </c:legend>
    <c:plotVisOnly val="1"/>
    <c:dispBlanksAs val="zero"/>
    <c:showDLblsOverMax val="1"/>
  </c:char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216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Figura 2.7: Histograma da variável S: salários.</a:t>
            </a:r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rgbClr val="7CA6C4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pt-BR" sz="1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rPr>
                      <a:t>27,78%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D48B-4EB3-814A-58FACFFFDEEE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pt-BR" sz="1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rPr>
                      <a:t>33,33%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D48B-4EB3-814A-58FACFFFDEEE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pt-BR" sz="1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rPr>
                      <a:t>22,22%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D48B-4EB3-814A-58FACFFFDEEE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pt-BR" sz="1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rPr>
                      <a:t>13,89%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D48B-4EB3-814A-58FACFFFDEEE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pt-BR" sz="1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rPr>
                      <a:t>2,78%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D48B-4EB3-814A-58FACFFFDEEE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Planilha1!$J$3:$J$7</c:f>
              <c:strCache>
                <c:ptCount val="5"/>
                <c:pt idx="0">
                  <c:v>4,00 ⊢ 8,00</c:v>
                </c:pt>
                <c:pt idx="1">
                  <c:v>8,00 ⊢ 12,00</c:v>
                </c:pt>
                <c:pt idx="2">
                  <c:v>12,00 ⊢ 16,00</c:v>
                </c:pt>
                <c:pt idx="3">
                  <c:v>16,00 ⊢ 20,00</c:v>
                </c:pt>
                <c:pt idx="4">
                  <c:v>20,00 ⊢ 24,00</c:v>
                </c:pt>
              </c:strCache>
            </c:strRef>
          </c:cat>
          <c:val>
            <c:numRef>
              <c:f>Planilha1!$M$3:$M$7</c:f>
              <c:numCache>
                <c:formatCode>General</c:formatCode>
                <c:ptCount val="5"/>
                <c:pt idx="0">
                  <c:v>6.9444444444444448E-2</c:v>
                </c:pt>
                <c:pt idx="1">
                  <c:v>8.3333333333333343E-2</c:v>
                </c:pt>
                <c:pt idx="2">
                  <c:v>5.5555555555555552E-2</c:v>
                </c:pt>
                <c:pt idx="3">
                  <c:v>3.4722222222222224E-2</c:v>
                </c:pt>
                <c:pt idx="4">
                  <c:v>6.9444444444444441E-3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D48B-4EB3-814A-58FACFFFDEE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overlap val="-27"/>
        <c:axId val="133307296"/>
        <c:axId val="133304896"/>
      </c:barChart>
      <c:catAx>
        <c:axId val="133307296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8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pt-BR"/>
                  <a:t>Salário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133304896"/>
        <c:crosses val="autoZero"/>
        <c:auto val="1"/>
        <c:lblAlgn val="ctr"/>
        <c:lblOffset val="100"/>
        <c:noMultiLvlLbl val="0"/>
      </c:catAx>
      <c:valAx>
        <c:axId val="13330489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8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pt-BR"/>
                  <a:t>Densidade de
freqüência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13330729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rgbClr val="DCEAF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sz="1800"/>
      </a:pPr>
      <a:endParaRPr lang="pt-BR"/>
    </a:p>
  </c:txPr>
  <c:externalData r:id="rId2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2160" b="0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Figura 2.6: Gráfico em barras para a variável S: salários.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60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rgbClr val="7CA6C4"/>
            </a:solidFill>
            <a:ln>
              <a:noFill/>
            </a:ln>
            <a:effectLst/>
          </c:spPr>
          <c:invertIfNegative val="0"/>
          <c:cat>
            <c:numRef>
              <c:f>Planilha1!$AE$3:$AE$7</c:f>
              <c:numCache>
                <c:formatCode>0.00</c:formatCode>
                <c:ptCount val="5"/>
                <c:pt idx="0">
                  <c:v>6</c:v>
                </c:pt>
                <c:pt idx="1">
                  <c:v>10</c:v>
                </c:pt>
                <c:pt idx="2">
                  <c:v>14</c:v>
                </c:pt>
                <c:pt idx="3">
                  <c:v>18</c:v>
                </c:pt>
                <c:pt idx="4">
                  <c:v>22</c:v>
                </c:pt>
              </c:numCache>
            </c:numRef>
          </c:cat>
          <c:val>
            <c:numRef>
              <c:f>Planilha1!$AF$3:$AF$7</c:f>
              <c:numCache>
                <c:formatCode>#,##0</c:formatCode>
                <c:ptCount val="5"/>
                <c:pt idx="0">
                  <c:v>10</c:v>
                </c:pt>
                <c:pt idx="1">
                  <c:v>12</c:v>
                </c:pt>
                <c:pt idx="2">
                  <c:v>8</c:v>
                </c:pt>
                <c:pt idx="3">
                  <c:v>5</c:v>
                </c:pt>
                <c:pt idx="4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9E0-4F4A-A7CA-7FB12B1E0F7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overlap val="-27"/>
        <c:axId val="101460240"/>
        <c:axId val="101460720"/>
      </c:barChart>
      <c:catAx>
        <c:axId val="101460240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8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pt-BR"/>
                  <a:t>Salário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8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</c:title>
        <c:numFmt formatCode="0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101460720"/>
        <c:crosses val="autoZero"/>
        <c:auto val="1"/>
        <c:lblAlgn val="ctr"/>
        <c:lblOffset val="100"/>
        <c:noMultiLvlLbl val="0"/>
      </c:catAx>
      <c:valAx>
        <c:axId val="10146072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8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pt-BR"/>
                  <a:t>Freqüência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8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</c:title>
        <c:numFmt formatCode="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10146024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rgbClr val="DCEAF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sz="1800">
          <a:solidFill>
            <a:schemeClr val="tx1"/>
          </a:solidFill>
        </a:defRPr>
      </a:pPr>
      <a:endParaRPr lang="pt-BR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623A65-BD25-40B6-8815-498297225DF7}" type="datetimeFigureOut">
              <a:rPr lang="pt-BR" smtClean="0"/>
              <a:t>22/10/2026</a:t>
            </a:fld>
            <a:endParaRPr lang="pt-BR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7F89C7-0D7F-4B10-AF98-1416A21C67FE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292120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FB549B-B83A-404E-9BD8-A560AB294D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D7CE2CF-ACA4-4F2F-B0E6-62AA8A4CA0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215145D-ED8E-485D-AFAA-0637E3DDCA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22/10/2026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C10A484-EBAA-4375-B22B-EB352202B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CBFC011-A4F5-4C4D-B328-90D3A1C70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321273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DC2C77-41CB-40C6-8592-F2323898B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A2E0EDC-CFA2-4EB2-951C-00B6285C61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67430C6-C7CB-4882-8EDC-12D186CAC1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22/10/2026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044677D-F5A4-4226-8F80-D16E10238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DAB1963-7DC3-48C6-816F-DB898EB17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590665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59C7D4-175E-4544-B2C7-10CBDC0B0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1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9345EC1-929C-4442-826F-033EE78936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78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5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6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41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D04775A-17A7-4EC4-9798-1A34FD10E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22/10/2026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F42EA98-8D10-4ED3-B93F-FC711F0CD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39B97DE-6B04-4B6F-86E9-1D88F55F5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23122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BAA362-A45A-480A-9074-096724BCA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7FAB7C-66B6-413A-A532-7B4B35F4FB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E989473-C5DE-4037-A42E-A0EACF6670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3249F76-8985-4102-AAA2-0AF7D18B3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22/10/2026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59E6D85-4300-4D4B-9EF8-C400BC246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82F353B-CB0E-4E22-9F25-903B9054A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548933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0DC1B8-1341-4AB7-B041-922244C5C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8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33C1DFC-5D65-46F4-994E-FD066564E0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CD66570-19DA-43E0-B668-A0064803DB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F031A902-2182-44D2-92A6-7D350E01E0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F11DEC4-4ED6-4D01-8E2F-F8DFBFBB0D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2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251D8EF-D452-4BEB-B271-9A45BCDDD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22/10/2026</a:t>
            </a:fld>
            <a:endParaRPr lang="pt-BR" dirty="0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B874A662-49D6-4C3B-B580-C42ED1ECE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7B64F4DA-4AAA-4F61-9D50-9FBA731DC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865270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5CE28C-348A-4584-BBD8-F7D4E80AC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727A591-6069-48B6-9538-6A690479E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22/10/2026</a:t>
            </a:fld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F4B20B4-5872-4798-8273-172F9B79B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00218E22-3A9A-4526-9A35-8F67CBEAC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998076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8C9ED03-39FE-4839-912F-74079DC07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22/10/2026</a:t>
            </a:fld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2202958-2868-421E-B634-EC4F79F44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A1E4208-F91B-406F-93C9-909632019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163851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03AC6E-A8A4-484F-AB72-E01568BAD6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652402C-474E-4A4C-BBB4-72C4459FD2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5932530-DB56-4B02-AAD7-0B0DAE05AC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78" indent="0">
              <a:buNone/>
              <a:defRPr sz="1400"/>
            </a:lvl2pPr>
            <a:lvl3pPr marL="914354" indent="0">
              <a:buNone/>
              <a:defRPr sz="1200"/>
            </a:lvl3pPr>
            <a:lvl4pPr marL="1371532" indent="0">
              <a:buNone/>
              <a:defRPr sz="1000"/>
            </a:lvl4pPr>
            <a:lvl5pPr marL="1828709" indent="0">
              <a:buNone/>
              <a:defRPr sz="1000"/>
            </a:lvl5pPr>
            <a:lvl6pPr marL="2285886" indent="0">
              <a:buNone/>
              <a:defRPr sz="1000"/>
            </a:lvl6pPr>
            <a:lvl7pPr marL="2743062" indent="0">
              <a:buNone/>
              <a:defRPr sz="1000"/>
            </a:lvl7pPr>
            <a:lvl8pPr marL="3200240" indent="0">
              <a:buNone/>
              <a:defRPr sz="1000"/>
            </a:lvl8pPr>
            <a:lvl9pPr marL="3657418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5269F7A-8509-44B5-A449-BA774B8D6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22/10/2026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AC7A0F7-9932-436F-9AE3-AFF4AA2B6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2EED5AD-F121-4389-805A-1761D5E18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646053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E0AC3B-59EE-40F2-994F-F86E662CE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B38B4DB5-6F6C-4DA5-9A20-AC29F12332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78" indent="0">
              <a:buNone/>
              <a:defRPr sz="2800"/>
            </a:lvl2pPr>
            <a:lvl3pPr marL="914354" indent="0">
              <a:buNone/>
              <a:defRPr sz="2400"/>
            </a:lvl3pPr>
            <a:lvl4pPr marL="1371532" indent="0">
              <a:buNone/>
              <a:defRPr sz="2000"/>
            </a:lvl4pPr>
            <a:lvl5pPr marL="1828709" indent="0">
              <a:buNone/>
              <a:defRPr sz="2000"/>
            </a:lvl5pPr>
            <a:lvl6pPr marL="2285886" indent="0">
              <a:buNone/>
              <a:defRPr sz="2000"/>
            </a:lvl6pPr>
            <a:lvl7pPr marL="2743062" indent="0">
              <a:buNone/>
              <a:defRPr sz="2000"/>
            </a:lvl7pPr>
            <a:lvl8pPr marL="3200240" indent="0">
              <a:buNone/>
              <a:defRPr sz="2000"/>
            </a:lvl8pPr>
            <a:lvl9pPr marL="3657418" indent="0">
              <a:buNone/>
              <a:defRPr sz="2000"/>
            </a:lvl9pPr>
          </a:lstStyle>
          <a:p>
            <a:endParaRPr lang="pt-BR" dirty="0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BE271B5-C93D-4796-9358-1D1489AD91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78" indent="0">
              <a:buNone/>
              <a:defRPr sz="1400"/>
            </a:lvl2pPr>
            <a:lvl3pPr marL="914354" indent="0">
              <a:buNone/>
              <a:defRPr sz="1200"/>
            </a:lvl3pPr>
            <a:lvl4pPr marL="1371532" indent="0">
              <a:buNone/>
              <a:defRPr sz="1000"/>
            </a:lvl4pPr>
            <a:lvl5pPr marL="1828709" indent="0">
              <a:buNone/>
              <a:defRPr sz="1000"/>
            </a:lvl5pPr>
            <a:lvl6pPr marL="2285886" indent="0">
              <a:buNone/>
              <a:defRPr sz="1000"/>
            </a:lvl6pPr>
            <a:lvl7pPr marL="2743062" indent="0">
              <a:buNone/>
              <a:defRPr sz="1000"/>
            </a:lvl7pPr>
            <a:lvl8pPr marL="3200240" indent="0">
              <a:buNone/>
              <a:defRPr sz="1000"/>
            </a:lvl8pPr>
            <a:lvl9pPr marL="3657418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70EE369-01D5-4D19-9174-7B158A7B7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22/10/2026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AD9A84F-D4C0-4CF0-B94A-BD00C58CC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5C5E872-5A54-4124-AFFF-F672D0693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77097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682B53-B921-43B0-B70C-89461FC53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CD7C9CB-B075-433C-911D-C898E41105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6A9F18-28DC-4676-99F1-455FE41D8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22/10/2026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6122BC6-1417-41C0-ABAB-3814030C5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1D411FB-88FD-4753-AD8A-28F528B3E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9699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A7E2BA7-069E-46BC-89D6-D7C2DC18A2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2" y="365126"/>
            <a:ext cx="2628900" cy="5811839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6D25537-8E8B-46D8-8D94-91EDEBEF2C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2" y="365126"/>
            <a:ext cx="7734300" cy="5811839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8151BBF-6817-43B4-9E70-9E5D97182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22/10/2026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A27DCBE-1398-4403-B8D9-E76E3BB1A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57CFCFD-A47F-4C7B-B8FA-ADA430CE0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761690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60000"/>
                <a:lumOff val="40000"/>
              </a:schemeClr>
            </a:gs>
            <a:gs pos="19000">
              <a:schemeClr val="bg1"/>
            </a:gs>
            <a:gs pos="95000">
              <a:schemeClr val="bg1"/>
            </a:gs>
            <a:gs pos="100000">
              <a:schemeClr val="accent5">
                <a:lumMod val="40000"/>
                <a:lumOff val="6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14E2DD83-FDEA-4717-875C-AE246EABA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8727906-6A75-4D24-84E2-D534D8BE7C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D73EF87-9823-417E-B531-F5CFE53CC6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45E566-B383-4B2D-B951-1136FD38326E}" type="datetimeFigureOut">
              <a:rPr lang="pt-BR" smtClean="0"/>
              <a:t>22/10/2026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A912461-C5F3-4639-9852-55C185CA89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D549E10-6FAB-43E0-BE2A-E81BCD879D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415906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9" indent="-228589" algn="l" defTabSz="91435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6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20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8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98918-7CB4-450A-A042-F0B538CA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Estatística Descritiva I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986225" y="1498668"/>
            <a:ext cx="10067277" cy="39130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400" b="1" dirty="0"/>
              <a:t>Objetivos do aula:</a:t>
            </a:r>
          </a:p>
          <a:p>
            <a:pPr marL="285737" indent="-285737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/>
              <a:t>Conhecer os tipos de variáveis e algumas representações gráficas.</a:t>
            </a:r>
          </a:p>
          <a:p>
            <a:pPr>
              <a:lnSpc>
                <a:spcPct val="150000"/>
              </a:lnSpc>
            </a:pPr>
            <a:r>
              <a:rPr lang="pt-BR" sz="2400" b="1" dirty="0"/>
              <a:t>Referências: </a:t>
            </a:r>
          </a:p>
          <a:p>
            <a:pPr marL="457178" indent="-45717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/>
              <a:t>Bussab, Morettin. </a:t>
            </a:r>
            <a:r>
              <a:rPr lang="pt-BR" sz="2400" b="1" dirty="0"/>
              <a:t>Estatística Básica</a:t>
            </a:r>
            <a:r>
              <a:rPr lang="pt-BR" sz="2400" dirty="0"/>
              <a:t>, 9ed — Cap. 2 (2.1 a 2.4) e Cap. 3 (3.1)</a:t>
            </a:r>
          </a:p>
          <a:p>
            <a:pPr marL="457178" indent="-45717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/>
              <a:t>Montgomery, Runger. </a:t>
            </a:r>
            <a:r>
              <a:rPr lang="pt-BR" sz="2400" b="1" dirty="0"/>
              <a:t>Applied Statistics and Probability for Engineers</a:t>
            </a:r>
            <a:r>
              <a:rPr lang="pt-BR" sz="2400" dirty="0"/>
              <a:t>, 7th ed — Cap. 6 (6.1 a 6.3)</a:t>
            </a:r>
          </a:p>
          <a:p>
            <a:pPr marL="457178" indent="-45717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/>
              <a:t>Magalhães, Lima. </a:t>
            </a:r>
            <a:r>
              <a:rPr lang="pt-BR" sz="2400" b="1" dirty="0"/>
              <a:t>Noções de Probabilidade e Estatística</a:t>
            </a:r>
            <a:r>
              <a:rPr lang="pt-BR" sz="2400" dirty="0"/>
              <a:t>, 5ed — Cap. 1 (1.2)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64300"/>
            <a:ext cx="48276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CEA055 - Estatística e Probabilidade - Prof. Marcos Goulart Lima</a:t>
            </a:r>
          </a:p>
        </p:txBody>
      </p:sp>
      <p:pic>
        <p:nvPicPr>
          <p:cNvPr id="8" name="Espaço Reservado para Conteúdo 4">
            <a:extLst>
              <a:ext uri="{FF2B5EF4-FFF2-40B4-BE49-F238E27FC236}">
                <a16:creationId xmlns:a16="http://schemas.microsoft.com/office/drawing/2014/main" id="{65AB402D-D1A8-4F31-BA42-34A6F0FC69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3" y="112237"/>
            <a:ext cx="862957" cy="1802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97207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776136" y="726498"/>
            <a:ext cx="11180365" cy="41189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Vamos introduzir o conceito de </a:t>
            </a:r>
            <a:r>
              <a:rPr lang="pt-BR" sz="2800" b="1" dirty="0"/>
              <a:t>variável</a:t>
            </a:r>
            <a:r>
              <a:rPr lang="pt-BR" sz="2800" dirty="0"/>
              <a:t> com um exemplo:</a:t>
            </a:r>
          </a:p>
          <a:p>
            <a:endParaRPr lang="pt-BR" sz="2800" b="1" dirty="0"/>
          </a:p>
          <a:p>
            <a:pPr>
              <a:lnSpc>
                <a:spcPct val="150000"/>
              </a:lnSpc>
            </a:pPr>
            <a:r>
              <a:rPr lang="pt-BR" sz="2800" b="1" dirty="0"/>
              <a:t>Exemplo: </a:t>
            </a:r>
            <a:r>
              <a:rPr lang="pt-BR" sz="2800" dirty="0"/>
              <a:t>Um pesquisador está interessado em fazer um levantamento sobre alguns aspectos socioeconômicos dos empregados da seção de orçamentos da Companhia MB. Usando informações obtidas do departamento de pessoal, ele elaborou a Tabela 2.1. Essa tabela é</a:t>
            </a:r>
          </a:p>
          <a:p>
            <a:pPr>
              <a:lnSpc>
                <a:spcPct val="150000"/>
              </a:lnSpc>
            </a:pPr>
            <a:r>
              <a:rPr lang="pt-BR" sz="2800" dirty="0"/>
              <a:t>chamada planilha de dados.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64300"/>
            <a:ext cx="48276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CEA055 - Estatística e Probabilidade - Prof.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4612966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64300"/>
            <a:ext cx="48276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CEA055 - Estatística e Probabilidade - Prof. Marcos Goulart Lima</a:t>
            </a:r>
          </a:p>
        </p:txBody>
      </p:sp>
      <p:graphicFrame>
        <p:nvGraphicFramePr>
          <p:cNvPr id="12" name="Tabela 11">
            <a:extLst>
              <a:ext uri="{FF2B5EF4-FFF2-40B4-BE49-F238E27FC236}">
                <a16:creationId xmlns:a16="http://schemas.microsoft.com/office/drawing/2014/main" id="{81DD7587-A5E3-9E55-6431-F9B7058A69F8}"/>
              </a:ext>
            </a:extLst>
          </p:cNvPr>
          <p:cNvGraphicFramePr>
            <a:graphicFrameLocks noGrp="1"/>
          </p:cNvGraphicFramePr>
          <p:nvPr/>
        </p:nvGraphicFramePr>
        <p:xfrm>
          <a:off x="969916" y="545629"/>
          <a:ext cx="10252168" cy="508364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62687">
                  <a:extLst>
                    <a:ext uri="{9D8B030D-6E8A-4147-A177-3AD203B41FA5}">
                      <a16:colId xmlns:a16="http://schemas.microsoft.com/office/drawing/2014/main" val="2744435141"/>
                    </a:ext>
                  </a:extLst>
                </a:gridCol>
                <a:gridCol w="1461811">
                  <a:extLst>
                    <a:ext uri="{9D8B030D-6E8A-4147-A177-3AD203B41FA5}">
                      <a16:colId xmlns:a16="http://schemas.microsoft.com/office/drawing/2014/main" val="3870299030"/>
                    </a:ext>
                  </a:extLst>
                </a:gridCol>
                <a:gridCol w="2163480">
                  <a:extLst>
                    <a:ext uri="{9D8B030D-6E8A-4147-A177-3AD203B41FA5}">
                      <a16:colId xmlns:a16="http://schemas.microsoft.com/office/drawing/2014/main" val="1732547473"/>
                    </a:ext>
                  </a:extLst>
                </a:gridCol>
                <a:gridCol w="877087">
                  <a:extLst>
                    <a:ext uri="{9D8B030D-6E8A-4147-A177-3AD203B41FA5}">
                      <a16:colId xmlns:a16="http://schemas.microsoft.com/office/drawing/2014/main" val="351069236"/>
                    </a:ext>
                  </a:extLst>
                </a:gridCol>
                <a:gridCol w="1676210">
                  <a:extLst>
                    <a:ext uri="{9D8B030D-6E8A-4147-A177-3AD203B41FA5}">
                      <a16:colId xmlns:a16="http://schemas.microsoft.com/office/drawing/2014/main" val="3348329389"/>
                    </a:ext>
                  </a:extLst>
                </a:gridCol>
                <a:gridCol w="1071995">
                  <a:extLst>
                    <a:ext uri="{9D8B030D-6E8A-4147-A177-3AD203B41FA5}">
                      <a16:colId xmlns:a16="http://schemas.microsoft.com/office/drawing/2014/main" val="2167618309"/>
                    </a:ext>
                  </a:extLst>
                </a:gridCol>
                <a:gridCol w="1071995">
                  <a:extLst>
                    <a:ext uri="{9D8B030D-6E8A-4147-A177-3AD203B41FA5}">
                      <a16:colId xmlns:a16="http://schemas.microsoft.com/office/drawing/2014/main" val="3991783730"/>
                    </a:ext>
                  </a:extLst>
                </a:gridCol>
                <a:gridCol w="1266903">
                  <a:extLst>
                    <a:ext uri="{9D8B030D-6E8A-4147-A177-3AD203B41FA5}">
                      <a16:colId xmlns:a16="http://schemas.microsoft.com/office/drawing/2014/main" val="1571897912"/>
                    </a:ext>
                  </a:extLst>
                </a:gridCol>
              </a:tblGrid>
              <a:tr h="531380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u="none" strike="noStrike">
                          <a:effectLst/>
                        </a:rPr>
                        <a:t>N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u="none" strike="noStrike" dirty="0">
                          <a:effectLst/>
                        </a:rPr>
                        <a:t>Estado Civil</a:t>
                      </a:r>
                      <a:endParaRPr lang="pt-BR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u="none" strike="noStrike" dirty="0">
                          <a:effectLst/>
                        </a:rPr>
                        <a:t>Grau de Instrução</a:t>
                      </a:r>
                      <a:endParaRPr lang="pt-BR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u="none" strike="noStrike" dirty="0">
                          <a:effectLst/>
                        </a:rPr>
                        <a:t>N de Filhos</a:t>
                      </a:r>
                      <a:endParaRPr lang="pt-BR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u="none" strike="noStrike" dirty="0">
                          <a:effectLst/>
                        </a:rPr>
                        <a:t>Salario (x Sal Min)</a:t>
                      </a:r>
                      <a:endParaRPr lang="pt-BR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u="none" strike="noStrike" dirty="0">
                          <a:effectLst/>
                        </a:rPr>
                        <a:t>Idade (anos)</a:t>
                      </a:r>
                      <a:endParaRPr lang="pt-BR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u="none" strike="noStrike" dirty="0">
                          <a:effectLst/>
                        </a:rPr>
                        <a:t>Idade (Meses)</a:t>
                      </a:r>
                      <a:endParaRPr lang="pt-BR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u="none" strike="noStrike" dirty="0">
                          <a:effectLst/>
                        </a:rPr>
                        <a:t>Região de Procedência</a:t>
                      </a:r>
                      <a:endParaRPr lang="pt-BR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291865370"/>
                  </a:ext>
                </a:extLst>
              </a:tr>
              <a:tr h="377388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u="none" strike="noStrike">
                          <a:effectLst/>
                        </a:rPr>
                        <a:t>1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u="none" strike="noStrike">
                          <a:effectLst/>
                        </a:rPr>
                        <a:t>solteiro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u="none" strike="noStrike">
                          <a:effectLst/>
                        </a:rPr>
                        <a:t>ensino fundamental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u="none" strike="noStrike">
                          <a:effectLst/>
                        </a:rPr>
                        <a:t> 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u="none" strike="noStrike">
                          <a:effectLst/>
                        </a:rPr>
                        <a:t>4,00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u="none" strike="noStrike">
                          <a:effectLst/>
                        </a:rPr>
                        <a:t>26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u="none" strike="noStrike">
                          <a:effectLst/>
                        </a:rPr>
                        <a:t>3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u="none" strike="noStrike">
                          <a:effectLst/>
                        </a:rPr>
                        <a:t>interior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234468379"/>
                  </a:ext>
                </a:extLst>
              </a:tr>
              <a:tr h="377388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u="none" strike="noStrike">
                          <a:effectLst/>
                        </a:rPr>
                        <a:t>2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u="none" strike="noStrike">
                          <a:effectLst/>
                        </a:rPr>
                        <a:t>casado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u="none" strike="noStrike">
                          <a:effectLst/>
                        </a:rPr>
                        <a:t>ensino fundamental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u="none" strike="noStrike">
                          <a:effectLst/>
                        </a:rPr>
                        <a:t>1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u="none" strike="noStrike">
                          <a:effectLst/>
                        </a:rPr>
                        <a:t>4,56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u="none" strike="noStrike">
                          <a:effectLst/>
                        </a:rPr>
                        <a:t>32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u="none" strike="noStrike">
                          <a:effectLst/>
                        </a:rPr>
                        <a:t>10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u="none" strike="noStrike">
                          <a:effectLst/>
                        </a:rPr>
                        <a:t>capital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116163466"/>
                  </a:ext>
                </a:extLst>
              </a:tr>
              <a:tr h="377388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u="none" strike="noStrike">
                          <a:effectLst/>
                        </a:rPr>
                        <a:t>3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u="none" strike="noStrike">
                          <a:effectLst/>
                        </a:rPr>
                        <a:t>casado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u="none" strike="noStrike">
                          <a:effectLst/>
                        </a:rPr>
                        <a:t>ensino fundamental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u="none" strike="noStrike">
                          <a:effectLst/>
                        </a:rPr>
                        <a:t>2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u="none" strike="noStrike">
                          <a:effectLst/>
                        </a:rPr>
                        <a:t>5,25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u="none" strike="noStrike">
                          <a:effectLst/>
                        </a:rPr>
                        <a:t>36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u="none" strike="noStrike">
                          <a:effectLst/>
                        </a:rPr>
                        <a:t>5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u="none" strike="noStrike">
                          <a:effectLst/>
                        </a:rPr>
                        <a:t>capital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70708104"/>
                  </a:ext>
                </a:extLst>
              </a:tr>
              <a:tr h="377388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u="none" strike="noStrike">
                          <a:effectLst/>
                        </a:rPr>
                        <a:t>4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u="none" strike="noStrike">
                          <a:effectLst/>
                        </a:rPr>
                        <a:t>solteiro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u="none" strike="noStrike">
                          <a:effectLst/>
                        </a:rPr>
                        <a:t>ensino médio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u="none" strike="noStrike">
                          <a:effectLst/>
                        </a:rPr>
                        <a:t> 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u="none" strike="noStrike">
                          <a:effectLst/>
                        </a:rPr>
                        <a:t>5,73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u="none" strike="noStrike">
                          <a:effectLst/>
                        </a:rPr>
                        <a:t>20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u="none" strike="noStrike">
                          <a:effectLst/>
                        </a:rPr>
                        <a:t>10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u="none" strike="noStrike">
                          <a:effectLst/>
                        </a:rPr>
                        <a:t>outra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391638762"/>
                  </a:ext>
                </a:extLst>
              </a:tr>
              <a:tr h="377388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u="none" strike="noStrike">
                          <a:effectLst/>
                        </a:rPr>
                        <a:t>5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u="none" strike="noStrike">
                          <a:effectLst/>
                        </a:rPr>
                        <a:t>solteiro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u="none" strike="noStrike">
                          <a:effectLst/>
                        </a:rPr>
                        <a:t>ensino fundamental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u="none" strike="noStrike">
                          <a:effectLst/>
                        </a:rPr>
                        <a:t> 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u="none" strike="noStrike">
                          <a:effectLst/>
                        </a:rPr>
                        <a:t>6,26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u="none" strike="noStrike">
                          <a:effectLst/>
                        </a:rPr>
                        <a:t>40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u="none" strike="noStrike">
                          <a:effectLst/>
                        </a:rPr>
                        <a:t>7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u="none" strike="noStrike">
                          <a:effectLst/>
                        </a:rPr>
                        <a:t>outra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206466005"/>
                  </a:ext>
                </a:extLst>
              </a:tr>
              <a:tr h="377388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u="none" strike="noStrike">
                          <a:effectLst/>
                        </a:rPr>
                        <a:t>6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u="none" strike="noStrike">
                          <a:effectLst/>
                        </a:rPr>
                        <a:t>casado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u="none" strike="noStrike">
                          <a:effectLst/>
                        </a:rPr>
                        <a:t>ensino fundamental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u="none" strike="noStrike">
                          <a:effectLst/>
                        </a:rPr>
                        <a:t>0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u="none" strike="noStrike">
                          <a:effectLst/>
                        </a:rPr>
                        <a:t>6,66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u="none" strike="noStrike">
                          <a:effectLst/>
                        </a:rPr>
                        <a:t>28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u="none" strike="noStrike">
                          <a:effectLst/>
                        </a:rPr>
                        <a:t>0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u="none" strike="noStrike">
                          <a:effectLst/>
                        </a:rPr>
                        <a:t>interior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21251095"/>
                  </a:ext>
                </a:extLst>
              </a:tr>
              <a:tr h="377388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u="none" strike="noStrike">
                          <a:effectLst/>
                        </a:rPr>
                        <a:t>7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u="none" strike="noStrike">
                          <a:effectLst/>
                        </a:rPr>
                        <a:t>solteiro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u="none" strike="noStrike">
                          <a:effectLst/>
                        </a:rPr>
                        <a:t>ensino fundamental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u="none" strike="noStrike">
                          <a:effectLst/>
                        </a:rPr>
                        <a:t> 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u="none" strike="noStrike">
                          <a:effectLst/>
                        </a:rPr>
                        <a:t>6,86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u="none" strike="noStrike">
                          <a:effectLst/>
                        </a:rPr>
                        <a:t>41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u="none" strike="noStrike">
                          <a:effectLst/>
                        </a:rPr>
                        <a:t>0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u="none" strike="noStrike">
                          <a:effectLst/>
                        </a:rPr>
                        <a:t>interior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314033748"/>
                  </a:ext>
                </a:extLst>
              </a:tr>
              <a:tr h="377388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u="none" strike="noStrike">
                          <a:effectLst/>
                        </a:rPr>
                        <a:t>8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u="none" strike="noStrike">
                          <a:effectLst/>
                        </a:rPr>
                        <a:t>solteiro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u="none" strike="noStrike">
                          <a:effectLst/>
                        </a:rPr>
                        <a:t>ensino fundamental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u="none" strike="noStrike">
                          <a:effectLst/>
                        </a:rPr>
                        <a:t> 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u="none" strike="noStrike">
                          <a:effectLst/>
                        </a:rPr>
                        <a:t>7,39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u="none" strike="noStrike">
                          <a:effectLst/>
                        </a:rPr>
                        <a:t>43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u="none" strike="noStrike">
                          <a:effectLst/>
                        </a:rPr>
                        <a:t>4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u="none" strike="noStrike">
                          <a:effectLst/>
                        </a:rPr>
                        <a:t>capital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640607132"/>
                  </a:ext>
                </a:extLst>
              </a:tr>
              <a:tr h="377388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u="none" strike="noStrike">
                          <a:effectLst/>
                        </a:rPr>
                        <a:t>9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u="none" strike="noStrike">
                          <a:effectLst/>
                        </a:rPr>
                        <a:t>casado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u="none" strike="noStrike">
                          <a:effectLst/>
                        </a:rPr>
                        <a:t>ensino médio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u="none" strike="noStrike">
                          <a:effectLst/>
                        </a:rPr>
                        <a:t>1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u="none" strike="noStrike">
                          <a:effectLst/>
                        </a:rPr>
                        <a:t>7,59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u="none" strike="noStrike">
                          <a:effectLst/>
                        </a:rPr>
                        <a:t>34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u="none" strike="noStrike">
                          <a:effectLst/>
                        </a:rPr>
                        <a:t>10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u="none" strike="noStrike">
                          <a:effectLst/>
                        </a:rPr>
                        <a:t>capital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418966347"/>
                  </a:ext>
                </a:extLst>
              </a:tr>
              <a:tr h="377388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u="none" strike="noStrike">
                          <a:effectLst/>
                        </a:rPr>
                        <a:t>10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u="none" strike="noStrike">
                          <a:effectLst/>
                        </a:rPr>
                        <a:t>solteiro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u="none" strike="noStrike">
                          <a:effectLst/>
                        </a:rPr>
                        <a:t>ensino médio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u="none" strike="noStrike">
                          <a:effectLst/>
                        </a:rPr>
                        <a:t> 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u="none" strike="noStrike">
                          <a:effectLst/>
                        </a:rPr>
                        <a:t>7,44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u="none" strike="noStrike">
                          <a:effectLst/>
                        </a:rPr>
                        <a:t>23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u="none" strike="noStrike">
                          <a:effectLst/>
                        </a:rPr>
                        <a:t>6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u="none" strike="noStrike">
                          <a:effectLst/>
                        </a:rPr>
                        <a:t>outra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266629287"/>
                  </a:ext>
                </a:extLst>
              </a:tr>
              <a:tr h="377388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u="none" strike="noStrike">
                          <a:effectLst/>
                        </a:rPr>
                        <a:t>11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u="none" strike="noStrike">
                          <a:effectLst/>
                        </a:rPr>
                        <a:t>casado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u="none" strike="noStrike">
                          <a:effectLst/>
                        </a:rPr>
                        <a:t>ensino médio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u="none" strike="noStrike">
                          <a:effectLst/>
                        </a:rPr>
                        <a:t>2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u="none" strike="noStrike">
                          <a:effectLst/>
                        </a:rPr>
                        <a:t>8,12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u="none" strike="noStrike">
                          <a:effectLst/>
                        </a:rPr>
                        <a:t>33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u="none" strike="noStrike">
                          <a:effectLst/>
                        </a:rPr>
                        <a:t>6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u="none" strike="noStrike">
                          <a:effectLst/>
                        </a:rPr>
                        <a:t>interior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008948273"/>
                  </a:ext>
                </a:extLst>
              </a:tr>
              <a:tr h="377388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u="none" strike="noStrike">
                          <a:effectLst/>
                        </a:rPr>
                        <a:t>12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u="none" strike="noStrike">
                          <a:effectLst/>
                        </a:rPr>
                        <a:t>solteiro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u="none" strike="noStrike">
                          <a:effectLst/>
                        </a:rPr>
                        <a:t>ensino fundamental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u="none" strike="noStrike">
                          <a:effectLst/>
                        </a:rPr>
                        <a:t> 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u="none" strike="noStrike">
                          <a:effectLst/>
                        </a:rPr>
                        <a:t>8,46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u="none" strike="noStrike">
                          <a:effectLst/>
                        </a:rPr>
                        <a:t>27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u="none" strike="noStrike">
                          <a:effectLst/>
                        </a:rPr>
                        <a:t>11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u="none" strike="noStrike" dirty="0">
                          <a:effectLst/>
                        </a:rPr>
                        <a:t>capital</a:t>
                      </a:r>
                      <a:endParaRPr lang="pt-BR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6010825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013618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676744" y="592375"/>
                <a:ext cx="11180365" cy="39703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sz="2800" b="1" dirty="0"/>
                  <a:t>Variáveis da tabela: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800" dirty="0"/>
                  <a:t>As variáveis podem ser identificadas na primeira linha da tabela.</a:t>
                </a:r>
              </a:p>
              <a:p>
                <a:pPr marL="457200" indent="-4572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pt-BR" sz="2800" b="0" i="0" u="none" strike="noStrike" kern="1200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</a:rPr>
                  <a:t>Estado Civil, Grau de Instrução, N de Filhos, Salario (x Sal Min), Idade (anos), Idade (Meses), Região de Procedência</a:t>
                </a:r>
              </a:p>
              <a:p>
                <a:pPr rtl="0" eaLnBrk="1" fontAlgn="ctr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pt-BR" sz="2800" dirty="0">
                    <a:solidFill>
                      <a:srgbClr val="000000"/>
                    </a:solidFill>
                    <a:latin typeface="Calibri" panose="020F0502020204030204" pitchFamily="34" charset="0"/>
                  </a:rPr>
                  <a:t>Os números referentes a cada variável são chamados de realizações.</a:t>
                </a:r>
              </a:p>
              <a:p>
                <a:pPr marL="457200" indent="-457200" rtl="0" eaLnBrk="1" fontAlgn="ctr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pt-BR" sz="2800" dirty="0"/>
                  <a:t>Atribuiremos a cada variável uma letra maiúscula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pt-BR" sz="28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80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pt-BR" sz="280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pt-BR" sz="2800" i="1" dirty="0" smtClean="0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pt-BR" sz="280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pt-BR" sz="2800" i="1" dirty="0" smtClean="0">
                            <a:latin typeface="Cambria Math" panose="02040503050406030204" pitchFamily="18" charset="0"/>
                          </a:rPr>
                          <m:t>𝑍</m:t>
                        </m:r>
                        <m:r>
                          <a:rPr lang="pt-BR" sz="280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pt-BR" sz="2800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  <m:r>
                          <a:rPr lang="pt-BR" sz="2800" i="1" dirty="0" smtClean="0">
                            <a:latin typeface="Cambria Math" panose="02040503050406030204" pitchFamily="18" charset="0"/>
                          </a:rPr>
                          <m:t>, …</m:t>
                        </m:r>
                      </m:e>
                    </m:d>
                  </m:oMath>
                </a14:m>
                <a:endParaRPr lang="pt-BR" sz="28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744" y="592375"/>
                <a:ext cx="11180365" cy="3970318"/>
              </a:xfrm>
              <a:prstGeom prst="rect">
                <a:avLst/>
              </a:prstGeom>
              <a:blipFill>
                <a:blip r:embed="rId2"/>
                <a:stretch>
                  <a:fillRect l="-1091" b="-337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64300"/>
            <a:ext cx="48276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CEA055 - Estatística e Probabilidade - Prof.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33298276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636988" y="663251"/>
            <a:ext cx="11180365" cy="6718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800" dirty="0"/>
              <a:t>As variáveis se dividem em tipos: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64300"/>
            <a:ext cx="48276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CEA055 - Estatística e Probabilidade - Prof. Marcos Goulart Lima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238F09C7-ECC3-1D13-BC58-C5A6D2A537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7107" y="1653077"/>
            <a:ext cx="7277785" cy="4184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86512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610483" y="744776"/>
            <a:ext cx="11180365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/>
              <a:t>Variáveis qualitativas</a:t>
            </a:r>
          </a:p>
          <a:p>
            <a:endParaRPr lang="pt-BR" sz="2800" b="1" dirty="0"/>
          </a:p>
          <a:p>
            <a:pPr marL="457178" indent="-457178">
              <a:buFont typeface="Arial" panose="020B0604020202020204" pitchFamily="34" charset="0"/>
              <a:buChar char="•"/>
            </a:pPr>
            <a:r>
              <a:rPr lang="pt-BR" sz="2800" b="1" dirty="0"/>
              <a:t>Nominal</a:t>
            </a:r>
          </a:p>
          <a:p>
            <a:pPr marL="914354" lvl="1" indent="-457178">
              <a:buFont typeface="Arial" panose="020B0604020202020204" pitchFamily="34" charset="0"/>
              <a:buChar char="•"/>
            </a:pPr>
            <a:r>
              <a:rPr lang="pt-BR" sz="2800" dirty="0"/>
              <a:t>Ex.: cor dos olhos, comida preferida, etc.</a:t>
            </a:r>
          </a:p>
          <a:p>
            <a:pPr lvl="1"/>
            <a:r>
              <a:rPr lang="pt-BR" sz="2800" dirty="0"/>
              <a:t> </a:t>
            </a:r>
          </a:p>
          <a:p>
            <a:pPr marL="457178" indent="-457178">
              <a:buFont typeface="Arial" panose="020B0604020202020204" pitchFamily="34" charset="0"/>
              <a:buChar char="•"/>
            </a:pPr>
            <a:r>
              <a:rPr lang="pt-BR" sz="2800" b="1" dirty="0"/>
              <a:t>Ordinal</a:t>
            </a:r>
          </a:p>
          <a:p>
            <a:pPr marL="914354" lvl="1" indent="-457178">
              <a:buFont typeface="Arial" panose="020B0604020202020204" pitchFamily="34" charset="0"/>
              <a:buChar char="•"/>
            </a:pPr>
            <a:r>
              <a:rPr lang="pt-BR" sz="2800" dirty="0"/>
              <a:t>Grau de escolaridade, patentes do exército, etc.</a:t>
            </a:r>
          </a:p>
          <a:p>
            <a:pPr marL="914354" lvl="1" indent="-457178">
              <a:buFont typeface="Arial" panose="020B0604020202020204" pitchFamily="34" charset="0"/>
              <a:buChar char="•"/>
            </a:pPr>
            <a:endParaRPr lang="pt-BR" sz="2800" dirty="0"/>
          </a:p>
          <a:p>
            <a:r>
              <a:rPr lang="pt-BR" sz="2800" dirty="0"/>
              <a:t>Algumas variáveis nominais são dicotômicas, ou seja, só podem ocorrer duas realizações (sucesso e fracasso).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64300"/>
            <a:ext cx="48276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CEA055 - Estatística e Probabilidade - Prof.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12614792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689996" y="685139"/>
                <a:ext cx="11180365" cy="39703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800" b="1" dirty="0"/>
                  <a:t>Variáveis quantitativas</a:t>
                </a:r>
              </a:p>
              <a:p>
                <a:endParaRPr lang="pt-BR" sz="2800" b="1" dirty="0"/>
              </a:p>
              <a:p>
                <a:pPr marL="457178" indent="-457178">
                  <a:buFont typeface="Arial" panose="020B0604020202020204" pitchFamily="34" charset="0"/>
                  <a:buChar char="•"/>
                </a:pPr>
                <a:r>
                  <a:rPr lang="pt-BR" sz="2800" b="1" dirty="0"/>
                  <a:t>Discreta</a:t>
                </a:r>
              </a:p>
              <a:p>
                <a:pPr marL="914354" lvl="1" indent="-457178">
                  <a:buFont typeface="Arial" panose="020B0604020202020204" pitchFamily="34" charset="0"/>
                  <a:buChar char="•"/>
                </a:pPr>
                <a:r>
                  <a:rPr lang="pt-BR" sz="2800" dirty="0"/>
                  <a:t>Quando as realizações possíveis pertencem a um conjunto finito ou enumerável.</a:t>
                </a:r>
              </a:p>
              <a:p>
                <a:pPr lvl="1"/>
                <a:r>
                  <a:rPr lang="pt-BR" sz="2800" dirty="0"/>
                  <a:t> </a:t>
                </a:r>
              </a:p>
              <a:p>
                <a:pPr marL="457178" indent="-457178">
                  <a:buFont typeface="Arial" panose="020B0604020202020204" pitchFamily="34" charset="0"/>
                  <a:buChar char="•"/>
                </a:pPr>
                <a:r>
                  <a:rPr lang="pt-BR" sz="2800" b="1" dirty="0"/>
                  <a:t>Contínua</a:t>
                </a:r>
              </a:p>
              <a:p>
                <a:pPr marL="914354" lvl="1" indent="-457178">
                  <a:buFont typeface="Arial" panose="020B0604020202020204" pitchFamily="34" charset="0"/>
                  <a:buChar char="•"/>
                </a:pPr>
                <a:r>
                  <a:rPr lang="pt-BR" sz="2800" dirty="0"/>
                  <a:t>Quando as realizações pertencem a um intervalo em </a:t>
                </a:r>
                <a14:m>
                  <m:oMath xmlns:m="http://schemas.openxmlformats.org/officeDocument/2006/math">
                    <m:r>
                      <a:rPr lang="pt-BR" sz="2800" i="1"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pt-BR" sz="2800" dirty="0"/>
                  <a:t>.</a:t>
                </a:r>
              </a:p>
              <a:p>
                <a:pPr marL="914354" lvl="1" indent="-457178">
                  <a:buFont typeface="Arial" panose="020B0604020202020204" pitchFamily="34" charset="0"/>
                  <a:buChar char="•"/>
                </a:pPr>
                <a:endParaRPr lang="pt-BR" sz="28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996" y="685139"/>
                <a:ext cx="11180365" cy="3970318"/>
              </a:xfrm>
              <a:prstGeom prst="rect">
                <a:avLst/>
              </a:prstGeom>
              <a:blipFill>
                <a:blip r:embed="rId2"/>
                <a:stretch>
                  <a:fillRect l="-1091" t="-138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64300"/>
            <a:ext cx="48276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CEA055 - Estatística e Probabilidade - Prof.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9344390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630361" y="532740"/>
            <a:ext cx="11180365" cy="32571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800" b="1" dirty="0"/>
              <a:t>Distribuições de frequências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800" dirty="0"/>
              <a:t>Ao estudarmos uma variável, é importante saber a frequência que suas realizações acontecem.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800" dirty="0"/>
              <a:t>Estudar a distribuição de frequências das realizações nos dará uma ideia do comportamento da variável.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64300"/>
            <a:ext cx="48276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CEA055 - Estatística e Probabilidade - Prof.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13524155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729753" y="698615"/>
                <a:ext cx="11180365" cy="51980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800" b="1" dirty="0"/>
                  <a:t>Exemplo de tabela de distribuição de frequências</a:t>
                </a:r>
              </a:p>
              <a:p>
                <a:endParaRPr lang="pt-BR" sz="2800" b="1" dirty="0"/>
              </a:p>
              <a:p>
                <a:endParaRPr lang="pt-BR" sz="2800" b="1" dirty="0"/>
              </a:p>
              <a:p>
                <a:endParaRPr lang="pt-BR" sz="2800" b="1" dirty="0"/>
              </a:p>
              <a:p>
                <a:endParaRPr lang="pt-BR" sz="2800" b="1" dirty="0"/>
              </a:p>
              <a:p>
                <a:endParaRPr lang="pt-BR" sz="2800" b="1" dirty="0"/>
              </a:p>
              <a:p>
                <a:endParaRPr lang="pt-BR" sz="2800" b="1" dirty="0"/>
              </a:p>
              <a:p>
                <a:pPr marL="457200" indent="-4572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pt-BR" sz="2800" dirty="0"/>
                  <a:t>Número de realizações ou frequência</a:t>
                </a:r>
                <a14:m>
                  <m:oMath xmlns:m="http://schemas.openxmlformats.org/officeDocument/2006/math">
                    <m:r>
                      <a:rPr lang="pt-BR" sz="2800" b="0" i="0" dirty="0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pt-BR" sz="2800" b="0" i="1" dirty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pt-BR" sz="28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pt-BR" sz="28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pt-BR" sz="2800" dirty="0"/>
              </a:p>
              <a:p>
                <a:pPr marL="457200" indent="-4572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pt-BR" sz="2800" dirty="0"/>
                  <a:t>Proporção: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b="0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pt-BR" sz="28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pt-BR" sz="2800" b="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pt-BR" sz="28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pt-BR" sz="2800" i="1" dirty="0" err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800" b="0" i="1" dirty="0" err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pt-BR" sz="2800" b="0" i="1" dirty="0" err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num>
                      <m:den>
                        <m:r>
                          <a:rPr lang="pt-BR" sz="2800" b="0" i="1" dirty="0" smtClean="0">
                            <a:latin typeface="Cambria Math" panose="02040503050406030204" pitchFamily="18" charset="0"/>
                          </a:rPr>
                          <m:t>𝑡𝑜𝑡𝑎𝑙</m:t>
                        </m:r>
                      </m:den>
                    </m:f>
                  </m:oMath>
                </a14:m>
                <a:endParaRPr lang="pt-BR" sz="2800" dirty="0"/>
              </a:p>
              <a:p>
                <a:pPr marL="457200" indent="-4572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pt-BR" sz="2800" dirty="0"/>
                  <a:t>Porcentagem: </a:t>
                </a:r>
                <a14:m>
                  <m:oMath xmlns:m="http://schemas.openxmlformats.org/officeDocument/2006/math">
                    <m:r>
                      <a:rPr lang="pt-BR" sz="2800" b="0" i="1" dirty="0" smtClean="0">
                        <a:latin typeface="Cambria Math" panose="02040503050406030204" pitchFamily="18" charset="0"/>
                      </a:rPr>
                      <m:t>100∗</m:t>
                    </m:r>
                    <m:sSub>
                      <m:sSubPr>
                        <m:ctrlPr>
                          <a:rPr lang="pt-BR" sz="2800" i="1" dirty="0" err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b="0" i="1" dirty="0" err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pt-BR" sz="2800" b="0" i="1" dirty="0" err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pt-BR" sz="28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753" y="698615"/>
                <a:ext cx="11180365" cy="5198090"/>
              </a:xfrm>
              <a:prstGeom prst="rect">
                <a:avLst/>
              </a:prstGeom>
              <a:blipFill>
                <a:blip r:embed="rId2"/>
                <a:stretch>
                  <a:fillRect l="-1145" t="-1174" b="-246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64300"/>
            <a:ext cx="48276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CEA055 - Estatística e Probabilidade - Prof. Marcos Goulart Lima</a:t>
            </a:r>
          </a:p>
        </p:txBody>
      </p:sp>
      <p:graphicFrame>
        <p:nvGraphicFramePr>
          <p:cNvPr id="8" name="Tabela 7">
            <a:extLst>
              <a:ext uri="{FF2B5EF4-FFF2-40B4-BE49-F238E27FC236}">
                <a16:creationId xmlns:a16="http://schemas.microsoft.com/office/drawing/2014/main" id="{25FF8E74-348E-6CD5-B3F8-DDF8FFA5AABB}"/>
              </a:ext>
            </a:extLst>
          </p:cNvPr>
          <p:cNvGraphicFramePr>
            <a:graphicFrameLocks noGrp="1"/>
          </p:cNvGraphicFramePr>
          <p:nvPr/>
        </p:nvGraphicFramePr>
        <p:xfrm>
          <a:off x="2490027" y="1574800"/>
          <a:ext cx="6945521" cy="2030760"/>
        </p:xfrm>
        <a:graphic>
          <a:graphicData uri="http://schemas.openxmlformats.org/drawingml/2006/table">
            <a:tbl>
              <a:tblPr/>
              <a:tblGrid>
                <a:gridCol w="1956244">
                  <a:extLst>
                    <a:ext uri="{9D8B030D-6E8A-4147-A177-3AD203B41FA5}">
                      <a16:colId xmlns:a16="http://schemas.microsoft.com/office/drawing/2014/main" val="4199005761"/>
                    </a:ext>
                  </a:extLst>
                </a:gridCol>
                <a:gridCol w="1517420">
                  <a:extLst>
                    <a:ext uri="{9D8B030D-6E8A-4147-A177-3AD203B41FA5}">
                      <a16:colId xmlns:a16="http://schemas.microsoft.com/office/drawing/2014/main" val="807978120"/>
                    </a:ext>
                  </a:extLst>
                </a:gridCol>
                <a:gridCol w="1355002">
                  <a:extLst>
                    <a:ext uri="{9D8B030D-6E8A-4147-A177-3AD203B41FA5}">
                      <a16:colId xmlns:a16="http://schemas.microsoft.com/office/drawing/2014/main" val="1083088269"/>
                    </a:ext>
                  </a:extLst>
                </a:gridCol>
                <a:gridCol w="2116855">
                  <a:extLst>
                    <a:ext uri="{9D8B030D-6E8A-4147-A177-3AD203B41FA5}">
                      <a16:colId xmlns:a16="http://schemas.microsoft.com/office/drawing/2014/main" val="3006889803"/>
                    </a:ext>
                  </a:extLst>
                </a:gridCol>
              </a:tblGrid>
              <a:tr h="406152"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1" i="0" u="none" strike="noStrike" dirty="0">
                          <a:solidFill>
                            <a:srgbClr val="1F6FA5"/>
                          </a:solidFill>
                          <a:effectLst/>
                          <a:latin typeface="Aptos Narrow" panose="020B0004020202020204" pitchFamily="34" charset="0"/>
                        </a:rPr>
                        <a:t>Grau de instrução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1" i="0" u="none" strike="noStrike">
                          <a:solidFill>
                            <a:srgbClr val="1F6FA5"/>
                          </a:solidFill>
                          <a:effectLst/>
                          <a:latin typeface="Aptos Narrow" panose="020B0004020202020204" pitchFamily="34" charset="0"/>
                        </a:rPr>
                        <a:t>Frequência ni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1" i="0" u="none" strike="noStrike">
                          <a:solidFill>
                            <a:srgbClr val="1F6FA5"/>
                          </a:solidFill>
                          <a:effectLst/>
                          <a:latin typeface="Aptos Narrow" panose="020B0004020202020204" pitchFamily="34" charset="0"/>
                        </a:rPr>
                        <a:t>Proporção fi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1" i="0" u="none" strike="noStrike" dirty="0">
                          <a:solidFill>
                            <a:srgbClr val="1F6FA5"/>
                          </a:solidFill>
                          <a:effectLst/>
                          <a:latin typeface="Aptos Narrow" panose="020B0004020202020204" pitchFamily="34" charset="0"/>
                        </a:rPr>
                        <a:t>Porcentagem 100 </a:t>
                      </a:r>
                      <a:r>
                        <a:rPr lang="pt-BR" sz="1800" b="1" i="0" u="none" strike="noStrike" dirty="0" err="1">
                          <a:solidFill>
                            <a:srgbClr val="1F6FA5"/>
                          </a:solidFill>
                          <a:effectLst/>
                          <a:latin typeface="Aptos Narrow" panose="020B0004020202020204" pitchFamily="34" charset="0"/>
                        </a:rPr>
                        <a:t>fi</a:t>
                      </a:r>
                      <a:endParaRPr lang="pt-BR" sz="1800" b="1" i="0" u="none" strike="noStrike" dirty="0">
                        <a:solidFill>
                          <a:srgbClr val="1F6FA5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2910004"/>
                  </a:ext>
                </a:extLst>
              </a:tr>
              <a:tr h="406152">
                <a:tc>
                  <a:txBody>
                    <a:bodyPr/>
                    <a:lstStyle/>
                    <a:p>
                      <a:pPr algn="l" fontAlgn="b"/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Fundamental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0,3333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33,33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8678031"/>
                  </a:ext>
                </a:extLst>
              </a:tr>
              <a:tr h="406152">
                <a:tc>
                  <a:txBody>
                    <a:bodyPr/>
                    <a:lstStyle/>
                    <a:p>
                      <a:pPr algn="l" fontAlgn="b"/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Médio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0,5000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50,00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9378296"/>
                  </a:ext>
                </a:extLst>
              </a:tr>
              <a:tr h="406152">
                <a:tc>
                  <a:txBody>
                    <a:bodyPr/>
                    <a:lstStyle/>
                    <a:p>
                      <a:pPr algn="l" fontAlgn="b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Superior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0,1667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16,67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3500223"/>
                  </a:ext>
                </a:extLst>
              </a:tr>
              <a:tr h="406152">
                <a:tc>
                  <a:txBody>
                    <a:bodyPr/>
                    <a:lstStyle/>
                    <a:p>
                      <a:pPr algn="l" fontAlgn="b"/>
                      <a:r>
                        <a:rPr lang="pt-BR" sz="1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Total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1,0000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100,00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88752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20119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743005" y="852400"/>
            <a:ext cx="1118036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Uma vantagem em utilizar a proporção para representar distribuições de frequência é comparar dados de tamanhos diferentes.</a:t>
            </a:r>
          </a:p>
          <a:p>
            <a:endParaRPr lang="pt-BR" sz="2800" b="1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64300"/>
            <a:ext cx="48276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CEA055 - Estatística e Probabilidade - Prof. Marcos Goulart Lima</a:t>
            </a:r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ED0862A1-5CF6-D2CF-E595-2EB651F4F6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2391684"/>
              </p:ext>
            </p:extLst>
          </p:nvPr>
        </p:nvGraphicFramePr>
        <p:xfrm>
          <a:off x="1197665" y="2167855"/>
          <a:ext cx="10192579" cy="3884618"/>
        </p:xfrm>
        <a:graphic>
          <a:graphicData uri="http://schemas.openxmlformats.org/drawingml/2006/table">
            <a:tbl>
              <a:tblPr/>
              <a:tblGrid>
                <a:gridCol w="1288717">
                  <a:extLst>
                    <a:ext uri="{9D8B030D-6E8A-4147-A177-3AD203B41FA5}">
                      <a16:colId xmlns:a16="http://schemas.microsoft.com/office/drawing/2014/main" val="999704858"/>
                    </a:ext>
                  </a:extLst>
                </a:gridCol>
                <a:gridCol w="1073931">
                  <a:extLst>
                    <a:ext uri="{9D8B030D-6E8A-4147-A177-3AD203B41FA5}">
                      <a16:colId xmlns:a16="http://schemas.microsoft.com/office/drawing/2014/main" val="320084440"/>
                    </a:ext>
                  </a:extLst>
                </a:gridCol>
                <a:gridCol w="1093457">
                  <a:extLst>
                    <a:ext uri="{9D8B030D-6E8A-4147-A177-3AD203B41FA5}">
                      <a16:colId xmlns:a16="http://schemas.microsoft.com/office/drawing/2014/main" val="3141493085"/>
                    </a:ext>
                  </a:extLst>
                </a:gridCol>
                <a:gridCol w="1327769">
                  <a:extLst>
                    <a:ext uri="{9D8B030D-6E8A-4147-A177-3AD203B41FA5}">
                      <a16:colId xmlns:a16="http://schemas.microsoft.com/office/drawing/2014/main" val="2768518551"/>
                    </a:ext>
                  </a:extLst>
                </a:gridCol>
                <a:gridCol w="527202">
                  <a:extLst>
                    <a:ext uri="{9D8B030D-6E8A-4147-A177-3AD203B41FA5}">
                      <a16:colId xmlns:a16="http://schemas.microsoft.com/office/drawing/2014/main" val="2653760714"/>
                    </a:ext>
                  </a:extLst>
                </a:gridCol>
                <a:gridCol w="1952601">
                  <a:extLst>
                    <a:ext uri="{9D8B030D-6E8A-4147-A177-3AD203B41FA5}">
                      <a16:colId xmlns:a16="http://schemas.microsoft.com/office/drawing/2014/main" val="1382902328"/>
                    </a:ext>
                  </a:extLst>
                </a:gridCol>
                <a:gridCol w="1112983">
                  <a:extLst>
                    <a:ext uri="{9D8B030D-6E8A-4147-A177-3AD203B41FA5}">
                      <a16:colId xmlns:a16="http://schemas.microsoft.com/office/drawing/2014/main" val="2931258183"/>
                    </a:ext>
                  </a:extLst>
                </a:gridCol>
                <a:gridCol w="1815919">
                  <a:extLst>
                    <a:ext uri="{9D8B030D-6E8A-4147-A177-3AD203B41FA5}">
                      <a16:colId xmlns:a16="http://schemas.microsoft.com/office/drawing/2014/main" val="1383842189"/>
                    </a:ext>
                  </a:extLst>
                </a:gridCol>
              </a:tblGrid>
              <a:tr h="1050497">
                <a:tc gridSpan="4">
                  <a:txBody>
                    <a:bodyPr/>
                    <a:lstStyle/>
                    <a:p>
                      <a:pPr algn="l" fontAlgn="b"/>
                      <a:r>
                        <a:rPr lang="pt-BR" sz="1800" b="1" i="1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Tabela 2.2: Frequências e porcentagens dos 36 empregados da seção de orçamentos da Companhia MB segundo o grau de instrução.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pt-BR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l" fontAlgn="b"/>
                      <a:r>
                        <a:rPr lang="pt-BR" sz="1800" b="1" i="1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Tabela 2.3: Frequências e porcentagens dos 2.000 empregados da Companhia MB, segundo o grau de instrução.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0609541"/>
                  </a:ext>
                </a:extLst>
              </a:tr>
              <a:tr h="759711"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1" i="0" u="none" strike="noStrike">
                          <a:solidFill>
                            <a:srgbClr val="1F6FA5"/>
                          </a:solidFill>
                          <a:effectLst/>
                          <a:latin typeface="Aptos Narrow" panose="020B0004020202020204" pitchFamily="34" charset="0"/>
                        </a:rPr>
                        <a:t>Grau de instrução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1" i="0" u="none" strike="noStrike" dirty="0" err="1">
                          <a:solidFill>
                            <a:srgbClr val="1F6FA5"/>
                          </a:solidFill>
                          <a:effectLst/>
                          <a:latin typeface="Aptos Narrow" panose="020B0004020202020204" pitchFamily="34" charset="0"/>
                        </a:rPr>
                        <a:t>Freq</a:t>
                      </a:r>
                      <a:r>
                        <a:rPr lang="pt-BR" sz="1800" b="1" i="0" u="none" strike="noStrike" dirty="0">
                          <a:solidFill>
                            <a:srgbClr val="1F6FA5"/>
                          </a:solidFill>
                          <a:effectLst/>
                          <a:latin typeface="Aptos Narrow" panose="020B0004020202020204" pitchFamily="34" charset="0"/>
                        </a:rPr>
                        <a:t> </a:t>
                      </a:r>
                      <a:br>
                        <a:rPr lang="pt-BR" sz="1800" b="1" i="0" u="none" strike="noStrike" dirty="0">
                          <a:solidFill>
                            <a:srgbClr val="1F6FA5"/>
                          </a:solidFill>
                          <a:effectLst/>
                          <a:latin typeface="Aptos Narrow" panose="020B0004020202020204" pitchFamily="34" charset="0"/>
                        </a:rPr>
                      </a:br>
                      <a:r>
                        <a:rPr lang="pt-BR" sz="1800" b="1" i="0" u="none" strike="noStrike" dirty="0" err="1">
                          <a:solidFill>
                            <a:srgbClr val="1F6FA5"/>
                          </a:solidFill>
                          <a:effectLst/>
                          <a:latin typeface="Aptos Narrow" panose="020B0004020202020204" pitchFamily="34" charset="0"/>
                        </a:rPr>
                        <a:t>ni</a:t>
                      </a:r>
                      <a:endParaRPr lang="pt-BR" sz="1800" b="1" i="0" u="none" strike="noStrike" dirty="0">
                        <a:solidFill>
                          <a:srgbClr val="1F6FA5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1" i="0" u="none" strike="noStrike">
                          <a:solidFill>
                            <a:srgbClr val="1F6FA5"/>
                          </a:solidFill>
                          <a:effectLst/>
                          <a:latin typeface="Aptos Narrow" panose="020B0004020202020204" pitchFamily="34" charset="0"/>
                        </a:rPr>
                        <a:t>Proporção fi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1" i="0" u="none" strike="noStrike">
                          <a:solidFill>
                            <a:srgbClr val="1F6FA5"/>
                          </a:solidFill>
                          <a:effectLst/>
                          <a:latin typeface="Aptos Narrow" panose="020B0004020202020204" pitchFamily="34" charset="0"/>
                        </a:rPr>
                        <a:t>Porcentagem 100 fi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b="1" i="0" u="none" strike="noStrike" dirty="0">
                          <a:solidFill>
                            <a:srgbClr val="1F6FA5"/>
                          </a:solidFill>
                          <a:effectLst/>
                          <a:latin typeface="Aptos Narrow" panose="020B0004020202020204" pitchFamily="34" charset="0"/>
                        </a:rPr>
                        <a:t>Grau de instrução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b="1" i="0" u="none" strike="noStrike">
                          <a:solidFill>
                            <a:srgbClr val="1F6FA5"/>
                          </a:solidFill>
                          <a:effectLst/>
                          <a:latin typeface="Aptos Narrow" panose="020B0004020202020204" pitchFamily="34" charset="0"/>
                        </a:rPr>
                        <a:t>Freq ni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1" i="0" u="none" strike="noStrike">
                          <a:solidFill>
                            <a:srgbClr val="1F6FA5"/>
                          </a:solidFill>
                          <a:effectLst/>
                          <a:latin typeface="Aptos Narrow" panose="020B0004020202020204" pitchFamily="34" charset="0"/>
                        </a:rPr>
                        <a:t>Porcentagem 100 fi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1916672"/>
                  </a:ext>
                </a:extLst>
              </a:tr>
              <a:tr h="379855">
                <a:tc>
                  <a:txBody>
                    <a:bodyPr/>
                    <a:lstStyle/>
                    <a:p>
                      <a:pPr algn="l" fontAlgn="ctr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Fundamental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0,3333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33,33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pt-BR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Fundamental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650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32,50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8484804"/>
                  </a:ext>
                </a:extLst>
              </a:tr>
              <a:tr h="379855">
                <a:tc>
                  <a:txBody>
                    <a:bodyPr/>
                    <a:lstStyle/>
                    <a:p>
                      <a:pPr algn="l" fontAlgn="ctr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Médio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0,5000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50,00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pt-BR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Médio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1.020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51,00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7455522"/>
                  </a:ext>
                </a:extLst>
              </a:tr>
              <a:tr h="379855">
                <a:tc>
                  <a:txBody>
                    <a:bodyPr/>
                    <a:lstStyle/>
                    <a:p>
                      <a:pPr algn="l" fontAlgn="ctr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Superior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0,1667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16,67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pt-BR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Superior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330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16,50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6767561"/>
                  </a:ext>
                </a:extLst>
              </a:tr>
              <a:tr h="379855">
                <a:tc>
                  <a:txBody>
                    <a:bodyPr/>
                    <a:lstStyle/>
                    <a:p>
                      <a:pPr algn="l" fontAlgn="ctr"/>
                      <a:r>
                        <a:rPr lang="pt-BR" sz="1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Total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1,0000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100,00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pt-BR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Total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2.000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100,00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2052182"/>
                  </a:ext>
                </a:extLst>
              </a:tr>
              <a:tr h="379855">
                <a:tc gridSpan="2">
                  <a:txBody>
                    <a:bodyPr/>
                    <a:lstStyle/>
                    <a:p>
                      <a:pPr algn="l" fontAlgn="b"/>
                      <a:r>
                        <a:rPr lang="pt-BR" sz="1800" b="0" i="1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Fonte: Tabela 2.1.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pt-BR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800" b="0" i="1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Fonte: Dados hipotéticos.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25975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572889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577353" y="721360"/>
            <a:ext cx="11038177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/>
              <a:t>Exemplo com variáveis contínuas.</a:t>
            </a:r>
          </a:p>
          <a:p>
            <a:endParaRPr lang="pt-BR" sz="2800" b="1" dirty="0"/>
          </a:p>
          <a:p>
            <a:r>
              <a:rPr lang="pt-BR" sz="2800" dirty="0"/>
              <a:t>Quando queremos avaliar a frequencia de uma variável contínua, precisamos dividir as realizações em classes e contar o número de realizações em cada classe.</a:t>
            </a:r>
          </a:p>
          <a:p>
            <a:endParaRPr lang="pt-BR" sz="2800" dirty="0"/>
          </a:p>
          <a:p>
            <a:endParaRPr lang="pt-BR" sz="280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64300"/>
            <a:ext cx="48276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CEA055 - Estatística e Probabilidade - Prof. Marcos Goulart Lima</a:t>
            </a:r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209CB7E7-BC3A-1499-98C3-B7FA38680A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4315987"/>
              </p:ext>
            </p:extLst>
          </p:nvPr>
        </p:nvGraphicFramePr>
        <p:xfrm>
          <a:off x="5188999" y="2675137"/>
          <a:ext cx="5211917" cy="3527526"/>
        </p:xfrm>
        <a:graphic>
          <a:graphicData uri="http://schemas.openxmlformats.org/drawingml/2006/table">
            <a:tbl>
              <a:tblPr/>
              <a:tblGrid>
                <a:gridCol w="2260591">
                  <a:extLst>
                    <a:ext uri="{9D8B030D-6E8A-4147-A177-3AD203B41FA5}">
                      <a16:colId xmlns:a16="http://schemas.microsoft.com/office/drawing/2014/main" val="779858147"/>
                    </a:ext>
                  </a:extLst>
                </a:gridCol>
                <a:gridCol w="1507060">
                  <a:extLst>
                    <a:ext uri="{9D8B030D-6E8A-4147-A177-3AD203B41FA5}">
                      <a16:colId xmlns:a16="http://schemas.microsoft.com/office/drawing/2014/main" val="1469200692"/>
                    </a:ext>
                  </a:extLst>
                </a:gridCol>
                <a:gridCol w="1444266">
                  <a:extLst>
                    <a:ext uri="{9D8B030D-6E8A-4147-A177-3AD203B41FA5}">
                      <a16:colId xmlns:a16="http://schemas.microsoft.com/office/drawing/2014/main" val="1788926558"/>
                    </a:ext>
                  </a:extLst>
                </a:gridCol>
              </a:tblGrid>
              <a:tr h="1015071">
                <a:tc gridSpan="3">
                  <a:txBody>
                    <a:bodyPr/>
                    <a:lstStyle/>
                    <a:p>
                      <a:pPr algn="l" fontAlgn="b"/>
                      <a:r>
                        <a:rPr lang="pt-BR" sz="1800" b="1" i="1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Tabela 2.4: Frequências e porcentagens dos 36 empregados da seção de orçamentos da Companhia MB por faixa de salário.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9954721"/>
                  </a:ext>
                </a:extLst>
              </a:tr>
              <a:tr h="828435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b="1" i="0" u="none" strike="noStrike" dirty="0">
                          <a:solidFill>
                            <a:srgbClr val="1F6FA5"/>
                          </a:solidFill>
                          <a:effectLst/>
                          <a:latin typeface="Aptos Narrow" panose="020B0004020202020204" pitchFamily="34" charset="0"/>
                        </a:rPr>
                        <a:t>Classe de salários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b="1" i="0" u="none" strike="noStrike" dirty="0" err="1">
                          <a:solidFill>
                            <a:srgbClr val="1F6FA5"/>
                          </a:solidFill>
                          <a:effectLst/>
                          <a:latin typeface="Aptos Narrow" panose="020B0004020202020204" pitchFamily="34" charset="0"/>
                        </a:rPr>
                        <a:t>Freqüência</a:t>
                      </a:r>
                      <a:r>
                        <a:rPr lang="pt-BR" sz="1800" b="1" i="0" u="none" strike="noStrike" dirty="0">
                          <a:solidFill>
                            <a:srgbClr val="1F6FA5"/>
                          </a:solidFill>
                          <a:effectLst/>
                          <a:latin typeface="Aptos Narrow" panose="020B0004020202020204" pitchFamily="34" charset="0"/>
                        </a:rPr>
                        <a:t> </a:t>
                      </a:r>
                      <a:r>
                        <a:rPr lang="pt-BR" sz="1800" b="1" i="0" u="none" strike="noStrike" dirty="0" err="1">
                          <a:solidFill>
                            <a:srgbClr val="1F6FA5"/>
                          </a:solidFill>
                          <a:effectLst/>
                          <a:latin typeface="Aptos Narrow" panose="020B0004020202020204" pitchFamily="34" charset="0"/>
                        </a:rPr>
                        <a:t>ni</a:t>
                      </a:r>
                      <a:endParaRPr lang="pt-BR" sz="1800" b="1" i="0" u="none" strike="noStrike" dirty="0">
                        <a:solidFill>
                          <a:srgbClr val="1F6FA5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b="1" i="0" u="none" strike="noStrike">
                          <a:solidFill>
                            <a:srgbClr val="1F6FA5"/>
                          </a:solidFill>
                          <a:effectLst/>
                          <a:latin typeface="Aptos Narrow" panose="020B0004020202020204" pitchFamily="34" charset="0"/>
                        </a:rPr>
                        <a:t>Porcentagem 100 fi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8021234"/>
                  </a:ext>
                </a:extLst>
              </a:tr>
              <a:tr h="276145">
                <a:tc>
                  <a:txBody>
                    <a:bodyPr/>
                    <a:lstStyle/>
                    <a:p>
                      <a:pPr algn="l" fontAlgn="b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4,00 ⊢ 8,00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27,78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2919028"/>
                  </a:ext>
                </a:extLst>
              </a:tr>
              <a:tr h="276145">
                <a:tc>
                  <a:txBody>
                    <a:bodyPr/>
                    <a:lstStyle/>
                    <a:p>
                      <a:pPr algn="l" fontAlgn="b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8,00 ⊢ 12,00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33,33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6973913"/>
                  </a:ext>
                </a:extLst>
              </a:tr>
              <a:tr h="276145">
                <a:tc>
                  <a:txBody>
                    <a:bodyPr/>
                    <a:lstStyle/>
                    <a:p>
                      <a:pPr algn="l" fontAlgn="b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12,00 ⊢ 16,00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22,22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8951071"/>
                  </a:ext>
                </a:extLst>
              </a:tr>
              <a:tr h="276145">
                <a:tc>
                  <a:txBody>
                    <a:bodyPr/>
                    <a:lstStyle/>
                    <a:p>
                      <a:pPr algn="l" fontAlgn="b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16,00 ⊢ 20,00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13,89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2922434"/>
                  </a:ext>
                </a:extLst>
              </a:tr>
              <a:tr h="276145">
                <a:tc>
                  <a:txBody>
                    <a:bodyPr/>
                    <a:lstStyle/>
                    <a:p>
                      <a:pPr algn="l" fontAlgn="b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20,00 ⊢ 24,00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2,78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9783438"/>
                  </a:ext>
                </a:extLst>
              </a:tr>
              <a:tr h="276145">
                <a:tc>
                  <a:txBody>
                    <a:bodyPr/>
                    <a:lstStyle/>
                    <a:p>
                      <a:pPr algn="l" fontAlgn="b"/>
                      <a:r>
                        <a:rPr lang="pt-BR" sz="1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Total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36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100,00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05735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208777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623735" y="819426"/>
            <a:ext cx="1118036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/>
              <a:t>Gráficos</a:t>
            </a:r>
          </a:p>
          <a:p>
            <a:endParaRPr lang="pt-BR" sz="2800" b="1" dirty="0"/>
          </a:p>
          <a:p>
            <a:r>
              <a:rPr lang="pt-BR" sz="2800" dirty="0"/>
              <a:t>Usamos representações gráficas para melhorar a visualização da  distribuição (ou comportamento) de uma variável. </a:t>
            </a:r>
          </a:p>
          <a:p>
            <a:endParaRPr lang="pt-BR" sz="2800" dirty="0"/>
          </a:p>
          <a:p>
            <a:r>
              <a:rPr lang="pt-BR" sz="2800" dirty="0"/>
              <a:t>A vantagem desse tipo de representação é a possibilidade de uma interpretação mais rápida dos dados.</a:t>
            </a:r>
          </a:p>
          <a:p>
            <a:endParaRPr lang="pt-BR" sz="2800" dirty="0"/>
          </a:p>
          <a:p>
            <a:r>
              <a:rPr lang="pt-BR" sz="2800" dirty="0"/>
              <a:t>A seguir veremos alguns exemplos de gráficos.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64300"/>
            <a:ext cx="48276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CEA055 - Estatística e Probabilidade - Prof.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9818929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623736" y="857419"/>
            <a:ext cx="1118036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/>
              <a:t>Tipos de gráficos</a:t>
            </a:r>
          </a:p>
          <a:p>
            <a:endParaRPr lang="pt-BR" sz="2800" b="1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/>
              <a:t>Barras.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pt-BR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pt-BR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pt-BR" sz="2800" dirty="0"/>
          </a:p>
          <a:p>
            <a:endParaRPr lang="pt-BR" sz="2800" b="1" dirty="0"/>
          </a:p>
          <a:p>
            <a:endParaRPr lang="pt-BR" sz="2800" b="1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64300"/>
            <a:ext cx="48276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CEA055 - Estatística e Probabilidade - Prof. Marcos Goulart Lima</a:t>
            </a:r>
          </a:p>
        </p:txBody>
      </p:sp>
      <p:graphicFrame>
        <p:nvGraphicFramePr>
          <p:cNvPr id="2" name="Gráfico 1">
            <a:extLst>
              <a:ext uri="{FF2B5EF4-FFF2-40B4-BE49-F238E27FC236}">
                <a16:creationId xmlns:a16="http://schemas.microsoft.com/office/drawing/2014/main" id="{26CFC1AD-527C-8BB3-4904-BA88429F921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89921205"/>
              </p:ext>
            </p:extLst>
          </p:nvPr>
        </p:nvGraphicFramePr>
        <p:xfrm>
          <a:off x="2797174" y="1679574"/>
          <a:ext cx="7440129" cy="439654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706112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623736" y="758027"/>
            <a:ext cx="1118036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/>
              <a:t>Setores (ou pizza).</a:t>
            </a:r>
          </a:p>
          <a:p>
            <a:endParaRPr lang="pt-BR" sz="2800" b="1" dirty="0"/>
          </a:p>
          <a:p>
            <a:endParaRPr lang="pt-BR" sz="2800" b="1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64300"/>
            <a:ext cx="48276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CEA055 - Estatística e Probabilidade - Prof. Marcos Goulart Lima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599EAC4B-5CAE-4E6A-AF76-F25CDC198A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4521" y="1603500"/>
            <a:ext cx="5386511" cy="4048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22460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650240" y="804410"/>
            <a:ext cx="1118036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/>
              <a:t>Dispersão unidimensional</a:t>
            </a:r>
          </a:p>
          <a:p>
            <a:endParaRPr lang="pt-BR" sz="2800" b="1" dirty="0"/>
          </a:p>
          <a:p>
            <a:endParaRPr lang="pt-BR" sz="2800" b="1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502400"/>
            <a:ext cx="48276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CEA055 - Estatística e Probabilidade - Prof. Marcos Goulart Lima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09B46D0D-BFD1-4AD9-9333-40E26DD158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7007" y="1769528"/>
            <a:ext cx="6906830" cy="3579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50232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643614" y="764653"/>
            <a:ext cx="11180365" cy="45498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800" dirty="0"/>
              <a:t>Histograma</a:t>
            </a:r>
          </a:p>
          <a:p>
            <a:pPr>
              <a:lnSpc>
                <a:spcPct val="150000"/>
              </a:lnSpc>
            </a:pPr>
            <a:r>
              <a:rPr lang="pt-BR" sz="2800" dirty="0"/>
              <a:t>O histograma é um gráfico de barras tal que a largura representa um intervalo de classe e a área é proporcional à frequência (</a:t>
            </a:r>
            <a:r>
              <a:rPr lang="pt-BR" sz="2800" b="1" dirty="0"/>
              <a:t>dados quantitativos contínuos)</a:t>
            </a:r>
            <a:r>
              <a:rPr lang="pt-BR" sz="2800" dirty="0"/>
              <a:t>. </a:t>
            </a:r>
          </a:p>
          <a:p>
            <a:pPr>
              <a:lnSpc>
                <a:spcPct val="150000"/>
              </a:lnSpc>
            </a:pPr>
            <a:endParaRPr lang="pt-BR" sz="2800" b="1" dirty="0">
              <a:solidFill>
                <a:schemeClr val="accent1"/>
              </a:solidFill>
            </a:endParaRPr>
          </a:p>
          <a:p>
            <a:pPr>
              <a:lnSpc>
                <a:spcPct val="150000"/>
              </a:lnSpc>
            </a:pPr>
            <a:r>
              <a:rPr lang="pt-BR" sz="2800" b="1" dirty="0">
                <a:solidFill>
                  <a:schemeClr val="accent1"/>
                </a:solidFill>
              </a:rPr>
              <a:t>Diferença: </a:t>
            </a:r>
            <a:r>
              <a:rPr lang="pt-BR" sz="2800" dirty="0"/>
              <a:t>no gráfico de barras comum, as barras têm largura igual e representam categorias (dados qualitativos); 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64300"/>
            <a:ext cx="48276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CEA055 - Estatística e Probabilidade - Prof.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8892991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eader">
            <a:extLst>
              <a:ext uri="{FF2B5EF4-FFF2-40B4-BE49-F238E27FC236}">
                <a16:creationId xmlns:a16="http://schemas.microsoft.com/office/drawing/2014/main" id="{2F95361F-DCBD-4B87-AE24-EEDF52950E43}"/>
              </a:ext>
            </a:extLst>
          </p:cNvPr>
          <p:cNvSpPr txBox="1"/>
          <p:nvPr/>
        </p:nvSpPr>
        <p:spPr>
          <a:xfrm>
            <a:off x="647700" y="762000"/>
            <a:ext cx="111760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>
              <a:buNone/>
            </a:pPr>
            <a:r>
              <a:rPr lang="pt-BR" sz="2800" b="1" dirty="0"/>
              <a:t>Gráfico de Barras vs. Histograma</a:t>
            </a:r>
          </a:p>
        </p:txBody>
      </p:sp>
      <p:sp>
        <p:nvSpPr>
          <p:cNvPr id="5" name="Caption Left">
            <a:extLst>
              <a:ext uri="{FF2B5EF4-FFF2-40B4-BE49-F238E27FC236}">
                <a16:creationId xmlns:a16="http://schemas.microsoft.com/office/drawing/2014/main" id="{CD5F8520-BEED-4DCB-A9CB-C7CC73C5C8B7}"/>
              </a:ext>
            </a:extLst>
          </p:cNvPr>
          <p:cNvSpPr txBox="1"/>
          <p:nvPr/>
        </p:nvSpPr>
        <p:spPr>
          <a:xfrm>
            <a:off x="647700" y="5397500"/>
            <a:ext cx="54610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>
              <a:buNone/>
            </a:pPr>
            <a:r>
              <a:rPr lang="pt-BR" sz="1400" i="1" dirty="0"/>
              <a:t>Dados qualitativos (categorias). Barras com largura igual e separadas por espaços.</a:t>
            </a:r>
          </a:p>
        </p:txBody>
      </p:sp>
      <p:sp>
        <p:nvSpPr>
          <p:cNvPr id="6" name="Caption Right">
            <a:extLst>
              <a:ext uri="{FF2B5EF4-FFF2-40B4-BE49-F238E27FC236}">
                <a16:creationId xmlns:a16="http://schemas.microsoft.com/office/drawing/2014/main" id="{CED5BDAE-E350-4A8F-A35C-A5FFEBF18C77}"/>
              </a:ext>
            </a:extLst>
          </p:cNvPr>
          <p:cNvSpPr txBox="1"/>
          <p:nvPr/>
        </p:nvSpPr>
        <p:spPr>
          <a:xfrm>
            <a:off x="6362700" y="5397500"/>
            <a:ext cx="5461000" cy="73866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>
              <a:buNone/>
            </a:pPr>
            <a:r>
              <a:rPr lang="pt-BR" sz="1400" i="1" dirty="0"/>
              <a:t>Dados quantitativos contínuos (intervalos de classe). Altura = densidade de frequência (fi/n dividido pela amplitude); área total dos retângulos = 1.</a:t>
            </a:r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E85129A9-F5D2-4E7C-98B0-60B9FB73E3CB}"/>
              </a:ext>
            </a:extLst>
          </p:cNvPr>
          <p:cNvSpPr txBox="1"/>
          <p:nvPr/>
        </p:nvSpPr>
        <p:spPr>
          <a:xfrm>
            <a:off x="355600" y="6464300"/>
            <a:ext cx="4826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r>
              <a:rPr lang="pt-BR" sz="1400" dirty="0"/>
              <a:t>CEA055 - Estatística e Probabilidade - Prof. Marcos Goulart Lima</a:t>
            </a:r>
          </a:p>
        </p:txBody>
      </p:sp>
      <p:graphicFrame>
        <p:nvGraphicFramePr>
          <p:cNvPr id="101" name="Chart Barras"/>
          <p:cNvGraphicFramePr/>
          <p:nvPr/>
        </p:nvGraphicFramePr>
        <p:xfrm>
          <a:off x="647700" y="1524000"/>
          <a:ext cx="5461000" cy="381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02" name="Chart Histograma"/>
          <p:cNvGraphicFramePr/>
          <p:nvPr/>
        </p:nvGraphicFramePr>
        <p:xfrm>
          <a:off x="6362700" y="1524000"/>
          <a:ext cx="5461000" cy="381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432878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643614" y="764653"/>
                <a:ext cx="11180365" cy="42786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sz="2800" dirty="0"/>
                  <a:t>Cálculos para se fazer o histograma:</a:t>
                </a:r>
              </a:p>
              <a:p>
                <a:pPr marL="1371577" lvl="2" indent="-4572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pt-BR" sz="2800" dirty="0"/>
                  <a:t>as bases são proporcionais aos intervalos das classes</a:t>
                </a:r>
              </a:p>
              <a:p>
                <a:pPr marL="1371577" lvl="2" indent="-4572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pt-BR" sz="2800" dirty="0"/>
                  <a:t>a área de cada retângulo é proporcional à respectiva frequência.</a:t>
                </a:r>
              </a:p>
              <a:p>
                <a:pPr marL="1371577" lvl="2" indent="-4572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pt-BR" sz="2800" dirty="0"/>
                  <a:t>Se a base do intervalo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pt-BR" sz="2800" dirty="0"/>
                  <a:t> é denotada por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pt-BR" sz="2800" b="0" i="0" smtClean="0"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pt-BR" sz="2800" dirty="0"/>
                  <a:t>, então a altura do retângulo correspondente é proporcional a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pt-BR" sz="2800" b="0" i="0" smtClean="0">
                                <a:latin typeface="Cambria Math" panose="02040503050406030204" pitchFamily="18" charset="0"/>
                              </a:rPr>
                              <m:t>Δ</m:t>
                            </m:r>
                          </m:e>
                          <m:sub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pt-BR" sz="2800" dirty="0"/>
              </a:p>
              <a:p>
                <a:pPr marL="1371577" lvl="2" indent="-4572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pt-BR" sz="2800" dirty="0"/>
                  <a:t>A soma das áreas dos retângulos será igual a 1.</a:t>
                </a:r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614" y="764653"/>
                <a:ext cx="11180365" cy="4278607"/>
              </a:xfrm>
              <a:prstGeom prst="rect">
                <a:avLst/>
              </a:prstGeom>
              <a:blipFill>
                <a:blip r:embed="rId2"/>
                <a:stretch>
                  <a:fillRect l="-1145" b="-313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64300"/>
            <a:ext cx="48276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CEA055 - Estatística e Probabilidade - Prof.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23221630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603857" y="599001"/>
            <a:ext cx="1118036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Tente fazer os cálculos e chegar no seguinte histograma (casa)</a:t>
            </a:r>
          </a:p>
          <a:p>
            <a:endParaRPr lang="pt-BR" sz="2800" b="1" dirty="0"/>
          </a:p>
          <a:p>
            <a:pPr marL="1828766" lvl="3" indent="-457200">
              <a:buFont typeface="Arial" panose="020B0604020202020204" pitchFamily="34" charset="0"/>
              <a:buChar char="•"/>
            </a:pPr>
            <a:endParaRPr lang="pt-BR" sz="2800" dirty="0"/>
          </a:p>
          <a:p>
            <a:pPr marL="1828766" lvl="3" indent="-457200">
              <a:buFont typeface="Arial" panose="020B0604020202020204" pitchFamily="34" charset="0"/>
              <a:buChar char="•"/>
            </a:pPr>
            <a:endParaRPr lang="pt-BR" sz="280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64300"/>
            <a:ext cx="48276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CEA055 - Estatística e Probabilidade - Prof. Marcos Goulart Lima</a:t>
            </a:r>
          </a:p>
        </p:txBody>
      </p:sp>
      <p:graphicFrame>
        <p:nvGraphicFramePr>
          <p:cNvPr id="4" name="Gráfico 3">
            <a:extLst>
              <a:ext uri="{FF2B5EF4-FFF2-40B4-BE49-F238E27FC236}">
                <a16:creationId xmlns:a16="http://schemas.microsoft.com/office/drawing/2014/main" id="{5A7D429B-AC80-D42E-EAD3-78EA25971DF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7994411"/>
              </p:ext>
            </p:extLst>
          </p:nvPr>
        </p:nvGraphicFramePr>
        <p:xfrm>
          <a:off x="603857" y="1388026"/>
          <a:ext cx="10368943" cy="468809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4732382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610483" y="691767"/>
            <a:ext cx="11180365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Também podemos usar o histograma para variáveis discretas. Basta adaptar as realizações como intervalos de tamanho iguais</a:t>
            </a:r>
            <a:r>
              <a:rPr lang="pt-BR" sz="2800" b="1" dirty="0"/>
              <a:t> </a:t>
            </a:r>
          </a:p>
          <a:p>
            <a:endParaRPr lang="pt-BR" sz="2800" b="1" dirty="0"/>
          </a:p>
          <a:p>
            <a:pPr marL="1828766" lvl="3" indent="-457200">
              <a:buFont typeface="Arial" panose="020B0604020202020204" pitchFamily="34" charset="0"/>
              <a:buChar char="•"/>
            </a:pPr>
            <a:endParaRPr lang="pt-BR" sz="2800" dirty="0"/>
          </a:p>
          <a:p>
            <a:pPr marL="1828766" lvl="3" indent="-457200">
              <a:buFont typeface="Arial" panose="020B0604020202020204" pitchFamily="34" charset="0"/>
              <a:buChar char="•"/>
            </a:pPr>
            <a:endParaRPr lang="pt-BR" sz="280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64300"/>
            <a:ext cx="48276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CEA055 - Estatística e Probabilidade - Prof. Marcos Goulart Lima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90DB40C6-3975-4853-93F9-8A5086FB10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3193" y="2135051"/>
            <a:ext cx="8051844" cy="3866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56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eader">
            <a:extLst>
              <a:ext uri="{FF2B5EF4-FFF2-40B4-BE49-F238E27FC236}">
                <a16:creationId xmlns:a16="http://schemas.microsoft.com/office/drawing/2014/main" id="{B71358BB-E48C-4C37-9FE3-26E9E495C485}"/>
              </a:ext>
            </a:extLst>
          </p:cNvPr>
          <p:cNvSpPr txBox="1"/>
          <p:nvPr/>
        </p:nvSpPr>
        <p:spPr>
          <a:xfrm>
            <a:off x="647700" y="762000"/>
            <a:ext cx="11176000" cy="571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2800" b="1"/>
              <a:t>Histograma com Classes de Amplitudes Diferentes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741E73AE-729F-4306-929E-0864DCB58F99}"/>
              </a:ext>
            </a:extLst>
          </p:cNvPr>
          <p:cNvSpPr/>
          <p:nvPr/>
        </p:nvSpPr>
        <p:spPr>
          <a:xfrm>
            <a:off x="2286000" y="4635500"/>
            <a:ext cx="1270000" cy="825500"/>
          </a:xfrm>
          <a:prstGeom prst="rect">
            <a:avLst/>
          </a:prstGeom>
          <a:solidFill>
            <a:srgbClr val="4472C4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72BD70F0-0873-45B0-BD73-235BAB1D855E}"/>
              </a:ext>
            </a:extLst>
          </p:cNvPr>
          <p:cNvSpPr/>
          <p:nvPr/>
        </p:nvSpPr>
        <p:spPr>
          <a:xfrm>
            <a:off x="3556000" y="2984500"/>
            <a:ext cx="635000" cy="2476500"/>
          </a:xfrm>
          <a:prstGeom prst="rect">
            <a:avLst/>
          </a:prstGeom>
          <a:solidFill>
            <a:srgbClr val="4472C4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BCF174D4-AE4E-46F4-BD78-FE74A3B49A8E}"/>
              </a:ext>
            </a:extLst>
          </p:cNvPr>
          <p:cNvSpPr/>
          <p:nvPr/>
        </p:nvSpPr>
        <p:spPr>
          <a:xfrm>
            <a:off x="4191000" y="2362200"/>
            <a:ext cx="1270000" cy="3086100"/>
          </a:xfrm>
          <a:prstGeom prst="rect">
            <a:avLst/>
          </a:prstGeom>
          <a:solidFill>
            <a:srgbClr val="4472C4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4E0C55A3-6566-4304-97CE-4C1DD7DCA902}"/>
              </a:ext>
            </a:extLst>
          </p:cNvPr>
          <p:cNvSpPr/>
          <p:nvPr/>
        </p:nvSpPr>
        <p:spPr>
          <a:xfrm>
            <a:off x="5461000" y="4216400"/>
            <a:ext cx="1905000" cy="1231900"/>
          </a:xfrm>
          <a:prstGeom prst="rect">
            <a:avLst/>
          </a:prstGeom>
          <a:solidFill>
            <a:srgbClr val="4472C4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C021668C-0A08-4B5E-AF74-1F414FED496A}"/>
              </a:ext>
            </a:extLst>
          </p:cNvPr>
          <p:cNvSpPr/>
          <p:nvPr/>
        </p:nvSpPr>
        <p:spPr>
          <a:xfrm>
            <a:off x="7366000" y="4838700"/>
            <a:ext cx="2540000" cy="609600"/>
          </a:xfrm>
          <a:prstGeom prst="rect">
            <a:avLst/>
          </a:prstGeom>
          <a:solidFill>
            <a:srgbClr val="4472C4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92A49A27-FC0B-4546-A24D-9372560632D3}"/>
              </a:ext>
            </a:extLst>
          </p:cNvPr>
          <p:cNvSpPr/>
          <p:nvPr/>
        </p:nvSpPr>
        <p:spPr>
          <a:xfrm>
            <a:off x="2222500" y="5461000"/>
            <a:ext cx="7747000" cy="25400"/>
          </a:xfrm>
          <a:prstGeom prst="rect">
            <a:avLst/>
          </a:prstGeom>
          <a:solidFill>
            <a:srgbClr val="40404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89C213AE-BDD8-4D17-BF55-6E40E84CC3BF}"/>
              </a:ext>
            </a:extLst>
          </p:cNvPr>
          <p:cNvSpPr/>
          <p:nvPr/>
        </p:nvSpPr>
        <p:spPr>
          <a:xfrm>
            <a:off x="2260600" y="1905000"/>
            <a:ext cx="25400" cy="3581400"/>
          </a:xfrm>
          <a:prstGeom prst="rect">
            <a:avLst/>
          </a:prstGeom>
          <a:solidFill>
            <a:srgbClr val="40404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5C317431-9B96-4D2B-AD19-1C263CA3DB93}"/>
              </a:ext>
            </a:extLst>
          </p:cNvPr>
          <p:cNvSpPr txBox="1"/>
          <p:nvPr/>
        </p:nvSpPr>
        <p:spPr>
          <a:xfrm>
            <a:off x="2032000" y="5511800"/>
            <a:ext cx="508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1400"/>
              <a:t>0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C7546ACF-62BC-405F-A33B-40448D3B2224}"/>
              </a:ext>
            </a:extLst>
          </p:cNvPr>
          <p:cNvSpPr txBox="1"/>
          <p:nvPr/>
        </p:nvSpPr>
        <p:spPr>
          <a:xfrm>
            <a:off x="3302000" y="5511800"/>
            <a:ext cx="508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1400"/>
              <a:t>10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F65C3C48-2D49-4ADC-A685-7F8357E3084D}"/>
              </a:ext>
            </a:extLst>
          </p:cNvPr>
          <p:cNvSpPr txBox="1"/>
          <p:nvPr/>
        </p:nvSpPr>
        <p:spPr>
          <a:xfrm>
            <a:off x="3937000" y="5511800"/>
            <a:ext cx="508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1400"/>
              <a:t>15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85922168-FFB9-4349-AF6C-C7F0FD001F8E}"/>
              </a:ext>
            </a:extLst>
          </p:cNvPr>
          <p:cNvSpPr txBox="1"/>
          <p:nvPr/>
        </p:nvSpPr>
        <p:spPr>
          <a:xfrm>
            <a:off x="5207000" y="5511800"/>
            <a:ext cx="508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1400"/>
              <a:t>25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C3A9CCD3-C35B-4441-8B30-D57D4D2D1A4A}"/>
              </a:ext>
            </a:extLst>
          </p:cNvPr>
          <p:cNvSpPr txBox="1"/>
          <p:nvPr/>
        </p:nvSpPr>
        <p:spPr>
          <a:xfrm>
            <a:off x="7112000" y="5511800"/>
            <a:ext cx="508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1400"/>
              <a:t>40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00865E17-F00D-4A2E-BB9E-AEB10D3B9BF0}"/>
              </a:ext>
            </a:extLst>
          </p:cNvPr>
          <p:cNvSpPr txBox="1"/>
          <p:nvPr/>
        </p:nvSpPr>
        <p:spPr>
          <a:xfrm>
            <a:off x="9652000" y="5511800"/>
            <a:ext cx="508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1400"/>
              <a:t>60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3CAF023A-C27C-4BD7-AEAE-C8F0955BCFF5}"/>
              </a:ext>
            </a:extLst>
          </p:cNvPr>
          <p:cNvSpPr txBox="1"/>
          <p:nvPr/>
        </p:nvSpPr>
        <p:spPr>
          <a:xfrm>
            <a:off x="1143000" y="5372100"/>
            <a:ext cx="5334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1400"/>
              <a:t>0,00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31A6A898-2326-49E5-A0C8-CD1C6D302C04}"/>
              </a:ext>
            </a:extLst>
          </p:cNvPr>
          <p:cNvSpPr txBox="1"/>
          <p:nvPr/>
        </p:nvSpPr>
        <p:spPr>
          <a:xfrm>
            <a:off x="1143000" y="4546600"/>
            <a:ext cx="5334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1400"/>
              <a:t>0,01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C0B788E8-2959-4958-BB36-DC68EECACA2B}"/>
              </a:ext>
            </a:extLst>
          </p:cNvPr>
          <p:cNvSpPr txBox="1"/>
          <p:nvPr/>
        </p:nvSpPr>
        <p:spPr>
          <a:xfrm>
            <a:off x="1143000" y="3721100"/>
            <a:ext cx="5334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1400"/>
              <a:t>0,02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A0DA682C-FF24-461C-9A42-EC9B48173802}"/>
              </a:ext>
            </a:extLst>
          </p:cNvPr>
          <p:cNvSpPr txBox="1"/>
          <p:nvPr/>
        </p:nvSpPr>
        <p:spPr>
          <a:xfrm>
            <a:off x="1143000" y="2895600"/>
            <a:ext cx="5334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1400"/>
              <a:t>0,03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7A597FE1-C5AF-445D-B898-6610C1ECBCB9}"/>
              </a:ext>
            </a:extLst>
          </p:cNvPr>
          <p:cNvSpPr txBox="1"/>
          <p:nvPr/>
        </p:nvSpPr>
        <p:spPr>
          <a:xfrm>
            <a:off x="1143000" y="2070100"/>
            <a:ext cx="5334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1400"/>
              <a:t>0,04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AD09A25C-E304-49FA-98BD-3D991A123BB4}"/>
              </a:ext>
            </a:extLst>
          </p:cNvPr>
          <p:cNvSpPr txBox="1"/>
          <p:nvPr/>
        </p:nvSpPr>
        <p:spPr>
          <a:xfrm>
            <a:off x="2286000" y="4406900"/>
            <a:ext cx="1270000" cy="2032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ctr"/>
            <a:r>
              <a:rPr lang="pt-BR" sz="1400" b="1" dirty="0"/>
              <a:t>0,0100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8670C62C-3232-405A-B8ED-51A6C8BBB1C3}"/>
              </a:ext>
            </a:extLst>
          </p:cNvPr>
          <p:cNvSpPr txBox="1"/>
          <p:nvPr/>
        </p:nvSpPr>
        <p:spPr>
          <a:xfrm>
            <a:off x="3556000" y="2654300"/>
            <a:ext cx="635000" cy="307777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ctr"/>
            <a:r>
              <a:rPr lang="pt-BR" sz="1400" b="1" dirty="0"/>
              <a:t>0,030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BE01C414-961A-4499-8AE5-77636627B63E}"/>
              </a:ext>
            </a:extLst>
          </p:cNvPr>
          <p:cNvSpPr txBox="1"/>
          <p:nvPr/>
        </p:nvSpPr>
        <p:spPr>
          <a:xfrm>
            <a:off x="4191000" y="2133600"/>
            <a:ext cx="1270000" cy="2032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ctr"/>
            <a:r>
              <a:rPr lang="pt-BR" sz="1400" b="1" dirty="0"/>
              <a:t>0,0375</a:t>
            </a: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8A4F28A6-7BB4-4995-B0EB-C70FC0C5F6D8}"/>
              </a:ext>
            </a:extLst>
          </p:cNvPr>
          <p:cNvSpPr txBox="1"/>
          <p:nvPr/>
        </p:nvSpPr>
        <p:spPr>
          <a:xfrm>
            <a:off x="5461000" y="3987800"/>
            <a:ext cx="1905000" cy="2032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ctr"/>
            <a:r>
              <a:rPr lang="pt-BR" sz="1400" b="1" dirty="0"/>
              <a:t>0,0150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6A8FEBE4-F9A8-4764-A6B5-B042315A58F6}"/>
              </a:ext>
            </a:extLst>
          </p:cNvPr>
          <p:cNvSpPr txBox="1"/>
          <p:nvPr/>
        </p:nvSpPr>
        <p:spPr>
          <a:xfrm>
            <a:off x="7366000" y="4610100"/>
            <a:ext cx="2540000" cy="2032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ctr"/>
            <a:r>
              <a:rPr lang="pt-BR" sz="1400" b="1" dirty="0"/>
              <a:t>0,0075</a:t>
            </a: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44FE7053-5F62-473A-B6CC-5402F249BEFC}"/>
              </a:ext>
            </a:extLst>
          </p:cNvPr>
          <p:cNvSpPr txBox="1"/>
          <p:nvPr/>
        </p:nvSpPr>
        <p:spPr>
          <a:xfrm>
            <a:off x="2286000" y="5740400"/>
            <a:ext cx="7620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1400" i="1"/>
              <a:t>Idade (anos)</a:t>
            </a:r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CBFB546C-8988-4C23-8D4A-C253F9BB186A}"/>
              </a:ext>
            </a:extLst>
          </p:cNvPr>
          <p:cNvSpPr txBox="1"/>
          <p:nvPr/>
        </p:nvSpPr>
        <p:spPr>
          <a:xfrm>
            <a:off x="762000" y="1625600"/>
            <a:ext cx="2540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1400" i="1"/>
              <a:t>Densidade de frequência</a:t>
            </a:r>
          </a:p>
        </p:txBody>
      </p:sp>
      <p:sp>
        <p:nvSpPr>
          <p:cNvPr id="30" name="Caption">
            <a:extLst>
              <a:ext uri="{FF2B5EF4-FFF2-40B4-BE49-F238E27FC236}">
                <a16:creationId xmlns:a16="http://schemas.microsoft.com/office/drawing/2014/main" id="{8D391858-DFF6-454F-9C4A-B8408A1C7319}"/>
              </a:ext>
            </a:extLst>
          </p:cNvPr>
          <p:cNvSpPr txBox="1"/>
          <p:nvPr/>
        </p:nvSpPr>
        <p:spPr>
          <a:xfrm>
            <a:off x="647700" y="5981700"/>
            <a:ext cx="11176000" cy="30777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>
              <a:buNone/>
            </a:pPr>
            <a:r>
              <a:rPr lang="pt-BR" sz="1400" i="1" dirty="0"/>
              <a:t>Altura = densidade de frequência (fi/n ÷ Δi), não frequência absoluta — larguras maiores podem ter alturas menores.</a:t>
            </a:r>
          </a:p>
        </p:txBody>
      </p:sp>
      <p:sp>
        <p:nvSpPr>
          <p:cNvPr id="31" name="TextBox 2">
            <a:extLst>
              <a:ext uri="{FF2B5EF4-FFF2-40B4-BE49-F238E27FC236}">
                <a16:creationId xmlns:a16="http://schemas.microsoft.com/office/drawing/2014/main" id="{7B474CEE-DF97-4193-9B45-B0670A87DC68}"/>
              </a:ext>
            </a:extLst>
          </p:cNvPr>
          <p:cNvSpPr txBox="1"/>
          <p:nvPr/>
        </p:nvSpPr>
        <p:spPr>
          <a:xfrm>
            <a:off x="355600" y="6464300"/>
            <a:ext cx="4826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1400"/>
              <a:t>CEA055 - Estatística e Probabilidade - Prof.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36720865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623736" y="625505"/>
            <a:ext cx="11180365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/>
              <a:t>Tipos de gráficos</a:t>
            </a:r>
          </a:p>
          <a:p>
            <a:endParaRPr lang="pt-BR" sz="2800" b="1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/>
              <a:t>Ramo-e-folhas</a:t>
            </a:r>
          </a:p>
          <a:p>
            <a:endParaRPr lang="pt-BR" sz="2800" b="1" dirty="0"/>
          </a:p>
          <a:p>
            <a:r>
              <a:rPr lang="pt-BR" sz="2800" dirty="0"/>
              <a:t>Um gráfico do tipo ramo-e-folhas é uma tabela  com uma linha vertical separando a primeira coluna das demais. Cada ocorrência da variável é dividida em duas informações:</a:t>
            </a:r>
          </a:p>
          <a:p>
            <a:endParaRPr lang="pt-BR" sz="2800" dirty="0"/>
          </a:p>
          <a:p>
            <a:pPr marL="914389" lvl="1" indent="-457200">
              <a:buFont typeface="Arial" panose="020B0604020202020204" pitchFamily="34" charset="0"/>
              <a:buChar char="•"/>
            </a:pPr>
            <a:r>
              <a:rPr lang="pt-BR" sz="2800" dirty="0"/>
              <a:t>O ramo (primeira coluna).</a:t>
            </a:r>
          </a:p>
          <a:p>
            <a:pPr marL="914389" lvl="1" indent="-457200">
              <a:buFont typeface="Arial" panose="020B0604020202020204" pitchFamily="34" charset="0"/>
              <a:buChar char="•"/>
            </a:pPr>
            <a:r>
              <a:rPr lang="pt-BR" sz="2800" dirty="0"/>
              <a:t>As folhas (linhas). É o complemento da informação colocada a direita  do ramo.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64300"/>
            <a:ext cx="48276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CEA055 - Estatística e Probabilidade - Prof.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29236587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505817" y="413817"/>
            <a:ext cx="1118036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/>
              <a:t>Ramo-e-folhas</a:t>
            </a:r>
          </a:p>
          <a:p>
            <a:endParaRPr lang="pt-BR" sz="2800" b="1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64300"/>
            <a:ext cx="48276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CEA055 - Estatística e Probabilidade - Prof. Marcos Goulart Lima</a:t>
            </a:r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B453E770-94CF-196C-8B55-052DDEA791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974464"/>
              </p:ext>
            </p:extLst>
          </p:nvPr>
        </p:nvGraphicFramePr>
        <p:xfrm>
          <a:off x="4437065" y="768902"/>
          <a:ext cx="2672726" cy="5482605"/>
        </p:xfrm>
        <a:graphic>
          <a:graphicData uri="http://schemas.openxmlformats.org/drawingml/2006/table">
            <a:tbl>
              <a:tblPr/>
              <a:tblGrid>
                <a:gridCol w="550267">
                  <a:extLst>
                    <a:ext uri="{9D8B030D-6E8A-4147-A177-3AD203B41FA5}">
                      <a16:colId xmlns:a16="http://schemas.microsoft.com/office/drawing/2014/main" val="1890371596"/>
                    </a:ext>
                  </a:extLst>
                </a:gridCol>
                <a:gridCol w="2122459">
                  <a:extLst>
                    <a:ext uri="{9D8B030D-6E8A-4147-A177-3AD203B41FA5}">
                      <a16:colId xmlns:a16="http://schemas.microsoft.com/office/drawing/2014/main" val="1352035509"/>
                    </a:ext>
                  </a:extLst>
                </a:gridCol>
              </a:tblGrid>
              <a:tr h="461751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pt-BR" sz="1600" b="1" i="0" u="none" strike="noStrike" dirty="0">
                          <a:solidFill>
                            <a:srgbClr val="1F6FA5"/>
                          </a:solidFill>
                          <a:effectLst/>
                          <a:latin typeface="Aptos Narrow" panose="020B0004020202020204" pitchFamily="34" charset="0"/>
                        </a:rPr>
                        <a:t>Figura 2.9: Ramo-e-folhas para a variável S: salários.</a:t>
                      </a:r>
                    </a:p>
                  </a:txBody>
                  <a:tcPr marL="5625" marR="5625" marT="56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3402790"/>
                  </a:ext>
                </a:extLst>
              </a:tr>
              <a:tr h="233508"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1" i="0" u="none" strike="noStrike" dirty="0">
                          <a:solidFill>
                            <a:srgbClr val="1F6FA5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5625" marR="5625" marT="56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CEA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00  56</a:t>
                      </a:r>
                    </a:p>
                  </a:txBody>
                  <a:tcPr marL="5625" marR="5625" marT="56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CE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1713641"/>
                  </a:ext>
                </a:extLst>
              </a:tr>
              <a:tr h="233508"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1" i="0" u="none" strike="noStrike">
                          <a:solidFill>
                            <a:srgbClr val="1F6FA5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5625" marR="5625" marT="56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A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25  73</a:t>
                      </a:r>
                    </a:p>
                  </a:txBody>
                  <a:tcPr marL="5625" marR="5625" marT="56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1503370"/>
                  </a:ext>
                </a:extLst>
              </a:tr>
              <a:tr h="233508"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1" i="0" u="none" strike="noStrike">
                          <a:solidFill>
                            <a:srgbClr val="1F6FA5"/>
                          </a:solidFill>
                          <a:effectLst/>
                          <a:latin typeface="Aptos Narrow" panose="020B0004020202020204" pitchFamily="34" charset="0"/>
                        </a:rPr>
                        <a:t>6</a:t>
                      </a:r>
                    </a:p>
                  </a:txBody>
                  <a:tcPr marL="5625" marR="5625" marT="56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A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26  66  86</a:t>
                      </a:r>
                    </a:p>
                  </a:txBody>
                  <a:tcPr marL="5625" marR="5625" marT="56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8287508"/>
                  </a:ext>
                </a:extLst>
              </a:tr>
              <a:tr h="233508"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1" i="0" u="none" strike="noStrike">
                          <a:solidFill>
                            <a:srgbClr val="1F6FA5"/>
                          </a:solidFill>
                          <a:effectLst/>
                          <a:latin typeface="Aptos Narrow" panose="020B0004020202020204" pitchFamily="34" charset="0"/>
                        </a:rPr>
                        <a:t>7</a:t>
                      </a:r>
                    </a:p>
                  </a:txBody>
                  <a:tcPr marL="5625" marR="5625" marT="56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A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39  44  59</a:t>
                      </a:r>
                    </a:p>
                  </a:txBody>
                  <a:tcPr marL="5625" marR="5625" marT="56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7569288"/>
                  </a:ext>
                </a:extLst>
              </a:tr>
              <a:tr h="233508"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1" i="0" u="none" strike="noStrike">
                          <a:solidFill>
                            <a:srgbClr val="1F6FA5"/>
                          </a:solidFill>
                          <a:effectLst/>
                          <a:latin typeface="Aptos Narrow" panose="020B0004020202020204" pitchFamily="34" charset="0"/>
                        </a:rPr>
                        <a:t>8</a:t>
                      </a:r>
                    </a:p>
                  </a:txBody>
                  <a:tcPr marL="5625" marR="5625" marT="56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A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12  46  74  95</a:t>
                      </a:r>
                    </a:p>
                  </a:txBody>
                  <a:tcPr marL="5625" marR="5625" marT="56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1554531"/>
                  </a:ext>
                </a:extLst>
              </a:tr>
              <a:tr h="233508"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1" i="0" u="none" strike="noStrike">
                          <a:solidFill>
                            <a:srgbClr val="1F6FA5"/>
                          </a:solidFill>
                          <a:effectLst/>
                          <a:latin typeface="Aptos Narrow" panose="020B0004020202020204" pitchFamily="34" charset="0"/>
                        </a:rPr>
                        <a:t>9</a:t>
                      </a:r>
                    </a:p>
                  </a:txBody>
                  <a:tcPr marL="5625" marR="5625" marT="56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A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13  35  77  80</a:t>
                      </a:r>
                    </a:p>
                  </a:txBody>
                  <a:tcPr marL="5625" marR="5625" marT="56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983742"/>
                  </a:ext>
                </a:extLst>
              </a:tr>
              <a:tr h="233508"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1" i="0" u="none" strike="noStrike">
                          <a:solidFill>
                            <a:srgbClr val="1F6FA5"/>
                          </a:solidFill>
                          <a:effectLst/>
                          <a:latin typeface="Aptos Narrow" panose="020B0004020202020204" pitchFamily="34" charset="0"/>
                        </a:rPr>
                        <a:t>10</a:t>
                      </a:r>
                    </a:p>
                  </a:txBody>
                  <a:tcPr marL="5625" marR="5625" marT="56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A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53  76</a:t>
                      </a:r>
                    </a:p>
                  </a:txBody>
                  <a:tcPr marL="5625" marR="5625" marT="56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1958510"/>
                  </a:ext>
                </a:extLst>
              </a:tr>
              <a:tr h="233508"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1" i="0" u="none" strike="noStrike">
                          <a:solidFill>
                            <a:srgbClr val="1F6FA5"/>
                          </a:solidFill>
                          <a:effectLst/>
                          <a:latin typeface="Aptos Narrow" panose="020B0004020202020204" pitchFamily="34" charset="0"/>
                        </a:rPr>
                        <a:t>11</a:t>
                      </a:r>
                    </a:p>
                  </a:txBody>
                  <a:tcPr marL="5625" marR="5625" marT="56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A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06  59</a:t>
                      </a:r>
                    </a:p>
                  </a:txBody>
                  <a:tcPr marL="5625" marR="5625" marT="56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1577832"/>
                  </a:ext>
                </a:extLst>
              </a:tr>
              <a:tr h="233508"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1" i="0" u="none" strike="noStrike">
                          <a:solidFill>
                            <a:srgbClr val="1F6FA5"/>
                          </a:solidFill>
                          <a:effectLst/>
                          <a:latin typeface="Aptos Narrow" panose="020B0004020202020204" pitchFamily="34" charset="0"/>
                        </a:rPr>
                        <a:t>12</a:t>
                      </a:r>
                    </a:p>
                  </a:txBody>
                  <a:tcPr marL="5625" marR="5625" marT="56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A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00  79</a:t>
                      </a:r>
                    </a:p>
                  </a:txBody>
                  <a:tcPr marL="5625" marR="5625" marT="56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9704933"/>
                  </a:ext>
                </a:extLst>
              </a:tr>
              <a:tr h="233508"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1" i="0" u="none" strike="noStrike">
                          <a:solidFill>
                            <a:srgbClr val="1F6FA5"/>
                          </a:solidFill>
                          <a:effectLst/>
                          <a:latin typeface="Aptos Narrow" panose="020B0004020202020204" pitchFamily="34" charset="0"/>
                        </a:rPr>
                        <a:t>13</a:t>
                      </a:r>
                    </a:p>
                  </a:txBody>
                  <a:tcPr marL="5625" marR="5625" marT="56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A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23  60  85</a:t>
                      </a:r>
                    </a:p>
                  </a:txBody>
                  <a:tcPr marL="5625" marR="5625" marT="56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8378266"/>
                  </a:ext>
                </a:extLst>
              </a:tr>
              <a:tr h="233508"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1" i="0" u="none" strike="noStrike">
                          <a:solidFill>
                            <a:srgbClr val="1F6FA5"/>
                          </a:solidFill>
                          <a:effectLst/>
                          <a:latin typeface="Aptos Narrow" panose="020B0004020202020204" pitchFamily="34" charset="0"/>
                        </a:rPr>
                        <a:t>14</a:t>
                      </a:r>
                    </a:p>
                  </a:txBody>
                  <a:tcPr marL="5625" marR="5625" marT="56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A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69  71</a:t>
                      </a:r>
                    </a:p>
                  </a:txBody>
                  <a:tcPr marL="5625" marR="5625" marT="56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0686144"/>
                  </a:ext>
                </a:extLst>
              </a:tr>
              <a:tr h="233508"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1" i="0" u="none" strike="noStrike">
                          <a:solidFill>
                            <a:srgbClr val="1F6FA5"/>
                          </a:solidFill>
                          <a:effectLst/>
                          <a:latin typeface="Aptos Narrow" panose="020B0004020202020204" pitchFamily="34" charset="0"/>
                        </a:rPr>
                        <a:t>15</a:t>
                      </a:r>
                    </a:p>
                  </a:txBody>
                  <a:tcPr marL="5625" marR="5625" marT="56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A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5625" marR="5625" marT="56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7655395"/>
                  </a:ext>
                </a:extLst>
              </a:tr>
              <a:tr h="233508"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1" i="0" u="none" strike="noStrike">
                          <a:solidFill>
                            <a:srgbClr val="1F6FA5"/>
                          </a:solidFill>
                          <a:effectLst/>
                          <a:latin typeface="Aptos Narrow" panose="020B0004020202020204" pitchFamily="34" charset="0"/>
                        </a:rPr>
                        <a:t>16</a:t>
                      </a:r>
                    </a:p>
                  </a:txBody>
                  <a:tcPr marL="5625" marR="5625" marT="56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A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22  61</a:t>
                      </a:r>
                    </a:p>
                  </a:txBody>
                  <a:tcPr marL="5625" marR="5625" marT="56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4653835"/>
                  </a:ext>
                </a:extLst>
              </a:tr>
              <a:tr h="233508"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1" i="0" u="none" strike="noStrike">
                          <a:solidFill>
                            <a:srgbClr val="1F6FA5"/>
                          </a:solidFill>
                          <a:effectLst/>
                          <a:latin typeface="Aptos Narrow" panose="020B0004020202020204" pitchFamily="34" charset="0"/>
                        </a:rPr>
                        <a:t>17</a:t>
                      </a:r>
                    </a:p>
                  </a:txBody>
                  <a:tcPr marL="5625" marR="5625" marT="56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A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26</a:t>
                      </a:r>
                    </a:p>
                  </a:txBody>
                  <a:tcPr marL="5625" marR="5625" marT="56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9908118"/>
                  </a:ext>
                </a:extLst>
              </a:tr>
              <a:tr h="233508"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1" i="0" u="none" strike="noStrike">
                          <a:solidFill>
                            <a:srgbClr val="1F6FA5"/>
                          </a:solidFill>
                          <a:effectLst/>
                          <a:latin typeface="Aptos Narrow" panose="020B0004020202020204" pitchFamily="34" charset="0"/>
                        </a:rPr>
                        <a:t>18</a:t>
                      </a:r>
                    </a:p>
                  </a:txBody>
                  <a:tcPr marL="5625" marR="5625" marT="56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A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75</a:t>
                      </a:r>
                    </a:p>
                  </a:txBody>
                  <a:tcPr marL="5625" marR="5625" marT="56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3069021"/>
                  </a:ext>
                </a:extLst>
              </a:tr>
              <a:tr h="233508"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1" i="0" u="none" strike="noStrike">
                          <a:solidFill>
                            <a:srgbClr val="1F6FA5"/>
                          </a:solidFill>
                          <a:effectLst/>
                          <a:latin typeface="Aptos Narrow" panose="020B0004020202020204" pitchFamily="34" charset="0"/>
                        </a:rPr>
                        <a:t>19</a:t>
                      </a:r>
                    </a:p>
                  </a:txBody>
                  <a:tcPr marL="5625" marR="5625" marT="56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A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40</a:t>
                      </a:r>
                    </a:p>
                  </a:txBody>
                  <a:tcPr marL="5625" marR="5625" marT="56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4360318"/>
                  </a:ext>
                </a:extLst>
              </a:tr>
              <a:tr h="233508"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1" i="0" u="none" strike="noStrike">
                          <a:solidFill>
                            <a:srgbClr val="1F6FA5"/>
                          </a:solidFill>
                          <a:effectLst/>
                          <a:latin typeface="Aptos Narrow" panose="020B0004020202020204" pitchFamily="34" charset="0"/>
                        </a:rPr>
                        <a:t>20</a:t>
                      </a:r>
                    </a:p>
                  </a:txBody>
                  <a:tcPr marL="5625" marR="5625" marT="56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A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5625" marR="5625" marT="56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2386088"/>
                  </a:ext>
                </a:extLst>
              </a:tr>
              <a:tr h="233508"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1" i="0" u="none" strike="noStrike">
                          <a:solidFill>
                            <a:srgbClr val="1F6FA5"/>
                          </a:solidFill>
                          <a:effectLst/>
                          <a:latin typeface="Aptos Narrow" panose="020B0004020202020204" pitchFamily="34" charset="0"/>
                        </a:rPr>
                        <a:t>21</a:t>
                      </a:r>
                    </a:p>
                  </a:txBody>
                  <a:tcPr marL="5625" marR="5625" marT="56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A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5625" marR="5625" marT="56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9854961"/>
                  </a:ext>
                </a:extLst>
              </a:tr>
              <a:tr h="233508"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1" i="0" u="none" strike="noStrike">
                          <a:solidFill>
                            <a:srgbClr val="1F6FA5"/>
                          </a:solidFill>
                          <a:effectLst/>
                          <a:latin typeface="Aptos Narrow" panose="020B0004020202020204" pitchFamily="34" charset="0"/>
                        </a:rPr>
                        <a:t>22</a:t>
                      </a:r>
                    </a:p>
                  </a:txBody>
                  <a:tcPr marL="5625" marR="5625" marT="56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A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5625" marR="5625" marT="56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4579651"/>
                  </a:ext>
                </a:extLst>
              </a:tr>
              <a:tr h="233508"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1" i="0" u="none" strike="noStrike">
                          <a:solidFill>
                            <a:srgbClr val="1F6FA5"/>
                          </a:solidFill>
                          <a:effectLst/>
                          <a:latin typeface="Aptos Narrow" panose="020B0004020202020204" pitchFamily="34" charset="0"/>
                        </a:rPr>
                        <a:t>23</a:t>
                      </a:r>
                    </a:p>
                  </a:txBody>
                  <a:tcPr marL="5625" marR="5625" marT="56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A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30</a:t>
                      </a:r>
                    </a:p>
                  </a:txBody>
                  <a:tcPr marL="5625" marR="5625" marT="56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10504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8018406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577353" y="777906"/>
            <a:ext cx="108393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/>
              <a:t>Exemplo. F</a:t>
            </a:r>
            <a:r>
              <a:rPr lang="pt-BR" sz="2800" dirty="0"/>
              <a:t>aça um gráfico de Ramo-e-folhas dos dados abaixo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64300"/>
            <a:ext cx="48276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CEA055 - Estatística e Probabilidade - Prof. Marcos Goulart Lima</a:t>
            </a:r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946305E4-644A-2FE5-D2CE-18DD0C7863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5770380"/>
              </p:ext>
            </p:extLst>
          </p:nvPr>
        </p:nvGraphicFramePr>
        <p:xfrm>
          <a:off x="1224444" y="1636001"/>
          <a:ext cx="9794739" cy="2484473"/>
        </p:xfrm>
        <a:graphic>
          <a:graphicData uri="http://schemas.openxmlformats.org/drawingml/2006/table">
            <a:tbl>
              <a:tblPr/>
              <a:tblGrid>
                <a:gridCol w="1264670">
                  <a:extLst>
                    <a:ext uri="{9D8B030D-6E8A-4147-A177-3AD203B41FA5}">
                      <a16:colId xmlns:a16="http://schemas.microsoft.com/office/drawing/2014/main" val="1303453317"/>
                    </a:ext>
                  </a:extLst>
                </a:gridCol>
                <a:gridCol w="631773">
                  <a:extLst>
                    <a:ext uri="{9D8B030D-6E8A-4147-A177-3AD203B41FA5}">
                      <a16:colId xmlns:a16="http://schemas.microsoft.com/office/drawing/2014/main" val="2642901826"/>
                    </a:ext>
                  </a:extLst>
                </a:gridCol>
                <a:gridCol w="671611">
                  <a:extLst>
                    <a:ext uri="{9D8B030D-6E8A-4147-A177-3AD203B41FA5}">
                      <a16:colId xmlns:a16="http://schemas.microsoft.com/office/drawing/2014/main" val="1853511207"/>
                    </a:ext>
                  </a:extLst>
                </a:gridCol>
                <a:gridCol w="1122718">
                  <a:extLst>
                    <a:ext uri="{9D8B030D-6E8A-4147-A177-3AD203B41FA5}">
                      <a16:colId xmlns:a16="http://schemas.microsoft.com/office/drawing/2014/main" val="2305011067"/>
                    </a:ext>
                  </a:extLst>
                </a:gridCol>
                <a:gridCol w="657323">
                  <a:extLst>
                    <a:ext uri="{9D8B030D-6E8A-4147-A177-3AD203B41FA5}">
                      <a16:colId xmlns:a16="http://schemas.microsoft.com/office/drawing/2014/main" val="697488460"/>
                    </a:ext>
                  </a:extLst>
                </a:gridCol>
                <a:gridCol w="1562300">
                  <a:extLst>
                    <a:ext uri="{9D8B030D-6E8A-4147-A177-3AD203B41FA5}">
                      <a16:colId xmlns:a16="http://schemas.microsoft.com/office/drawing/2014/main" val="3019001383"/>
                    </a:ext>
                  </a:extLst>
                </a:gridCol>
                <a:gridCol w="619431">
                  <a:extLst>
                    <a:ext uri="{9D8B030D-6E8A-4147-A177-3AD203B41FA5}">
                      <a16:colId xmlns:a16="http://schemas.microsoft.com/office/drawing/2014/main" val="2921367546"/>
                    </a:ext>
                  </a:extLst>
                </a:gridCol>
                <a:gridCol w="1587290">
                  <a:extLst>
                    <a:ext uri="{9D8B030D-6E8A-4147-A177-3AD203B41FA5}">
                      <a16:colId xmlns:a16="http://schemas.microsoft.com/office/drawing/2014/main" val="576083362"/>
                    </a:ext>
                  </a:extLst>
                </a:gridCol>
                <a:gridCol w="584318">
                  <a:extLst>
                    <a:ext uri="{9D8B030D-6E8A-4147-A177-3AD203B41FA5}">
                      <a16:colId xmlns:a16="http://schemas.microsoft.com/office/drawing/2014/main" val="1344164983"/>
                    </a:ext>
                  </a:extLst>
                </a:gridCol>
                <a:gridCol w="1093305">
                  <a:extLst>
                    <a:ext uri="{9D8B030D-6E8A-4147-A177-3AD203B41FA5}">
                      <a16:colId xmlns:a16="http://schemas.microsoft.com/office/drawing/2014/main" val="2429317195"/>
                    </a:ext>
                  </a:extLst>
                </a:gridCol>
              </a:tblGrid>
              <a:tr h="835529">
                <a:tc gridSpan="10">
                  <a:txBody>
                    <a:bodyPr/>
                    <a:lstStyle/>
                    <a:p>
                      <a:pPr algn="l" fontAlgn="t"/>
                      <a:r>
                        <a:rPr lang="pt-BR" sz="2000" b="0" i="0" u="none" strike="noStrike" dirty="0">
                          <a:solidFill>
                            <a:srgbClr val="1F6FA5"/>
                          </a:solidFill>
                          <a:effectLst/>
                          <a:latin typeface="Aptos Narrow" panose="020B0004020202020204" pitchFamily="34" charset="0"/>
                        </a:rPr>
                        <a:t>Exemplo 2.9. Os dados abaixo referem-se à dureza de 30 peças de alumínio (</a:t>
                      </a:r>
                      <a:r>
                        <a:rPr lang="pt-BR" sz="2000" b="0" i="0" u="none" strike="noStrike" dirty="0" err="1">
                          <a:solidFill>
                            <a:srgbClr val="1F6FA5"/>
                          </a:solidFill>
                          <a:effectLst/>
                          <a:latin typeface="Aptos Narrow" panose="020B0004020202020204" pitchFamily="34" charset="0"/>
                        </a:rPr>
                        <a:t>Hoaglin</a:t>
                      </a:r>
                      <a:r>
                        <a:rPr lang="pt-BR" sz="2000" b="0" i="0" u="none" strike="noStrike" dirty="0">
                          <a:solidFill>
                            <a:srgbClr val="1F6FA5"/>
                          </a:solidFill>
                          <a:effectLst/>
                          <a:latin typeface="Aptos Narrow" panose="020B0004020202020204" pitchFamily="34" charset="0"/>
                        </a:rPr>
                        <a:t>, </a:t>
                      </a:r>
                      <a:r>
                        <a:rPr lang="pt-BR" sz="2000" b="0" i="0" u="none" strike="noStrike" dirty="0" err="1">
                          <a:solidFill>
                            <a:srgbClr val="1F6FA5"/>
                          </a:solidFill>
                          <a:effectLst/>
                          <a:latin typeface="Aptos Narrow" panose="020B0004020202020204" pitchFamily="34" charset="0"/>
                        </a:rPr>
                        <a:t>Mosteller</a:t>
                      </a:r>
                      <a:r>
                        <a:rPr lang="pt-BR" sz="2000" b="0" i="0" u="none" strike="noStrike" dirty="0">
                          <a:solidFill>
                            <a:srgbClr val="1F6FA5"/>
                          </a:solidFill>
                          <a:effectLst/>
                          <a:latin typeface="Aptos Narrow" panose="020B0004020202020204" pitchFamily="34" charset="0"/>
                        </a:rPr>
                        <a:t> e </a:t>
                      </a:r>
                      <a:r>
                        <a:rPr lang="pt-BR" sz="2000" b="0" i="0" u="none" strike="noStrike" dirty="0" err="1">
                          <a:solidFill>
                            <a:srgbClr val="1F6FA5"/>
                          </a:solidFill>
                          <a:effectLst/>
                          <a:latin typeface="Aptos Narrow" panose="020B0004020202020204" pitchFamily="34" charset="0"/>
                        </a:rPr>
                        <a:t>Tukey</a:t>
                      </a:r>
                      <a:r>
                        <a:rPr lang="pt-BR" sz="2000" b="0" i="0" u="none" strike="noStrike" dirty="0">
                          <a:solidFill>
                            <a:srgbClr val="1F6FA5"/>
                          </a:solidFill>
                          <a:effectLst/>
                          <a:latin typeface="Aptos Narrow" panose="020B0004020202020204" pitchFamily="34" charset="0"/>
                        </a:rPr>
                        <a:t>, 1983, pág. 13).</a:t>
                      </a:r>
                    </a:p>
                  </a:txBody>
                  <a:tcPr marL="6350" marR="6350" marT="635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8729727"/>
                  </a:ext>
                </a:extLst>
              </a:tr>
              <a:tr h="549648">
                <a:tc>
                  <a:txBody>
                    <a:bodyPr/>
                    <a:lstStyle/>
                    <a:p>
                      <a:pPr algn="ctr" fontAlgn="b"/>
                      <a:r>
                        <a:rPr lang="pt-BR" sz="2000" b="0" i="0" u="none" strike="noStrike" dirty="0">
                          <a:solidFill>
                            <a:srgbClr val="1F6FA5"/>
                          </a:solidFill>
                          <a:effectLst/>
                          <a:latin typeface="Aptos Narrow" panose="020B0004020202020204" pitchFamily="34" charset="0"/>
                        </a:rPr>
                        <a:t>53,0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2000" b="0" i="0" u="none" strike="noStrike" dirty="0">
                          <a:solidFill>
                            <a:srgbClr val="1F6FA5"/>
                          </a:solidFill>
                          <a:effectLst/>
                          <a:latin typeface="Aptos Narrow" panose="020B0004020202020204" pitchFamily="34" charset="0"/>
                        </a:rPr>
                        <a:t>70,2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2000" b="0" i="0" u="none" strike="noStrike" dirty="0">
                          <a:solidFill>
                            <a:srgbClr val="1F6FA5"/>
                          </a:solidFill>
                          <a:effectLst/>
                          <a:latin typeface="Aptos Narrow" panose="020B0004020202020204" pitchFamily="34" charset="0"/>
                        </a:rPr>
                        <a:t>84,3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2000" b="0" i="0" u="none" strike="noStrike" dirty="0">
                          <a:solidFill>
                            <a:srgbClr val="1F6FA5"/>
                          </a:solidFill>
                          <a:effectLst/>
                          <a:latin typeface="Aptos Narrow" panose="020B0004020202020204" pitchFamily="34" charset="0"/>
                        </a:rPr>
                        <a:t>69,5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2000" b="0" i="0" u="none" strike="noStrike" dirty="0">
                          <a:solidFill>
                            <a:srgbClr val="1F6FA5"/>
                          </a:solidFill>
                          <a:effectLst/>
                          <a:latin typeface="Aptos Narrow" panose="020B0004020202020204" pitchFamily="34" charset="0"/>
                        </a:rPr>
                        <a:t>77,8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2000" b="0" i="0" u="none" strike="noStrike" dirty="0">
                          <a:solidFill>
                            <a:srgbClr val="1F6FA5"/>
                          </a:solidFill>
                          <a:effectLst/>
                          <a:latin typeface="Aptos Narrow" panose="020B0004020202020204" pitchFamily="34" charset="0"/>
                        </a:rPr>
                        <a:t>87,5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2000" b="0" i="0" u="none" strike="noStrike" dirty="0">
                          <a:solidFill>
                            <a:srgbClr val="1F6FA5"/>
                          </a:solidFill>
                          <a:effectLst/>
                          <a:latin typeface="Aptos Narrow" panose="020B0004020202020204" pitchFamily="34" charset="0"/>
                        </a:rPr>
                        <a:t>53,4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2000" b="0" i="0" u="none" strike="noStrike" dirty="0">
                          <a:solidFill>
                            <a:srgbClr val="1F6FA5"/>
                          </a:solidFill>
                          <a:effectLst/>
                          <a:latin typeface="Aptos Narrow" panose="020B0004020202020204" pitchFamily="34" charset="0"/>
                        </a:rPr>
                        <a:t>82,5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2000" b="0" i="0" u="none" strike="noStrike" dirty="0">
                          <a:solidFill>
                            <a:srgbClr val="1F6FA5"/>
                          </a:solidFill>
                          <a:effectLst/>
                          <a:latin typeface="Aptos Narrow" panose="020B0004020202020204" pitchFamily="34" charset="0"/>
                        </a:rPr>
                        <a:t>67,3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2000" b="0" i="0" u="none" strike="noStrike" dirty="0">
                          <a:solidFill>
                            <a:srgbClr val="1F6FA5"/>
                          </a:solidFill>
                          <a:effectLst/>
                          <a:latin typeface="Aptos Narrow" panose="020B0004020202020204" pitchFamily="34" charset="0"/>
                        </a:rPr>
                        <a:t>54,1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30774"/>
                  </a:ext>
                </a:extLst>
              </a:tr>
              <a:tr h="549648">
                <a:tc>
                  <a:txBody>
                    <a:bodyPr/>
                    <a:lstStyle/>
                    <a:p>
                      <a:pPr algn="ctr" fontAlgn="b"/>
                      <a:r>
                        <a:rPr lang="pt-BR" sz="2000" b="0" i="0" u="none" strike="noStrike" dirty="0">
                          <a:solidFill>
                            <a:srgbClr val="1F6FA5"/>
                          </a:solidFill>
                          <a:effectLst/>
                          <a:latin typeface="Aptos Narrow" panose="020B0004020202020204" pitchFamily="34" charset="0"/>
                        </a:rPr>
                        <a:t>70,5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2000" b="0" i="0" u="none" strike="noStrike" dirty="0">
                          <a:solidFill>
                            <a:srgbClr val="1F6FA5"/>
                          </a:solidFill>
                          <a:effectLst/>
                          <a:latin typeface="Aptos Narrow" panose="020B0004020202020204" pitchFamily="34" charset="0"/>
                        </a:rPr>
                        <a:t>71,4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2000" b="0" i="0" u="none" strike="noStrike" dirty="0">
                          <a:solidFill>
                            <a:srgbClr val="1F6FA5"/>
                          </a:solidFill>
                          <a:effectLst/>
                          <a:latin typeface="Aptos Narrow" panose="020B0004020202020204" pitchFamily="34" charset="0"/>
                        </a:rPr>
                        <a:t>95,4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2000" b="0" i="0" u="none" strike="noStrike" dirty="0">
                          <a:solidFill>
                            <a:srgbClr val="1F6FA5"/>
                          </a:solidFill>
                          <a:effectLst/>
                          <a:latin typeface="Aptos Narrow" panose="020B0004020202020204" pitchFamily="34" charset="0"/>
                        </a:rPr>
                        <a:t>51,1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2000" b="0" i="0" u="none" strike="noStrike" dirty="0">
                          <a:solidFill>
                            <a:srgbClr val="1F6FA5"/>
                          </a:solidFill>
                          <a:effectLst/>
                          <a:latin typeface="Aptos Narrow" panose="020B0004020202020204" pitchFamily="34" charset="0"/>
                        </a:rPr>
                        <a:t>74,4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2000" b="0" i="0" u="none" strike="noStrike" dirty="0">
                          <a:solidFill>
                            <a:srgbClr val="1F6FA5"/>
                          </a:solidFill>
                          <a:effectLst/>
                          <a:latin typeface="Aptos Narrow" panose="020B0004020202020204" pitchFamily="34" charset="0"/>
                        </a:rPr>
                        <a:t>55,7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2000" b="0" i="0" u="none" strike="noStrike">
                          <a:solidFill>
                            <a:srgbClr val="1F6FA5"/>
                          </a:solidFill>
                          <a:effectLst/>
                          <a:latin typeface="Aptos Narrow" panose="020B0004020202020204" pitchFamily="34" charset="0"/>
                        </a:rPr>
                        <a:t>63,5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2000" b="0" i="0" u="none" strike="noStrike">
                          <a:solidFill>
                            <a:srgbClr val="1F6FA5"/>
                          </a:solidFill>
                          <a:effectLst/>
                          <a:latin typeface="Aptos Narrow" panose="020B0004020202020204" pitchFamily="34" charset="0"/>
                        </a:rPr>
                        <a:t>85,8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2000" b="0" i="0" u="none" strike="noStrike">
                          <a:solidFill>
                            <a:srgbClr val="1F6FA5"/>
                          </a:solidFill>
                          <a:effectLst/>
                          <a:latin typeface="Aptos Narrow" panose="020B0004020202020204" pitchFamily="34" charset="0"/>
                        </a:rPr>
                        <a:t>53,5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2000" b="0" i="0" u="none" strike="noStrike">
                          <a:solidFill>
                            <a:srgbClr val="1F6FA5"/>
                          </a:solidFill>
                          <a:effectLst/>
                          <a:latin typeface="Aptos Narrow" panose="020B0004020202020204" pitchFamily="34" charset="0"/>
                        </a:rPr>
                        <a:t>64,3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8652855"/>
                  </a:ext>
                </a:extLst>
              </a:tr>
              <a:tr h="549648">
                <a:tc>
                  <a:txBody>
                    <a:bodyPr/>
                    <a:lstStyle/>
                    <a:p>
                      <a:pPr algn="ctr" fontAlgn="b"/>
                      <a:r>
                        <a:rPr lang="pt-BR" sz="2000" b="0" i="0" u="none" strike="noStrike">
                          <a:solidFill>
                            <a:srgbClr val="1F6FA5"/>
                          </a:solidFill>
                          <a:effectLst/>
                          <a:latin typeface="Aptos Narrow" panose="020B0004020202020204" pitchFamily="34" charset="0"/>
                        </a:rPr>
                        <a:t>82,7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2000" b="0" i="0" u="none" strike="noStrike">
                          <a:solidFill>
                            <a:srgbClr val="1F6FA5"/>
                          </a:solidFill>
                          <a:effectLst/>
                          <a:latin typeface="Aptos Narrow" panose="020B0004020202020204" pitchFamily="34" charset="0"/>
                        </a:rPr>
                        <a:t>78,5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2000" b="0" i="0" u="none" strike="noStrike" dirty="0">
                          <a:solidFill>
                            <a:srgbClr val="1F6FA5"/>
                          </a:solidFill>
                          <a:effectLst/>
                          <a:latin typeface="Aptos Narrow" panose="020B0004020202020204" pitchFamily="34" charset="0"/>
                        </a:rPr>
                        <a:t>55,7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2000" b="0" i="0" u="none" strike="noStrike" dirty="0">
                          <a:solidFill>
                            <a:srgbClr val="1F6FA5"/>
                          </a:solidFill>
                          <a:effectLst/>
                          <a:latin typeface="Aptos Narrow" panose="020B0004020202020204" pitchFamily="34" charset="0"/>
                        </a:rPr>
                        <a:t>69,1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2000" b="0" i="0" u="none" strike="noStrike" dirty="0">
                          <a:solidFill>
                            <a:srgbClr val="1F6FA5"/>
                          </a:solidFill>
                          <a:effectLst/>
                          <a:latin typeface="Aptos Narrow" panose="020B0004020202020204" pitchFamily="34" charset="0"/>
                        </a:rPr>
                        <a:t>72,3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2000" b="0" i="0" u="none" strike="noStrike" dirty="0">
                          <a:solidFill>
                            <a:srgbClr val="1F6FA5"/>
                          </a:solidFill>
                          <a:effectLst/>
                          <a:latin typeface="Aptos Narrow" panose="020B0004020202020204" pitchFamily="34" charset="0"/>
                        </a:rPr>
                        <a:t>59,5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2000" b="0" i="0" u="none" strike="noStrike" dirty="0">
                          <a:solidFill>
                            <a:srgbClr val="1F6FA5"/>
                          </a:solidFill>
                          <a:effectLst/>
                          <a:latin typeface="Aptos Narrow" panose="020B0004020202020204" pitchFamily="34" charset="0"/>
                        </a:rPr>
                        <a:t>55,3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2000" b="0" i="0" u="none" strike="noStrike" dirty="0">
                          <a:solidFill>
                            <a:srgbClr val="1F6FA5"/>
                          </a:solidFill>
                          <a:effectLst/>
                          <a:latin typeface="Aptos Narrow" panose="020B0004020202020204" pitchFamily="34" charset="0"/>
                        </a:rPr>
                        <a:t>73,0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2000" b="0" i="0" u="none" strike="noStrike" dirty="0">
                          <a:solidFill>
                            <a:srgbClr val="1F6FA5"/>
                          </a:solidFill>
                          <a:effectLst/>
                          <a:latin typeface="Aptos Narrow" panose="020B0004020202020204" pitchFamily="34" charset="0"/>
                        </a:rPr>
                        <a:t>52,4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2000" b="0" i="0" u="none" strike="noStrike" dirty="0">
                          <a:solidFill>
                            <a:srgbClr val="1F6FA5"/>
                          </a:solidFill>
                          <a:effectLst/>
                          <a:latin typeface="Aptos Narrow" panose="020B0004020202020204" pitchFamily="34" charset="0"/>
                        </a:rPr>
                        <a:t>50,7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91334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6842669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505816" y="512862"/>
            <a:ext cx="11180365" cy="3939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800" dirty="0"/>
              <a:t>O primeiro passo é organizar os dados em ordem crescente: </a:t>
            </a:r>
          </a:p>
          <a:p>
            <a:pPr>
              <a:lnSpc>
                <a:spcPct val="150000"/>
              </a:lnSpc>
            </a:pPr>
            <a:r>
              <a:rPr lang="pt-BR" sz="2000" b="0" i="0" dirty="0">
                <a:solidFill>
                  <a:srgbClr val="121212"/>
                </a:solidFill>
                <a:effectLst/>
              </a:rPr>
              <a:t>50,7 — 51,1 — 52,4 — 53,0 — 53,4 — 53,5 — 54,1 — 55,3 — 55,7 — 55,7 — 59,5</a:t>
            </a:r>
          </a:p>
          <a:p>
            <a:pPr>
              <a:lnSpc>
                <a:spcPct val="150000"/>
              </a:lnSpc>
            </a:pPr>
            <a:r>
              <a:rPr lang="pt-BR" sz="2000" b="0" i="0" dirty="0">
                <a:solidFill>
                  <a:srgbClr val="121212"/>
                </a:solidFill>
                <a:effectLst/>
              </a:rPr>
              <a:t>63,5 — 64,3 — 67,3 — 69,1 — 69,5</a:t>
            </a:r>
          </a:p>
          <a:p>
            <a:pPr>
              <a:lnSpc>
                <a:spcPct val="150000"/>
              </a:lnSpc>
            </a:pPr>
            <a:r>
              <a:rPr lang="pt-BR" sz="2000" b="0" i="0" dirty="0">
                <a:solidFill>
                  <a:srgbClr val="121212"/>
                </a:solidFill>
                <a:effectLst/>
              </a:rPr>
              <a:t>70,2 — 70,5 — 71,4 — 72,3 — 73,0 — 74,4 — 77,8 — 78,5</a:t>
            </a:r>
          </a:p>
          <a:p>
            <a:pPr>
              <a:lnSpc>
                <a:spcPct val="150000"/>
              </a:lnSpc>
            </a:pPr>
            <a:r>
              <a:rPr lang="pt-BR" sz="2000" b="0" i="0" dirty="0">
                <a:solidFill>
                  <a:srgbClr val="121212"/>
                </a:solidFill>
                <a:effectLst/>
              </a:rPr>
              <a:t>82,5 — 82,7 — 84,3 — 85,8 — 87,5</a:t>
            </a:r>
          </a:p>
          <a:p>
            <a:pPr>
              <a:lnSpc>
                <a:spcPct val="150000"/>
              </a:lnSpc>
            </a:pPr>
            <a:r>
              <a:rPr lang="pt-BR" sz="2000" b="0" i="0" dirty="0">
                <a:solidFill>
                  <a:srgbClr val="121212"/>
                </a:solidFill>
                <a:effectLst/>
              </a:rPr>
              <a:t>95,4</a:t>
            </a:r>
          </a:p>
          <a:p>
            <a:pPr>
              <a:lnSpc>
                <a:spcPct val="150000"/>
              </a:lnSpc>
            </a:pPr>
            <a:r>
              <a:rPr lang="pt-BR" sz="2000" dirty="0">
                <a:solidFill>
                  <a:srgbClr val="121212"/>
                </a:solidFill>
              </a:rPr>
              <a:t>Agora é só formatar os dados:</a:t>
            </a:r>
            <a:endParaRPr lang="pt-BR" sz="2000" dirty="0"/>
          </a:p>
          <a:p>
            <a:endParaRPr lang="pt-BR" sz="2800" b="1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64300"/>
            <a:ext cx="48276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CEA055 - Estatística e Probabilidade - Prof. Marcos Goulart Lima</a:t>
            </a:r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BC0208DD-FFF6-4C86-2F1F-F79932C30B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6339911"/>
              </p:ext>
            </p:extLst>
          </p:nvPr>
        </p:nvGraphicFramePr>
        <p:xfrm>
          <a:off x="4767469" y="2866522"/>
          <a:ext cx="6742044" cy="3381877"/>
        </p:xfrm>
        <a:graphic>
          <a:graphicData uri="http://schemas.openxmlformats.org/drawingml/2006/table">
            <a:tbl>
              <a:tblPr/>
              <a:tblGrid>
                <a:gridCol w="2764521">
                  <a:extLst>
                    <a:ext uri="{9D8B030D-6E8A-4147-A177-3AD203B41FA5}">
                      <a16:colId xmlns:a16="http://schemas.microsoft.com/office/drawing/2014/main" val="2795616660"/>
                    </a:ext>
                  </a:extLst>
                </a:gridCol>
                <a:gridCol w="3977523">
                  <a:extLst>
                    <a:ext uri="{9D8B030D-6E8A-4147-A177-3AD203B41FA5}">
                      <a16:colId xmlns:a16="http://schemas.microsoft.com/office/drawing/2014/main" val="4092109212"/>
                    </a:ext>
                  </a:extLst>
                </a:gridCol>
              </a:tblGrid>
              <a:tr h="915217">
                <a:tc gridSpan="2">
                  <a:txBody>
                    <a:bodyPr/>
                    <a:lstStyle/>
                    <a:p>
                      <a:pPr algn="ctr" fontAlgn="t"/>
                      <a:r>
                        <a:rPr lang="pt-BR" sz="2400" b="1" i="0" u="none" strike="noStrike">
                          <a:solidFill>
                            <a:srgbClr val="1F6FA5"/>
                          </a:solidFill>
                          <a:effectLst/>
                          <a:latin typeface="Aptos Narrow" panose="020B0004020202020204" pitchFamily="34" charset="0"/>
                        </a:rPr>
                        <a:t>Figura 2.10: Ramo-e-folhas para os dados de dureza de peças de alumínio.</a:t>
                      </a:r>
                    </a:p>
                  </a:txBody>
                  <a:tcPr marL="6350" marR="6350" marT="635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2168941"/>
                  </a:ext>
                </a:extLst>
              </a:tr>
              <a:tr h="493332">
                <a:tc>
                  <a:txBody>
                    <a:bodyPr/>
                    <a:lstStyle/>
                    <a:p>
                      <a:pPr algn="ctr" fontAlgn="b"/>
                      <a:r>
                        <a:rPr lang="pt-BR" sz="2400" b="1" i="0" u="none" strike="noStrike">
                          <a:solidFill>
                            <a:srgbClr val="1F6FA5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CEA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2400" b="0" i="0" u="none" strike="noStrike" dirty="0">
                          <a:solidFill>
                            <a:srgbClr val="1F6FA5"/>
                          </a:solidFill>
                          <a:effectLst/>
                          <a:latin typeface="Aptos Narrow" panose="020B0004020202020204" pitchFamily="34" charset="0"/>
                        </a:rPr>
                        <a:t>0  1  2  3  3  3  4  5  5  5  9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CE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4384412"/>
                  </a:ext>
                </a:extLst>
              </a:tr>
              <a:tr h="493332">
                <a:tc>
                  <a:txBody>
                    <a:bodyPr/>
                    <a:lstStyle/>
                    <a:p>
                      <a:pPr algn="ctr" fontAlgn="b"/>
                      <a:r>
                        <a:rPr lang="pt-BR" sz="2400" b="1" i="0" u="none" strike="noStrike">
                          <a:solidFill>
                            <a:srgbClr val="1F6FA5"/>
                          </a:solidFill>
                          <a:effectLst/>
                          <a:latin typeface="Aptos Narrow" panose="020B0004020202020204" pitchFamily="34" charset="0"/>
                        </a:rPr>
                        <a:t>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A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2400" b="0" i="0" u="none" strike="noStrike" dirty="0">
                          <a:solidFill>
                            <a:srgbClr val="1F6FA5"/>
                          </a:solidFill>
                          <a:effectLst/>
                          <a:latin typeface="Aptos Narrow" panose="020B0004020202020204" pitchFamily="34" charset="0"/>
                        </a:rPr>
                        <a:t>3  4  7  9  9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3640953"/>
                  </a:ext>
                </a:extLst>
              </a:tr>
              <a:tr h="493332">
                <a:tc>
                  <a:txBody>
                    <a:bodyPr/>
                    <a:lstStyle/>
                    <a:p>
                      <a:pPr algn="ctr" fontAlgn="b"/>
                      <a:r>
                        <a:rPr lang="pt-BR" sz="2400" b="1" i="0" u="none" strike="noStrike">
                          <a:solidFill>
                            <a:srgbClr val="1F6FA5"/>
                          </a:solidFill>
                          <a:effectLst/>
                          <a:latin typeface="Aptos Narrow" panose="020B0004020202020204" pitchFamily="34" charset="0"/>
                        </a:rPr>
                        <a:t>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A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2400" b="0" i="0" u="none" strike="noStrike" dirty="0">
                          <a:solidFill>
                            <a:srgbClr val="1F6FA5"/>
                          </a:solidFill>
                          <a:effectLst/>
                          <a:latin typeface="Aptos Narrow" panose="020B0004020202020204" pitchFamily="34" charset="0"/>
                        </a:rPr>
                        <a:t>0  0  1  2  3  4  7  8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4594986"/>
                  </a:ext>
                </a:extLst>
              </a:tr>
              <a:tr h="493332">
                <a:tc>
                  <a:txBody>
                    <a:bodyPr/>
                    <a:lstStyle/>
                    <a:p>
                      <a:pPr algn="ctr" fontAlgn="b"/>
                      <a:r>
                        <a:rPr lang="pt-BR" sz="2400" b="1" i="0" u="none" strike="noStrike">
                          <a:solidFill>
                            <a:srgbClr val="1F6FA5"/>
                          </a:solidFill>
                          <a:effectLst/>
                          <a:latin typeface="Aptos Narrow" panose="020B0004020202020204" pitchFamily="34" charset="0"/>
                        </a:rPr>
                        <a:t>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A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2400" b="0" i="0" u="none" strike="noStrike" dirty="0">
                          <a:solidFill>
                            <a:srgbClr val="1F6FA5"/>
                          </a:solidFill>
                          <a:effectLst/>
                          <a:latin typeface="Aptos Narrow" panose="020B0004020202020204" pitchFamily="34" charset="0"/>
                        </a:rPr>
                        <a:t>2  2  4  5  7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0746234"/>
                  </a:ext>
                </a:extLst>
              </a:tr>
              <a:tr h="493332">
                <a:tc>
                  <a:txBody>
                    <a:bodyPr/>
                    <a:lstStyle/>
                    <a:p>
                      <a:pPr algn="ctr" fontAlgn="b"/>
                      <a:r>
                        <a:rPr lang="pt-BR" sz="2400" b="1" i="0" u="none" strike="noStrike">
                          <a:solidFill>
                            <a:srgbClr val="1F6FA5"/>
                          </a:solidFill>
                          <a:effectLst/>
                          <a:latin typeface="Aptos Narrow" panose="020B0004020202020204" pitchFamily="34" charset="0"/>
                        </a:rPr>
                        <a:t>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A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2400" b="0" i="0" u="none" strike="noStrike" dirty="0">
                          <a:solidFill>
                            <a:srgbClr val="1F6FA5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22040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3170634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627196" y="623201"/>
            <a:ext cx="11180365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400" dirty="0"/>
              <a:t>Todos os gráficos apresentados podem ser usados para variáveis discretas ou contínuas. Em alguns casos, para variáveis contínuas é necessário discretizar os dados, ou seja, dividir os dados em classes. Veja o exemplo abaixo:</a:t>
            </a:r>
          </a:p>
          <a:p>
            <a:endParaRPr lang="pt-BR" sz="2800" b="1" dirty="0"/>
          </a:p>
          <a:p>
            <a:endParaRPr lang="pt-BR" sz="2800" b="1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64300"/>
            <a:ext cx="48276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CEA055 - Estatística e Probabilidade - Prof. Marcos Goulart Lima</a:t>
            </a:r>
          </a:p>
        </p:txBody>
      </p:sp>
      <p:graphicFrame>
        <p:nvGraphicFramePr>
          <p:cNvPr id="8" name="Tabela 7">
            <a:extLst>
              <a:ext uri="{FF2B5EF4-FFF2-40B4-BE49-F238E27FC236}">
                <a16:creationId xmlns:a16="http://schemas.microsoft.com/office/drawing/2014/main" id="{5F99DE84-1897-C5D5-CCE5-45F31A1405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7432207"/>
              </p:ext>
            </p:extLst>
          </p:nvPr>
        </p:nvGraphicFramePr>
        <p:xfrm>
          <a:off x="384439" y="2487414"/>
          <a:ext cx="5241109" cy="3537325"/>
        </p:xfrm>
        <a:graphic>
          <a:graphicData uri="http://schemas.openxmlformats.org/drawingml/2006/table">
            <a:tbl>
              <a:tblPr/>
              <a:tblGrid>
                <a:gridCol w="1488814">
                  <a:extLst>
                    <a:ext uri="{9D8B030D-6E8A-4147-A177-3AD203B41FA5}">
                      <a16:colId xmlns:a16="http://schemas.microsoft.com/office/drawing/2014/main" val="2219003074"/>
                    </a:ext>
                  </a:extLst>
                </a:gridCol>
                <a:gridCol w="1174105">
                  <a:extLst>
                    <a:ext uri="{9D8B030D-6E8A-4147-A177-3AD203B41FA5}">
                      <a16:colId xmlns:a16="http://schemas.microsoft.com/office/drawing/2014/main" val="3214597092"/>
                    </a:ext>
                  </a:extLst>
                </a:gridCol>
                <a:gridCol w="1089376">
                  <a:extLst>
                    <a:ext uri="{9D8B030D-6E8A-4147-A177-3AD203B41FA5}">
                      <a16:colId xmlns:a16="http://schemas.microsoft.com/office/drawing/2014/main" val="536398451"/>
                    </a:ext>
                  </a:extLst>
                </a:gridCol>
                <a:gridCol w="1488814">
                  <a:extLst>
                    <a:ext uri="{9D8B030D-6E8A-4147-A177-3AD203B41FA5}">
                      <a16:colId xmlns:a16="http://schemas.microsoft.com/office/drawing/2014/main" val="2165628669"/>
                    </a:ext>
                  </a:extLst>
                </a:gridCol>
              </a:tblGrid>
              <a:tr h="779813">
                <a:tc gridSpan="4">
                  <a:txBody>
                    <a:bodyPr/>
                    <a:lstStyle/>
                    <a:p>
                      <a:pPr algn="l" fontAlgn="b"/>
                      <a:r>
                        <a:rPr lang="pt-BR" sz="1800" b="1" i="1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Tabela 2.6: Distribuição de frequências da variável S, salário dos empregados da seção de orçamentos da Companhia MB.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2262565"/>
                  </a:ext>
                </a:extLst>
              </a:tr>
              <a:tr h="524466"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1" i="0" u="none" strike="noStrike">
                          <a:solidFill>
                            <a:srgbClr val="1F6FA5"/>
                          </a:solidFill>
                          <a:effectLst/>
                          <a:latin typeface="Aptos Narrow" panose="020B0004020202020204" pitchFamily="34" charset="0"/>
                        </a:rPr>
                        <a:t>Classes de salários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1" i="0" u="none" strike="noStrike">
                          <a:solidFill>
                            <a:srgbClr val="1F6FA5"/>
                          </a:solidFill>
                          <a:effectLst/>
                          <a:latin typeface="Aptos Narrow" panose="020B0004020202020204" pitchFamily="34" charset="0"/>
                        </a:rPr>
                        <a:t>Ponto médio si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1" i="0" u="none" strike="noStrike" dirty="0" err="1">
                          <a:solidFill>
                            <a:srgbClr val="1F6FA5"/>
                          </a:solidFill>
                          <a:effectLst/>
                          <a:latin typeface="Aptos Narrow" panose="020B0004020202020204" pitchFamily="34" charset="0"/>
                        </a:rPr>
                        <a:t>Freq</a:t>
                      </a:r>
                      <a:endParaRPr lang="pt-BR" sz="1800" b="1" i="0" u="none" strike="noStrike" dirty="0">
                        <a:solidFill>
                          <a:srgbClr val="1F6FA5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  <a:p>
                      <a:pPr algn="ctr" fontAlgn="b"/>
                      <a:r>
                        <a:rPr lang="pt-BR" sz="1800" b="1" i="0" u="none" strike="noStrike" dirty="0">
                          <a:solidFill>
                            <a:srgbClr val="1F6FA5"/>
                          </a:solidFill>
                          <a:effectLst/>
                          <a:latin typeface="Aptos Narrow" panose="020B0004020202020204" pitchFamily="34" charset="0"/>
                        </a:rPr>
                        <a:t> </a:t>
                      </a:r>
                      <a:r>
                        <a:rPr lang="pt-BR" sz="1800" b="1" i="0" u="none" strike="noStrike" dirty="0" err="1">
                          <a:solidFill>
                            <a:srgbClr val="1F6FA5"/>
                          </a:solidFill>
                          <a:effectLst/>
                          <a:latin typeface="Aptos Narrow" panose="020B0004020202020204" pitchFamily="34" charset="0"/>
                        </a:rPr>
                        <a:t>ni</a:t>
                      </a:r>
                      <a:endParaRPr lang="pt-BR" sz="1800" b="1" i="0" u="none" strike="noStrike" dirty="0">
                        <a:solidFill>
                          <a:srgbClr val="1F6FA5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1" i="0" u="none" strike="noStrike">
                          <a:solidFill>
                            <a:srgbClr val="1F6FA5"/>
                          </a:solidFill>
                          <a:effectLst/>
                          <a:latin typeface="Aptos Narrow" panose="020B0004020202020204" pitchFamily="34" charset="0"/>
                        </a:rPr>
                        <a:t>Porcentagem 100 fi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5475421"/>
                  </a:ext>
                </a:extLst>
              </a:tr>
              <a:tr h="263918">
                <a:tc>
                  <a:txBody>
                    <a:bodyPr/>
                    <a:lstStyle/>
                    <a:p>
                      <a:pPr algn="l" fontAlgn="b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4,00 ⊢ 8,00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6,00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27,78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7181719"/>
                  </a:ext>
                </a:extLst>
              </a:tr>
              <a:tr h="263918">
                <a:tc>
                  <a:txBody>
                    <a:bodyPr/>
                    <a:lstStyle/>
                    <a:p>
                      <a:pPr algn="l" fontAlgn="b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8,00 ⊢ 12,00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10,00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33,33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6181349"/>
                  </a:ext>
                </a:extLst>
              </a:tr>
              <a:tr h="263918">
                <a:tc>
                  <a:txBody>
                    <a:bodyPr/>
                    <a:lstStyle/>
                    <a:p>
                      <a:pPr algn="l" fontAlgn="b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12,00 ⊢ 16,00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14,00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22,22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2971073"/>
                  </a:ext>
                </a:extLst>
              </a:tr>
              <a:tr h="263918">
                <a:tc>
                  <a:txBody>
                    <a:bodyPr/>
                    <a:lstStyle/>
                    <a:p>
                      <a:pPr algn="l" fontAlgn="b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16,00 ⊢ 20,00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18,00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13,89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0577055"/>
                  </a:ext>
                </a:extLst>
              </a:tr>
              <a:tr h="263918">
                <a:tc>
                  <a:txBody>
                    <a:bodyPr/>
                    <a:lstStyle/>
                    <a:p>
                      <a:pPr algn="l" fontAlgn="b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20,00 ⊢ 24,00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22,00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2,78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6635917"/>
                  </a:ext>
                </a:extLst>
              </a:tr>
              <a:tr h="263918">
                <a:tc>
                  <a:txBody>
                    <a:bodyPr/>
                    <a:lstStyle/>
                    <a:p>
                      <a:pPr algn="l" fontAlgn="b"/>
                      <a:r>
                        <a:rPr lang="pt-B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Total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—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36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100,00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2748669"/>
                  </a:ext>
                </a:extLst>
              </a:tr>
              <a:tr h="469005">
                <a:tc gridSpan="4">
                  <a:txBody>
                    <a:bodyPr/>
                    <a:lstStyle/>
                    <a:p>
                      <a:pPr algn="l" fontAlgn="b"/>
                      <a:r>
                        <a:rPr lang="pt-BR" sz="1800" b="0" i="1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Fonte: Tabela2.4.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pt-BR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pt-BR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pt-BR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4473399"/>
                  </a:ext>
                </a:extLst>
              </a:tr>
            </a:tbl>
          </a:graphicData>
        </a:graphic>
      </p:graphicFrame>
      <p:graphicFrame>
        <p:nvGraphicFramePr>
          <p:cNvPr id="11" name="Gráfico 10">
            <a:extLst>
              <a:ext uri="{FF2B5EF4-FFF2-40B4-BE49-F238E27FC236}">
                <a16:creationId xmlns:a16="http://schemas.microsoft.com/office/drawing/2014/main" id="{A0D494CA-A743-1B0C-EC48-EB29D7CA0FD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74347325"/>
              </p:ext>
            </p:extLst>
          </p:nvPr>
        </p:nvGraphicFramePr>
        <p:xfrm>
          <a:off x="6168887" y="2617304"/>
          <a:ext cx="5564355" cy="25125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66785306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650240" y="620693"/>
            <a:ext cx="1118036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800" dirty="0"/>
              <a:t>Existem várias tipos de gráficos. A escolha do gráfico depende tipo do dados e da informação que queremos enfatizar</a:t>
            </a:r>
          </a:p>
          <a:p>
            <a:endParaRPr lang="pt-BR" sz="2800" b="1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64300"/>
            <a:ext cx="48276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CEA055 - Estatística e Probabilidade - Prof. Marcos Goulart Lima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69C5906F-9702-04AB-28B0-9D712FB7B5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240" y="2107046"/>
            <a:ext cx="4788669" cy="4083416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BBFE71FF-439F-C168-9EC8-19AC32DF2D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4719" y="1911352"/>
            <a:ext cx="5164657" cy="2402166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47679E74-2F58-EEA6-1E5D-DCD7BC60E5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6144" y="4428574"/>
            <a:ext cx="4677847" cy="2139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335263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64300"/>
            <a:ext cx="48276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CEA055 - Estatística e Probabilidade - Prof. Marcos Goulart Lima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FD72E0C1-F953-3345-764D-6829C376A3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632" y="1035106"/>
            <a:ext cx="5160838" cy="4363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248655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656866" y="817662"/>
            <a:ext cx="1118036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800" b="1" dirty="0"/>
              <a:t>Exercício (casa).</a:t>
            </a:r>
            <a:r>
              <a:rPr lang="pt-BR" sz="2800" dirty="0"/>
              <a:t> Leia a seção 2.7 do livro (Bussab &amp; </a:t>
            </a:r>
            <a:r>
              <a:rPr lang="pt-BR" sz="2800" dirty="0" err="1"/>
              <a:t>Morettin</a:t>
            </a:r>
            <a:r>
              <a:rPr lang="pt-BR" sz="2800" dirty="0"/>
              <a:t>) itens 3 e 4 ou pesquise sobre o tema “Frequências acumuladas”.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pt-BR" sz="2800" dirty="0">
              <a:solidFill>
                <a:srgbClr val="0070C0"/>
              </a:solidFill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64300"/>
            <a:ext cx="48276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CEA055 - Estatística e Probabilidade - Prof.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277691933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603858" y="744776"/>
            <a:ext cx="11180365" cy="45498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800" b="1" dirty="0"/>
              <a:t>Medidas de posição</a:t>
            </a:r>
          </a:p>
          <a:p>
            <a:pPr>
              <a:lnSpc>
                <a:spcPct val="150000"/>
              </a:lnSpc>
            </a:pPr>
            <a:r>
              <a:rPr lang="pt-BR" sz="2800" dirty="0"/>
              <a:t>É um número que representa um conjunto de dados.</a:t>
            </a:r>
            <a:endParaRPr lang="pt-BR" sz="2800" b="1" dirty="0"/>
          </a:p>
          <a:p>
            <a:pPr marL="457178" indent="-45717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800" b="1" dirty="0"/>
              <a:t>Moda: </a:t>
            </a:r>
            <a:r>
              <a:rPr lang="pt-BR" sz="2800" dirty="0"/>
              <a:t>é a realização mais frequente do conjunto de valores</a:t>
            </a:r>
          </a:p>
          <a:p>
            <a:pPr marL="457178" indent="-45717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800" b="1" dirty="0"/>
              <a:t>Mediana: </a:t>
            </a:r>
            <a:r>
              <a:rPr lang="pt-BR" sz="2800" dirty="0"/>
              <a:t>é a realização que ocupa a posição central da série (ordenada) de observações. </a:t>
            </a:r>
          </a:p>
          <a:p>
            <a:pPr marL="457178" indent="-45717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800" b="1" dirty="0"/>
              <a:t>Média (média aritmética): </a:t>
            </a:r>
            <a:r>
              <a:rPr lang="pt-BR" sz="2800" dirty="0"/>
              <a:t>é a soma das observações dividido pelo número delas.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64300"/>
            <a:ext cx="48276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CEA055 - Estatística e Probabilidade - Prof.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234584814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676744" y="632131"/>
                <a:ext cx="11180365" cy="51961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sz="2800" b="1" dirty="0"/>
                  <a:t>Medidas de posição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800" b="1" dirty="0"/>
                  <a:t>Exemplo: </a:t>
                </a:r>
                <a:r>
                  <a:rPr lang="pt-BR" sz="2800" dirty="0"/>
                  <a:t>Considere o conjunto de dados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{4,0,5,1,7,2,3,3,5,1}</m:t>
                    </m:r>
                  </m:oMath>
                </a14:m>
                <a:r>
                  <a:rPr lang="pt-BR" sz="2800" dirty="0"/>
                  <a:t>.</a:t>
                </a:r>
              </a:p>
              <a:p>
                <a:pPr marL="457178" indent="-457178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pt-BR" sz="2800" b="1" dirty="0"/>
              </a:p>
              <a:p>
                <a:pPr marL="457178" indent="-457178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pt-BR" sz="2800" b="1" dirty="0"/>
                  <a:t>Moda:</a:t>
                </a:r>
              </a:p>
              <a:p>
                <a:pPr marL="457178" indent="-457178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pt-BR" sz="2800" b="1" dirty="0"/>
              </a:p>
              <a:p>
                <a:pPr marL="457178" indent="-457178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pt-BR" sz="2800" b="1" dirty="0"/>
                  <a:t>Mediana:</a:t>
                </a:r>
              </a:p>
              <a:p>
                <a:pPr marL="457178" indent="-457178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pt-BR" sz="2800" dirty="0"/>
              </a:p>
              <a:p>
                <a:pPr marL="457178" indent="-457178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pt-BR" sz="2800" b="1" dirty="0"/>
                  <a:t>Média:</a:t>
                </a:r>
                <a:endParaRPr lang="pt-BR" sz="28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744" y="632131"/>
                <a:ext cx="11180365" cy="5196166"/>
              </a:xfrm>
              <a:prstGeom prst="rect">
                <a:avLst/>
              </a:prstGeom>
              <a:blipFill>
                <a:blip r:embed="rId2"/>
                <a:stretch>
                  <a:fillRect l="-1091" b="-246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64300"/>
            <a:ext cx="48276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CEA055 - Estatística e Probabilidade - Prof.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169686810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636988" y="596963"/>
                <a:ext cx="11180365" cy="47210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800" b="1" dirty="0"/>
                  <a:t>Medidas de posição (fórmulas)</a:t>
                </a:r>
              </a:p>
              <a:p>
                <a:r>
                  <a:rPr lang="pt-BR" sz="2800" dirty="0"/>
                  <a:t>Sejam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pt-BR" sz="2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t-BR" sz="2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pt-BR" sz="2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, ⋯, </m:t>
                        </m:r>
                        <m:sSub>
                          <m:sSubPr>
                            <m:ctrlPr>
                              <a:rPr lang="pt-BR" sz="2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r>
                  <a:rPr lang="pt-BR" sz="2800" dirty="0"/>
                  <a:t> um conjunto de dados (distintos ou não).</a:t>
                </a:r>
              </a:p>
              <a:p>
                <a:pPr marL="457178" indent="-457178">
                  <a:buFont typeface="Arial" panose="020B0604020202020204" pitchFamily="34" charset="0"/>
                  <a:buChar char="•"/>
                </a:pPr>
                <a:endParaRPr lang="pt-BR" sz="2800" b="1" dirty="0"/>
              </a:p>
              <a:p>
                <a:pPr marL="457178" indent="-457178">
                  <a:buFont typeface="Arial" panose="020B0604020202020204" pitchFamily="34" charset="0"/>
                  <a:buChar char="•"/>
                </a:pPr>
                <a:r>
                  <a:rPr lang="pt-BR" sz="2800" b="1" dirty="0"/>
                  <a:t>Média: </a:t>
                </a:r>
                <a:endParaRPr lang="pt-BR" sz="2800" b="1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pt-BR" sz="2800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pt-BR" sz="28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acc>
                      <m:r>
                        <a:rPr lang="pt-BR" sz="2800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pt-BR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BR" sz="2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pt-BR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BR" sz="2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 ⋯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pt-BR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num>
                        <m:den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den>
                      </m:f>
                    </m:oMath>
                  </m:oMathPara>
                </a14:m>
                <a:endParaRPr lang="pt-BR" sz="2800" b="0" dirty="0"/>
              </a:p>
              <a:p>
                <a:endParaRPr lang="pt-BR" sz="28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pt-BR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BR" sz="2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pt-BR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BR" sz="2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 ⋯</m:t>
                          </m:r>
                          <m:sSub>
                            <m:sSub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sSub>
                            <m:sSubPr>
                              <m:ctrlPr>
                                <a:rPr lang="pt-BR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num>
                        <m:den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den>
                      </m:f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 (</m:t>
                      </m:r>
                      <m:sSub>
                        <m:sSub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º 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𝑑𝑒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𝑟𝑒𝑝𝑒𝑡𝑖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çõ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𝑒𝑠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sz="2800" b="0" i="1" dirty="0">
                  <a:latin typeface="Cambria Math" panose="02040503050406030204" pitchFamily="18" charset="0"/>
                </a:endParaRPr>
              </a:p>
              <a:p>
                <a:endParaRPr lang="pt-BR" sz="28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1" i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BR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pt-BR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pt-BR" sz="28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pt-BR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pt-BR" sz="2800" i="1">
                          <a:latin typeface="Cambria Math" panose="02040503050406030204" pitchFamily="18" charset="0"/>
                        </a:rPr>
                        <m:t>+ ⋯</m:t>
                      </m:r>
                      <m:sSub>
                        <m:sSubPr>
                          <m:ctrlPr>
                            <a:rPr lang="pt-BR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sSub>
                        <m:sSubPr>
                          <m:ctrlPr>
                            <a:rPr lang="pt-BR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pt-BR" sz="2800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pt-BR" sz="2800" i="1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pt-BR" sz="2800" i="1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pt-BR" sz="2800" i="1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sz="2800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pt-BR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pt-BR" sz="28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𝑓𝑟𝑒𝑞𝑢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ê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𝑛𝑐𝑖𝑎</m:t>
                      </m:r>
                      <m:r>
                        <a:rPr lang="pt-BR" sz="28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988" y="596963"/>
                <a:ext cx="11180365" cy="4721036"/>
              </a:xfrm>
              <a:prstGeom prst="rect">
                <a:avLst/>
              </a:prstGeom>
              <a:blipFill>
                <a:blip r:embed="rId2"/>
                <a:stretch>
                  <a:fillRect l="-1090" t="-129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64300"/>
            <a:ext cx="48276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CEA055 - Estatística e Probabilidade - Prof.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188973855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630362" y="550580"/>
                <a:ext cx="11180365" cy="50040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178" indent="-457178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pt-BR" sz="2800" b="1" dirty="0"/>
                  <a:t>Mediana: 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800" dirty="0"/>
                  <a:t>Considere o conjunto de dados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t-BR" sz="2800" b="0" i="0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pt-BR" sz="2800" b="0" i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pt-BR" sz="2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t-BR" sz="2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pt-BR" sz="2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, ⋯, </m:t>
                        </m:r>
                        <m:sSub>
                          <m:sSubPr>
                            <m:ctrlPr>
                              <a:rPr lang="pt-BR" sz="2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r>
                  <a:rPr lang="pt-BR" sz="2800" dirty="0"/>
                  <a:t> e ordene os dados de forma crescente: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(1)</m:t>
                          </m:r>
                        </m:sub>
                      </m:sSub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pt-BR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d>
                            <m:dPr>
                              <m:ctrlPr>
                                <a:rPr lang="pt-BR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sub>
                      </m:sSub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pt-BR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d>
                            <m:d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d>
                        </m:sub>
                      </m:sSub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≤…≤</m:t>
                      </m:r>
                      <m:sSub>
                        <m:sSubPr>
                          <m:ctrlPr>
                            <a:rPr lang="pt-BR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</m:oMath>
                  </m:oMathPara>
                </a14:m>
                <a:endParaRPr lang="pt-BR" sz="2800" b="0" dirty="0"/>
              </a:p>
              <a:p>
                <a:pPr marL="457200" indent="-4572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pt-BR" sz="2800" dirty="0"/>
                  <a:t>Se </a:t>
                </a:r>
                <a14:m>
                  <m:oMath xmlns:m="http://schemas.openxmlformats.org/officeDocument/2006/math">
                    <m:r>
                      <a:rPr lang="pt-BR" sz="2800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pt-BR" sz="2800" dirty="0"/>
                  <a:t> é par, </a:t>
                </a:r>
                <a14:m>
                  <m:oMath xmlns:m="http://schemas.openxmlformats.org/officeDocument/2006/math">
                    <m:r>
                      <a:rPr lang="pt-BR" sz="2800" i="1">
                        <a:latin typeface="Cambria Math" panose="02040503050406030204" pitchFamily="18" charset="0"/>
                      </a:rPr>
                      <m:t>𝑚𝑑</m:t>
                    </m:r>
                    <m:d>
                      <m:dPr>
                        <m:ctrlPr>
                          <a:rPr lang="pt-BR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8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pt-BR" sz="28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pt-BR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pt-BR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d>
                              <m:dPr>
                                <m:ctrlPr>
                                  <a:rPr lang="pt-BR" sz="2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pt-BR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t-BR" sz="2800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num>
                                  <m:den>
                                    <m:r>
                                      <a:rPr lang="pt-BR" sz="28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d>
                          </m:sub>
                        </m:sSub>
                        <m:r>
                          <a:rPr lang="pt-BR" sz="2800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pt-BR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d>
                              <m:dPr>
                                <m:ctrlPr>
                                  <a:rPr lang="pt-BR" sz="2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pt-BR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t-BR" sz="2800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num>
                                  <m:den>
                                    <m:r>
                                      <a:rPr lang="pt-BR" sz="28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a:rPr lang="pt-BR" sz="2800" i="1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e>
                            </m:d>
                          </m:sub>
                        </m:sSub>
                      </m:num>
                      <m:den>
                        <m:r>
                          <a:rPr lang="pt-BR" sz="28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pt-BR" sz="2800" i="1" dirty="0">
                  <a:latin typeface="Cambria Math" panose="02040503050406030204" pitchFamily="18" charset="0"/>
                </a:endParaRPr>
              </a:p>
              <a:p>
                <a:pPr marL="457200" indent="-4572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pt-BR" sz="2800" dirty="0"/>
                  <a:t>Se </a:t>
                </a:r>
                <a14:m>
                  <m:oMath xmlns:m="http://schemas.openxmlformats.org/officeDocument/2006/math">
                    <m:r>
                      <a:rPr lang="pt-BR" sz="2800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pt-BR" sz="2800" dirty="0"/>
                  <a:t> é ímpar, </a:t>
                </a:r>
                <a14:m>
                  <m:oMath xmlns:m="http://schemas.openxmlformats.org/officeDocument/2006/math">
                    <m:r>
                      <a:rPr lang="pt-BR" sz="2800" i="1">
                        <a:latin typeface="Cambria Math" panose="02040503050406030204" pitchFamily="18" charset="0"/>
                      </a:rPr>
                      <m:t>𝑚𝑑</m:t>
                    </m:r>
                    <m:d>
                      <m:dPr>
                        <m:ctrlPr>
                          <a:rPr lang="pt-BR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8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pt-BR" sz="28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pt-BR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d>
                          <m:dPr>
                            <m:ctrlPr>
                              <a:rPr lang="pt-BR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pt-BR" sz="28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pt-BR" sz="280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num>
                              <m:den>
                                <m:r>
                                  <a:rPr lang="pt-BR" sz="28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sub>
                    </m:sSub>
                  </m:oMath>
                </a14:m>
                <a:endParaRPr lang="pt-BR" sz="28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362" y="550580"/>
                <a:ext cx="11180365" cy="5004062"/>
              </a:xfrm>
              <a:prstGeom prst="rect">
                <a:avLst/>
              </a:prstGeom>
              <a:blipFill>
                <a:blip r:embed="rId2"/>
                <a:stretch>
                  <a:fillRect l="-109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64300"/>
            <a:ext cx="48276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CEA055 - Estatística e Probabilidade - Prof.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377558641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847082" y="680546"/>
            <a:ext cx="10827959" cy="31743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/>
              <a:t>Atividades referentes à aula</a:t>
            </a:r>
          </a:p>
          <a:p>
            <a:pPr>
              <a:lnSpc>
                <a:spcPct val="150000"/>
              </a:lnSpc>
            </a:pPr>
            <a:r>
              <a:rPr lang="pt-BR" sz="2400" dirty="0"/>
              <a:t>Leitura recomendada: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/>
              <a:t>Bussab &amp; Morettin — Cap. 2: 2.1 a 2.4 (tabelas, gráficos, ramo-e-folhas) e Cap. 3: 3.1 (medidas de posição)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/>
              <a:t>Montgomery &amp; Runger — Cap. 6: 6.1 a 6.3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/>
              <a:t>Magalhães &amp; Lima — Cap. 1</a:t>
            </a:r>
            <a:r>
              <a:rPr lang="pt-BR" sz="2400"/>
              <a:t>: 1.2</a:t>
            </a:r>
            <a:endParaRPr lang="pt-BR" sz="2400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A49F6C3D-C6CD-46EB-B00C-3C31995D5B04}"/>
              </a:ext>
            </a:extLst>
          </p:cNvPr>
          <p:cNvSpPr txBox="1"/>
          <p:nvPr/>
        </p:nvSpPr>
        <p:spPr>
          <a:xfrm>
            <a:off x="361395" y="6464300"/>
            <a:ext cx="48276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CEA055 - Estatística e Probabilidade - Prof.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287805213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847082" y="680546"/>
            <a:ext cx="10827959" cy="42823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/>
              <a:t>Atividades referentes </a:t>
            </a:r>
            <a:r>
              <a:rPr lang="pt-BR" sz="2400" b="1"/>
              <a:t>à aula (continuação)</a:t>
            </a:r>
            <a:endParaRPr lang="pt-BR" sz="2400" b="1" dirty="0"/>
          </a:p>
          <a:p>
            <a:pPr>
              <a:lnSpc>
                <a:spcPct val="150000"/>
              </a:lnSpc>
            </a:pPr>
            <a:r>
              <a:rPr lang="pt-BR" sz="2400"/>
              <a:t>Exercícios recomendados: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/>
              <a:t>Bussab &amp; Morettin — Cap. 2: Problemas 1, 2, 3, 4, 6 e 7; Cap. 3: Problemas 1, 2, 4 e 6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/>
              <a:t>Magalhães &amp; Lima — Cap. 1: Exercícios 2, 3, 7, 8, 18 e 20; Cap. 4: Exercícios 3, 4, 5 e 11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/>
              <a:t>Montgomery &amp; Runger — Cap. 6: Exercícios 6.1.6, 6.1.7, 6.1.8, 6.1.9, 6.1.11, 6.2.2, 6.2.4, 6.3.2, 6.3.6 e 6.3.9</a:t>
            </a:r>
            <a:endParaRPr lang="pt-BR" sz="2400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A49F6C3D-C6CD-46EB-B00C-3C31995D5B04}"/>
              </a:ext>
            </a:extLst>
          </p:cNvPr>
          <p:cNvSpPr txBox="1"/>
          <p:nvPr/>
        </p:nvSpPr>
        <p:spPr>
          <a:xfrm>
            <a:off x="361395" y="6464300"/>
            <a:ext cx="48276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CEA055 - Estatística e Probabilidade - Prof.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28617837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6F490BCF-0E29-46D6-AB9B-B65C3DA07A14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81ad7711-3887-41fb-a840-a6e8a9fc0efc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1799</TotalTime>
  <Words>2262</Words>
  <Application>Microsoft Office PowerPoint</Application>
  <PresentationFormat>Widescreen</PresentationFormat>
  <Paragraphs>508</Paragraphs>
  <Slides>35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35</vt:i4>
      </vt:variant>
    </vt:vector>
  </HeadingPairs>
  <TitlesOfParts>
    <vt:vector size="42" baseType="lpstr">
      <vt:lpstr>AlternateGothic2 BT</vt:lpstr>
      <vt:lpstr>Aptos Narrow</vt:lpstr>
      <vt:lpstr>Arial</vt:lpstr>
      <vt:lpstr>Calibri</vt:lpstr>
      <vt:lpstr>Calibri Light</vt:lpstr>
      <vt:lpstr>Cambria Math</vt:lpstr>
      <vt:lpstr>Tema do Office</vt:lpstr>
      <vt:lpstr>CEA055 – Estatística e Probabilidade Estatística Descritiva I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Marcos Goulart Lima</dc:creator>
  <cp:lastModifiedBy>Marcos Goulart Lima</cp:lastModifiedBy>
  <cp:revision>71</cp:revision>
  <dcterms:created xsi:type="dcterms:W3CDTF">2020-07-20T19:35:15Z</dcterms:created>
  <dcterms:modified xsi:type="dcterms:W3CDTF">2026-10-22T03:32:32Z</dcterms:modified>
</cp:coreProperties>
</file>