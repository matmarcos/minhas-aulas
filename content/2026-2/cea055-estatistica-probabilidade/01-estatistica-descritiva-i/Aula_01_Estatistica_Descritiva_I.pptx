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7" r:id="rId2"/>
    <p:sldId id="268" r:id="rId3"/>
    <p:sldId id="299" r:id="rId4"/>
    <p:sldId id="269" r:id="rId5"/>
    <p:sldId id="277" r:id="rId6"/>
    <p:sldId id="300" r:id="rId7"/>
    <p:sldId id="270" r:id="rId8"/>
    <p:sldId id="279" r:id="rId9"/>
    <p:sldId id="280" r:id="rId10"/>
    <p:sldId id="281" r:id="rId11"/>
    <p:sldId id="271" r:id="rId12"/>
    <p:sldId id="272" r:id="rId13"/>
    <p:sldId id="282" r:id="rId14"/>
    <p:sldId id="284" r:id="rId15"/>
    <p:sldId id="273" r:id="rId16"/>
    <p:sldId id="286" r:id="rId17"/>
    <p:sldId id="287" r:id="rId18"/>
    <p:sldId id="276" r:id="rId19"/>
    <p:sldId id="289" r:id="rId20"/>
    <p:sldId id="290" r:id="rId21"/>
    <p:sldId id="297" r:id="rId22"/>
    <p:sldId id="285" r:id="rId23"/>
    <p:sldId id="301" r:id="rId24"/>
    <p:sldId id="303" r:id="rId25"/>
    <p:sldId id="288" r:id="rId26"/>
    <p:sldId id="266" r:id="rId27"/>
    <p:sldId id="305" r:id="rId34"/>
    <p:sldId id="306" r:id="rId35"/>
    <p:sldId id="307" r:id="rId36"/>
    <p:sldId id="308" r:id="rId37"/>
    <p:sldId id="304" r:id="rId33"/>
  </p:sldIdLst>
  <p:sldSz cx="12192000" cy="6858000"/>
  <p:notesSz cx="6858000" cy="9144000"/>
  <p:defaultTextStyle>
    <a:defPPr>
      <a:defRPr lang="pt-BR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 autoAdjust="0"/>
  </p:normalViewPr>
  <p:slideViewPr>
    <p:cSldViewPr snapToGrid="0">
      <p:cViewPr>
        <p:scale>
          <a:sx n="50" d="100"/>
          <a:sy n="50" d="100"/>
        </p:scale>
        <p:origin x="624" y="82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4690" y="43"/>
      </p:cViewPr>
      <p:guideLst/>
    </p:cSldViewPr>
  </p:notesViewPr>
  <p:gridSpacing cx="72008" cy="72008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33" Type="http://schemas.openxmlformats.org/officeDocument/2006/relationships/slide" Target="slides/slide31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623A65-BD25-40B6-8815-498297225DF7}" type="datetimeFigureOut">
              <a:rPr lang="pt-BR" smtClean="0"/>
              <a:t>25/03/2024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 dirty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7F89C7-0D7F-4B10-AF98-1416A21C67F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292120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7F89C7-0D7F-4B10-AF98-1416A21C67FE}" type="slidenum">
              <a:rPr lang="pt-BR" smtClean="0"/>
              <a:t>26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66203219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FB549B-B83A-404E-9BD8-A560AB294D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D7CE2CF-ACA4-4F2F-B0E6-62AA8A4CA0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15145D-ED8E-485D-AFAA-0637E3DDC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25/03/2024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C10A484-EBAA-4375-B22B-EB352202B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CBFC011-A4F5-4C4D-B328-90D3A1C70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321273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DC2C77-41CB-40C6-8592-F2323898B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A2E0EDC-CFA2-4EB2-951C-00B6285C61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67430C6-C7CB-4882-8EDC-12D186CAC1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25/03/2024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044677D-F5A4-4226-8F80-D16E10238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DAB1963-7DC3-48C6-816F-DB898EB17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590665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59C7D4-175E-4544-B2C7-10CBDC0B0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9345EC1-929C-4442-826F-033EE7893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D04775A-17A7-4EC4-9798-1A34FD10E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25/03/2024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F42EA98-8D10-4ED3-B93F-FC711F0CD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39B97DE-6B04-4B6F-86E9-1D88F55F5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2312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BAA362-A45A-480A-9074-096724BCA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17FAB7C-66B6-413A-A532-7B4B35F4FB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E989473-C5DE-4037-A42E-A0EACF667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3249F76-8985-4102-AAA2-0AF7D18B3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25/03/2024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9E6D85-4300-4D4B-9EF8-C400BC246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82F353B-CB0E-4E22-9F25-903B9054A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548933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0DC1B8-1341-4AB7-B041-922244C5C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8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33C1DFC-5D65-46F4-994E-FD066564E0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CD66570-19DA-43E0-B668-A0064803DB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F031A902-2182-44D2-92A6-7D350E01E0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F11DEC4-4ED6-4D01-8E2F-F8DFBFBB0D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251D8EF-D452-4BEB-B271-9A45BCDDD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25/03/2024</a:t>
            </a:fld>
            <a:endParaRPr lang="pt-BR" dirty="0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B874A662-49D6-4C3B-B580-C42ED1ECE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7B64F4DA-4AAA-4F61-9D50-9FBA731DC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0865270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5CE28C-348A-4584-BBD8-F7D4E80AC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727A591-6069-48B6-9538-6A690479E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25/03/2024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0F4B20B4-5872-4798-8273-172F9B79B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00218E22-3A9A-4526-9A35-8F67CBEA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998076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8C9ED03-39FE-4839-912F-74079DC07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25/03/2024</a:t>
            </a:fld>
            <a:endParaRPr lang="pt-BR" dirty="0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12202958-2868-421E-B634-EC4F79F44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A1E4208-F91B-406F-93C9-909632019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16385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03AC6E-A8A4-484F-AB72-E01568BAD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652402C-474E-4A4C-BBB4-72C4459FD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5932530-DB56-4B02-AAD7-0B0DAE05AC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5269F7A-8509-44B5-A449-BA774B8D6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25/03/2024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AC7A0F7-9932-436F-9AE3-AFF4AA2B6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2EED5AD-F121-4389-805A-1761D5E1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64605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E0AC3B-59EE-40F2-994F-F86E662CE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B38B4DB5-6F6C-4DA5-9A20-AC29F12332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78" indent="0">
              <a:buNone/>
              <a:defRPr sz="2800"/>
            </a:lvl2pPr>
            <a:lvl3pPr marL="914354" indent="0">
              <a:buNone/>
              <a:defRPr sz="2400"/>
            </a:lvl3pPr>
            <a:lvl4pPr marL="1371532" indent="0">
              <a:buNone/>
              <a:defRPr sz="2000"/>
            </a:lvl4pPr>
            <a:lvl5pPr marL="1828709" indent="0">
              <a:buNone/>
              <a:defRPr sz="2000"/>
            </a:lvl5pPr>
            <a:lvl6pPr marL="2285886" indent="0">
              <a:buNone/>
              <a:defRPr sz="2000"/>
            </a:lvl6pPr>
            <a:lvl7pPr marL="2743062" indent="0">
              <a:buNone/>
              <a:defRPr sz="2000"/>
            </a:lvl7pPr>
            <a:lvl8pPr marL="3200240" indent="0">
              <a:buNone/>
              <a:defRPr sz="2000"/>
            </a:lvl8pPr>
            <a:lvl9pPr marL="3657418" indent="0">
              <a:buNone/>
              <a:defRPr sz="2000"/>
            </a:lvl9pPr>
          </a:lstStyle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BE271B5-C93D-4796-9358-1D1489AD91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70EE369-01D5-4D19-9174-7B158A7B7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25/03/2024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9AD9A84F-D4C0-4CF0-B94A-BD00C58CC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5C5E872-5A54-4124-AFFF-F672D0693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770975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682B53-B921-43B0-B70C-89461FC53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0CD7C9CB-B075-433C-911D-C898E41105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86A9F18-28DC-4676-99F1-455FE41D8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25/03/2024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6122BC6-1417-41C0-ABAB-3814030C5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1D411FB-88FD-4753-AD8A-28F528B3E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969994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A7E2BA7-069E-46BC-89D6-D7C2DC18A2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365126"/>
            <a:ext cx="2628900" cy="5811839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A6D25537-8E8B-46D8-8D94-91EDEBEF2C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2" y="365126"/>
            <a:ext cx="7734300" cy="5811839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8151BBF-6817-43B4-9E70-9E5D97182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25/03/2024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A27DCBE-1398-4403-B8D9-E76E3BB1A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57CFCFD-A47F-4C7B-B8FA-ADA430CE0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76169009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60000"/>
                <a:lumOff val="40000"/>
              </a:schemeClr>
            </a:gs>
            <a:gs pos="19000">
              <a:schemeClr val="bg1"/>
            </a:gs>
            <a:gs pos="95000">
              <a:schemeClr val="bg1"/>
            </a:gs>
            <a:gs pos="100000">
              <a:schemeClr val="accent5">
                <a:lumMod val="40000"/>
                <a:lumOff val="6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14E2DD83-FDEA-4717-875C-AE246EAB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8727906-6A75-4D24-84E2-D534D8BE7C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D73EF87-9823-417E-B531-F5CFE53CC6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45E566-B383-4B2D-B951-1136FD38326E}" type="datetimeFigureOut">
              <a:rPr lang="pt-BR" smtClean="0"/>
              <a:t>25/03/2024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A912461-C5F3-4639-9852-55C185CA8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D549E10-6FAB-43E0-BE2A-E81BCD879D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41590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?>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?>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?>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0.xml.rels><?xml version="1.0" encoding="UTF-8"?>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?>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?>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?>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?>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7.xml.rels><?xml version="1.0" encoding="UTF-8"?>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8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9.xml.rels><?xml version="1.0" encoding="UTF-8"?>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0.xml.rels><?xml version="1.0" encoding="UTF-8"?>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1.xml.rels><?xml version="1.0" encoding="UTF-8"?>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2.xml.rels><?xml version="1.0" encoding="UTF-8"?>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3.xml.rels><?xml version="1.0" encoding="UTF-8"?>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4.xml.rels><?xml version="1.0" encoding="UTF-8"?>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5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6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7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8.xml.rels><?xml version="1.0" encoding="UTF-8"?>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9.xml.rels><?xml version="1.0" encoding="UTF-8"?>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0.xml.rels><?xml version="1.0" encoding="UTF-8"?>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1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1032608" y="1941868"/>
            <a:ext cx="10067277" cy="36934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/>
              <a:t>Objetivos do aula:</a:t>
            </a:r>
          </a:p>
          <a:p>
            <a:pPr marL="285737" indent="-285737">
              <a:buFont typeface="Arial" panose="020B0604020202020204" pitchFamily="34" charset="0"/>
              <a:buChar char="•"/>
            </a:pPr>
            <a:r>
              <a:rPr lang="pt-BR" sz="2400" dirty="0"/>
              <a:t>Conhecer os tipos de variáveis e algumas representações gráficas.</a:t>
            </a:r>
          </a:p>
          <a:p>
            <a:pPr marL="285737" indent="-285737">
              <a:buFont typeface="Arial" panose="020B0604020202020204" pitchFamily="34" charset="0"/>
              <a:buChar char="•"/>
            </a:pPr>
            <a:r>
              <a:rPr lang="pt-BR" sz="2400" dirty="0"/>
              <a:t>Calcular e interpretar as medidas de posição (média, mediana e moda).</a:t>
            </a:r>
          </a:p>
          <a:p>
            <a:r>
              <a:rPr lang="pt-BR" sz="2400" b="1" dirty="0"/>
              <a:t xml:space="preserve">Referências: 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000" dirty="0"/>
              <a:t xml:space="preserve">Bussab, Morettin. </a:t>
            </a:r>
            <a:r>
              <a:rPr lang="pt-BR" sz="2000" b="1" dirty="0"/>
              <a:t>Estatística Básica</a:t>
            </a:r>
            <a:r>
              <a:rPr lang="pt-BR" sz="2000" dirty="0"/>
              <a:t>, 9ed — Cap. 2 (2.1 a 2.4) e Cap. 3 (3.1)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000" dirty="0"/>
              <a:t xml:space="preserve">Montgomery, Runger. </a:t>
            </a:r>
            <a:r>
              <a:rPr lang="pt-BR" sz="2000" b="1" dirty="0"/>
              <a:t>Applied Statistics and Probability for Engineers</a:t>
            </a:r>
            <a:r>
              <a:rPr lang="pt-BR" sz="2000" dirty="0"/>
              <a:t>, 7th ed — Cap. 6 (6.1 a 6.3)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000" dirty="0"/>
              <a:t xml:space="preserve">Magalhães, Lima. </a:t>
            </a:r>
            <a:r>
              <a:rPr lang="pt-BR" sz="2000" b="1" dirty="0"/>
              <a:t>Noções de Probabilidade e Estatística</a:t>
            </a:r>
            <a:r>
              <a:rPr lang="pt-BR" sz="2000" dirty="0"/>
              <a:t>, 5ed — Cap. 1 (1.2)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07389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93523"/>
            <a:ext cx="11180365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 xml:space="preserve">Vamos introduzir o conceito de </a:t>
            </a:r>
            <a:r>
              <a:rPr lang="pt-BR" sz="2800" b="1" dirty="0"/>
              <a:t>variável</a:t>
            </a:r>
            <a:r>
              <a:rPr lang="pt-BR" sz="2800" dirty="0"/>
              <a:t xml:space="preserve"> com um exemplo:</a:t>
            </a:r>
          </a:p>
          <a:p>
            <a:endParaRPr lang="pt-BR" sz="2800" b="1" dirty="0"/>
          </a:p>
          <a:p>
            <a:endParaRPr lang="pt-BR" sz="2800" b="1" dirty="0"/>
          </a:p>
          <a:p>
            <a:r>
              <a:rPr lang="pt-BR" sz="2800" b="1" dirty="0"/>
              <a:t xml:space="preserve">Exemplo: </a:t>
            </a:r>
            <a:r>
              <a:rPr lang="pt-BR" sz="2800" dirty="0"/>
              <a:t>Um pesquisador está interessado em fazer um levantamento sobre alguns aspectos socioeconômicos dos empregados da seção de orçamentos da Companhia MB. Usando informações obtidas do departamento de pessoal, ele elaborou a Tabela 2.1. Essa tabela é</a:t>
            </a:r>
          </a:p>
          <a:p>
            <a:r>
              <a:rPr lang="pt-BR" sz="2800" dirty="0"/>
              <a:t>chamada planilha de dados.</a:t>
            </a:r>
          </a:p>
          <a:p>
            <a:endParaRPr lang="pt-BR" sz="2800" dirty="0"/>
          </a:p>
          <a:p>
            <a:pPr algn="ctr"/>
            <a:r>
              <a:rPr lang="pt-BR" sz="2800" dirty="0">
                <a:solidFill>
                  <a:srgbClr val="FF0000"/>
                </a:solidFill>
              </a:rPr>
              <a:t>ver tabela 2.1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7188419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93523"/>
            <a:ext cx="1118036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Variáveis da tabela:</a:t>
            </a:r>
          </a:p>
          <a:p>
            <a:endParaRPr lang="pt-BR" sz="2800" b="1" dirty="0"/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5C7CDED8-1FCC-C2A8-5327-7EE87B092F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2282" y="2325073"/>
            <a:ext cx="4747436" cy="3308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734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93524"/>
            <a:ext cx="11180365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Variáveis qualitativas</a:t>
            </a:r>
          </a:p>
          <a:p>
            <a:endParaRPr lang="pt-BR" sz="2800" b="1" dirty="0"/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800" b="1" dirty="0"/>
              <a:t>Nominal</a:t>
            </a:r>
          </a:p>
          <a:p>
            <a:pPr marL="914354" lvl="1" indent="-457178">
              <a:buFont typeface="Arial" panose="020B0604020202020204" pitchFamily="34" charset="0"/>
              <a:buChar char="•"/>
            </a:pPr>
            <a:r>
              <a:rPr lang="pt-BR" sz="2800" dirty="0"/>
              <a:t>Ex.: cor dos olhos, comida preferida, etc.</a:t>
            </a:r>
          </a:p>
          <a:p>
            <a:pPr lvl="1"/>
            <a:r>
              <a:rPr lang="pt-BR" sz="2800" dirty="0"/>
              <a:t xml:space="preserve"> 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800" b="1" dirty="0"/>
              <a:t>Ordinal</a:t>
            </a:r>
          </a:p>
          <a:p>
            <a:pPr marL="914354" lvl="1" indent="-457178">
              <a:buFont typeface="Arial" panose="020B0604020202020204" pitchFamily="34" charset="0"/>
              <a:buChar char="•"/>
            </a:pPr>
            <a:r>
              <a:rPr lang="pt-BR" sz="2800" dirty="0"/>
              <a:t>Grau de escolaridade, patentes do exército, etc.</a:t>
            </a:r>
          </a:p>
          <a:p>
            <a:pPr marL="914354" lvl="1" indent="-457178">
              <a:buFont typeface="Arial" panose="020B0604020202020204" pitchFamily="34" charset="0"/>
              <a:buChar char="•"/>
            </a:pPr>
            <a:endParaRPr lang="pt-BR" sz="2800" dirty="0"/>
          </a:p>
          <a:p>
            <a:r>
              <a:rPr lang="pt-BR" sz="2800" dirty="0"/>
              <a:t>Algumas variáveis nominais são dicotômicas, ou seja, só podem ocorrer duas realizações (sucesso e fracasso).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29256740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50240" y="1493522"/>
                <a:ext cx="11180365" cy="39703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Variáveis quantitativas</a:t>
                </a:r>
              </a:p>
              <a:p>
                <a:endParaRPr lang="pt-BR" sz="2800" b="1" dirty="0"/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r>
                  <a:rPr lang="pt-BR" sz="2800" b="1" dirty="0"/>
                  <a:t>Discreta</a:t>
                </a:r>
              </a:p>
              <a:p>
                <a:pPr marL="914354" lvl="1" indent="-457178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Quando as ocorrências possíveis pertencem a um conjunto finito ou enumerável.</a:t>
                </a:r>
              </a:p>
              <a:p>
                <a:pPr lvl="1"/>
                <a:r>
                  <a:rPr lang="pt-BR" sz="2800" dirty="0"/>
                  <a:t xml:space="preserve"> </a:t>
                </a:r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r>
                  <a:rPr lang="pt-BR" sz="2800" b="1" dirty="0"/>
                  <a:t>Contínua</a:t>
                </a:r>
              </a:p>
              <a:p>
                <a:pPr marL="914354" lvl="1" indent="-457178">
                  <a:buFont typeface="Arial" panose="020B0604020202020204" pitchFamily="34" charset="0"/>
                  <a:buChar char="•"/>
                </a:pPr>
                <a:r>
                  <a:rPr lang="pt-BR" sz="2800" dirty="0"/>
                  <a:t xml:space="preserve">Quando as ocorrências pertencem a um intervalo em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 marL="914354" lvl="1" indent="-457178">
                  <a:buFont typeface="Arial" panose="020B0604020202020204" pitchFamily="34" charset="0"/>
                  <a:buChar char="•"/>
                </a:pPr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240" y="1493522"/>
                <a:ext cx="11180365" cy="3970318"/>
              </a:xfrm>
              <a:prstGeom prst="rect">
                <a:avLst/>
              </a:prstGeom>
              <a:blipFill>
                <a:blip r:embed="rId3"/>
                <a:stretch>
                  <a:fillRect l="-1145" t="-138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5352713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5597174-0556-70F7-5363-B49C4DEAED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9962" y="1574800"/>
            <a:ext cx="7360920" cy="4185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821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93522"/>
            <a:ext cx="11180365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Distribuições de frequências</a:t>
            </a:r>
          </a:p>
          <a:p>
            <a:endParaRPr lang="pt-BR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 xml:space="preserve">Ao estudarmos uma variável, é importante saber a frequência que suas realizações acontecem.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Estudar a distribuição de frequências das realizações nos dará uma ideia do comportamento da variável.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9693915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93522"/>
            <a:ext cx="1118036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Distribuições de frequências</a:t>
            </a:r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F6B465F3-A2EC-79F8-FF0F-7D4AE95960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457" y="2697843"/>
            <a:ext cx="10083183" cy="304565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1D370DC1-27D7-1A6E-94AF-4984008ACAC3}"/>
                  </a:ext>
                </a:extLst>
              </p:cNvPr>
              <p:cNvSpPr txBox="1"/>
              <p:nvPr/>
            </p:nvSpPr>
            <p:spPr>
              <a:xfrm>
                <a:off x="8077200" y="1727562"/>
                <a:ext cx="3955986" cy="32522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Número de realizações ou frequência</a:t>
                </a:r>
                <a14:m>
                  <m:oMath xmlns:m="http://schemas.openxmlformats.org/officeDocument/2006/math">
                    <m:r>
                      <a:rPr lang="pt-BR" sz="2800" b="0" i="0" dirty="0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pt-BR" sz="2800" b="1" i="1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pt-BR" sz="28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1" i="1" dirty="0" smtClean="0"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b>
                        <m:r>
                          <a:rPr lang="pt-BR" sz="2800" b="1" i="1" dirty="0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 xml:space="preserve">Proporção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1" i="1" dirty="0" smtClean="0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sz="2800" b="1" i="1" dirty="0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  <m:r>
                      <a:rPr lang="pt-BR" sz="2800" b="1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800" b="1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sz="2800" b="1" i="1" dirty="0" err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1" i="1" dirty="0" err="1" smtClean="0">
                                <a:latin typeface="Cambria Math" panose="02040503050406030204" pitchFamily="18" charset="0"/>
                              </a:rPr>
                              <m:t>𝒏</m:t>
                            </m:r>
                          </m:e>
                          <m:sub>
                            <m:r>
                              <a:rPr lang="pt-BR" sz="2800" b="1" i="1" dirty="0" err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num>
                      <m:den>
                        <m:r>
                          <a:rPr lang="pt-BR" sz="2800" b="1" i="1" dirty="0" smtClean="0">
                            <a:latin typeface="Cambria Math" panose="02040503050406030204" pitchFamily="18" charset="0"/>
                          </a:rPr>
                          <m:t>𝒕𝒐𝒕𝒂𝒍</m:t>
                        </m:r>
                      </m:den>
                    </m:f>
                    <m:r>
                      <a:rPr lang="pt-BR" sz="2800" b="1" i="1" dirty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pt-BR" sz="2800" dirty="0"/>
              </a:p>
              <a:p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 xml:space="preserve">Porcentagem 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1" i="1" dirty="0" smtClean="0">
                          <a:latin typeface="Cambria Math" panose="02040503050406030204" pitchFamily="18" charset="0"/>
                        </a:rPr>
                        <m:t>𝟏𝟎𝟎</m:t>
                      </m:r>
                      <m:r>
                        <a:rPr lang="pt-BR" sz="2800" b="1" i="1" dirty="0" smtClean="0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pt-BR" sz="2800" b="1" i="1" dirty="0" err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b="1" i="1" dirty="0" err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sz="2800" b="1" i="1" dirty="0" err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pt-BR" sz="2800" b="1" i="1" dirty="0" smtClean="0">
                          <a:latin typeface="Cambria Math" panose="02040503050406030204" pitchFamily="18" charset="0"/>
                        </a:rPr>
                        <m:t>: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1D370DC1-27D7-1A6E-94AF-4984008ACA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7200" y="1727562"/>
                <a:ext cx="3955986" cy="3252237"/>
              </a:xfrm>
              <a:prstGeom prst="rect">
                <a:avLst/>
              </a:prstGeom>
              <a:blipFill>
                <a:blip r:embed="rId4"/>
                <a:stretch>
                  <a:fillRect l="-2773" t="-1685" r="-446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3691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93522"/>
            <a:ext cx="1118036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Distribuições de frequências</a:t>
            </a:r>
          </a:p>
          <a:p>
            <a:r>
              <a:rPr lang="pt-BR" sz="2800" dirty="0"/>
              <a:t>Uma vantagem em utilizar a proporção para representar distribuições de frequência é comparar dados de tamanhos diferentes.</a:t>
            </a:r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1E926860-975F-4CF9-BF81-E43DF22041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192" y="3068322"/>
            <a:ext cx="5390319" cy="3119118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39CC1E7B-5FA1-409F-AD45-EAAF6C5E02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925327"/>
            <a:ext cx="5734605" cy="3569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01260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93522"/>
            <a:ext cx="1118036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Distribuições de frequências</a:t>
            </a:r>
          </a:p>
          <a:p>
            <a:r>
              <a:rPr lang="pt-BR" sz="2800" dirty="0"/>
              <a:t>Exemplo com variáveis contínuas.</a:t>
            </a:r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C4A99848-BF07-4BEB-911B-CBBD2AC2C5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6218" y="2600391"/>
            <a:ext cx="4819564" cy="3536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8318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574800"/>
            <a:ext cx="1118036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Gráficos</a:t>
            </a:r>
          </a:p>
          <a:p>
            <a:endParaRPr lang="pt-BR" sz="2800" b="1" dirty="0"/>
          </a:p>
          <a:p>
            <a:r>
              <a:rPr lang="pt-BR" sz="2800" dirty="0"/>
              <a:t xml:space="preserve">Usamos representações gráficas para melhorar a visualização da  distribuição (ou comportamento) de uma variável. </a:t>
            </a:r>
          </a:p>
          <a:p>
            <a:endParaRPr lang="pt-BR" sz="2800" dirty="0"/>
          </a:p>
          <a:p>
            <a:r>
              <a:rPr lang="pt-BR" sz="2800" dirty="0"/>
              <a:t>A vantagem desse tipo de representação é a possibilidade de uma interpretação mais rápida dos dados.</a:t>
            </a:r>
          </a:p>
          <a:p>
            <a:endParaRPr lang="pt-BR" sz="2800" dirty="0"/>
          </a:p>
          <a:p>
            <a:r>
              <a:rPr lang="pt-BR" sz="2800" dirty="0"/>
              <a:t>A seguir veremos alguns exemplos de gráficos.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4532144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93523"/>
            <a:ext cx="11180365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Tipos de gráficos</a:t>
            </a:r>
          </a:p>
          <a:p>
            <a:endParaRPr lang="pt-BR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Barras.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dirty="0"/>
          </a:p>
          <a:p>
            <a:endParaRPr lang="pt-BR" sz="2800" b="1" dirty="0"/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6737E2D1-A8E0-44E2-9E7B-6D9057BDF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004" y="2431285"/>
            <a:ext cx="5463992" cy="3831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28250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93523"/>
            <a:ext cx="1118036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Tipos de gráficos</a:t>
            </a:r>
          </a:p>
          <a:p>
            <a:endParaRPr lang="pt-BR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Setores (ou pizza).</a:t>
            </a:r>
          </a:p>
          <a:p>
            <a:endParaRPr lang="pt-BR" sz="2800" b="1" dirty="0"/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599EAC4B-5CAE-4E6A-AF76-F25CDC198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0868" y="2120335"/>
            <a:ext cx="5386511" cy="4048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9592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93523"/>
            <a:ext cx="1118036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Tipos de gráficos</a:t>
            </a:r>
          </a:p>
          <a:p>
            <a:endParaRPr lang="pt-BR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Dispersão unidimensional</a:t>
            </a:r>
          </a:p>
          <a:p>
            <a:endParaRPr lang="pt-BR" sz="2800" b="1" dirty="0"/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09B46D0D-BFD1-4AD9-9333-40E26DD15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585" y="2909216"/>
            <a:ext cx="6906830" cy="3579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29984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50240" y="1493523"/>
                <a:ext cx="11180365" cy="46512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Tipos de gráficos</a:t>
                </a:r>
              </a:p>
              <a:p>
                <a:endParaRPr lang="pt-BR" sz="2800" b="1" dirty="0"/>
              </a:p>
              <a:p>
                <a:r>
                  <a:rPr lang="pt-BR" sz="2800" b="1" dirty="0"/>
                  <a:t>Histograma</a:t>
                </a:r>
              </a:p>
              <a:p>
                <a:r>
                  <a:rPr lang="pt-BR" sz="2800" dirty="0"/>
                  <a:t>O histograma é um gráfico de barras tal que:</a:t>
                </a:r>
              </a:p>
              <a:p>
                <a:endParaRPr lang="pt-BR" sz="2800" dirty="0"/>
              </a:p>
              <a:p>
                <a:pPr marL="1371577" lvl="2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as bases são proporcionais aos intervalos das classes</a:t>
                </a:r>
              </a:p>
              <a:p>
                <a:pPr marL="1371577" lvl="2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a área de cada retângulo é proporcional à respectiva frequência.</a:t>
                </a:r>
              </a:p>
              <a:p>
                <a:pPr marL="1371577" lvl="2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 xml:space="preserve">Se a base do intervalo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sz="2800" dirty="0"/>
                  <a:t xml:space="preserve"> é denotada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sz="28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sz="2800" dirty="0"/>
                  <a:t xml:space="preserve">, então a altura do retângulo correspondente é proporcional a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pt-BR" sz="2800" b="0" i="0" smtClean="0">
                                <a:latin typeface="Cambria Math" panose="02040503050406030204" pitchFamily="18" charset="0"/>
                              </a:rPr>
                              <m:t>Δ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sz="2800" dirty="0"/>
              </a:p>
              <a:p>
                <a:pPr marL="1371577" lvl="2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A soma das áreas dos retângulos será igual a 1.</a:t>
                </a:r>
              </a:p>
            </p:txBody>
          </p:sp>
        </mc:Choice>
        <mc:Fallback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240" y="1493523"/>
                <a:ext cx="11180365" cy="4651273"/>
              </a:xfrm>
              <a:prstGeom prst="rect">
                <a:avLst/>
              </a:prstGeom>
              <a:blipFill>
                <a:blip r:embed="rId3"/>
                <a:stretch>
                  <a:fillRect l="-1145" t="-1180" b="-275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8555240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93523"/>
            <a:ext cx="1118036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Histograma</a:t>
            </a:r>
          </a:p>
          <a:p>
            <a:endParaRPr lang="pt-BR" sz="2800" b="1" dirty="0"/>
          </a:p>
          <a:p>
            <a:pPr marL="1828766" lvl="3" indent="-457200">
              <a:buFont typeface="Arial" panose="020B0604020202020204" pitchFamily="34" charset="0"/>
              <a:buChar char="•"/>
            </a:pPr>
            <a:endParaRPr lang="pt-BR" sz="2800" dirty="0"/>
          </a:p>
          <a:p>
            <a:pPr marL="1828766" lvl="3" indent="-457200">
              <a:buFont typeface="Arial" panose="020B0604020202020204" pitchFamily="34" charset="0"/>
              <a:buChar char="•"/>
            </a:pPr>
            <a:endParaRPr lang="pt-BR" sz="28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BD41B8D-381E-4924-8CE7-804EC7C452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6731" y="2102514"/>
            <a:ext cx="6626966" cy="4104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8745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93523"/>
            <a:ext cx="1118036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Histograma (variáveis discretas)</a:t>
            </a:r>
          </a:p>
          <a:p>
            <a:endParaRPr lang="pt-BR" sz="2800" b="1" dirty="0"/>
          </a:p>
          <a:p>
            <a:pPr marL="1828766" lvl="3" indent="-457200">
              <a:buFont typeface="Arial" panose="020B0604020202020204" pitchFamily="34" charset="0"/>
              <a:buChar char="•"/>
            </a:pPr>
            <a:endParaRPr lang="pt-BR" sz="2800" dirty="0"/>
          </a:p>
          <a:p>
            <a:pPr marL="1828766" lvl="3" indent="-457200">
              <a:buFont typeface="Arial" panose="020B0604020202020204" pitchFamily="34" charset="0"/>
              <a:buChar char="•"/>
            </a:pPr>
            <a:endParaRPr lang="pt-BR" sz="28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90DB40C6-3975-4853-93F9-8A5086FB10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3193" y="2135051"/>
            <a:ext cx="8051844" cy="3866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6347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93523"/>
            <a:ext cx="11180365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Tipos de gráficos</a:t>
            </a:r>
          </a:p>
          <a:p>
            <a:endParaRPr lang="pt-BR" sz="2800" b="1" dirty="0"/>
          </a:p>
          <a:p>
            <a:r>
              <a:rPr lang="pt-BR" sz="2800" b="1" dirty="0"/>
              <a:t>Ramo-e-folhas</a:t>
            </a:r>
          </a:p>
          <a:p>
            <a:endParaRPr lang="pt-BR" sz="2800" b="1" dirty="0"/>
          </a:p>
          <a:p>
            <a:r>
              <a:rPr lang="pt-BR" sz="2800" dirty="0"/>
              <a:t>Um gráfico do tipo ramo-e-folhas é uma tabela  com uma linha vertical separando a primeira coluna das demais. Cada ocorrência da variável é dividida em duas informações:</a:t>
            </a:r>
          </a:p>
          <a:p>
            <a:endParaRPr lang="pt-BR" sz="2800" dirty="0"/>
          </a:p>
          <a:p>
            <a:pPr marL="914389" lvl="1" indent="-457200">
              <a:buFont typeface="Arial" panose="020B0604020202020204" pitchFamily="34" charset="0"/>
              <a:buChar char="•"/>
            </a:pPr>
            <a:r>
              <a:rPr lang="pt-BR" sz="2800" dirty="0"/>
              <a:t>O ramo (primeira coluna).</a:t>
            </a:r>
          </a:p>
          <a:p>
            <a:pPr marL="914389" lvl="1" indent="-457200">
              <a:buFont typeface="Arial" panose="020B0604020202020204" pitchFamily="34" charset="0"/>
              <a:buChar char="•"/>
            </a:pPr>
            <a:r>
              <a:rPr lang="pt-BR" sz="2800" dirty="0"/>
              <a:t>As folhas (linhas). É o complemento da informação colocada a direita  do ramo.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23133819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93523"/>
            <a:ext cx="1118036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Ramo-e-folhas</a:t>
            </a:r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315CEFA-DA3D-4F0A-9F38-3E0B3259DD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6174" y="1574800"/>
            <a:ext cx="3238071" cy="4682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83818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93523"/>
            <a:ext cx="1118036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Ramo-e-folhas</a:t>
            </a:r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28608B7F-0855-4222-9B3C-4D658F07B2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578" y="2077584"/>
            <a:ext cx="9392961" cy="1981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1044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93523"/>
            <a:ext cx="1118036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Ramo-e-folhas</a:t>
            </a:r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7EA63D76-73E3-490D-B759-366B8EC1F6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5736" y="2142723"/>
            <a:ext cx="6280527" cy="3086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7776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80205" y="1537601"/>
            <a:ext cx="1118036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Como apresentar os dados de uma variável contínua?</a:t>
            </a:r>
            <a:endParaRPr lang="pt-BR" sz="2800" b="1" u="sng" dirty="0"/>
          </a:p>
          <a:p>
            <a:endParaRPr lang="pt-BR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Barras</a:t>
            </a:r>
          </a:p>
          <a:p>
            <a:endParaRPr lang="pt-BR" sz="2800" b="1" dirty="0"/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A67A8260-B893-42B9-BAB5-13C4A3AE3E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176" y="2801992"/>
            <a:ext cx="3911739" cy="3201223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A8299D9E-0C7B-44F2-A0C8-3B277030CF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871" y="3000325"/>
            <a:ext cx="4457752" cy="2890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617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93523"/>
            <a:ext cx="1118036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Outros gráficos:</a:t>
            </a:r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69C5906F-9702-04AB-28B0-9D712FB7B5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240" y="2107046"/>
            <a:ext cx="4788669" cy="4083416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BBFE71FF-439F-C168-9EC8-19AC32DF2D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910" y="1574800"/>
            <a:ext cx="5164657" cy="2402166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47679E74-2F58-EEA6-1E5D-DCD7BC60E5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6910" y="4349061"/>
            <a:ext cx="4677847" cy="2139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967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93523"/>
            <a:ext cx="1118036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Outros gráficos:</a:t>
            </a:r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FD72E0C1-F953-3345-764D-6829C376A3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240" y="2194672"/>
            <a:ext cx="4622800" cy="3908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1346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93523"/>
            <a:ext cx="11180365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Leitura complementar</a:t>
            </a:r>
          </a:p>
          <a:p>
            <a:endParaRPr lang="pt-BR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Exemplos computacionais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Complementos metodológicos</a:t>
            </a:r>
          </a:p>
          <a:p>
            <a:pPr marL="914389" lvl="1" indent="-457200">
              <a:buFont typeface="Arial" panose="020B0604020202020204" pitchFamily="34" charset="0"/>
              <a:buChar char="•"/>
            </a:pPr>
            <a:r>
              <a:rPr lang="pt-BR" sz="2800" dirty="0"/>
              <a:t>Frequências acumuladas.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dirty="0">
              <a:solidFill>
                <a:srgbClr val="0070C0"/>
              </a:solidFill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8813337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2"/>
            <a:ext cx="10827959" cy="1641228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5"/>
            <a:ext cx="970464" cy="2027284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1032611" y="2041869"/>
            <a:ext cx="10827959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Leitura recomendada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2.3 Gráficos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2.4 Ramo-e-folhas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2.5 Exemplos computacionais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Exercícios 15, 16 e 17 sobre frequências acumuladas.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dirty="0"/>
          </a:p>
          <a:p>
            <a:r>
              <a:rPr lang="pt-BR" sz="2800" dirty="0"/>
              <a:t>Exercícios recomendados: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800" dirty="0"/>
              <a:t xml:space="preserve">Exercícios 1 ao 8 do capítulo 2. 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800" dirty="0"/>
              <a:t>Exercícios de 9 ao 20 capítulo 2.</a:t>
            </a:r>
          </a:p>
          <a:p>
            <a:endParaRPr lang="pt-BR" sz="2800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49F6C3D-C6CD-46EB-B00C-3C31995D5B04}"/>
              </a:ext>
            </a:extLst>
          </p:cNvPr>
          <p:cNvSpPr txBox="1"/>
          <p:nvPr/>
        </p:nvSpPr>
        <p:spPr>
          <a:xfrm>
            <a:off x="361395" y="6488668"/>
            <a:ext cx="2348848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>
                <a:solidFill>
                  <a:schemeClr val="bg1"/>
                </a:solidFill>
              </a:rPr>
              <a:t>Professor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8134230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93523"/>
            <a:ext cx="11180365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Medidas de posição</a:t>
            </a:r>
          </a:p>
          <a:p>
            <a:r>
              <a:rPr lang="pt-BR" sz="2800" dirty="0"/>
              <a:t>É um número que representa um conjunto de dados.</a:t>
            </a:r>
            <a:endParaRPr lang="pt-BR" sz="2800" b="1" dirty="0"/>
          </a:p>
          <a:p>
            <a:endParaRPr lang="pt-BR" sz="2800" b="1" dirty="0"/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800" b="1" dirty="0"/>
              <a:t xml:space="preserve">Moda: </a:t>
            </a:r>
            <a:r>
              <a:rPr lang="pt-BR" sz="2800" dirty="0"/>
              <a:t>é a realização mais frequente do conjunto de valores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endParaRPr lang="pt-BR" sz="2800" b="1" dirty="0"/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800" b="1" dirty="0"/>
              <a:t xml:space="preserve">Mediana: </a:t>
            </a:r>
            <a:r>
              <a:rPr lang="pt-BR" sz="2800" dirty="0"/>
              <a:t xml:space="preserve">é a realização que ocupa a posição central da série (ordenada) de observações. 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endParaRPr lang="pt-BR" sz="2800" dirty="0"/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800" b="1" dirty="0"/>
              <a:t xml:space="preserve">Média (média aritmética): </a:t>
            </a:r>
            <a:r>
              <a:rPr lang="pt-BR" sz="2800" dirty="0"/>
              <a:t>é a soma das observações dividido pelo número delas.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7188419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50240" y="1493523"/>
                <a:ext cx="11180365" cy="39703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Medidas de posição</a:t>
                </a:r>
              </a:p>
              <a:p>
                <a:r>
                  <a:rPr lang="pt-BR" sz="2800" b="1" dirty="0"/>
                  <a:t xml:space="preserve">Exemplo: </a:t>
                </a:r>
                <a:r>
                  <a:rPr lang="pt-BR" sz="2800" dirty="0"/>
                  <a:t xml:space="preserve">Considere o conjunto de dados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{4,0,5,1,7,2,3,3,5,1}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endParaRPr lang="pt-BR" sz="2800" b="1" dirty="0"/>
              </a:p>
              <a:p>
                <a:endParaRPr lang="pt-BR" sz="2800" b="1" dirty="0"/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r>
                  <a:rPr lang="pt-BR" sz="2800" b="1" dirty="0"/>
                  <a:t>Moda:</a:t>
                </a:r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endParaRPr lang="pt-BR" sz="2800" b="1" dirty="0"/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r>
                  <a:rPr lang="pt-BR" sz="2800" b="1" dirty="0"/>
                  <a:t>Mediana:</a:t>
                </a:r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r>
                  <a:rPr lang="pt-BR" sz="2800" b="1" dirty="0"/>
                  <a:t>Média:</a:t>
                </a:r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240" y="1493523"/>
                <a:ext cx="11180365" cy="3970318"/>
              </a:xfrm>
              <a:prstGeom prst="rect">
                <a:avLst/>
              </a:prstGeom>
              <a:blipFill>
                <a:blip r:embed="rId3"/>
                <a:stretch>
                  <a:fillRect l="-1145" t="-1382" b="-35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5300118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50240" y="1458354"/>
                <a:ext cx="11180365" cy="4673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Medidas de posição (fórmulas)</a:t>
                </a:r>
              </a:p>
              <a:p>
                <a:r>
                  <a:rPr lang="pt-BR" sz="2800" dirty="0"/>
                  <a:t xml:space="preserve">Sejam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, ⋯, </m:t>
                        </m:r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sz="2800" dirty="0"/>
                  <a:t xml:space="preserve"> um conjunto de dados (distintos ou não).</a:t>
                </a:r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endParaRPr lang="pt-BR" sz="2800" b="1" dirty="0"/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r>
                  <a:rPr lang="pt-BR" sz="2800" b="1" dirty="0"/>
                  <a:t xml:space="preserve">Média: </a:t>
                </a:r>
                <a:endParaRPr lang="pt-BR" sz="28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pt-BR" sz="28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r>
                        <a:rPr lang="pt-BR" sz="2800" b="1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 ⋯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num>
                        <m:den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</m:oMath>
                  </m:oMathPara>
                </a14:m>
                <a:endParaRPr lang="pt-BR" sz="2800" b="0" dirty="0"/>
              </a:p>
              <a:p>
                <a:endParaRPr lang="pt-BR" sz="28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1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 ⋯</m:t>
                          </m:r>
                          <m:sSub>
                            <m:sSub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num>
                        <m:den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 (</m:t>
                      </m:r>
                      <m:sSub>
                        <m:sSub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º 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𝑑𝑒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𝑟𝑒𝑝𝑒𝑡𝑖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çõ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𝑒𝑠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800" b="0" i="1" dirty="0">
                  <a:latin typeface="Cambria Math" panose="02040503050406030204" pitchFamily="18" charset="0"/>
                </a:endParaRPr>
              </a:p>
              <a:p>
                <a:endParaRPr lang="pt-BR" sz="28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1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2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2800" i="1">
                          <a:latin typeface="Cambria Math" panose="02040503050406030204" pitchFamily="18" charset="0"/>
                        </a:rPr>
                        <m:t>+ ⋯</m:t>
                      </m:r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2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𝑓𝑟𝑒𝑞𝑢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ê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𝑛𝑐𝑖𝑎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240" y="1458354"/>
                <a:ext cx="11180365" cy="4673844"/>
              </a:xfrm>
              <a:prstGeom prst="rect">
                <a:avLst/>
              </a:prstGeom>
              <a:blipFill>
                <a:blip r:embed="rId3"/>
                <a:stretch>
                  <a:fillRect l="-1145" t="-117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78300092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50240" y="1458354"/>
                <a:ext cx="11180365" cy="46242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178" indent="-457178">
                  <a:buFont typeface="Arial" panose="020B0604020202020204" pitchFamily="34" charset="0"/>
                  <a:buChar char="•"/>
                </a:pPr>
                <a:r>
                  <a:rPr lang="pt-BR" sz="2800" b="1" dirty="0"/>
                  <a:t xml:space="preserve">Mediana: </a:t>
                </a:r>
              </a:p>
              <a:p>
                <a:r>
                  <a:rPr lang="pt-BR" sz="2800" dirty="0"/>
                  <a:t xml:space="preserve">Considere o conjunto de dados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2800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pt-BR" sz="2800" b="0" i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, ⋯, </m:t>
                        </m:r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sz="2800" dirty="0"/>
                  <a:t xml:space="preserve"> e ordene os dados de forma crescente: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(1)</m:t>
                          </m:r>
                        </m:sub>
                      </m:sSub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d>
                            <m:d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b>
                      </m:sSub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d>
                            <m:d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d>
                        </m:sub>
                      </m:sSub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≤…≤</m:t>
                      </m:r>
                      <m:sSub>
                        <m:sSubPr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</m:oMath>
                  </m:oMathPara>
                </a14:m>
                <a:endParaRPr lang="pt-BR" sz="2800" b="0" dirty="0"/>
              </a:p>
              <a:p>
                <a:endParaRPr lang="pt-BR" sz="2800" b="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 xml:space="preserve">Se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800" dirty="0"/>
                  <a:t xml:space="preserve"> é par,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𝑚𝑑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pt-BR" sz="2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d>
                              <m:dPr>
                                <m:ctrlPr>
                                  <a:rPr lang="pt-BR" sz="2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pt-BR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2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num>
                                  <m:den>
                                    <m:r>
                                      <a:rPr lang="pt-BR" sz="28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sub>
                        </m:sSub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pt-BR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d>
                              <m:dPr>
                                <m:ctrlPr>
                                  <a:rPr lang="pt-BR" sz="2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pt-BR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2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num>
                                  <m:den>
                                    <m:r>
                                      <a:rPr lang="pt-BR" sz="28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r>
                                  <a:rPr lang="pt-BR" sz="2800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</m:sub>
                        </m:sSub>
                      </m:num>
                      <m:den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pt-BR" sz="2800" i="1" dirty="0">
                  <a:latin typeface="Cambria Math" panose="02040503050406030204" pitchFamily="18" charset="0"/>
                </a:endParaRP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>
                  <a:latin typeface="Cambria Math" panose="02040503050406030204" pitchFamily="18" charset="0"/>
                </a:endParaRP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b="0" dirty="0">
                  <a:latin typeface="Cambria Math" panose="02040503050406030204" pitchFamily="18" charset="0"/>
                </a:endParaRP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 xml:space="preserve">Se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800" dirty="0"/>
                  <a:t xml:space="preserve"> é ímpar,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𝑚𝑑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pt-BR" sz="28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d>
                          <m:dPr>
                            <m:ctrlPr>
                              <a:rPr lang="pt-BR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pt-BR" sz="28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sz="28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num>
                              <m:den>
                                <m:r>
                                  <a:rPr lang="pt-BR" sz="28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sub>
                    </m:sSub>
                  </m:oMath>
                </a14:m>
                <a:endParaRPr lang="pt-BR" sz="280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240" y="1458354"/>
                <a:ext cx="11180365" cy="4624279"/>
              </a:xfrm>
              <a:prstGeom prst="rect">
                <a:avLst/>
              </a:prstGeom>
              <a:blipFill>
                <a:blip r:embed="rId3"/>
                <a:stretch>
                  <a:fillRect l="-1145" t="-118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4656569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2"/>
            <a:ext cx="10827959" cy="1641228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5"/>
            <a:ext cx="970464" cy="2027284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1032611" y="1941869"/>
            <a:ext cx="10827959" cy="45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/>
              <a:t>Atividades referentes à aula</a:t>
            </a:r>
          </a:p>
          <a:p>
            <a:r>
              <a:rPr lang="pt-BR" sz="2000" dirty="0"/>
              <a:t>Leitura recomendada: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000" dirty="0"/>
              <a:t>Bussab &amp; Morettin — Cap. 2: 2.1 a 2.4 (tabelas, gráficos, ramo-e-folhas) e Cap. 3: 3.1 (medidas de posição)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000" dirty="0"/>
              <a:t>Montgomery &amp; Runger — Cap. 6: 6.1 a 6.3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000" dirty="0"/>
              <a:t>Magalhães &amp; Lima — Cap. 1: 1.2</a:t>
            </a:r>
          </a:p>
          <a:p>
            <a:r>
              <a:rPr lang="pt-BR" sz="2000" dirty="0"/>
              <a:t>Exercícios recomendados: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000" dirty="0"/>
              <a:t>Bussab, Cap. 2: exercícios 1 ao 8 e 9 ao 20 (gráficos); exercícios 15, 16 e 17 (frequências acumuladas)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000" dirty="0"/>
              <a:t>Bussab, Cap. 3: exercícios de 1 a 13 (medidas de posição)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49F6C3D-C6CD-46EB-B00C-3C31995D5B04}"/>
              </a:ext>
            </a:extLst>
          </p:cNvPr>
          <p:cNvSpPr txBox="1"/>
          <p:nvPr/>
        </p:nvSpPr>
        <p:spPr>
          <a:xfrm>
            <a:off x="361395" y="6488668"/>
            <a:ext cx="2348848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>
                <a:solidFill>
                  <a:schemeClr val="bg1"/>
                </a:solidFill>
              </a:rPr>
              <a:t>Professor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81342308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1678</TotalTime>
  <Words>842</Words>
  <Application>Microsoft Office PowerPoint</Application>
  <PresentationFormat>Widescreen</PresentationFormat>
  <Paragraphs>162</Paragraphs>
  <Slides>26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26</vt:i4>
      </vt:variant>
    </vt:vector>
  </HeadingPairs>
  <TitlesOfParts>
    <vt:vector size="32" baseType="lpstr">
      <vt:lpstr>AlternateGothic2 BT</vt:lpstr>
      <vt:lpstr>Arial</vt:lpstr>
      <vt:lpstr>Calibri</vt:lpstr>
      <vt:lpstr>Calibri Light</vt:lpstr>
      <vt:lpstr>Cambria Math</vt:lpstr>
      <vt:lpstr>Tema do Office</vt:lpstr>
      <vt:lpstr>CEA055 – Estatística e Probabilidade Estatística descritiva</vt:lpstr>
      <vt:lpstr>CEA055 – Estatística e Probabilidade Estatística descritiva</vt:lpstr>
      <vt:lpstr>CEA055 – Estatística e Probabilidade Estatística descritiva</vt:lpstr>
      <vt:lpstr>CEA055 – Estatística e Probabilidade Estatística descritiva</vt:lpstr>
      <vt:lpstr>CEA055 – Estatística e Probabilidade Estatística descritiva</vt:lpstr>
      <vt:lpstr>CEA055 – Estatística e Probabilidade Estatística descritiva</vt:lpstr>
      <vt:lpstr>CEA055 – Estatística e Probabilidade Estatística descritiva</vt:lpstr>
      <vt:lpstr>CEA055 – Estatística e Probabilidade Estatística descritiva</vt:lpstr>
      <vt:lpstr>CEA055 – Estatística e Probabilidade Estatística descritiva</vt:lpstr>
      <vt:lpstr>CEA055 – Estatística e Probabilidade Estatística descritiva</vt:lpstr>
      <vt:lpstr>CEA055 – Estatística e Probabilidade Estatística descritiva</vt:lpstr>
      <vt:lpstr>CEA055 – Estatística e Probabilidade Estatística descritiva</vt:lpstr>
      <vt:lpstr>CEA055 – Estatística e Probabilidade Estatística descritiva</vt:lpstr>
      <vt:lpstr>CEA055 – Estatística e Probabilidade Estatística descritiva</vt:lpstr>
      <vt:lpstr>CEA055 – Estatística e Probabilidade Estatística descritiva</vt:lpstr>
      <vt:lpstr>CEA055 – Estatística e Probabilidade Estatística descritiva</vt:lpstr>
      <vt:lpstr>CEA055 – Estatística e Probabilidade Estatística descritiva</vt:lpstr>
      <vt:lpstr>CEA055 – Estatística e Probabilidade Estatística descritiva</vt:lpstr>
      <vt:lpstr>CEA055 – Estatística e Probabilidade Estatística descritiva</vt:lpstr>
      <vt:lpstr>CEA055 – Estatística e Probabilidade Estatística descritiva</vt:lpstr>
      <vt:lpstr>CEA055 – Estatística e Probabilidade Estatística descritiva</vt:lpstr>
      <vt:lpstr>CEA055 – Estatística e Probabilidade Estatística descritiva</vt:lpstr>
      <vt:lpstr>CEA055 – Estatística e Probabilidade Estatística descritiva</vt:lpstr>
      <vt:lpstr>CEA055 – Estatística e Probabilidade Estatística descritiva</vt:lpstr>
      <vt:lpstr>CEA055 – Estatística e Probabilidade Estatística descritiva</vt:lpstr>
      <vt:lpstr>CEA055 – Estatística e Probabilidade Estatística descritiva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Marcos Goulart Lima</dc:creator>
  <cp:lastModifiedBy>Marcos Goulart Lima</cp:lastModifiedBy>
  <cp:revision>62</cp:revision>
  <dcterms:created xsi:type="dcterms:W3CDTF">2020-07-20T19:35:15Z</dcterms:created>
  <dcterms:modified xsi:type="dcterms:W3CDTF">2024-03-25T20:41:20Z</dcterms:modified>
</cp:coreProperties>
</file>