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900" r:id="rId2"/>
    <p:sldId id="987" r:id="rId3"/>
    <p:sldId id="998" r:id="rId4"/>
    <p:sldId id="989" r:id="rId5"/>
    <p:sldId id="999" r:id="rId6"/>
    <p:sldId id="1001" r:id="rId8"/>
    <p:sldId id="1003" r:id="rId9"/>
    <p:sldId id="992" r:id="rId10"/>
    <p:sldId id="993" r:id="rId12"/>
    <p:sldId id="1005" r:id="rId13"/>
    <p:sldId id="994" r:id="rId14"/>
    <p:sldId id="1006" r:id="rId15"/>
    <p:sldId id="901" r:id="rId17"/>
    <p:sldId id="1008" r:id="rId18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73" d="100"/>
          <a:sy n="73" d="100"/>
        </p:scale>
        <p:origin x="56" y="5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05/10/2026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05/10/2026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05/10/2026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05/10/2026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05/10/2026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05/10/2026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05/10/2026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05/10/2026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05/10/2026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05/10/2026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05/10/2026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05/10/2026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05/10/2026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Discretos III: Distribuição de Poisson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de Poisson e reconhecer situações de aplicação.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Calcular probabilidades usando o modelo de Poisson.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Bussab, Morettin. </a:t>
            </a:r>
            <a:r>
              <a:rPr lang="pt-BR" sz="2400" b="1" dirty="0"/>
              <a:t>Estatística Básica</a:t>
            </a:r>
            <a:r>
              <a:rPr lang="pt-BR" sz="2400" dirty="0"/>
              <a:t>, 9ed — Cap. 6 (6.6.5, 6.7)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Montgomery, Runger. </a:t>
            </a:r>
            <a:r>
              <a:rPr lang="pt-BR" sz="2400" b="1" dirty="0"/>
              <a:t>Applied Statistics and Probability for Engineers</a:t>
            </a:r>
            <a:r>
              <a:rPr lang="pt-BR" sz="2400" dirty="0"/>
              <a:t>, 7th ed — Cap. 3 (3.8)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Magalhães, Lima. </a:t>
            </a:r>
            <a:r>
              <a:rPr lang="pt-BR" sz="2400" b="1" dirty="0"/>
              <a:t>Noções de Probabilidade e Estatística</a:t>
            </a:r>
            <a:r>
              <a:rPr lang="pt-BR" sz="2400" dirty="0"/>
              <a:t>, 5ed — Cap. 3 (3.3)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Morettin. </a:t>
            </a:r>
            <a:r>
              <a:rPr lang="pt-BR" sz="2400" b="1" dirty="0"/>
              <a:t>Estatística Básica: Probabilidade e Inferência</a:t>
            </a:r>
            <a:r>
              <a:rPr lang="pt-BR" sz="2400" dirty="0"/>
              <a:t> — Cap. 4 (4.7)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42350" y="751602"/>
            <a:ext cx="10277702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Uma central de suporte recebe em média 4 chamados por hora. Qual a chance de passar uma hora sem nenhum chamado? E de haver sobrecarga (8 ou mais)?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Observe que não temos a probabilidade de um chamado em uma hora.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Algum dos modelos anteriores responde a pergunta acima?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726798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59766" y="821270"/>
                <a:ext cx="10683297" cy="5051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Distribuição Poisson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 modelo de Poisson é utilizado em experimentos em que λ é o número médio de ocorrências em um intervalo de tempo.</a:t>
                </a:r>
              </a:p>
              <a:p>
                <a:pPr>
                  <a:lnSpc>
                    <a:spcPct val="150000"/>
                  </a:lnSpc>
                </a:pPr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Definição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Dizemos que a v.a.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tem uma distribuição de Poisson, com parâmetro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 &gt; 0,</m:t>
                    </m:r>
                  </m:oMath>
                </a14:m>
                <a:r>
                  <a:rPr lang="pt-BR" sz="2400" dirty="0"/>
                  <a:t> se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pt-BR" sz="2400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para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0, 1, 2, …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66" y="821270"/>
                <a:ext cx="10683297" cy="5051383"/>
              </a:xfrm>
              <a:prstGeom prst="rect">
                <a:avLst/>
              </a:prstGeom>
              <a:blipFill>
                <a:blip r:embed="rId2"/>
                <a:stretch>
                  <a:fillRect l="-913" b="-19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686380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42350" y="560015"/>
                <a:ext cx="10067277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Propriedades</a:t>
                </a:r>
              </a:p>
              <a:p>
                <a:endParaRPr lang="pt-BR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Esperança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b="0" dirty="0"/>
              </a:p>
              <a:p>
                <a:endParaRPr lang="pt-BR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4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Notação: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𝑃𝑜𝑖𝑠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50" y="560015"/>
                <a:ext cx="10067277" cy="4154984"/>
              </a:xfrm>
              <a:prstGeom prst="rect">
                <a:avLst/>
              </a:prstGeom>
              <a:blipFill>
                <a:blip r:embed="rId2"/>
                <a:stretch>
                  <a:fillRect l="-969" t="-1175" b="-24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113843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94304" y="664518"/>
                <a:ext cx="10692005" cy="5363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Resolução:</a:t>
                </a:r>
                <a:r>
                  <a:rPr lang="pt-BR" sz="2400" dirty="0"/>
                  <a:t> Vamos considerar resolver o problema da central de atendimento usando o modelo de Poisson: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pt-BR" sz="2400" dirty="0"/>
                  <a:t>A central recebe em média 4 chamados por hora: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pt-BR" sz="2400" b="0" dirty="0"/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pt-BR" sz="2400" dirty="0"/>
                  <a:t>Pergunta 1: qual a probabilidade de passar uma hora sem nenhum chamado?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pt-BR" sz="2400" dirty="0"/>
                  <a:t>Pergunta 2: qual a probabilidade de haver sobrecarga (8 ou mais)?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Função de probabilidade da Poisson: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sSup>
                          <m:sSupPr>
                            <m:ctrlP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Logo,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≈0,0183;</m:t>
                    </m:r>
                  </m:oMath>
                </a14:m>
                <a:endParaRPr lang="pt-BR" sz="2400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 ≥ 8) ≈ 0,0511.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04" y="664518"/>
                <a:ext cx="10692005" cy="5363584"/>
              </a:xfrm>
              <a:prstGeom prst="rect">
                <a:avLst/>
              </a:prstGeom>
              <a:blipFill>
                <a:blip r:embed="rId2"/>
                <a:stretch>
                  <a:fillRect l="-912" r="-1539" b="-13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616993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94304" y="664518"/>
                <a:ext cx="10692005" cy="335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Um sistema com 800 telas tem 800 bugs reportados. Qual a chance de uma tela ter 3 bugs?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Para usar a distribuição de Poisson precisamos da média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pt-BR" sz="2400" dirty="0"/>
                  <a:t>. Qual é a média nesse caso?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Usando a função de probabilidade. O que devemos calcular?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04" y="664518"/>
                <a:ext cx="10692005" cy="3359061"/>
              </a:xfrm>
              <a:prstGeom prst="rect">
                <a:avLst/>
              </a:prstGeom>
              <a:blipFill>
                <a:blip r:embed="rId2"/>
                <a:stretch>
                  <a:fillRect l="-855" b="-32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27214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94304" y="664518"/>
                <a:ext cx="10692005" cy="4489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Um sistema com 800 telas tem 800 bugs reportados. Qual a chance de uma tela ter 3 bugs?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Em média o sistema tem um bug por tela, ou seja,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800</m:t>
                        </m:r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800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pt-BR" sz="2400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 =</m:t>
                        </m:r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sSup>
                          <m:sSupPr>
                            <m:ctrlP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=0,0613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04" y="664518"/>
                <a:ext cx="10692005" cy="4489819"/>
              </a:xfrm>
              <a:prstGeom prst="rect">
                <a:avLst/>
              </a:prstGeom>
              <a:blipFill>
                <a:blip r:embed="rId2"/>
                <a:stretch>
                  <a:fillRect l="-8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344648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3872" y="507763"/>
                <a:ext cx="10744256" cy="5574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Exemplo: </a:t>
                </a:r>
                <a:r>
                  <a:rPr lang="pt-BR" sz="2400" dirty="0"/>
                  <a:t>Numa central telefônica chegam 300 telefonemas por hora. Qual a probabilidade de que: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400" dirty="0"/>
                  <a:t>Num minuto não haja nenhum chamado?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400" dirty="0"/>
                  <a:t>Em 2 minutos haja 2 chamados?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400" dirty="0"/>
                  <a:t>Em t minutos não haja chamados?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Qual a média de chamados por minuto? Vamos chamar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 em dois minutos?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Como calcular a média em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pt-BR" sz="2400" dirty="0"/>
                  <a:t> minutos?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72" y="507763"/>
                <a:ext cx="10744256" cy="5574090"/>
              </a:xfrm>
              <a:prstGeom prst="rect">
                <a:avLst/>
              </a:prstGeom>
              <a:blipFill>
                <a:blip r:embed="rId2"/>
                <a:stretch>
                  <a:fillRect l="-908" b="-15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045778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916522" y="716768"/>
            <a:ext cx="10343661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Exemplo.</a:t>
            </a:r>
            <a:r>
              <a:rPr lang="pt-BR" sz="2400" dirty="0"/>
              <a:t> Um sistema de pagamentos processou </a:t>
            </a:r>
            <a:r>
              <a:rPr lang="pt-BR" sz="2400" b="1" dirty="0"/>
              <a:t>10.000 transações</a:t>
            </a:r>
            <a:r>
              <a:rPr lang="pt-BR" sz="2400" dirty="0"/>
              <a:t>; a probabilidade de uma delas ser uma fraude é de </a:t>
            </a:r>
            <a:r>
              <a:rPr lang="pt-BR" sz="2400" b="1" dirty="0"/>
              <a:t>0,0003</a:t>
            </a:r>
            <a:r>
              <a:rPr lang="pt-BR" sz="2400" dirty="0"/>
              <a:t>. Qual a chance de exatamente 5 fraudes no dia?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Como vimos anteriormente, podemos resolver esse exemplo usando a binomial. Monte a resolução.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Qual é o problema dessa solução?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765298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916523" y="716768"/>
                <a:ext cx="10273992" cy="3913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Aproximação da distribuição binomial pela distribuição de Poisson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Muitas vezes, no uso da binomial, acontece que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 é muito grande 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pt-BR" sz="2400" dirty="0"/>
                  <a:t>),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400" dirty="0"/>
                  <a:t> é muito pequeno (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pt-BR" sz="2400" dirty="0"/>
                  <a:t>).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Nesses casos, não encontramos o valor em tabelas, ou então o cálculo torna-se muito difícil, sendo necessário o uso de computador.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Podemos então fazer uma aproximação da binomial pela distribuição de Poisson.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23" y="716768"/>
                <a:ext cx="10273992" cy="3913059"/>
              </a:xfrm>
              <a:prstGeom prst="rect">
                <a:avLst/>
              </a:prstGeom>
              <a:blipFill>
                <a:blip r:embed="rId2"/>
                <a:stretch>
                  <a:fillRect l="-890" r="-415" b="-28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034837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916521" y="1047694"/>
                <a:ext cx="10067277" cy="5299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dirty="0"/>
                  <a:t>No caso da binomial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𝑛𝑝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Para a distribuição de Poisson a média é dada por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pt-BR" sz="2800" dirty="0"/>
                  <a:t>. Assim, vamos considerar que a média é dada por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pt-BR" sz="2800" dirty="0"/>
                  <a:t> e usar o modelo de Poisson.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Logo,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t-BR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𝑛𝑝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𝑛𝑝</m:t>
                              </m:r>
                            </m:e>
                            <m:sup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21" y="1047694"/>
                <a:ext cx="10067277" cy="5299464"/>
              </a:xfrm>
              <a:prstGeom prst="rect">
                <a:avLst/>
              </a:prstGeom>
              <a:blipFill>
                <a:blip r:embed="rId2"/>
                <a:stretch>
                  <a:fillRect l="-1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39828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916522" y="716768"/>
                <a:ext cx="10343661" cy="5336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</a:t>
                </a:r>
                <a:r>
                  <a:rPr lang="pt-BR" sz="2400" dirty="0"/>
                  <a:t> Um sistema de pagamentos processou </a:t>
                </a:r>
                <a:r>
                  <a:rPr lang="pt-BR" sz="2400" b="1" dirty="0"/>
                  <a:t>10.000 transações</a:t>
                </a:r>
                <a:r>
                  <a:rPr lang="pt-BR" sz="2400" dirty="0"/>
                  <a:t>; a probabilidade de uma delas ser uma fraude é de </a:t>
                </a:r>
                <a:r>
                  <a:rPr lang="pt-BR" sz="2400" b="1" dirty="0"/>
                  <a:t>0,0003</a:t>
                </a:r>
                <a:r>
                  <a:rPr lang="pt-BR" sz="2400" dirty="0"/>
                  <a:t>. Qual a chance de exatamente 5 fraudes no dia?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</a:t>
                </a:r>
                <a:r>
                  <a:rPr lang="pt-BR" sz="2400" dirty="0"/>
                  <a:t>: Vamos usar o modelo de Poisson para responder com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=10000 ∗0,0003=3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Assim,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=5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=0,10082.</m:t>
                    </m:r>
                  </m:oMath>
                </a14:m>
                <a:endParaRPr lang="pt-BR" sz="2400" b="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Pela binomial,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=5)≈0,10082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22" y="716768"/>
                <a:ext cx="10343661" cy="5336717"/>
              </a:xfrm>
              <a:prstGeom prst="rect">
                <a:avLst/>
              </a:prstGeom>
              <a:blipFill>
                <a:blip r:embed="rId2"/>
                <a:stretch>
                  <a:fillRect l="-884" b="-17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25642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85892" y="762600"/>
            <a:ext cx="10067277" cy="3830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6: 6.6.5, 6.7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3: 3.8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3: 3.3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 — Cap. 4: 4.7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85892" y="762600"/>
            <a:ext cx="10067277" cy="1521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 (continuação)</a:t>
            </a:r>
          </a:p>
          <a:p>
            <a:pPr>
              <a:lnSpc>
                <a:spcPct val="150000"/>
              </a:lnSpc>
            </a:pPr>
            <a:r>
              <a:rPr lang="pt-BR" sz="2000"/>
              <a:t>Exercícios </a:t>
            </a:r>
            <a:r>
              <a:rPr lang="pt-BR" sz="2000" dirty="0"/>
              <a:t>recomendados: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6: Problemas 22, 23 e 24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3 (3.4 Exercícios): 20, 21, 22 e 23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3: 3.8.1, 3.8.2, 3.8.3, 3.8.4, 3.8.5, 3.8.6 e 3.8.7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 — Cap. 4: Exercícios 6, 9, 10 e 16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9916059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4242</TotalTime>
  <Words>1207</Words>
  <Application>Microsoft Office PowerPoint</Application>
  <PresentationFormat>Widescreen</PresentationFormat>
  <Paragraphs>125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Modelos Discretos III: Distribuição de Poisson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158</cp:revision>
  <dcterms:created xsi:type="dcterms:W3CDTF">2020-07-20T19:35:15Z</dcterms:created>
  <dcterms:modified xsi:type="dcterms:W3CDTF">2026-10-05T14:35:07Z</dcterms:modified>
</cp:coreProperties>
</file>