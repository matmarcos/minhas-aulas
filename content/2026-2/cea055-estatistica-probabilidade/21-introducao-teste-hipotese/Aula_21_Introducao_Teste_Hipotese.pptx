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700" r:id="rId31"/>
    <p:sldId id="701" r:id="rId32"/>
    <p:sldId id="702" r:id="rId33"/>
    <p:sldId id="703" r:id="rId34"/>
    <p:sldId id="704" r:id="rId35"/>
    <p:sldId id="705" r:id="rId36"/>
    <p:sldId id="706" r:id="rId37"/>
    <p:sldId id="707" r:id="rId38"/>
    <p:sldId id="708" r:id="rId39"/>
    <p:sldId id="709" r:id="rId40"/>
    <p:sldId id="710" r:id="rId41"/>
    <p:sldId id="711" r:id="rId42"/>
    <p:sldId id="712" r:id="rId43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commentAuthors" Target="commentAuthors.xml"/><Relationship Id="rId25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1_tipos.png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1_matriz.png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1_alphabeta.png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Compreender a lógica de um teste de hipótese: decidir entre duas afirmações sobre um parâmetro, a partir de uma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Formular corretamente a hipótese nula (H₀) e a hipótese alternativa (H₁).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Distinguir Erro Tipo I e Erro Tipo II, e relacioná-los ao nível de significância α e ao poder do teste.</a:t>
            </a:r>
          </a:p>
          <a:p>
            <a:pPr/>
            <a:r>
              <a:rPr lang="pt-BR" sz="2000" b="1" dirty="0"/>
              <a:t xml:space="preserve"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12 (12.1 a 12.4)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9 (9.1)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8 (8.1)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12 (12.1); Cap. 13 (13.1)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Da estimação à decisão</a:t>
            </a:r>
          </a:p>
          <a:p>
            <a:endParaRPr lang="pt-BR" sz="1800" dirty="0"/>
          </a:p>
          <a:p>
            <a:pPr/>
            <a:r>
              <a:rPr lang="pt-BR" sz="1800" dirty="0"/>
              <a:t>Nas últimas aulas, estimamos parâmetros (μ, p, σ²) por intervalos. Agora mudamos de pergunta: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Em vez de “qual é o valor de μ?”, perguntamos: “os dados são compatíveis com uma afirmação específica sobre μ?”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Exemplo: uma máquina deveria produzir peças com diâmetro médio de 10 mm. Uma amostra recente sugere média 10,3 mm. Isso é só variação aleatória, ou a máquina está descalibrada?</a:t>
            </a:r>
          </a:p>
          <a:p>
            <a:endParaRPr lang="pt-BR" sz="1800" dirty="0"/>
          </a:p>
          <a:p>
            <a:pPr/>
            <a:r>
              <a:rPr lang="pt-BR" sz="1700" i="1" dirty="0"/>
              <a:t>Um teste de hipótese formaliza essa decisão.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Hipótese nula e hipótese alternativa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H₀ (hipótese nula): a afirmação inicial, o “status quo” — o que assumimos verdadeiro até haver evidência contrária. Sempre contém uma igualdade.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H₁ (hipótese alternativa): o que suspeitamos ou queremos verificar — o que motivou o teste.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exemplo da máquina: H₀: μ = 10  vs.  H₁: μ ≠ 10.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teste nunca “prova” H₀ — ou rejeitamos H₀ (evidência suficiente contra) ou não rejeitamos H₀ (evidência insuficiente).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Como formular H₀ e H₁ corretamente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H₀ é o que queremos “derrubar” com evidência — geralmente a afirmação de que nada mudou, ou o valor de referência/especificação.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H₁ é o que o pesquisador de fato suspeita e busca sustentar com os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Regra prática: o benefício da dúvida fica com H₀ — só a rejeitamos com evidência forte (análogo a “inocente até prova em contrário”).</a:t>
            </a:r>
          </a:p>
          <a:p>
            <a:endParaRPr lang="pt-BR" sz="1800" dirty="0"/>
          </a:p>
          <a:p>
            <a:pPr/>
            <a:r>
              <a:rPr lang="pt-BR" sz="1700" i="1" dirty="0"/>
              <a:t>Exemplo: um laboratório testa se um novo remédio reduz a pressão arterial. H₀: o remédio não tem efeito (μ = μ₀). H₁: o remédio reduz a pressão (μ &lt; μ₀).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Bilateral ou unilateral?</a:t>
            </a:r>
          </a:p>
          <a:p>
            <a:pPr/>
            <a:r>
              <a:rPr lang="pt-BR" sz="1700" dirty="0"/>
              <a:t>A forma de H₁ determina onde fica a região crítica:</a:t>
            </a:r>
          </a:p>
        </p:txBody>
      </p:sp>
      <p:pic>
        <p:nvPicPr>
          <p:cNvPr id="9" name="Tipos de tes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00000"/>
            <a:ext cx="10800000" cy="2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Estatística de teste e região crítica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Estatística de teste: um número calculado a partir da amostra, que resume a evidência contra H₀ (ex.: Z, T, χ² — já estudamos essas distribuições).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Região crítica (RC): o conjunto de valores da estatística de teste que levam à rejeição de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Valor crítico: o limite da região crítica, obtido na tabela apropriada (Normal, t ou χ²) a partir do nível de significância α.</a:t>
            </a:r>
          </a:p>
          <a:p>
            <a:endParaRPr lang="pt-BR" sz="1800" dirty="0"/>
          </a:p>
          <a:p>
            <a:pPr/>
            <a:r>
              <a:rPr lang="pt-BR" sz="1700" i="1" dirty="0"/>
              <a:t>A lógica: se H₀ fosse verdadeira, seria raro (probabilidade α) observar uma estatística de teste na região crítica. Se ela caiu lá mesmo assim, isso pesa contra H₀.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Duas formas de errar</a:t>
            </a:r>
          </a:p>
          <a:p>
            <a:pPr/>
            <a:r>
              <a:rPr lang="pt-BR" sz="1700" dirty="0"/>
              <a:t>Toda decisão baseada em amostra corre risco de erro. Há dois tipos:</a:t>
            </a:r>
          </a:p>
        </p:txBody>
      </p:sp>
      <p:pic>
        <p:nvPicPr>
          <p:cNvPr id="9" name="Matriz de decisa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000" y="2850000"/>
            <a:ext cx="9200000" cy="35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Nível de significância α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α = P(Erro Tipo I) = P(rejeitar H₀ | H₀ verdadeira).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É o pesquisador quem escolhe α antes de olhar os dados — valores comuns: 1%, 5% e 10%.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α = 5% significa: estamos dispostos a rejeitar H₀ erroneamente em, no máximo, 5% das vezes (no longo prazo).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Quanto menor α, mais “exigente” o teste — mais difícil rejeitar H₀, maior a região de não rejeição.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Erro Tipo II e poder do teste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β = P(Erro Tipo II) = P(não rejeitar H₀ | H₀ falsa).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Poder do teste = 1 − β = probabilidade de rejeitar H₀ corretamente, quando H₁ é de fato verdadeira.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α e β têm uma relação de troca: reduzir α (região crítica menor) tende a aumentar β, para um n fixo.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 única forma de reduzir os dois simultaneamente é aumentar o tamanho da amostra n.</a:t>
            </a:r>
          </a:p>
        </p:txBody>
      </p:sp>
      <p:pic>
        <p:nvPicPr>
          <p:cNvPr id="9" name="Alfa e b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roteiro geral de um teste de hipótese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1. Formule H₀ e H₁ a partir do problema.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2. Escolha a estatística de teste apropriada (depende do parâmetro e do que é conhecido).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3. Fixe o nível de significância α e determine a região crítica.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4. Calcule o valor da estatística de teste com os dados da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5. Decida: se o valor calculado está na região crítica, rejeite H₀; caso contrário, não rejeite H₀.</a:t>
            </a:r>
          </a:p>
          <a:p>
            <a:endParaRPr lang="pt-BR" sz="1800" dirty="0"/>
          </a:p>
          <a:p>
            <a:pPr/>
            <a:r>
              <a:rPr lang="pt-BR" sz="1600" i="1" dirty="0"/>
              <a:t>Esse roteiro é o mesmo usado no exemplo do Passo a Passo com a t-Student, na Aula 18 — só muda a estatística em cada caso.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aplicando os passos 1 a 3</a:t>
            </a:r>
          </a:p>
          <a:p>
            <a:endParaRPr lang="pt-BR" sz="1800" dirty="0"/>
          </a:p>
          <a:p>
            <a:pPr/>
            <a:r>
              <a:rPr lang="pt-BR" sz="1700" dirty="0"/>
              <a:t>Uma fábrica de baterias afirma que a vida útil média é de 500 ciclos de carga. Um controle de qualidade quer verificar se a vida útil está, na prática, abaixo do prometido.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1: H₀: μ = 500  vs.  H₁: μ &lt; 500 (teste unilateral à esquerda, pois a preocupação é “abaixo do prometido”).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2: se σ for conhecida, a estatística será Z; se desconhecida, será T (Aula 18) — detalharemos isso na Aula 22.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3: escolhendo α = 5%, a região crítica ficará no lado esquerdo da distribuição (valores pequenos de Z ou T).</a:t>
            </a:r>
          </a:p>
          <a:p>
            <a:endParaRPr lang="pt-BR" sz="1800" dirty="0"/>
          </a:p>
          <a:p>
            <a:pPr/>
            <a:r>
              <a:rPr lang="pt-BR" sz="1600" i="1" dirty="0"/>
              <a:t>Os passos 4 e 5 (cálculo e decisão) exigem a fórmula completa da estatística — é exatamente o que veremos nas próximas duas aulas.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Um teste de hipótese decide, com base em uma amostra, se os dados são compatíveis com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H₀ carrega a igualdade e o benefício da dúvida; H₁ é o que buscamos evidenciar.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Todo teste tem risco de Erro Tipo I (α) e Erro Tipo II (β) — controlamos α diretamente; β depende também do tamanho da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roteiro de 5 passos é sempre o mesmo; o que muda é a estatística de teste usada em cada situação.</a:t>
            </a:r>
          </a:p>
          <a:p>
            <a:endParaRPr lang="pt-BR" sz="1800" dirty="0"/>
          </a:p>
          <a:p>
            <a:pPr/>
            <a:r>
              <a:rPr lang="pt-BR" sz="1700" i="1" dirty="0"/>
              <a:t>Próximas aulas: aplicaremos esse roteiro a testes para a média, com variância conhecida (Aula 22) e desconhecida (Aula 23).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7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12: 12.1 a 12.4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9: 9.1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8: 8.1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12: 12.1; Cap. 13: 13.1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Para 3 situações do seu cotidiano, escreva H₀ e H₁ e classifique o teste (bilateral, unilateral à direita ou à esquerda).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Explique, com suas palavras, por que aumentar o tamanho da amostra reduz β sem alterar α.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1586</Words>
  <Application>Microsoft Office PowerPoint</Application>
  <PresentationFormat>Widescreen</PresentationFormat>
  <Paragraphs>193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229</cp:revision>
  <dcterms:created xsi:type="dcterms:W3CDTF">2020-07-20T19:35:15Z</dcterms:created>
  <dcterms:modified xsi:type="dcterms:W3CDTF">2024-09-19T22:01:46Z</dcterms:modified>
</cp:coreProperties>
</file>