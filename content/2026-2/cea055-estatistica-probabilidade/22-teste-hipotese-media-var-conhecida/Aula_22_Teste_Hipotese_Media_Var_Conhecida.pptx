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800" r:id="rId31"/>
    <p:sldId id="801" r:id="rId32"/>
    <p:sldId id="802" r:id="rId33"/>
    <p:sldId id="803" r:id="rId34"/>
    <p:sldId id="804" r:id="rId35"/>
    <p:sldId id="805" r:id="rId36"/>
    <p:sldId id="806" r:id="rId37"/>
    <p:sldId id="807" r:id="rId38"/>
    <p:sldId id="808" r:id="rId39"/>
    <p:sldId id="809" r:id="rId40"/>
    <p:sldId id="810" r:id="rId41"/>
    <p:sldId id="811" r:id="rId42"/>
    <p:sldId id="812" r:id="rId43"/>
    <p:sldId id="813" r:id="rId44"/>
    <p:sldId id="814" r:id="rId45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48" y="4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commentAuthors" Target="commentAuthors.xml"/><Relationship Id="rId25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19/09/2024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2_z.png"/></Relationships>
</file>

<file path=ppt/slides/_rels/slide2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2_rc_tipos.png"/></Relationships>
</file>

<file path=ppt/slides/_rels/slide29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g22_pvalor_ilustracao.png"/><Relationship Id="rId5" Type="http://schemas.openxmlformats.org/officeDocument/2006/relationships/image" Target="../media/img22_pvalor_direita.png"/><Relationship Id="rId6" Type="http://schemas.openxmlformats.org/officeDocument/2006/relationships/image" Target="../media/img22_pvalor_bilateral.png"/></Relationships>
</file>

<file path=ppt/slides/_rels/slide3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000" b="1" dirty="0"/>
              <a:t>Teste de Hipótese para a Média —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Aplicar o roteiro de 5 passos (Aula 21) ao teste de hipótese sobre a média, quando a variância populacional é conhecida.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Construir a região crítica com a distribuição Normal padrão, nos casos bilateral e unilateral.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Calcular e interpretar corretamente o valor-p de um teste.</a:t>
            </a:r>
          </a:p>
          <a:p>
            <a:pPr/>
            <a:r>
              <a:rPr lang="pt-BR" sz="2000" b="1" dirty="0"/>
              <a:t xml:space="preserve"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Bussab, Morettin. Estatística Básica, 9ed — Cap. 12 (12.5, 12.8)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Montgomery, Runger. Applied Statistics..., 7th ed — Cap. 9 (9.2)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Magalhães, Lima. Noções de Probabilidade e Estatística, 5ed — Cap. 8 (8.2, 8.4)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Morettin. Estatística Básica: Probabilidade e Inferência — Cap. 12 (12.2)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Média,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Colocando o roteiro em prática</a:t>
            </a:r>
          </a:p>
          <a:p>
            <a:endParaRPr lang="pt-BR" sz="1800" dirty="0"/>
          </a:p>
          <a:p>
            <a:pPr/>
            <a:r>
              <a:rPr lang="pt-BR" sz="1800" dirty="0"/>
              <a:t>Na Aula 21 vimos o roteiro geral de um teste de hipótese. Hoje aplicamos esse roteiro ao caso mais simples: teste sobre a média μ, com a variância populacional σ² conhecida.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Situação típica: um processo industrial bem estabelecido, cuja variabilidade σ² é conhecida de longa data, mas cuja média pode ter se alterado.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estatística de teste, nesse caso, será baseada na distribuição Normal padrão — o mesmo Z que já usamos desde a Aula 13.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Média,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Recapitulando o roteiro de 5 passos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1. Formule H₀ e H₁.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2. Defina a estatística de teste.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3. Fixe α e construa a região crítica.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4. Calcule a estatística com os dados da amostra.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Passo 5. Decida: rejeitar ou não rejeitar H₀.</a:t>
            </a:r>
          </a:p>
          <a:p>
            <a:endParaRPr lang="pt-BR" sz="1800" dirty="0"/>
          </a:p>
          <a:p>
            <a:pPr/>
            <a:r>
              <a:rPr lang="pt-BR" sz="1700" i="1" dirty="0"/>
              <a:t>Hoje, os passos 2 e 3 ganham uma fórmula concreta — é isso que vamos construir.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Média,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Passos 1 e 2: hipóteses e estatística de teste</a:t>
            </a:r>
          </a:p>
          <a:p>
            <a:pPr/>
            <a:r>
              <a:rPr lang="pt-BR" sz="1700" dirty="0"/>
              <a:t>Sob H₀: μ = μ₀, e supondo X₁,...,Xₙ uma AAS de uma Normal(μ, σ²) com σ² conhecida, a estatística de teste é:</a:t>
            </a:r>
          </a:p>
        </p:txBody>
      </p:sp>
      <p:pic>
        <p:nvPicPr>
          <p:cNvPr id="9" name="Estatistica Z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000" y="3150000"/>
            <a:ext cx="4600000" cy="12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70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Sob H₀ verdadeira, Z segue distribuição Normal padrão — a mesma tabela usada nos IC (Aula 19).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Média,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1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Passo 3: construindo a região crítica</a:t>
            </a:r>
          </a:p>
          <a:p>
            <a:pPr/>
            <a:r>
              <a:rPr lang="pt-BR" sz="1700" dirty="0"/>
              <a:t>A forma de H₁ determina onde fica a região crítica (mesma lógica da Aula 21, agora aplicada ao Z):</a:t>
            </a:r>
          </a:p>
        </p:txBody>
      </p:sp>
      <p:pic>
        <p:nvPicPr>
          <p:cNvPr id="9" name="RC tipos Z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00000"/>
            <a:ext cx="10800000" cy="29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Média,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Exemplo: teor de gordura em um laticínio</a:t>
            </a:r>
          </a:p>
          <a:p>
            <a:endParaRPr lang="pt-BR" sz="1800" dirty="0"/>
          </a:p>
          <a:p>
            <a:pPr/>
            <a:r>
              <a:rPr lang="pt-BR" sz="1700" dirty="0"/>
              <a:t>Um laticínio produz queijo com teor de gordura historicamente Normal, média μ₀ = 45% e desvio padrão σ = 2,4% (bem estabelecidos). Uma amostra de n = 20 unidades teve média X̄ = 46,1%. Ao nível de 5%, há evidência de que a média mudou?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1: H₀: μ = 45  vs.  H₁: μ ≠ 45 (bilateral).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2: Z = (X̄ − 45)/(2,4/√20).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3: α = 0,05 → RC = {Z ∈ ℝ | |Z| &gt; 1,96}.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4: Z = (46,1 − 45)/(2,4/√20) = 1,1/0,537 = 2,05.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Passo 5: como |2,05| &gt; 1,96, Z ∈ RC — rejeitamos H₀: há evidência de mudança na média.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Média,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Exemplo: tempo de secagem de uma tinta</a:t>
            </a:r>
          </a:p>
          <a:p>
            <a:endParaRPr lang="pt-BR" sz="1800" dirty="0"/>
          </a:p>
          <a:p>
            <a:pPr/>
            <a:r>
              <a:rPr lang="pt-BR" sz="1650" dirty="0"/>
              <a:t>Um fabricante afirma que sua nova tinta seca em, no máximo, 40 minutos em média (σ = 6 min, valor conhecido do processo). Uma amostra de n = 36 aplicações teve X̄ = 42,1 min. Há evidência, a 5%, de que a secagem demora mais do que o anunciado?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Passo 1: H₀: μ = 40  vs.  H₁: μ &gt; 40 (unilateral à direita — só nos preocupa demorar mais).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Passo 2: Z = (X̄ − 40)/(6/√36).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Passo 3: α = 0,05 → RC = {Z ∈ ℝ | Z &gt; 1,645}.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Passo 4: Z = (42,1 − 40)/(6/6) = 2,1/1,0 = 2,10.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Passo 5: como 2,10 &gt; 1,645, Z ∈ RC — rejeitamos H₀: a secagem realmente demora mais que 40 min.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Média,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Uma alternativa à região crítica: o valor-p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valor-p é a probabilidade de obter uma estatística de teste tão ou mais extrema que a observada, supondo H₀ verdadeira.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Quanto menor o valor-p, maior a evidência CONTRA H₀.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Vantagem: não é preciso fixar α antes — o leitor decide, comparando o valor-p ao seu próprio critério de significância.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É a forma mais comum de relatar resultados em artigos científicos e softwares estatísticos.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Média,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900" b="1" dirty="0"/>
              <a:t>Calculando o valor-p</a:t>
            </a:r>
          </a:p>
          <a:p>
            <a:pPr/>
            <a:r>
              <a:rPr lang="pt-BR" sz="1600" b="1" dirty="0"/>
              <a:t>Unilateral à direita:</a:t>
            </a:r>
          </a:p>
        </p:txBody>
      </p:sp>
      <p:pic>
        <p:nvPicPr>
          <p:cNvPr id="9" name="pvalor direit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300000"/>
            <a:ext cx="5000000" cy="75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3150000"/>
            <a:ext cx="5400000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1600" b="1" dirty="0"/>
              <a:t>Bilateral:</a:t>
            </a:r>
          </a:p>
        </p:txBody>
      </p:sp>
      <p:pic>
        <p:nvPicPr>
          <p:cNvPr id="12" name="pvalor bilatera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50000"/>
            <a:ext cx="5000000" cy="750000"/>
          </a:xfrm>
          <a:prstGeom prst="rect">
            <a:avLst/>
          </a:prstGeom>
        </p:spPr>
      </p:pic>
      <p:pic>
        <p:nvPicPr>
          <p:cNvPr id="13" name="Ilustracao pval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Média,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Valor-p no exemplo da tinta</a:t>
            </a:r>
          </a:p>
          <a:p>
            <a:endParaRPr lang="pt-BR" sz="1800" dirty="0"/>
          </a:p>
          <a:p>
            <a:pPr/>
            <a:r>
              <a:rPr lang="pt-BR" sz="1750" dirty="0"/>
              <a:t>Retomando o exemplo da secagem de tinta: Zₒᵇₛ = 2,10, com H₁: μ &gt; 40 (unilateral à direita).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valor-p = P(Z &gt; 2,10) = 1 − 0,9821 = 0,0179 (consultando a tabela Normal padrão).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Interpretação: se μ realmente fosse 40, seria raro (1,8% de chance) observar uma amostra tão ou mais desfavorável a H₀.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Como valor-p = 0,0179 &lt; α = 0,05, rejeitamos H₀ — mesma conclusão do método da região crítica, como deve ser.</a:t>
            </a:r>
          </a:p>
          <a:p>
            <a:endParaRPr lang="pt-BR" sz="1800" dirty="0"/>
          </a:p>
          <a:p>
            <a:pPr/>
            <a:r>
              <a:rPr lang="pt-BR" sz="1700" i="1" dirty="0"/>
              <a:t>Regra geral: rejeite H₀ sempre que valor-p &lt; α.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Média,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Duas formas de chegar à mesma decisão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Método da região crítica: compare a estatística de teste ao valor crítico da tabela.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Método do valor-p: compare o valor-p à significância α escolhida.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Os dois métodos SEMPRE levam à mesma decisão — são apenas duas formas de expressar a mesma evidência.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Na prática, softwares estatísticos (R, Python, Excel) reportam o valor-p diretamente, tornando esse o método mais usado hoje.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Média,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Cuidados comuns na interpretação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Valor-p NÃO é a probabilidade de H₀ ser verdadeira — é a probabilidade dos dados, supondo H₀ verdadeira.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“Não rejeitar H₀” não significa “provar que H₀ é verdadeira” — apenas que não há evidência suficiente contra ela.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Usar σ conhecida quando na verdade não se conhece σ é um erro grave — nesse caso, use a t-Student (Aula 23).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Escolher H₁ depois de ver os dados (“p-hacking”) invalida a interpretação de α e do valor-p.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Média,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Conexão com o intervalo de confiança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Há uma relação direta entre teste bilateral e IC (Aula 19): rejeitar H₀: μ = μ₀ ao nível α equivale a μ₀ estar FORA do IC de nível (1 − α) para 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No exemplo do laticínio: IC(μ; 95%) = 46,1 ± 1,96×0,537 = [45,05 ; 47,15]. Como 45 (valor de H₀) NÃO está nesse intervalo, confirmamos a rejeição de H₀.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Essa equivalência é uma ótima forma de checar se um teste e um IC “conversam” entre si.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Média,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000" b="1" dirty="0"/>
              <a:t>Resumo da aula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Com σ conhecida, a estatística de teste para a média é Z = (X̄ − μ₀)/(σ/√n), com distribuição Normal padrão sob H₀.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 forma de H₁ (bilateral, unilateral direita/esquerda) define a região crítica.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valor-p é uma alternativa equivalente à região crítica, e é o padrão em softwares estatísticos.</a:t>
            </a:r>
          </a:p>
          <a:p>
            <a:endParaRPr lang="pt-BR" sz="1800" dirty="0"/>
          </a:p>
          <a:p>
            <a:pPr/>
            <a:r>
              <a:rPr lang="pt-BR" sz="1700" i="1" dirty="0"/>
              <a:t>Próxima aula: o mesmo teste, mas para o caso realista em que σ é desconhecida — voltamos à distribuição t-Student.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9000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1500" b="1" dirty="0"/>
              <a:t>Teste de Hipótese — Média, Variância Conhecida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/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pPr/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12: 12.5, 12.8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9: 9.2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8: 8.2, 8.4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Morettin (Prob. e Inf.) — Cap. 12: 12.2</a:t>
            </a:r>
          </a:p>
          <a:p>
            <a:endParaRPr lang="pt-BR" sz="1800" dirty="0"/>
          </a:p>
          <a:p>
            <a:pPr/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Refaça o exemplo do laticínio com α = 0,01 e verifique se a conclusão muda.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Calcule o valor-p do exemplo bilateral do laticínio e confirme que é menor que 0,05.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6164</TotalTime>
  <Words>1586</Words>
  <Application>Microsoft Office PowerPoint</Application>
  <PresentationFormat>Widescreen</PresentationFormat>
  <Paragraphs>193</Paragraphs>
  <Slides>23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  <vt:lpstr>CEA055 – Estatística e Probabilidade Testes de Hipóteses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229</cp:revision>
  <dcterms:created xsi:type="dcterms:W3CDTF">2020-07-20T19:35:15Z</dcterms:created>
  <dcterms:modified xsi:type="dcterms:W3CDTF">2024-09-19T22:01:46Z</dcterms:modified>
</cp:coreProperties>
</file>