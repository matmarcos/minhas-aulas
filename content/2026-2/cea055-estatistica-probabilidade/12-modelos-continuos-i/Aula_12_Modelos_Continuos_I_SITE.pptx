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900" r:id="rId2"/>
    <p:sldId id="269" r:id="rId3"/>
    <p:sldId id="270" r:id="rId4"/>
    <p:sldId id="272" r:id="rId5"/>
    <p:sldId id="286" r:id="rId6"/>
    <p:sldId id="287" r:id="rId7"/>
    <p:sldId id="902" r:id="rId8"/>
    <p:sldId id="314" r:id="rId9"/>
    <p:sldId id="904" r:id="rId10"/>
    <p:sldId id="282" r:id="rId12"/>
    <p:sldId id="284" r:id="rId13"/>
    <p:sldId id="283" r:id="rId14"/>
    <p:sldId id="291" r:id="rId15"/>
    <p:sldId id="906" r:id="rId16"/>
    <p:sldId id="907" r:id="rId17"/>
    <p:sldId id="901" r:id="rId19"/>
    <p:sldId id="903" r:id="rId20"/>
  </p:sldIdLst>
  <p:sldSz cx="12192000" cy="6858000"/>
  <p:notesSz cx="6858000" cy="9144000"/>
  <p:defaultTextStyle>
    <a:defPPr>
      <a:defRPr lang="pt-BR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cos Goulart Lima" initials="MGL" lastIdx="1" clrIdx="0">
    <p:extLst>
      <p:ext uri="{19B8F6BF-5375-455C-9EA6-DF929625EA0E}">
        <p15:presenceInfo xmlns:p15="http://schemas.microsoft.com/office/powerpoint/2012/main" userId="809befc0d8c5dfd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 autoAdjust="0"/>
  </p:normalViewPr>
  <p:slideViewPr>
    <p:cSldViewPr snapToGrid="0">
      <p:cViewPr varScale="1">
        <p:scale>
          <a:sx n="61" d="100"/>
          <a:sy n="61" d="100"/>
        </p:scale>
        <p:origin x="1968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4690" y="43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commentAuthors" Target="commentAuthors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623A65-BD25-40B6-8815-498297225DF7}" type="datetimeFigureOut">
              <a:rPr lang="pt-BR" smtClean="0"/>
              <a:t>07/10/2026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7F89C7-0D7F-4B10-AF98-1416A21C67F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29212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B549B-B83A-404E-9BD8-A560AB294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D7CE2CF-ACA4-4F2F-B0E6-62AA8A4CA0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15145D-ED8E-485D-AFAA-0637E3DDC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07/10/2026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10A484-EBAA-4375-B22B-EB352202B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BFC011-A4F5-4C4D-B328-90D3A1C70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32127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DC2C77-41CB-40C6-8592-F2323898B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2E0EDC-CFA2-4EB2-951C-00B6285C6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7430C6-C7CB-4882-8EDC-12D186CAC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07/10/2026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44677D-F5A4-4226-8F80-D16E10238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AB1963-7DC3-48C6-816F-DB898EB17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59066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59C7D4-175E-4544-B2C7-10CBDC0B0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9345EC1-929C-4442-826F-033EE7893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04775A-17A7-4EC4-9798-1A34FD10E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07/10/2026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42EA98-8D10-4ED3-B93F-FC711F0CD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9B97DE-6B04-4B6F-86E9-1D88F55F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312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BAA362-A45A-480A-9074-096724BCA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7FAB7C-66B6-413A-A532-7B4B35F4FB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E989473-C5DE-4037-A42E-A0EACF667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3249F76-8985-4102-AAA2-0AF7D18B3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07/10/2026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9E6D85-4300-4D4B-9EF8-C400BC246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82F353B-CB0E-4E22-9F25-903B9054A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54893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0DC1B8-1341-4AB7-B041-922244C5C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8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3C1DFC-5D65-46F4-994E-FD066564E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CD66570-19DA-43E0-B668-A0064803DB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031A902-2182-44D2-92A6-7D350E01E0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F11DEC4-4ED6-4D01-8E2F-F8DFBFBB0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251D8EF-D452-4BEB-B271-9A45BCDDD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07/10/2026</a:t>
            </a:fld>
            <a:endParaRPr lang="pt-BR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874A662-49D6-4C3B-B580-C42ED1ECE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B64F4DA-4AAA-4F61-9D50-9FBA731DC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86527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5CE28C-348A-4584-BBD8-F7D4E80AC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727A591-6069-48B6-9538-6A690479E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07/10/2026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F4B20B4-5872-4798-8273-172F9B79B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0218E22-3A9A-4526-9A35-8F67CBEAC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99807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8C9ED03-39FE-4839-912F-74079DC07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07/10/2026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2202958-2868-421E-B634-EC4F79F44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A1E4208-F91B-406F-93C9-909632019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6385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03AC6E-A8A4-484F-AB72-E01568BAD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52402C-474E-4A4C-BBB4-72C4459FD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5932530-DB56-4B02-AAD7-0B0DAE05AC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269F7A-8509-44B5-A449-BA774B8D6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07/10/2026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AC7A0F7-9932-436F-9AE3-AFF4AA2B6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2EED5AD-F121-4389-805A-1761D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4605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E0AC3B-59EE-40F2-994F-F86E662CE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38B4DB5-6F6C-4DA5-9A20-AC29F12332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E271B5-C93D-4796-9358-1D1489AD9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70EE369-01D5-4D19-9174-7B158A7B7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07/10/2026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AD9A84F-D4C0-4CF0-B94A-BD00C58CC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C5E872-5A54-4124-AFFF-F672D0693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7709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682B53-B921-43B0-B70C-89461FC53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CD7C9CB-B075-433C-911D-C898E41105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6A9F18-28DC-4676-99F1-455FE41D8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07/10/2026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122BC6-1417-41C0-ABAB-3814030C5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D411FB-88FD-4753-AD8A-28F528B3E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9699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A7E2BA7-069E-46BC-89D6-D7C2DC18A2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6"/>
            <a:ext cx="2628900" cy="581183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6D25537-8E8B-46D8-8D94-91EDEBEF2C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6"/>
            <a:ext cx="7734300" cy="581183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151BBF-6817-43B4-9E70-9E5D97182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07/10/2026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27DCBE-1398-4403-B8D9-E76E3BB1A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7CFCFD-A47F-4C7B-B8FA-ADA430CE0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7616900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60000"/>
                <a:lumOff val="40000"/>
              </a:schemeClr>
            </a:gs>
            <a:gs pos="19000">
              <a:schemeClr val="bg1"/>
            </a:gs>
            <a:gs pos="95000">
              <a:schemeClr val="bg1"/>
            </a:gs>
            <a:gs pos="100000">
              <a:schemeClr val="accent5">
                <a:lumMod val="40000"/>
                <a:lumOff val="6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4E2DD83-FDEA-4717-875C-AE246EABA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8727906-6A75-4D24-84E2-D534D8BE7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73EF87-9823-417E-B531-F5CFE53CC6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45E566-B383-4B2D-B951-1136FD38326E}" type="datetimeFigureOut">
              <a:rPr lang="pt-BR" smtClean="0"/>
              <a:t>07/10/2026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912461-C5F3-4639-9852-55C185CA8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549E10-6FAB-43E0-BE2A-E81BCD879D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1590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Modelos Contínuos I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441868"/>
            <a:ext cx="10067277" cy="4568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dirty="0"/>
              <a:t>Objetivos da aula:</a:t>
            </a:r>
          </a:p>
          <a:p>
            <a:pPr marL="285737" indent="-285737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Conhecer a distribuição uniforme contínua e calcular suas probabilidades.</a:t>
            </a:r>
          </a:p>
          <a:p>
            <a:pPr marL="285737" indent="-285737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Conhecer a distribuição exponencial e suas aplicações.</a:t>
            </a:r>
          </a:p>
          <a:p>
            <a:pPr>
              <a:lnSpc>
                <a:spcPct val="150000"/>
              </a:lnSpc>
            </a:pPr>
            <a:r>
              <a:rPr lang="pt-BR" sz="2400" b="1" dirty="0"/>
              <a:t>Referências: 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Bussab, Morettin. </a:t>
            </a:r>
            <a:r>
              <a:rPr lang="pt-BR" sz="2000" b="1" dirty="0"/>
              <a:t>Estatística Básica</a:t>
            </a:r>
            <a:r>
              <a:rPr lang="pt-BR" sz="2000" dirty="0"/>
              <a:t>, 9ed — Cap. 7 (7.4.1, 7.4.3)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Montgomery, Runger. </a:t>
            </a:r>
            <a:r>
              <a:rPr lang="pt-BR" sz="2000" b="1" dirty="0"/>
              <a:t>Applied Statistics and Probability for Engineers</a:t>
            </a:r>
            <a:r>
              <a:rPr lang="pt-BR" sz="2000" dirty="0"/>
              <a:t>, 7th ed — Cap. 4 (4.4, 4.7)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Magalhães, Lima. </a:t>
            </a:r>
            <a:r>
              <a:rPr lang="pt-BR" sz="2000" b="1" dirty="0"/>
              <a:t>Noções de Probabilidade e Estatística</a:t>
            </a:r>
            <a:r>
              <a:rPr lang="pt-BR" sz="2000" dirty="0"/>
              <a:t>, 5ed — Cap. 6 (6.2)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Morettin. </a:t>
            </a:r>
            <a:r>
              <a:rPr lang="pt-BR" sz="2000" b="1" dirty="0"/>
              <a:t>Estatística Básica: Probabilidade e Inferência</a:t>
            </a:r>
            <a:r>
              <a:rPr lang="pt-BR" sz="2000" dirty="0"/>
              <a:t> — Cap. 5 (5.2)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4" name="Espaço Reservado para Conteúdo 4">
            <a:extLst>
              <a:ext uri="{FF2B5EF4-FFF2-40B4-BE49-F238E27FC236}">
                <a16:creationId xmlns:a16="http://schemas.microsoft.com/office/drawing/2014/main" id="{B161EC75-4AC3-77EB-6B21-EF4361D491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738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676278" y="585208"/>
                <a:ext cx="10067277" cy="51235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Distribuição Uniforme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Definição</a:t>
                </a:r>
                <a:r>
                  <a:rPr lang="pt-BR" sz="2400" dirty="0"/>
                  <a:t>. A v.a.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pt-BR" sz="2400" dirty="0"/>
                  <a:t> tem distribuição uniforme no intervalo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pt-BR" sz="2400" dirty="0"/>
                  <a:t> se sua </a:t>
                </a:r>
                <a:r>
                  <a:rPr lang="pt-BR" sz="2400" dirty="0" err="1"/>
                  <a:t>f.d.p</a:t>
                </a:r>
                <a:r>
                  <a:rPr lang="pt-BR" sz="2400" dirty="0"/>
                  <a:t>. é dada por</a:t>
                </a:r>
                <a:r>
                  <a:rPr lang="pt-BR" sz="2400" i="1" dirty="0">
                    <a:latin typeface="Cambria Math" panose="02040503050406030204" pitchFamily="18" charset="0"/>
                  </a:rPr>
                  <a:t> 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den>
                              </m:f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0,</m:t>
                              </m:r>
                            </m:e>
                          </m:eqAr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mr>
                        <m:mr>
                          <m:e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𝑐𝑎𝑠𝑜</m:t>
                            </m:r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𝑐𝑜𝑛𝑡𝑟</m:t>
                            </m:r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á</m:t>
                            </m:r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𝑟𝑖𝑜</m:t>
                            </m:r>
                          </m:e>
                        </m:mr>
                      </m:m>
                    </m:oMath>
                  </m:oMathPara>
                </a14:m>
                <a:endParaRPr lang="pt-BR" sz="2400" dirty="0"/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400" dirty="0"/>
                  <a:t>Esperança: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pt-BR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num>
                      <m:den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pt-BR" sz="2400" dirty="0"/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400" dirty="0"/>
                  <a:t>Variância: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pt-BR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pt-BR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pt-BR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</m:d>
                          </m:e>
                          <m:sup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278" y="585208"/>
                <a:ext cx="10067277" cy="5123518"/>
              </a:xfrm>
              <a:prstGeom prst="rect">
                <a:avLst/>
              </a:prstGeom>
              <a:blipFill>
                <a:blip r:embed="rId2"/>
                <a:stretch>
                  <a:fillRect l="-969" b="-35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813058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28678" y="552077"/>
            <a:ext cx="1006727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Gráfico da função densidade</a:t>
            </a:r>
          </a:p>
          <a:p>
            <a:pPr marL="285737" indent="-285737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285737" indent="-285737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285737" indent="-285737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285737" indent="-285737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285737" indent="-285737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285737" indent="-285737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285737" indent="-285737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285737" indent="-285737">
              <a:buFont typeface="Arial" panose="020B0604020202020204" pitchFamily="34" charset="0"/>
              <a:buChar char="•"/>
            </a:pPr>
            <a:endParaRPr lang="pt-BR" sz="28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370889D-276B-47F3-8315-940B98EFB0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6311" y="1539914"/>
            <a:ext cx="8446071" cy="3965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5673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742539" y="806702"/>
                <a:ext cx="10067277" cy="1829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37" indent="-285737">
                  <a:buFont typeface="Arial" panose="020B0604020202020204" pitchFamily="34" charset="0"/>
                  <a:buChar char="•"/>
                </a:pPr>
                <a:r>
                  <a:rPr lang="pt-BR" sz="2400" dirty="0"/>
                  <a:t>F.d.a</a:t>
                </a:r>
                <a:endParaRPr lang="pt-BR" sz="2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0,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num>
                                <m:den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den>
                              </m:f>
                            </m:e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eqAr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    </m:t>
                      </m:r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mr>
                        <m:mr>
                          <m:e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𝑠𝑒</m:t>
                            </m:r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mr>
                        <m:mr>
                          <m:e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𝑠𝑒</m:t>
                            </m:r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</m:e>
                        </m:mr>
                      </m:m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539" y="806702"/>
                <a:ext cx="10067277" cy="1829219"/>
              </a:xfrm>
              <a:prstGeom prst="rect">
                <a:avLst/>
              </a:prstGeom>
              <a:blipFill>
                <a:blip r:embed="rId2"/>
                <a:stretch>
                  <a:fillRect l="-848" t="-2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8ED254D-632F-4F80-AB7F-E64E79653C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9181" y="2718945"/>
            <a:ext cx="7620000" cy="3686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294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735913" y="684600"/>
            <a:ext cx="10654898" cy="4467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dirty="0"/>
              <a:t>Exemplo:  </a:t>
            </a:r>
            <a:r>
              <a:rPr lang="pt-BR" sz="2400" dirty="0"/>
              <a:t>Um tubo de PVC é submetido a grande pressão de água e é inspecionado no momento em que ocorre o primeiro vazamento. Com o objetivo de verificar a resistência à pressão de água, os técnicos de qualidade de uma empresa inspecionam os tubos produzidos. Eles têm 7 metros de comprimento e as distâncias às extremidades são anotadas para análise posterior. </a:t>
            </a:r>
          </a:p>
          <a:p>
            <a:pPr>
              <a:lnSpc>
                <a:spcPct val="150000"/>
              </a:lnSpc>
            </a:pPr>
            <a:endParaRPr lang="pt-BR" sz="2400" dirty="0"/>
          </a:p>
          <a:p>
            <a:pPr>
              <a:lnSpc>
                <a:spcPct val="150000"/>
              </a:lnSpc>
            </a:pPr>
            <a:r>
              <a:rPr lang="pt-BR" sz="2400" dirty="0"/>
              <a:t>Denota-se por </a:t>
            </a:r>
            <a:r>
              <a:rPr lang="pt-BR" sz="2400" b="1" dirty="0"/>
              <a:t>X a variável aleatória que indica a distância correspondente ao vazamento</a:t>
            </a:r>
            <a:r>
              <a:rPr lang="pt-BR" sz="2400" dirty="0"/>
              <a:t>. Admita igual probabilidade de ocorrência em todos os pontos.</a:t>
            </a:r>
            <a:endParaRPr lang="pt-BR" sz="2400" i="1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68790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9676381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689531" y="585208"/>
                <a:ext cx="10067277" cy="53879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dirty="0"/>
                  <a:t>Escolhe-se um tubo ao acaso para ser inspecionado. Qual a probabilidade de que o vazamento esteja, no máximo, a 1 metro da extremidade esquerda ou, no máximo, a 2 metros da extremidade direita?</a:t>
                </a:r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r>
                  <a:rPr lang="pt-BR" sz="2400" b="1" dirty="0"/>
                  <a:t>Resolução: 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400" i="0" dirty="0">
                    <a:solidFill>
                      <a:srgbClr val="000000"/>
                    </a:solidFill>
                    <a:effectLst/>
                    <a:latin typeface="ProximaNova"/>
                  </a:rPr>
                  <a:t>O tubo tem 7 metros de comprimento 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400" i="0" dirty="0">
                    <a:solidFill>
                      <a:srgbClr val="000000"/>
                    </a:solidFill>
                    <a:effectLst/>
                    <a:latin typeface="ProximaNova"/>
                  </a:rPr>
                  <a:t>Denota-se por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pt-BR" sz="2400" i="0" dirty="0">
                    <a:solidFill>
                      <a:srgbClr val="000000"/>
                    </a:solidFill>
                    <a:effectLst/>
                    <a:latin typeface="ProximaNova"/>
                  </a:rPr>
                  <a:t> a variável aleatória que indica a distância correspondente ao vazamento.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400" i="0" dirty="0">
                    <a:solidFill>
                      <a:srgbClr val="000000"/>
                    </a:solidFill>
                    <a:effectLst/>
                    <a:latin typeface="ProximaNova"/>
                  </a:rPr>
                  <a:t> Admitindo igual probabilidade de ocorrência em todos os pontos, temos que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400" b="0" i="0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X</m:t>
                    </m:r>
                    <m:r>
                      <a:rPr lang="pt-BR" sz="2400" b="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∼</m:t>
                    </m:r>
                    <m:r>
                      <a:rPr lang="pt-BR" sz="24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𝑈</m:t>
                    </m:r>
                    <m:r>
                      <a:rPr lang="pt-BR" sz="24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[0,7]</m:t>
                    </m:r>
                  </m:oMath>
                </a14:m>
                <a:endParaRPr lang="pt-BR" sz="28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531" y="585208"/>
                <a:ext cx="10067277" cy="5387950"/>
              </a:xfrm>
              <a:prstGeom prst="rect">
                <a:avLst/>
              </a:prstGeom>
              <a:blipFill>
                <a:blip r:embed="rId2"/>
                <a:stretch>
                  <a:fillRect l="-908" r="-1574" b="-67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9057870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689531" y="585208"/>
                <a:ext cx="10067277" cy="51607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dirty="0"/>
                  <a:t>Queremos calcular 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0≤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≤1 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𝑜𝑢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 5≤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≤7</m:t>
                          </m:r>
                        </m:e>
                      </m:d>
                    </m:oMath>
                  </m:oMathPara>
                </a14:m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Como os intervalos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[0,1]</m:t>
                    </m:r>
                  </m:oMath>
                </a14:m>
                <a:r>
                  <a:rPr lang="pt-BR" sz="2400" dirty="0"/>
                  <a:t> e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5,7</m:t>
                        </m:r>
                      </m:e>
                    </m:d>
                  </m:oMath>
                </a14:m>
                <a:r>
                  <a:rPr lang="pt-BR" sz="2400" dirty="0"/>
                  <a:t> são disjuntos 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0≤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≤1 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𝑜𝑢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 5≤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≤7</m:t>
                          </m:r>
                        </m:e>
                      </m:d>
                      <m:r>
                        <a:rPr lang="pt-BR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0≤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≤1 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5≤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≤7</m:t>
                          </m:r>
                        </m:e>
                      </m:d>
                    </m:oMath>
                  </m:oMathPara>
                </a14:m>
                <a:endParaRPr lang="pt-BR" sz="240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pt-BR" sz="2400" dirty="0">
                    <a:latin typeface="Cambria Math" panose="02040503050406030204" pitchFamily="18" charset="0"/>
                  </a:rPr>
                  <a:t>Logo,</a:t>
                </a:r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40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0≤</m:t>
                        </m:r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≤1 </m:t>
                        </m:r>
                      </m:e>
                    </m:d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endParaRPr lang="pt-BR" sz="2400" i="1" dirty="0">
                  <a:latin typeface="Cambria Math" panose="02040503050406030204" pitchFamily="18" charset="0"/>
                </a:endParaRPr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4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5≤</m:t>
                        </m:r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≤7</m:t>
                        </m:r>
                      </m:e>
                    </m:d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  <m:sup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  <m:e>
                        <m:f>
                          <m:fPr>
                            <m:ctrlPr>
                              <a:rPr lang="pt-BR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pt-BR" sz="2400" i="1"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  <m:r>
                      <a:rPr lang="pt-BR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endParaRPr lang="pt-BR" sz="2400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pt-BR" sz="2400" dirty="0">
                    <a:latin typeface="Cambria Math" panose="02040503050406030204" pitchFamily="18" charset="0"/>
                  </a:rPr>
                  <a:t>Portanto,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0≤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≤1 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𝑜𝑢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 5≤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≤7</m:t>
                        </m:r>
                      </m:e>
                    </m:d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4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531" y="585208"/>
                <a:ext cx="10067277" cy="5160772"/>
              </a:xfrm>
              <a:prstGeom prst="rect">
                <a:avLst/>
              </a:prstGeom>
              <a:blipFill>
                <a:blip r:embed="rId2"/>
                <a:stretch>
                  <a:fillRect l="-90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444712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755791" y="936391"/>
            <a:ext cx="10347638" cy="4464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dirty="0"/>
              <a:t>Exemplo. </a:t>
            </a:r>
            <a:r>
              <a:rPr lang="pt-BR" sz="2400" dirty="0"/>
              <a:t>Um influenciador posta um </a:t>
            </a:r>
            <a:r>
              <a:rPr lang="pt-BR" sz="2400" dirty="0" err="1"/>
              <a:t>story</a:t>
            </a:r>
            <a:r>
              <a:rPr lang="pt-BR" sz="2400" dirty="0"/>
              <a:t>, que fica no ar por 24 horas. Um seguidor abre o app em um instante qualquer dessas 24 horas, sem preferência de horário.</a:t>
            </a:r>
          </a:p>
          <a:p>
            <a:pPr>
              <a:lnSpc>
                <a:spcPct val="150000"/>
              </a:lnSpc>
            </a:pPr>
            <a:endParaRPr lang="pt-BR" sz="2400" dirty="0"/>
          </a:p>
          <a:p>
            <a:pPr>
              <a:lnSpc>
                <a:spcPct val="150000"/>
              </a:lnSpc>
            </a:pPr>
            <a:r>
              <a:rPr lang="pt-BR" sz="2400" dirty="0"/>
              <a:t>Seja X o instante (em horas após a postagem) em que o seguidor vê o </a:t>
            </a:r>
            <a:r>
              <a:rPr lang="pt-BR" sz="2400" dirty="0" err="1"/>
              <a:t>story</a:t>
            </a:r>
            <a:r>
              <a:rPr lang="pt-BR" sz="2400" dirty="0"/>
              <a:t>.</a:t>
            </a:r>
          </a:p>
          <a:p>
            <a:pPr>
              <a:lnSpc>
                <a:spcPct val="150000"/>
              </a:lnSpc>
            </a:pPr>
            <a:endParaRPr lang="pt-BR" sz="2400" dirty="0"/>
          </a:p>
          <a:p>
            <a:pPr>
              <a:lnSpc>
                <a:spcPct val="150000"/>
              </a:lnSpc>
            </a:pPr>
            <a:r>
              <a:rPr lang="pt-BR" sz="2400" dirty="0"/>
              <a:t>Qual a probabilidade de ele ver o </a:t>
            </a:r>
            <a:r>
              <a:rPr lang="pt-BR" sz="2400" dirty="0" err="1"/>
              <a:t>story</a:t>
            </a:r>
            <a:r>
              <a:rPr lang="pt-BR" sz="2400" dirty="0"/>
              <a:t> nas primeiras 6 horas? Qual o instante médio em que ele vê o </a:t>
            </a:r>
            <a:r>
              <a:rPr lang="pt-BR" sz="2400" dirty="0" err="1"/>
              <a:t>story</a:t>
            </a:r>
            <a:r>
              <a:rPr lang="pt-BR" sz="2400" dirty="0"/>
              <a:t>?</a:t>
            </a:r>
            <a:endParaRPr lang="pt-BR" sz="2400" i="1" dirty="0">
              <a:latin typeface="Cambria Math" panose="02040503050406030204" pitchFamily="18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1549631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720957" y="570631"/>
                <a:ext cx="10347638" cy="5327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Resolução: </a:t>
                </a:r>
                <a:r>
                  <a:rPr lang="pt-BR" sz="2400" dirty="0"/>
                  <a:t>Como não há preferência de horário,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~ 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[0, 24],</m:t>
                    </m:r>
                  </m:oMath>
                </a14:m>
                <a:r>
                  <a:rPr lang="pt-BR" sz="2400" dirty="0"/>
                  <a:t> com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pt-BR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𝑠𝑒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0≤ 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≤24, </m:t>
                    </m:r>
                  </m:oMath>
                </a14:m>
                <a:r>
                  <a:rPr lang="pt-BR" sz="2400" dirty="0"/>
                  <a:t>e</a:t>
                </a:r>
                <a:r>
                  <a:rPr lang="pt-BR" sz="2400" i="0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)=0</m:t>
                    </m:r>
                  </m:oMath>
                </a14:m>
                <a:r>
                  <a:rPr lang="pt-BR" sz="2400" dirty="0"/>
                  <a:t>, caso contrário.</a:t>
                </a:r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400" dirty="0"/>
                  <a:t>Ver o </a:t>
                </a:r>
                <a:r>
                  <a:rPr lang="pt-BR" sz="2400" dirty="0" err="1"/>
                  <a:t>story</a:t>
                </a:r>
                <a:r>
                  <a:rPr lang="pt-BR" sz="2400" dirty="0"/>
                  <a:t> nas primeiras 6 horas: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 ≤ 6) = ∫₀⁶ (1/24) </m:t>
                      </m:r>
                      <m:r>
                        <a:rPr lang="pt-BR" sz="2400" i="1" dirty="0" err="1" smtClean="0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 = 6/24 = 0,25.</m:t>
                      </m:r>
                    </m:oMath>
                  </m:oMathPara>
                </a14:m>
                <a:endParaRPr lang="pt-BR" sz="2400" dirty="0"/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400" dirty="0"/>
                  <a:t>Instante médio em que o </a:t>
                </a:r>
                <a:r>
                  <a:rPr lang="pt-BR" sz="2400" dirty="0" err="1"/>
                  <a:t>story</a:t>
                </a:r>
                <a:r>
                  <a:rPr lang="pt-BR" sz="2400" dirty="0"/>
                  <a:t> é visto</a:t>
                </a:r>
              </a:p>
              <a:p>
                <a:pPr marL="800089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400" dirty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400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dirty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400" dirty="0">
                        <a:latin typeface="Cambria Math" panose="02040503050406030204" pitchFamily="18" charset="0"/>
                      </a:rPr>
                      <m:t>) = (0 + 24)/2 = 12</m:t>
                    </m:r>
                  </m:oMath>
                </a14:m>
                <a:r>
                  <a:rPr lang="pt-BR" sz="2400" i="0" dirty="0">
                    <a:latin typeface="+mj-lt"/>
                  </a:rPr>
                  <a:t> </a:t>
                </a:r>
                <a:r>
                  <a:rPr lang="pt-BR" sz="2400" dirty="0"/>
                  <a:t>horas</a:t>
                </a:r>
                <a14:m>
                  <m:oMath xmlns:m="http://schemas.openxmlformats.org/officeDocument/2006/math">
                    <m:r>
                      <a:rPr lang="pt-BR" sz="2400" dirty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400" dirty="0"/>
              </a:p>
              <a:p>
                <a:pPr marL="800089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𝑉𝑎𝑟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) = (24 − 0)²/12 = 48 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², </m:t>
                    </m:r>
                  </m:oMath>
                </a14:m>
                <a:r>
                  <a:rPr lang="pt-BR" sz="2400" dirty="0"/>
                  <a:t>ou seja, desvio padrão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≈ 6,9 </m:t>
                    </m:r>
                  </m:oMath>
                </a14:m>
                <a:r>
                  <a:rPr lang="pt-BR" sz="2400" dirty="0"/>
                  <a:t>horas</a:t>
                </a:r>
                <a14:m>
                  <m:oMath xmlns:m="http://schemas.openxmlformats.org/officeDocument/2006/math">
                    <m:r>
                      <a:rPr lang="pt-BR" sz="2400" dirty="0"/>
                      <m:t>.</m:t>
                    </m:r>
                  </m:oMath>
                </a14:m>
                <a:endParaRPr lang="pt-BR" sz="2400" dirty="0"/>
              </a:p>
            </p:txBody>
          </p:sp>
        </mc:Choice>
        <mc:Fallback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957" y="570631"/>
                <a:ext cx="10347638" cy="5327612"/>
              </a:xfrm>
              <a:prstGeom prst="rect">
                <a:avLst/>
              </a:prstGeom>
              <a:blipFill>
                <a:blip r:embed="rId2"/>
                <a:stretch>
                  <a:fillRect l="-883" b="-57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40639430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10120" y="711104"/>
                <a:ext cx="10571759" cy="54820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>
                    <a:cs typeface="Calibri" panose="020F0502020204030204" pitchFamily="34" charset="0"/>
                  </a:rPr>
                  <a:t>Distribuição</a:t>
                </a:r>
                <a:r>
                  <a:rPr lang="pt-BR" sz="2400" b="1" dirty="0"/>
                  <a:t> Exponencial</a:t>
                </a:r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Definição</a:t>
                </a:r>
                <a:r>
                  <a:rPr lang="pt-BR" sz="2400" dirty="0"/>
                  <a:t>: Dizemos que a v.a.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pt-BR" sz="2400" dirty="0"/>
                  <a:t> tem distribuição exponencial com parâmetro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pt-BR" sz="2400" dirty="0"/>
                  <a:t> se a sua função densidade é dada por</a:t>
                </a:r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sSup>
                                <m:sSupPr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  <m: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pt-BR" sz="2400" b="0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sz="2400" b="0" i="1" dirty="0" smtClean="0">
                                  <a:latin typeface="Cambria Math" panose="02040503050406030204" pitchFamily="18" charset="0"/>
                                </a:rPr>
                                <m:t>𝑠𝑒</m:t>
                              </m:r>
                              <m:r>
                                <a:rPr lang="pt-BR" sz="2400" b="0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sz="24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2400" b="0" i="1" dirty="0" smtClean="0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  <m:e>
                              <m: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pt-BR" sz="2400" b="0" i="1" dirty="0" smtClean="0">
                                  <a:latin typeface="Cambria Math" panose="02040503050406030204" pitchFamily="18" charset="0"/>
                                </a:rPr>
                                <m:t>         0</m:t>
                              </m:r>
                              <m: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pt-BR" sz="2400" b="0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sz="2400" b="0" i="1" dirty="0" smtClean="0">
                                  <a:latin typeface="Cambria Math" panose="02040503050406030204" pitchFamily="18" charset="0"/>
                                </a:rPr>
                                <m:t>𝑠𝑒</m:t>
                              </m:r>
                              <m:r>
                                <a:rPr lang="pt-BR" sz="2400" b="0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sz="24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2400" b="0" i="1" dirty="0" smtClean="0">
                                  <a:latin typeface="Cambria Math" panose="02040503050406030204" pitchFamily="18" charset="0"/>
                                </a:rPr>
                                <m:t>&lt;0</m:t>
                              </m:r>
                            </m:e>
                          </m:eqArr>
                          <m:r>
                            <a:rPr lang="pt-BR" sz="2400" b="0" i="1" dirty="0" smtClean="0">
                              <a:latin typeface="Cambria Math" panose="02040503050406030204" pitchFamily="18" charset="0"/>
                            </a:rPr>
                            <m:t>.</m:t>
                          </m:r>
                        </m:e>
                      </m:d>
                    </m:oMath>
                  </m:oMathPara>
                </a14:m>
                <a:endParaRPr lang="pt-BR" sz="2400" dirty="0"/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Notação: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𝐸𝑥𝑝</m:t>
                    </m:r>
                    <m:d>
                      <m:d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</m:oMath>
                </a14:m>
                <a:endParaRPr lang="pt-BR" sz="2400" dirty="0"/>
              </a:p>
              <a:p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120" y="711104"/>
                <a:ext cx="10571759" cy="5482078"/>
              </a:xfrm>
              <a:prstGeom prst="rect">
                <a:avLst/>
              </a:prstGeom>
              <a:blipFill>
                <a:blip r:embed="rId2"/>
                <a:stretch>
                  <a:fillRect l="-923" r="-121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8463589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722661" y="671347"/>
                <a:ext cx="10067277" cy="45813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400" dirty="0"/>
                  <a:t>Esperança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400" dirty="0"/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2400" b="0" i="0" smtClean="0">
                          <a:latin typeface="Cambria Math" panose="02040503050406030204" pitchFamily="18" charset="0"/>
                        </a:rPr>
                        <m:t>E</m:t>
                      </m:r>
                      <m:d>
                        <m:d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400" b="0" i="1" dirty="0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</m:oMath>
                  </m:oMathPara>
                </a14:m>
                <a:endParaRPr lang="pt-BR" sz="24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400" dirty="0"/>
                  <a:t>Variância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2400" b="0" i="0" smtClean="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pt-BR" sz="2400" b="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400" dirty="0"/>
                  <a:t>Função de distribuição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          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&gt;0</m:t>
                              </m:r>
                            </m:e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&amp;0                        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≤0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t-BR" sz="2400" dirty="0"/>
              </a:p>
              <a:p>
                <a:pPr marL="285737" indent="-285737">
                  <a:buFont typeface="Arial" panose="020B0604020202020204" pitchFamily="34" charset="0"/>
                  <a:buChar char="•"/>
                </a:pPr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661" y="671347"/>
                <a:ext cx="10067277" cy="4581382"/>
              </a:xfrm>
              <a:prstGeom prst="rect">
                <a:avLst/>
              </a:prstGeom>
              <a:blipFill>
                <a:blip r:embed="rId2"/>
                <a:stretch>
                  <a:fillRect l="-848" t="-106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20463056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10120" y="748589"/>
                <a:ext cx="10571759" cy="3046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dirty="0">
                    <a:cs typeface="Calibri" panose="020F0502020204030204" pitchFamily="34" charset="0"/>
                  </a:rPr>
                  <a:t>Exemplo de gráfico para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𝜆</m:t>
                    </m:r>
                    <m:r>
                      <a:rPr lang="pt-BR" sz="24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=1</m:t>
                    </m:r>
                  </m:oMath>
                </a14:m>
                <a:endParaRPr lang="pt-BR" sz="2400" dirty="0">
                  <a:cs typeface="Calibri" panose="020F0502020204030204" pitchFamily="34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lphaLcParenR"/>
                </a:pPr>
                <a:r>
                  <a:rPr lang="pt-BR" sz="2400" dirty="0">
                    <a:cs typeface="Calibri" panose="020F0502020204030204" pitchFamily="34" charset="0"/>
                  </a:rPr>
                  <a:t> função de distribuição acumulada (</a:t>
                </a:r>
                <a:r>
                  <a:rPr lang="pt-BR" sz="2400" dirty="0" err="1">
                    <a:cs typeface="Calibri" panose="020F0502020204030204" pitchFamily="34" charset="0"/>
                  </a:rPr>
                  <a:t>f.d.a</a:t>
                </a:r>
                <a:r>
                  <a:rPr lang="pt-BR" sz="2400" dirty="0">
                    <a:cs typeface="Calibri" panose="020F0502020204030204" pitchFamily="34" charset="0"/>
                  </a:rPr>
                  <a:t>)</a:t>
                </a: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lphaLcParenR"/>
                </a:pPr>
                <a:r>
                  <a:rPr lang="pt-BR" sz="2400" dirty="0">
                    <a:cs typeface="Calibri" panose="020F0502020204030204" pitchFamily="34" charset="0"/>
                  </a:rPr>
                  <a:t>Função densidade de probabilidade (</a:t>
                </a:r>
                <a:r>
                  <a:rPr lang="pt-BR" sz="2400" dirty="0" err="1">
                    <a:cs typeface="Calibri" panose="020F0502020204030204" pitchFamily="34" charset="0"/>
                  </a:rPr>
                  <a:t>f.d.p</a:t>
                </a:r>
                <a:r>
                  <a:rPr lang="pt-BR" sz="2400" dirty="0">
                    <a:cs typeface="Calibri" panose="020F0502020204030204" pitchFamily="34" charset="0"/>
                  </a:rPr>
                  <a:t>)</a:t>
                </a:r>
              </a:p>
              <a:p>
                <a:endParaRPr lang="pt-BR" sz="2800" dirty="0"/>
              </a:p>
              <a:p>
                <a:endParaRPr lang="pt-BR" sz="2800" dirty="0"/>
              </a:p>
              <a:p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120" y="748589"/>
                <a:ext cx="10571759" cy="3046988"/>
              </a:xfrm>
              <a:prstGeom prst="rect">
                <a:avLst/>
              </a:prstGeom>
              <a:blipFill>
                <a:blip r:embed="rId2"/>
                <a:stretch>
                  <a:fillRect l="-92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ACD818C-B3F0-A529-404F-AC83E66C45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18" y="2873123"/>
            <a:ext cx="9801218" cy="3022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4295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636522" y="618338"/>
                <a:ext cx="10789124" cy="40053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Exemplo. </a:t>
                </a:r>
                <a:r>
                  <a:rPr lang="pt-BR" sz="2400" dirty="0"/>
                  <a:t>A duração de uma sessão em um app de vídeos curtos segue uma distribuição exponencial com média de 8 minutos.</a:t>
                </a:r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Seja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pt-BR" sz="2400" dirty="0"/>
                  <a:t> a duração de uma sessão, em minutos.</a:t>
                </a:r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Qual a probabilidade de uma sessão durar mais de 15 minutos? E de durar no máximo 2 minutos?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522" y="618338"/>
                <a:ext cx="10789124" cy="4005392"/>
              </a:xfrm>
              <a:prstGeom prst="rect">
                <a:avLst/>
              </a:prstGeom>
              <a:blipFill>
                <a:blip r:embed="rId2"/>
                <a:stretch>
                  <a:fillRect l="-847" b="-30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42883049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636522" y="618338"/>
                <a:ext cx="10789124" cy="53447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Resolução: </a:t>
                </a:r>
                <a:r>
                  <a:rPr lang="pt-BR" sz="2400" dirty="0"/>
                  <a:t>Vamos resolver o exemplo usando o modelo exponencial 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pt-BR" sz="2400" i="1" dirty="0">
                        <a:latin typeface="Cambria Math" panose="02040503050406030204" pitchFamily="18" charset="0"/>
                      </a:rPr>
                      <m:t> ~ </m:t>
                    </m:r>
                    <m:r>
                      <a:rPr lang="pt-BR" sz="2400" i="1" dirty="0" err="1">
                        <a:latin typeface="Cambria Math" panose="02040503050406030204" pitchFamily="18" charset="0"/>
                      </a:rPr>
                      <m:t>𝐸𝑥𝑝</m:t>
                    </m:r>
                    <m:r>
                      <a:rPr lang="pt-BR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pt-BR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Pelo slide anterior, a média da variável exponencial é 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pt-BR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𝜆</m:t>
                        </m:r>
                      </m:den>
                    </m:f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pt-BR" sz="2400" dirty="0"/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Pelo enunciado, o tempo médio é 8 minutos, então 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=1/8</m:t>
                    </m:r>
                  </m:oMath>
                </a14:m>
                <a:r>
                  <a:rPr lang="pt-BR" sz="2400" dirty="0"/>
                  <a:t> por minuto. Assim, 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~ </m:t>
                    </m:r>
                    <m:r>
                      <a:rPr lang="pt-BR" sz="2400" i="1" dirty="0" err="1" smtClean="0">
                        <a:latin typeface="Cambria Math" panose="02040503050406030204" pitchFamily="18" charset="0"/>
                      </a:rPr>
                      <m:t>𝐸𝑥𝑝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(1/8).</m:t>
                    </m:r>
                  </m:oMath>
                </a14:m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Portanto,</a:t>
                </a:r>
                <a:endParaRPr lang="pt-BR" sz="240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&gt;15</m:t>
                          </m:r>
                        </m:e>
                      </m:d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pt-BR" sz="2400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sz="2400" b="0" i="1" dirty="0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sub>
                        <m:sup>
                          <m:r>
                            <a:rPr lang="pt-BR" sz="2400" b="0" i="1" dirty="0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𝜆</m:t>
                          </m:r>
                          <m:sSup>
                            <m:sSup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pt-BR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pt-BR" sz="2400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sz="2400" b="0" i="0" dirty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pt-BR" sz="2400" b="0" i="1" dirty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pt-BR" sz="2400" b="0" i="1" dirty="0" smtClean="0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trlPr>
                                <a:rPr lang="pt-BR" sz="2400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pt-BR" sz="2400" i="1" dirty="0"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</m:sub>
                            <m:sup>
                              <m:r>
                                <a:rPr lang="pt-BR" sz="2400" b="0" i="1" dirty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pt-BR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sz="2400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pt-BR" sz="2400" b="0" i="1" dirty="0" smtClean="0"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8</m:t>
                                      </m:r>
                                    </m:den>
                                  </m:f>
                                  <m: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e>
                          </m:nary>
                        </m:e>
                      </m:func>
                      <m:r>
                        <a:rPr lang="pt-BR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pt-BR" sz="2400" i="1" dirty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pt-BR" sz="2400" dirty="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pt-BR" sz="2400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pt-BR" sz="2400" i="1" dirty="0">
                              <a:latin typeface="Cambria Math" panose="02040503050406030204" pitchFamily="18" charset="0"/>
                            </a:rPr>
                            <m:t>→∞</m:t>
                          </m:r>
                        </m:lim>
                      </m:limLow>
                      <m:sSubSup>
                        <m:sSubSupPr>
                          <m:ctrlPr>
                            <a:rPr lang="pt-BR" sz="24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ctrlPr>
                                <a:rPr lang="pt-BR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  <m:t>8</m:t>
                                      </m:r>
                                    </m:den>
                                  </m:f>
                                  <m: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</m:e>
                          </m:d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sub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</m:oMath>
                  </m:oMathPara>
                </a14:m>
                <a:endParaRPr lang="pt-BR" sz="2400" b="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pt-BR" sz="2400" i="1" dirty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pt-BR" sz="2400" dirty="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pt-BR" sz="2400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pt-BR" sz="2400" i="1" dirty="0">
                              <a:latin typeface="Cambria Math" panose="02040503050406030204" pitchFamily="18" charset="0"/>
                            </a:rPr>
                            <m:t>→∞</m:t>
                          </m:r>
                        </m:lim>
                      </m:limLow>
                      <m:r>
                        <a:rPr lang="pt-BR" sz="2400" i="1" dirty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sup>
                      </m:sSup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15</m:t>
                          </m:r>
                        </m:sup>
                      </m:sSup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≈0,153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522" y="618338"/>
                <a:ext cx="10789124" cy="5344796"/>
              </a:xfrm>
              <a:prstGeom prst="rect">
                <a:avLst/>
              </a:prstGeom>
              <a:blipFill>
                <a:blip r:embed="rId2"/>
                <a:stretch>
                  <a:fillRect l="-84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28241263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636522" y="618338"/>
                <a:ext cx="10789124" cy="13572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pt-BR" sz="2400" b="0" i="1" dirty="0" smtClean="0">
                              <a:latin typeface="Cambria Math" panose="02040503050406030204" pitchFamily="18" charset="0"/>
                            </a:rPr>
                            <m:t>≤2</m:t>
                          </m:r>
                        </m:e>
                      </m:d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pt-BR" sz="2400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sz="24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pt-BR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  <m:e>
                          <m:f>
                            <m:fPr>
                              <m:ctrlPr>
                                <a:rPr lang="pt-BR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t-BR" sz="2400" b="0" i="1" dirty="0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  <m:sSup>
                            <m:sSup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den>
                              </m:f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pt-BR" sz="24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ctrlPr>
                                <a:rPr lang="pt-BR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  <m:t>8</m:t>
                                      </m:r>
                                    </m:den>
                                  </m:f>
                                  <m: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</m:e>
                          </m:d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i="1" dirty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sup>
                      </m:sSup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+1≈0,221.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522" y="618338"/>
                <a:ext cx="10789124" cy="13572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23206504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749166" y="428077"/>
            <a:ext cx="10067277" cy="5021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dirty="0"/>
              <a:t>Atividades referentes à aula</a:t>
            </a:r>
          </a:p>
          <a:p>
            <a:pPr>
              <a:lnSpc>
                <a:spcPct val="150000"/>
              </a:lnSpc>
            </a:pPr>
            <a:r>
              <a:rPr lang="pt-BR" sz="2400" dirty="0"/>
              <a:t>Leitura recomendada: 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Bussab &amp; Morettin — Cap. 7: 7.4.1, 7.4.3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Montgomery &amp; Runger — Cap. 4: 4.4, 4.7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Magalhães &amp; Lima — Cap. 6: 6.2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Morettin — Cap. 5: 5.2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6707389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749166" y="428077"/>
            <a:ext cx="10067277" cy="5021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dirty="0"/>
              <a:t>Atividades referentes à aula (continuação)</a:t>
            </a:r>
          </a:p>
          <a:p>
            <a:pPr>
              <a:lnSpc>
                <a:spcPct val="150000"/>
              </a:lnSpc>
            </a:pPr>
            <a:r>
              <a:rPr lang="pt-BR" sz="2400" dirty="0"/>
              <a:t>Exercícios recomendados: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Bussab &amp; Morettin — Cap. 7: Problemas 13 e 21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Magalhães &amp; Lima — Cap. 6 (6.3 Exercícios): 18, 20, 21, 22 e 23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Montgomery &amp; Runger — Cap. 4: 4.4.1, 4.4.2, 4.4.3, 4.4.4, 4.4.5, 4.7.1, 4.7.2, 4.7.4, 4.7.5 e 4.7.7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Morettin — Cap. 5: Exercícios 9, 10 e 12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4860</TotalTime>
  <Words>1232</Words>
  <Application>Microsoft Office PowerPoint</Application>
  <PresentationFormat>Widescreen</PresentationFormat>
  <Paragraphs>125</Paragraphs>
  <Slides>19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6" baseType="lpstr">
      <vt:lpstr>AlternateGothic2 BT</vt:lpstr>
      <vt:lpstr>Arial</vt:lpstr>
      <vt:lpstr>Calibri</vt:lpstr>
      <vt:lpstr>Calibri Light</vt:lpstr>
      <vt:lpstr>Cambria Math</vt:lpstr>
      <vt:lpstr>ProximaNova</vt:lpstr>
      <vt:lpstr>Tema do Office</vt:lpstr>
      <vt:lpstr>CEA055 – Estatística e Probabilidade Modelos Contínuos I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Marcos Goulart Lima</dc:creator>
  <cp:lastModifiedBy>Marcos Goulart Lima</cp:lastModifiedBy>
  <cp:revision>196</cp:revision>
  <dcterms:created xsi:type="dcterms:W3CDTF">2020-07-20T19:35:15Z</dcterms:created>
  <dcterms:modified xsi:type="dcterms:W3CDTF">2026-10-07T18:42:08Z</dcterms:modified>
</cp:coreProperties>
</file>