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900" r:id="rId2"/>
    <p:sldId id="902" r:id="rId3"/>
    <p:sldId id="903" r:id="rId4"/>
    <p:sldId id="904" r:id="rId5"/>
    <p:sldId id="905" r:id="rId6"/>
    <p:sldId id="906" r:id="rId7"/>
    <p:sldId id="907" r:id="rId8"/>
    <p:sldId id="908" r:id="rId9"/>
    <p:sldId id="909" r:id="rId10"/>
    <p:sldId id="910" r:id="rId11"/>
    <p:sldId id="911" r:id="rId12"/>
    <p:sldId id="912" r:id="rId13"/>
    <p:sldId id="913" r:id="rId14"/>
    <p:sldId id="914" r:id="rId15"/>
    <p:sldId id="915" r:id="rId16"/>
    <p:sldId id="916" r:id="rId17"/>
    <p:sldId id="920" r:id="rId18"/>
    <p:sldId id="917" r:id="rId19"/>
    <p:sldId id="921" r:id="rId20"/>
    <p:sldId id="922" r:id="rId21"/>
    <p:sldId id="918" r:id="rId22"/>
    <p:sldId id="919" r:id="rId23"/>
    <p:sldId id="923" r:id="rId2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84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849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169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2376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95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Contínuas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Objetivos da </a:t>
            </a:r>
            <a:r>
              <a:rPr lang="pt-BR" sz="2400" b="1" dirty="0"/>
              <a:t>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Definir variável aleatória contínua e sua função densidade de probabilidade.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Calcular valor esperado e variância de variáveis aleatórias contínuas.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(7.1 a 7.3)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(4.2, 4.3)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5 (5.1)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4774EBB-6451-E61C-EF46-55ED7E5CE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539" y="518947"/>
                <a:ext cx="10787610" cy="504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Variáveis aleatórias contínuas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Vamos comparar um histograma com a </a:t>
                </a:r>
                <a:r>
                  <a:rPr lang="pt-BR" sz="2800" b="1" dirty="0"/>
                  <a:t>distribuição de probabilidade</a:t>
                </a:r>
                <a:r>
                  <a:rPr lang="pt-BR" sz="2800" dirty="0"/>
                  <a:t> de uma variável aleatória discreta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Em um histograma a área das barras corresponde frequência (probabilidade) da realização.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O gráfico da distribuição de probabilidade exibe a probabilidade de cada valor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: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9" y="518947"/>
                <a:ext cx="10787610" cy="5047536"/>
              </a:xfrm>
              <a:prstGeom prst="rect">
                <a:avLst/>
              </a:prstGeom>
              <a:blipFill>
                <a:blip r:embed="rId2"/>
                <a:stretch>
                  <a:fillRect l="-1187" r="-7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89090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5669" y="730982"/>
                <a:ext cx="1027770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Considere a variável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com a seguinte distribuição de probabilidade.</a:t>
                </a:r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>Vamos analisar o histograma da 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69" y="730982"/>
                <a:ext cx="10277702" cy="4832092"/>
              </a:xfrm>
              <a:prstGeom prst="rect">
                <a:avLst/>
              </a:prstGeom>
              <a:blipFill>
                <a:blip r:embed="rId2"/>
                <a:stretch>
                  <a:fillRect l="-1186" t="-1261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5527954"/>
                  </p:ext>
                </p:extLst>
              </p:nvPr>
            </p:nvGraphicFramePr>
            <p:xfrm>
              <a:off x="1340402" y="174255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5527954"/>
                  </p:ext>
                </p:extLst>
              </p:nvPr>
            </p:nvGraphicFramePr>
            <p:xfrm>
              <a:off x="1340402" y="174255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332" t="-1429" r="-101329" b="-5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667" t="-1429" r="-1667" b="-5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5F103FFB-DFFA-3D63-53DB-A728E66CD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252" y="1742550"/>
            <a:ext cx="3657705" cy="29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1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8678" y="839025"/>
                <a:ext cx="10277702" cy="454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função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definida sobre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 e </a:t>
                </a:r>
                <a:r>
                  <a:rPr lang="pt-BR" sz="2800" b="1" dirty="0"/>
                  <a:t>assumindo valores num intervalo de números reais</a:t>
                </a:r>
                <a:r>
                  <a:rPr lang="pt-BR" sz="2800" dirty="0"/>
                  <a:t>, é dita uma variável aleatória contínua.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Assim, a distribuição de probabilidade passa a ser representada por uma curva "alisada" (a função densidade de probabilidade, que veremos a seguir)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8" y="839025"/>
                <a:ext cx="10277702" cy="4549835"/>
              </a:xfrm>
              <a:prstGeom prst="rect">
                <a:avLst/>
              </a:prstGeom>
              <a:blipFill>
                <a:blip r:embed="rId2"/>
                <a:stretch>
                  <a:fillRect l="-1246" r="-1839" b="-29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82E024B-08FD-0BFC-4367-B96C3C37F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92" y="4755717"/>
            <a:ext cx="374384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5426" y="465938"/>
            <a:ext cx="10827959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Considere um relógio de ponteiros de maneira que o </a:t>
            </a:r>
            <a:r>
              <a:rPr lang="pt-BR" sz="2800" u="sng" dirty="0"/>
              <a:t>ponteiro dos segundos</a:t>
            </a:r>
            <a:r>
              <a:rPr lang="pt-BR" sz="2800" dirty="0"/>
              <a:t> pode parar a qualquer instante, devido a algum defeito técnico, ou término da bateria.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Defina a seguinte v.a. discreta: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X: é ângulo que esse ponteiro forma com o eixo vertical passando pelo centro do mostrador e pelo número XII. (quando o ponteiro para).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9382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053795"/>
            <a:ext cx="10827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Distribuição de probabilidade de X: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87F0ED-589D-477C-8BD0-20CA8D580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7" y="2316997"/>
            <a:ext cx="10096362" cy="19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4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5426" y="730982"/>
                <a:ext cx="1082795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replicar o exemplo para um ponteiro que se move de maneira </a:t>
                </a:r>
                <a:r>
                  <a:rPr lang="pt-BR" sz="2800" b="1" dirty="0"/>
                  <a:t>contínua</a:t>
                </a:r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X: é ângulo que esse ponteiro forma com o eixo vertical passando pelo centro do mostrador e pelo número XII. (quando o ponteiro para).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 é uma variável contínua,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∈[0,360[. 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Como calcular a função de probabilidade de X?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6" y="730982"/>
                <a:ext cx="10827959" cy="3970318"/>
              </a:xfrm>
              <a:prstGeom prst="rect">
                <a:avLst/>
              </a:prstGeom>
              <a:blipFill>
                <a:blip r:embed="rId2"/>
                <a:stretch>
                  <a:fillRect l="-1182" t="-1536" r="-1464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9821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8922" y="651469"/>
            <a:ext cx="108279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Vamos usar um histograma para nos auxiliar: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EAB44A-357F-4D57-9205-F8A8A34F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43" y="1572037"/>
            <a:ext cx="10677035" cy="39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6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2020" y="518947"/>
                <a:ext cx="10827959" cy="5436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O histograma corresponde a seguinte função: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Para calcularmos a probabilidade do ponteiro parar, temos que calcular a área hachurada (entre a e b). O que, matematicamente, corresponde 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20" y="518947"/>
                <a:ext cx="10827959" cy="5436425"/>
              </a:xfrm>
              <a:prstGeom prst="rect">
                <a:avLst/>
              </a:prstGeom>
              <a:blipFill>
                <a:blip r:embed="rId2"/>
                <a:stretch>
                  <a:fillRect l="-1182" r="-6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FA588D-13C9-4FA1-9968-ED0D1CDD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91" y="1391352"/>
            <a:ext cx="4945940" cy="137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5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75061" y="552078"/>
                <a:ext cx="10827959" cy="560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função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800" dirty="0"/>
                  <a:t> é de probabilidade ou </a:t>
                </a:r>
                <a:r>
                  <a:rPr lang="pt-BR" sz="2800" b="1" dirty="0"/>
                  <a:t>função densidade de probabilidade</a:t>
                </a:r>
                <a:r>
                  <a:rPr lang="pt-BR" sz="2800" dirty="0"/>
                  <a:t> para uma variável aleatória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se: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pt-BR" sz="2800" dirty="0"/>
                  <a:t> para todo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área definida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é igual a 1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Calcularemos probabilidade de intervalos usando a integral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61" y="552078"/>
                <a:ext cx="10827959" cy="5609100"/>
              </a:xfrm>
              <a:prstGeom prst="rect">
                <a:avLst/>
              </a:prstGeom>
              <a:blipFill>
                <a:blip r:embed="rId2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0979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64878" y="445603"/>
                <a:ext cx="10827959" cy="604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Propriedades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a função de probabilidade da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78" y="445603"/>
                <a:ext cx="10827959" cy="6043065"/>
              </a:xfrm>
              <a:prstGeom prst="rect">
                <a:avLst/>
              </a:prstGeom>
              <a:blipFill>
                <a:blip r:embed="rId2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4381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5670" y="591834"/>
                <a:ext cx="10827959" cy="530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Propriedades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Observe que, se existir, podemos encontrar a função 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 a partir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70" y="591834"/>
                <a:ext cx="10827959" cy="5301259"/>
              </a:xfrm>
              <a:prstGeom prst="rect">
                <a:avLst/>
              </a:prstGeom>
              <a:blipFill>
                <a:blip r:embed="rId2"/>
                <a:stretch>
                  <a:fillRect l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5956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65330"/>
                <a:ext cx="10827959" cy="489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Considere a variável associada ao movimento do ponteiro de segundos do relógio.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densidade de probabilidade: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Distribuição de probabilidade: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den>
                        </m:f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=180.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65330"/>
                <a:ext cx="10827959" cy="4897174"/>
              </a:xfrm>
              <a:prstGeom prst="rect">
                <a:avLst/>
              </a:prstGeom>
              <a:blipFill>
                <a:blip r:embed="rId2"/>
                <a:stretch>
                  <a:fillRect l="-1182" t="-12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20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2020" y="532199"/>
                <a:ext cx="10827959" cy="4869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−180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−360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+180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180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=10800.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Desvio padrão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=103,9230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20" y="532199"/>
                <a:ext cx="10827959" cy="4869475"/>
              </a:xfrm>
              <a:prstGeom prst="rect">
                <a:avLst/>
              </a:prstGeom>
              <a:blipFill>
                <a:blip r:embed="rId2"/>
                <a:stretch>
                  <a:fillRect l="-1014" t="-1126" b="-2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32339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5426" y="532200"/>
                <a:ext cx="10827959" cy="418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800" b="0" dirty="0"/>
              </a:p>
              <a:p>
                <a:pPr>
                  <a:lnSpc>
                    <a:spcPct val="150000"/>
                  </a:lnSpc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6" y="532200"/>
                <a:ext cx="10827959" cy="4182107"/>
              </a:xfrm>
              <a:prstGeom prst="rect">
                <a:avLst/>
              </a:prstGeo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44320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573" y="675505"/>
                <a:ext cx="10827959" cy="275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Verifique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+3,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≤2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≤0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≥2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b="1" dirty="0"/>
                  <a:t> ,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é uma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73" y="675505"/>
                <a:ext cx="10827959" cy="2759923"/>
              </a:xfrm>
              <a:prstGeom prst="rect">
                <a:avLst/>
              </a:prstGeom>
              <a:blipFill>
                <a:blip r:embed="rId3"/>
                <a:stretch>
                  <a:fillRect l="-1182" b="-52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5553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573" y="675505"/>
                <a:ext cx="10827959" cy="4761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 </a:t>
                </a:r>
                <a:r>
                  <a:rPr lang="pt-BR" sz="2800" dirty="0"/>
                  <a:t>Uma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 precisa satisfazer duas condições: 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 ≥ 0</m:t>
                    </m:r>
                  </m:oMath>
                </a14:m>
                <a:r>
                  <a:rPr lang="pt-BR" sz="2800" dirty="0"/>
                  <a:t> para todo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, 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r>
                  <a:rPr lang="pt-BR" sz="2800" dirty="0"/>
                  <a:t>a área total sob a curva deve ser igual a 1.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1. Para 0 ≤ x ≤ 2, temos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+3 ≥ 3 &gt; 0 </m:t>
                    </m:r>
                  </m:oMath>
                </a14:m>
                <a:r>
                  <a:rPr lang="pt-BR" sz="2800" dirty="0"/>
                  <a:t>sempre (é uma reta crescente, nunca negativa nesse intervalo).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2.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∫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r>
                      <a:rPr lang="pt-BR" sz="2800" i="1" dirty="0" err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800" i="1" dirty="0">
                        <a:latin typeface="Cambria Math" panose="02040503050406030204" pitchFamily="18" charset="0"/>
                      </a:rPr>
                      <m:t>=(4+6) − 0=10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73" y="675505"/>
                <a:ext cx="10827959" cy="4761240"/>
              </a:xfrm>
              <a:prstGeom prst="rect">
                <a:avLst/>
              </a:prstGeom>
              <a:blipFill>
                <a:blip r:embed="rId3"/>
                <a:stretch>
                  <a:fillRect l="-1182" b="-19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30003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45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971539" lvl="1" indent="-514350">
                  <a:buFont typeface="+mj-lt"/>
                  <a:buAutoNum type="alphaLcParenR"/>
                </a:pPr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4500591"/>
              </a:xfrm>
              <a:prstGeom prst="rect">
                <a:avLst/>
              </a:prstGeom>
              <a:blipFill>
                <a:blip r:embed="rId3"/>
                <a:stretch>
                  <a:fillRect l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/>
              <p:nvPr/>
            </p:nvSpPr>
            <p:spPr>
              <a:xfrm>
                <a:off x="715108" y="1853519"/>
                <a:ext cx="10738338" cy="3256084"/>
              </a:xfrm>
              <a:prstGeom prst="rect">
                <a:avLst/>
              </a:prstGeom>
              <a:noFill/>
            </p:spPr>
            <p:txBody>
              <a:bodyPr wrap="square" numCol="2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Determinar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a fim de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seja </a:t>
                </a:r>
                <a:r>
                  <a:rPr lang="pt-BR" sz="2800" dirty="0" err="1"/>
                  <a:t>f.d.p</a:t>
                </a:r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o 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853519"/>
                <a:ext cx="10738338" cy="3256084"/>
              </a:xfrm>
              <a:prstGeom prst="rect">
                <a:avLst/>
              </a:prstGeom>
              <a:blipFill>
                <a:blip r:embed="rId4"/>
                <a:stretch>
                  <a:fillRect l="-1192" b="-4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17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5570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</a:t>
                </a:r>
              </a:p>
              <a:p>
                <a:pPr marL="514350" indent="-514350">
                  <a:lnSpc>
                    <a:spcPct val="150000"/>
                  </a:lnSpc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nary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=1⇒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Logo,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, para 0 ≤ x ≤ 1.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b) Gráfico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0≤ 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d)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5570243"/>
              </a:xfrm>
              <a:prstGeom prst="rect">
                <a:avLst/>
              </a:prstGeom>
              <a:blipFill>
                <a:blip r:embed="rId3"/>
                <a:stretch>
                  <a:fillRect l="-1182" b="-5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08071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4352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e)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f)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pt-BR" sz="2800" i="1" dirty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b="0" i="1" dirty="0">
                    <a:latin typeface="Cambria Math" panose="02040503050406030204" pitchFamily="18" charset="0"/>
                  </a:rPr>
                  <a:t>, </a:t>
                </a:r>
                <a:r>
                  <a:rPr lang="pt-BR" sz="2800" dirty="0"/>
                  <a:t>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 ≤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≤ 1</m:t>
                    </m:r>
                  </m:oMath>
                </a14:m>
                <a:r>
                  <a:rPr lang="pt-BR" sz="2800" dirty="0"/>
                  <a:t>;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)=0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&lt;0;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)=1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g) Gráfico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4352987"/>
              </a:xfrm>
              <a:prstGeom prst="rect">
                <a:avLst/>
              </a:prstGeom>
              <a:blipFill>
                <a:blip r:embed="rId3"/>
                <a:stretch>
                  <a:fillRect l="-1126" b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20277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7077" y="556235"/>
                <a:ext cx="10827959" cy="4747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​≤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​≤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≤1/2​</m:t>
                              </m:r>
                            </m:e>
                          </m:d>
                        </m:num>
                        <m:den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​≤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≤2/3​</m:t>
                              </m:r>
                            </m:e>
                          </m:d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/3</m:t>
                              </m:r>
                            </m:sub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nary>
                            <m:nary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/3</m:t>
                              </m:r>
                            </m:sub>
                            <m:sup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𝑥𝑑𝑥</m:t>
                              </m:r>
                            </m:e>
                          </m:nary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5/36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7" y="556235"/>
                <a:ext cx="10827959" cy="4747325"/>
              </a:xfrm>
              <a:prstGeom prst="rect">
                <a:avLst/>
              </a:prstGeo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2121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5547" y="514216"/>
            <a:ext cx="1006727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7.1 a 7.3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4.2, 4.3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6: 6.1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</a:t>
            </a:r>
            <a:r>
              <a:rPr lang="pt-BR" sz="2400"/>
              <a:t>: 5.1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18700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5547" y="514216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</a:t>
            </a:r>
            <a:r>
              <a:rPr lang="pt-BR" sz="2400" b="1"/>
              <a:t>à aula (continuação)</a:t>
            </a:r>
            <a:endParaRPr lang="pt-BR" sz="2400" b="1" dirty="0"/>
          </a:p>
          <a:p>
            <a:pPr>
              <a:lnSpc>
                <a:spcPct val="150000"/>
              </a:lnSpc>
            </a:pPr>
            <a:r>
              <a:rPr lang="pt-BR" sz="2400"/>
              <a:t>Exercícios recomendados:</a:t>
            </a:r>
            <a:endParaRPr lang="it-IT" sz="24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/>
              <a:t>Bussab &amp; Morettin — Cap. 7: Problemas 1, 2, 4, 5, 6, 7, 9, 10, 11 e 12</a:t>
            </a:r>
            <a:endParaRPr lang="pt-BR" sz="24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Magalhães &amp; Lima — Cap. 6 (6.3 Exercícios): 3, 4, 5, 6, 7, 8, 11 e 14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Montgomery &amp; Runger — Cap. 4: Exercícios 4.2.1, 4.2.6, 4.2.8, 4.2.9, 4.3.1, 4.3.2, 4.3.6 e 4.3.7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Morettin — Cap. 5: Exercícios 1, 3, 4, 5, 6, 7, 9, 10 e 11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508867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A33B9A-D80D-4603-B2E2-70A773CD36D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447b953-2d32-4d70-ba74-f871bdc0ff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4386</TotalTime>
  <Words>1390</Words>
  <Application>Microsoft Office PowerPoint</Application>
  <PresentationFormat>Widescreen</PresentationFormat>
  <Paragraphs>186</Paragraphs>
  <Slides>23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Variáveis Aleatórias Contínuas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182</cp:revision>
  <dcterms:created xsi:type="dcterms:W3CDTF">2020-07-20T19:35:15Z</dcterms:created>
  <dcterms:modified xsi:type="dcterms:W3CDTF">2026-10-22T03:32:36Z</dcterms:modified>
</cp:coreProperties>
</file>