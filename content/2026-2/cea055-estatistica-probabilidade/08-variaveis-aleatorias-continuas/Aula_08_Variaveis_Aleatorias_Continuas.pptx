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900" r:id="rId25"/>
    <p:sldId id="269" r:id="rId2"/>
    <p:sldId id="286" r:id="rId3"/>
    <p:sldId id="287" r:id="rId4"/>
    <p:sldId id="285" r:id="rId5"/>
    <p:sldId id="271" r:id="rId6"/>
    <p:sldId id="272" r:id="rId7"/>
    <p:sldId id="274" r:id="rId8"/>
    <p:sldId id="275" r:id="rId9"/>
    <p:sldId id="276" r:id="rId10"/>
    <p:sldId id="277" r:id="rId11"/>
    <p:sldId id="279" r:id="rId12"/>
    <p:sldId id="280" r:id="rId13"/>
    <p:sldId id="282" r:id="rId14"/>
    <p:sldId id="284" r:id="rId15"/>
    <p:sldId id="266" r:id="rId16"/>
    <p:sldId id="288" r:id="rId17"/>
    <p:sldId id="289" r:id="rId18"/>
    <p:sldId id="901" r:id="rId2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51.xml"/><Relationship Id="rId26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8494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95528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21/08/2024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Variáveis aleatórias contínuas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Vamos comparar um histograma com a </a:t>
                </a:r>
                <a:r>
                  <a:rPr lang="pt-BR" sz="2800" dirty="0" err="1"/>
                  <a:t>f.d</a:t>
                </a:r>
                <a:r>
                  <a:rPr lang="pt-BR" sz="2800" dirty="0"/>
                  <a:t>. de uma variável aleatória discreta (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).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Em um histograma a área das barras corresponde frequência da realização.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O gráfico de um </a:t>
                </a:r>
                <a:r>
                  <a:rPr lang="pt-BR" sz="2800" dirty="0" err="1"/>
                  <a:t>f.d</a:t>
                </a:r>
                <a:r>
                  <a:rPr lang="pt-BR" sz="2800" dirty="0"/>
                  <a:t xml:space="preserve">. exibe a frequência da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: 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r="-18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5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27770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Considere a variável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com a seguinte distribuição de probabilidade.</a:t>
                </a:r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Vamos analisar o histograma da 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277702" cy="4832092"/>
              </a:xfrm>
              <a:prstGeom prst="rect">
                <a:avLst/>
              </a:prstGeom>
              <a:blipFill>
                <a:blip r:embed="rId2"/>
                <a:stretch>
                  <a:fillRect l="-1246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548720"/>
                  </p:ext>
                </p:extLst>
              </p:nvPr>
            </p:nvGraphicFramePr>
            <p:xfrm>
              <a:off x="1559063" y="231902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548720"/>
                  </p:ext>
                </p:extLst>
              </p:nvPr>
            </p:nvGraphicFramePr>
            <p:xfrm>
              <a:off x="1559063" y="231902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332" t="-1429" r="-100997" b="-51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100667" t="-1429" r="-1333" b="-51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5F103FFB-DFFA-3D63-53DB-A728E66CD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260" y="2319019"/>
            <a:ext cx="3657705" cy="29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1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27770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Definição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Uma função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, definida sobre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 xml:space="preserve"> e </a:t>
                </a:r>
                <a:r>
                  <a:rPr lang="pt-BR" sz="2800" b="1" dirty="0"/>
                  <a:t>assumindo valores num intervalo de números reais</a:t>
                </a:r>
                <a:r>
                  <a:rPr lang="pt-BR" sz="2800" dirty="0"/>
                  <a:t>, é dita uma variável aleatória contínua.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Assim, a função de distribuição é representada por uma curva “alisada”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277702" cy="3539430"/>
              </a:xfrm>
              <a:prstGeom prst="rect">
                <a:avLst/>
              </a:prstGeom>
              <a:blipFill>
                <a:blip r:embed="rId2"/>
                <a:stretch>
                  <a:fillRect l="-1246" t="-1549" r="-1839" b="-39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82E024B-08FD-0BFC-4367-B96C3C37F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215" y="4678665"/>
            <a:ext cx="374384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0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8279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 xml:space="preserve">Considere um relógio de ponteiros de maneira que o </a:t>
            </a:r>
            <a:r>
              <a:rPr lang="pt-BR" sz="2800" u="sng" dirty="0"/>
              <a:t>ponteiro dos segundos</a:t>
            </a:r>
            <a:r>
              <a:rPr lang="pt-BR" sz="2800" dirty="0"/>
              <a:t xml:space="preserve"> pode parar a qualquer instante, devido a algum defeito técnico, ou término da bateria.</a:t>
            </a:r>
          </a:p>
          <a:p>
            <a:endParaRPr lang="pt-BR" sz="2800" dirty="0"/>
          </a:p>
          <a:p>
            <a:r>
              <a:rPr lang="pt-BR" sz="2800" dirty="0"/>
              <a:t>Defina a seguinte v.a. discreta: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X: é ângulo que esse ponteiro forma com o eixo vertical passando pelo centro do mostrador e pelo número XII. (quando o ponteiro para).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3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827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Distribuição de probabilidade de X: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87F0ED-589D-477C-8BD0-20CA8D580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7" y="2316997"/>
            <a:ext cx="10096362" cy="19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2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Vamos replicar o exemplo para um ponteiro que se move de maneira </a:t>
                </a:r>
                <a:r>
                  <a:rPr lang="pt-BR" sz="2800" b="1" dirty="0"/>
                  <a:t>contínua</a:t>
                </a:r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X: é ângulo que esse ponteiro forma com o eixo vertical passando pelo centro do mostrador e pelo número XII. (quando o ponteiro para).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X é uma variável contínua,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∈[0,360[. 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Como calcular a função de probabilidade de X?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blipFill>
                <a:blip r:embed="rId2"/>
                <a:stretch>
                  <a:fillRect l="-1182" t="-1382" r="-1464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5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8279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Vamos usar um histograma para nos auxiliar: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EAB44A-357F-4D57-9205-F8A8A34F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10" y="2201516"/>
            <a:ext cx="10677035" cy="39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5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947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O histograma corresponde a seguinte função: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Para calcularmos a probabilidade do ponteiro parar, temos que calcular a área hachurada (entre a e b). O que, matematicamente, corresponde a: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947701"/>
              </a:xfrm>
              <a:prstGeom prst="rect">
                <a:avLst/>
              </a:prstGeom>
              <a:blipFill>
                <a:blip r:embed="rId2"/>
                <a:stretch>
                  <a:fillRect l="-1182" t="-1108" r="-6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EFA588D-13C9-4FA1-9968-ED0D1CDD1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956" y="2213390"/>
            <a:ext cx="4945940" cy="137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3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506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Definição</a:t>
                </a:r>
              </a:p>
              <a:p>
                <a:r>
                  <a:rPr lang="pt-BR" sz="2800" dirty="0"/>
                  <a:t xml:space="preserve">Uma função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800" dirty="0"/>
                  <a:t xml:space="preserve"> é de probabilidade ou </a:t>
                </a:r>
                <a:r>
                  <a:rPr lang="pt-BR" sz="2800" b="1" dirty="0"/>
                  <a:t>função densidade de probabilidade</a:t>
                </a:r>
                <a:r>
                  <a:rPr lang="pt-BR" sz="2800" dirty="0"/>
                  <a:t xml:space="preserve"> para uma variável aleatória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se: 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pt-BR" sz="2800" dirty="0"/>
                  <a:t xml:space="preserve"> para todo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A área definida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é igual a 1 (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   </m:t>
                    </m:r>
                  </m:oMath>
                </a14:m>
                <a:r>
                  <a:rPr lang="pt-BR" sz="2800" dirty="0"/>
                  <a:t>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Calcularemos probabilidade de intervalos usando a integral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5062796"/>
              </a:xfrm>
              <a:prstGeom prst="rect">
                <a:avLst/>
              </a:prstGeom>
              <a:blipFill>
                <a:blip r:embed="rId2"/>
                <a:stretch>
                  <a:fillRect l="-1182" t="-10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28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96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Propriedades</a:t>
                </a:r>
              </a:p>
              <a:p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a função de probabilidade da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 xml:space="preserve"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967770"/>
              </a:xfrm>
              <a:prstGeom prst="rect">
                <a:avLst/>
              </a:prstGeom>
              <a:blipFill>
                <a:blip r:embed="rId2"/>
                <a:stretch>
                  <a:fillRect l="-1182" t="-11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9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528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Propriedades</a:t>
                </a:r>
              </a:p>
              <a:p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Observe que, se existir, podemos encontrar a função 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 xml:space="preserve"> a partir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5288499"/>
              </a:xfrm>
              <a:prstGeom prst="rect">
                <a:avLst/>
              </a:prstGeom>
              <a:blipFill>
                <a:blip r:embed="rId2"/>
                <a:stretch>
                  <a:fillRect l="-1182" t="-10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9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>Considere a variável associada ao movimento do ponteiro de segundos do relógio.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Função densidade de probabilidade: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Distribuição de probabilidade: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den>
                        </m:f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=180.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97174"/>
              </a:xfrm>
              <a:prstGeom prst="rect">
                <a:avLst/>
              </a:prstGeom>
              <a:blipFill>
                <a:blip r:embed="rId2"/>
                <a:stretch>
                  <a:fillRect l="-1182" t="-1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7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69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−180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−360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+180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180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=10800.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Desvio padrão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=103,9230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69475"/>
              </a:xfrm>
              <a:prstGeom prst="rect">
                <a:avLst/>
              </a:prstGeom>
              <a:blipFill>
                <a:blip r:embed="rId2"/>
                <a:stretch>
                  <a:fillRect l="-1014" t="-1126" b="-2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30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818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818849"/>
              </a:xfrm>
              <a:prstGeom prst="rect">
                <a:avLst/>
              </a:prstGeom>
              <a:blipFill>
                <a:blip r:embed="rId2"/>
                <a:stretch>
                  <a:fillRect l="-1014" t="-19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17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2"/>
            <a:ext cx="10827959" cy="164122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08" y="2040479"/>
                <a:ext cx="10827959" cy="191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</a:p>
              <a:p>
                <a:r>
                  <a:rPr lang="pt-BR" sz="2800" dirty="0"/>
                  <a:t xml:space="preserve">Verifique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+3,       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≤2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≤0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≥2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b="1" dirty="0"/>
                  <a:t xml:space="preserve"> , </a:t>
                </a:r>
                <a:r>
                  <a:rPr lang="pt-BR" sz="2800" dirty="0"/>
                  <a:t xml:space="preserve">é uma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08" y="2040479"/>
                <a:ext cx="10827959" cy="1915268"/>
              </a:xfrm>
              <a:prstGeom prst="rect">
                <a:avLst/>
              </a:prstGeom>
              <a:blipFill>
                <a:blip r:embed="rId4"/>
                <a:stretch>
                  <a:fillRect l="-1125" t="-31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234884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Professor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13423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2"/>
            <a:ext cx="10827959" cy="164122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08" y="2040479"/>
                <a:ext cx="10827959" cy="45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971539" lvl="1" indent="-514350">
                  <a:buFont typeface="+mj-lt"/>
                  <a:buAutoNum type="alphaLcParenR"/>
                </a:pPr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08" y="2040479"/>
                <a:ext cx="10827959" cy="4500591"/>
              </a:xfrm>
              <a:prstGeom prst="rect">
                <a:avLst/>
              </a:prstGeom>
              <a:blipFill>
                <a:blip r:embed="rId4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234884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Professor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/>
              <p:nvPr/>
            </p:nvSpPr>
            <p:spPr>
              <a:xfrm>
                <a:off x="715108" y="3264876"/>
                <a:ext cx="10738338" cy="2783198"/>
              </a:xfrm>
              <a:prstGeom prst="rect">
                <a:avLst/>
              </a:prstGeom>
              <a:noFill/>
            </p:spPr>
            <p:txBody>
              <a:bodyPr wrap="square" numCol="2" rtlCol="0">
                <a:spAutoFit/>
              </a:bodyPr>
              <a:lstStyle/>
              <a:p>
                <a:r>
                  <a:rPr lang="pt-BR" sz="2800" dirty="0"/>
                  <a:t>Determinar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b="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 xml:space="preserve"> a fim de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seja </a:t>
                </a:r>
                <a:r>
                  <a:rPr lang="pt-BR" sz="2800" dirty="0" err="1"/>
                  <a:t>f.d.p</a:t>
                </a:r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 xml:space="preserve">o 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3264876"/>
                <a:ext cx="10738338" cy="2783198"/>
              </a:xfrm>
              <a:prstGeom prst="rect">
                <a:avLst/>
              </a:prstGeom>
              <a:blipFill>
                <a:blip r:embed="rId5"/>
                <a:stretch>
                  <a:fillRect l="-1192" t="-2193" b="-1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484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2"/>
            <a:ext cx="10827959" cy="164122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08" y="2040479"/>
                <a:ext cx="10827959" cy="2560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08" y="2040479"/>
                <a:ext cx="10827959" cy="2560124"/>
              </a:xfrm>
              <a:prstGeom prst="rect">
                <a:avLst/>
              </a:prstGeom>
              <a:blipFill>
                <a:blip r:embed="rId4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234884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Professor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40905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Contínuas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Definir variável aleatória contínua e sua função densidade de probabilidade.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Calcular valor esperado e variância de variáveis aleatórias contínuas.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(7.1 a 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(4.2, 4.3)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5 (5.1)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Contínuas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7.1 a 7.3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4.2, 4.3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6.1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5: 5.1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variável aleatória contínua, valor esperado e variância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4333</TotalTime>
  <Words>891</Words>
  <Application>Microsoft Office PowerPoint</Application>
  <PresentationFormat>Widescreen</PresentationFormat>
  <Paragraphs>168</Paragraphs>
  <Slides>17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170</cp:revision>
  <dcterms:created xsi:type="dcterms:W3CDTF">2020-07-20T19:35:15Z</dcterms:created>
  <dcterms:modified xsi:type="dcterms:W3CDTF">2024-08-21T18:39:12Z</dcterms:modified>
</cp:coreProperties>
</file>