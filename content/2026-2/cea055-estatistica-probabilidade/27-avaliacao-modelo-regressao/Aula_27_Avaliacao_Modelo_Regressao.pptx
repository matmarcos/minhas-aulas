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300" r:id="rId31"/>
    <p:sldId id="1301" r:id="rId32"/>
    <p:sldId id="1302" r:id="rId33"/>
    <p:sldId id="1303" r:id="rId34"/>
    <p:sldId id="1304" r:id="rId35"/>
    <p:sldId id="1305" r:id="rId36"/>
    <p:sldId id="1306" r:id="rId37"/>
    <p:sldId id="1307" r:id="rId38"/>
    <p:sldId id="1308" r:id="rId39"/>
    <p:sldId id="1309" r:id="rId40"/>
    <p:sldId id="1310" r:id="rId41"/>
    <p:sldId id="1311" r:id="rId42"/>
    <p:sldId id="1312" r:id="rId43"/>
    <p:sldId id="1313" r:id="rId4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7_residuo_def.png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7_residuos.png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7_padroes.png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7_sqt_decomp.png"/><Relationship Id="rId5" Type="http://schemas.openxmlformats.org/officeDocument/2006/relationships/image" Target="../media/img27_sq_defs.png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7_r2_def.png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Avaliação do Modelo de Regressão Linear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resíduos e usá-los para diagnosticar problemas no modelo ajustado.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a decomposição da variação total em variação explicada e não explicada.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o coeficiente de determinação R².</a:t>
            </a:r>
          </a:p>
          <a:p>
            <a:pPr/>
            <a:r>
              <a:rPr lang="pt-BR" sz="20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16 (16.3 a 16.5)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11 (11.7)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9 (9.5, exercícios)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modelo ajustado é bom?</a:t>
            </a:r>
          </a:p>
          <a:p>
            <a:endParaRPr lang="pt-BR" sz="1800" dirty="0"/>
          </a:p>
          <a:p>
            <a:pPr/>
            <a:r>
              <a:rPr lang="pt-BR" sz="1800" dirty="0"/>
              <a:t>Na Aula 26 ajustamos uma reta aos dados de publicidade e vendas. Mas ajustar uma reta é sempre possível — a pergunta que falta responder é: essa reta é um bom resumo dos dados?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Hoje vamos ver duas ferramentas de diagnóstico: a análise de resíduos (qualitativa) e o coeficiente de determinação R² (quantitativa).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 que é um resíduo</a:t>
            </a:r>
          </a:p>
          <a:p>
            <a:pPr/>
            <a:r>
              <a:rPr lang="pt-BR" sz="1700" dirty="0"/>
              <a:t>O resíduo da observação i é a diferença entre o valor observado e o valor previsto pelo modelo:</a:t>
            </a:r>
          </a:p>
        </p:txBody>
      </p:sp>
      <p:pic>
        <p:nvPicPr>
          <p:cNvPr id="9" name="Definicao residu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00" y="3200000"/>
            <a:ext cx="4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5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Resíduo grande (em módulo) → a reta previu mal aquele ponto específico.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Os resíduos são nossa melhor estimativa dos erros eᵢ do modelo (Aula 26) — é neles que vamos checar as suposições.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Propriedades dos resíduos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Pela própria forma como α̂ e β̂ são calculados (mínimos quadrados), os resíduos SEMPRE somam zero: Σeᵢ =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vale para QUALQUER conjunto de dados ajustado por mínimos quadrados — não é evidência de bom ajuste, é uma propriedade matemática garantida.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que realmente importa observar é o PADRÃO dos resíduos: eles parecem aleatórios, ou seguem alguma tendência sistemática?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Resíduos no exemplo da publicidade</a:t>
            </a:r>
          </a:p>
          <a:p>
            <a:endParaRPr lang="pt-BR" sz="1800" dirty="0"/>
          </a:p>
          <a:p>
            <a:pPr/>
            <a:r>
              <a:rPr lang="pt-BR" sz="1650" dirty="0"/>
              <a:t>Usando Ŷ = 6,631 + 2,226·X (Aula 26) para cada ponto observado: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X=2: Y=11, Ŷ=11,08, e=−0,08     X=3: Y=14, Ŷ=13,31, e=0,69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X=4: Y=15, Ŷ=15,54, e=−0,54     X=5: Y=18, Ŷ=17,76, e=0,24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X=6: Y=20, Ŷ=19,99, e=0,01     X=7: Y=21, Ŷ=22,21, e=−1,21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X=8: Y=25, Ŷ=24,44, e=0,56     X=9: Y=27, Ŷ=26,67, e=0,33</a:t>
            </a:r>
          </a:p>
          <a:p>
            <a:endParaRPr lang="pt-BR" sz="1800" dirty="0"/>
          </a:p>
          <a:p>
            <a:pPr/>
            <a:r>
              <a:rPr lang="pt-BR" sz="1550" i="1" dirty="0"/>
              <a:t>Soma dos resíduos: ≈0,00, como esperado.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O gráfico de resíduos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Colocamos X no eixo horizontal e o resíduo eᵢ no eixo vertical: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Bom sinal: pontos espalhados aleatoriamente ao redor de zero, sem padrão visível.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No nosso exemplo, os resíduos parecem razoavelmente aleatórios — bom indício de que o modelo linear é adequado.</a:t>
            </a:r>
          </a:p>
        </p:txBody>
      </p:sp>
      <p:pic>
        <p:nvPicPr>
          <p:cNvPr id="9" name="Grafico de residu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Quando o gráfico de resíduos acende um alerta</a:t>
            </a:r>
          </a:p>
          <a:p>
            <a:pPr/>
            <a:r>
              <a:rPr lang="pt-BR" sz="1700" dirty="0"/>
              <a:t>Padrões sistemáticos indicam que o modelo não está capturando toda a estrutura dos dados:</a:t>
            </a:r>
          </a:p>
        </p:txBody>
      </p:sp>
      <p:pic>
        <p:nvPicPr>
          <p:cNvPr id="9" name="Padroes problematic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Decompondo a variação total</a:t>
            </a:r>
          </a:p>
          <a:p>
            <a:pPr/>
            <a:r>
              <a:rPr lang="pt-BR" sz="1700" dirty="0"/>
              <a:t>A variação total de Y pode ser separada em uma parte explicada pelo modelo e uma parte não explicada (resíduos):</a:t>
            </a:r>
          </a:p>
        </p:txBody>
      </p:sp>
      <p:pic>
        <p:nvPicPr>
          <p:cNvPr id="9" name="SQT=SQR+SQ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0" y="3050000"/>
            <a:ext cx="4600000" cy="850000"/>
          </a:xfrm>
          <a:prstGeom prst="rect">
            <a:avLst/>
          </a:prstGeom>
        </p:spPr>
      </p:pic>
      <p:pic>
        <p:nvPicPr>
          <p:cNvPr id="11" name="Definicoes SQT SQR SQ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00000"/>
            <a:ext cx="10800000" cy="700000"/>
          </a:xfrm>
          <a:prstGeom prst="rect">
            <a:avLst/>
          </a:prstGeom>
        </p:spPr>
      </p:pic>
      <p:sp>
        <p:nvSpPr>
          <p:cNvPr id="12" name="Caixa"/>
          <p:cNvSpPr txBox="1"/>
          <p:nvPr/>
        </p:nvSpPr>
        <p:spPr>
          <a:xfrm>
            <a:off x="685800" y="535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SQT = variação total; SQR = explicada pela reta; SQE = residual (não explicada).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Coeficiente de determinação R²</a:t>
            </a:r>
          </a:p>
          <a:p>
            <a:pPr/>
            <a:r>
              <a:rPr lang="pt-BR" sz="1700" dirty="0"/>
              <a:t>A proporção da variação total de Y que é explicada pelo modelo:</a:t>
            </a:r>
          </a:p>
        </p:txBody>
      </p:sp>
      <p:pic>
        <p:nvPicPr>
          <p:cNvPr id="9" name="Definicao R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0" y="3200000"/>
            <a:ext cx="46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0 ≤ R² ≤ 1 sempre. R² = 1 significa que a reta explica 100% da variação (ajuste perfeito).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Calculando R² no exemplo da publicidade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A partir dos resíduos calculados: SQE = Σeᵢ² = 2,73.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SQT = Sᵧᵧ = 210,875 (já calculado na Aula 26).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SQR = SQT − SQE = 210,875 − 2,73 = 208,15.</a:t>
            </a:r>
          </a:p>
          <a:p>
            <a:pPr/>
            <a:r>
              <a:rPr lang="pt-BR" sz="1900" b="1" dirty="0"/>
              <a:t>R² = SQR/SQT = 208,15/210,875 = 0,987.</a:t>
            </a:r>
          </a:p>
          <a:p>
            <a:endParaRPr lang="pt-BR" sz="1800" dirty="0"/>
          </a:p>
          <a:p>
            <a:pPr/>
            <a:r>
              <a:rPr lang="pt-BR" sz="1650" i="1" dirty="0"/>
              <a:t>Interpretação: o modelo linear explica 98,7% da variação nas vendas entre as lojas — um ajuste excelente.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Interpretando R² e sua relação com 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regressão linear SIMPLES (uma única variável explicativa), vale a relação R² = r² — o quadrado do coeficiente de correlação (Aula 26).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Verificação: r = 0,994 (Aula 26) → r² = 0,994² = 0,988 ≈ R² = 0,987 (pequena diferença por arredondamento). 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costuma ser relatado em “%”: aqui, dizemos que 98,7% da variabilidade das vendas é explicada pelo investimento em publicidade.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Limitações do R² — o que ele NÃO garante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alto não garante que a relação seja realmente linear — sempre confirme com o gráfico de resíduos.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alto não implica causalidade (mesmo alerta da Aula 25 sobre correlação).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Adicionar mais variáveis explicativas SEMPRE aumenta (ou mantém) o R², mesmo que sejam irrelevantes — cuidado ao comparar modelos com R² bruto (existe uma versão “ajustada” para isso, fora do escopo aqui).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baixo não significa que não há relação — pode haver uma relação não linear forte que a reta simplesmente não captura.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Resumo: encerrando o bloco de regressão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Resíduos revelam se o modelo captura bem o padrão dos dados — sempre inspecione o gráfico antes de confiar no modelo.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quantifica o quanto da variação de Y é explicada pelo modelo, entre 0 e 1 (ou 0% e 100%).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bom modelo de regressão combina: R² razoavelmente alto E resíduos sem padrão sistemático.</a:t>
            </a:r>
          </a:p>
          <a:p>
            <a:endParaRPr lang="pt-BR" sz="1800" dirty="0"/>
          </a:p>
          <a:p>
            <a:pPr/>
            <a:r>
              <a:rPr lang="pt-BR" sz="1700" i="1" dirty="0"/>
              <a:t>Com isso, encerramos o percurso do curso: da estatística descritiva à probabilidade, das distribuições à inferência, e da correlação à regressão — as ferramentas centrais da Estatística aplicada.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600" b="1" dirty="0"/>
              <a:t>Avaliação do Modelo de Regressão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16: 16.3 a 16.5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11: 11.7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9: 9.5 (exercícios)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Confirme a soma dos resíduos do exemplo (deve dar aproximadamente zero) somando os 8 valores calculados.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Colete seus próprios dados (ou use o exercício da Aula 26) e calcule o R² do seu ajuste.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