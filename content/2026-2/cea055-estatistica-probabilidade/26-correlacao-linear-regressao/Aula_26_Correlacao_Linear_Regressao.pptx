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1200" r:id="rId31"/>
    <p:sldId id="1201" r:id="rId32"/>
    <p:sldId id="1202" r:id="rId33"/>
    <p:sldId id="1203" r:id="rId34"/>
    <p:sldId id="1204" r:id="rId35"/>
    <p:sldId id="1205" r:id="rId36"/>
    <p:sldId id="1206" r:id="rId37"/>
    <p:sldId id="1207" r:id="rId38"/>
    <p:sldId id="1208" r:id="rId39"/>
    <p:sldId id="1209" r:id="rId40"/>
    <p:sldId id="1210" r:id="rId41"/>
    <p:sldId id="1211" r:id="rId42"/>
    <p:sldId id="1212" r:id="rId43"/>
    <p:sldId id="1213" r:id="rId44"/>
    <p:sldId id="1214" r:id="rId45"/>
    <p:sldId id="1215" r:id="rId46"/>
    <p:sldId id="1216" r:id="rId47"/>
    <p:sldId id="1217" r:id="rId48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5" d="100"/>
          <a:sy n="65" d="100"/>
        </p:scale>
        <p:origin x="48" y="4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commentAuthors" Target="commentAuthors.xml"/><Relationship Id="rId25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6_scatter_simples.png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6_r_amostral.png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6_modelo.png"/></Relationships>
</file>

<file path=ppt/slides/_rels/slide3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6_beta_hat.png"/><Relationship Id="rId5" Type="http://schemas.openxmlformats.org/officeDocument/2006/relationships/image" Target="../media/img26_alpha_hat.png"/></Relationships>
</file>

<file path=ppt/slides/_rels/slide3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6_scatter_reta.png"/></Relationships>
</file>

<file path=ppt/slides/_rels/slide3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000" b="1" dirty="0"/>
              <a:t>Correlação Linear e Modelo de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650000"/>
            <a:ext cx="10067277" cy="4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9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Calcular e interpretar o coeficiente de correlação linear amostral 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Compreender o modelo de regressão linear simples e suas suposições.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Estimar os parâmetros do modelo pelo método dos mínimos quadrados.</a:t>
            </a:r>
          </a:p>
          <a:p>
            <a:pPr/>
            <a:r>
              <a:rPr lang="pt-BR" sz="1900" b="1" dirty="0"/>
              <a:t xml:space="preserve"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Bussab, Morettin. Estatística Básica, 9ed — Cap. 16 (16.1, 16.2)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Montgomery, Runger. Applied Statistics..., 7th ed — Cap. 11 (11.2, 11.3, 11.8)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Magalhães, Lima. Noções de Probabilidade e Estatística, 5ed — Cap. 9 (9.5)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Correlação Linear 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De associação a previsão</a:t>
            </a:r>
          </a:p>
          <a:p>
            <a:endParaRPr lang="pt-BR" sz="1800" dirty="0"/>
          </a:p>
          <a:p>
            <a:pPr/>
            <a:r>
              <a:rPr lang="pt-BR" sz="1800" dirty="0"/>
              <a:t>Na Aula 25, medimos a FORÇA da associação linear entre duas variáveis com ρ. Mas ainda não temos um MODELO que descreva essa relação.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Hoje damos o passo seguinte: ajustar uma reta que resuma a relação entre X e Y, e que permita PREVER Y a partir de 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Exemplo que usaremos: X = investimento em publicidade (mil R$), Y = vendas (mil unidades), em 8 lojas de uma rede.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Correlação Linear 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3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O primeiro passo: o diagrama de dispersão</a:t>
            </a:r>
          </a:p>
          <a:p>
            <a:pPr/>
            <a:r>
              <a:rPr lang="pt-BR" sz="1700" dirty="0"/>
              <a:t>Antes de qualquer cálculo, sempre visualize os dados:</a:t>
            </a:r>
          </a:p>
        </p:txBody>
      </p:sp>
      <p:pic>
        <p:nvPicPr>
          <p:cNvPr id="9" name="Diagrama de dispersa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0000" y="2600000"/>
            <a:ext cx="7400000" cy="40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Correlação Linear 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Coeficiente de correlação amostral r</a:t>
            </a:r>
          </a:p>
          <a:p>
            <a:pPr/>
            <a:r>
              <a:rPr lang="pt-BR" sz="1700" dirty="0"/>
              <a:t>Com uma amostra de n pares (xᵢ, yᵢ), estimamos ρ (Aula 25) pelo coeficiente amostral r:</a:t>
            </a:r>
          </a:p>
        </p:txBody>
      </p:sp>
      <p:pic>
        <p:nvPicPr>
          <p:cNvPr id="9" name="Formula r amostr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000" y="3100000"/>
            <a:ext cx="9000000" cy="13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Correlação Linear 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Interpretando r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Mesma lógica de ρ (Aula 25): −1 ≤ r ≤ +1, sinal indica direção, magnitude indica força da associação LINEAR.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 é uma ESTIMATIVA de ρ calculada a partir de uma amostra específica — outra amostra daria um r ligeiramente diferente.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Faixas usadas informalmente: |r| &gt; 0,7 costuma ser considerado forte; entre 0,3 e 0,7, moderado; abaixo de 0,3, fraco (não são regras rígidas).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Correlação Linear 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Calculando r no exemplo da publicidade</a:t>
            </a:r>
          </a:p>
          <a:p>
            <a:endParaRPr lang="pt-BR" sz="1800" dirty="0"/>
          </a:p>
          <a:p>
            <a:pPr/>
            <a:r>
              <a:rPr lang="pt-BR" sz="1650" dirty="0"/>
              <a:t>Dados (n=8): X = 2,3,4,5,6,7,8,9 (mil R$); Y = 11,14,15,18,20,21,25,27 (mil unidades).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X̄ = 5,5;  Ȳ = 18,875.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Sₓₓ = Σ(xᵢ−X̄)² = 42,0;  Sᵧᵧ = Σ(yᵢ−Ȳ)² = 210,875;  Sₓᵧ = Σ(xᵢ−X̄)(yᵢ−Ȳ) = 93,5.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r = 93,5 / √(42,0 × 210,875) = 93,5 / 94,10 = 0,994.</a:t>
            </a:r>
          </a:p>
          <a:p>
            <a:endParaRPr lang="pt-BR" sz="1800" dirty="0"/>
          </a:p>
          <a:p>
            <a:pPr/>
            <a:r>
              <a:rPr lang="pt-BR" sz="1600" i="1" dirty="0"/>
              <a:t>Interpretação: correlação linear POSITIVA muito forte — mais investimento em publicidade está fortemente associado a mais vendas.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Correlação Linear 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O modelo de regressão linear simples</a:t>
            </a:r>
          </a:p>
          <a:p>
            <a:pPr/>
            <a:r>
              <a:rPr lang="pt-BR" sz="1700" dirty="0"/>
              <a:t>Um passo além da correlação: propor um modelo que descreve Y em função de X:</a:t>
            </a:r>
          </a:p>
        </p:txBody>
      </p:sp>
      <p:pic>
        <p:nvPicPr>
          <p:cNvPr id="9" name="Modelo Y=alpha+betaX+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000" y="3150000"/>
            <a:ext cx="4000000" cy="10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4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α (intercepto) e β (inclinação) são parâmetros desconhecidos, a estimar a partir dos dados.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eᵢ é o erro aleatório — tudo que a reta não explica (variação individual de cada ponto).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Correlação Linear 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Suposições do modelo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X é considerada fixa (controlada), sem erro de medida — só Y tem componente aleatório.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Os erros eᵢ têm média zero: E(eᵢ|x) = 0 — a reta captura a tendência central corretamente.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Os erros têm variância constante em torno da reta, para qualquer valor de X (homocedasticidade).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Os erros não são correlacionados entre si.</a:t>
            </a:r>
          </a:p>
          <a:p>
            <a:endParaRPr lang="pt-BR" sz="1800" dirty="0"/>
          </a:p>
          <a:p>
            <a:pPr/>
            <a:r>
              <a:rPr lang="pt-BR" sz="1700" i="1" dirty="0"/>
              <a:t>Vamos verificar essas suposições na prática, com gráficos de resíduos, na Aula 27.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Correlação Linear 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Interpretando α e β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α (intercepto): valor esperado de Y quando X = 0. Nem sempre tem interpretação prática direta (ex.: publicidade = 0 pode estar fora da faixa observada).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β (inclinação): o quanto Y muda, EM MÉDIA, para cada aumento de 1 unidade em 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No nosso exemplo: se β ≈ 2,2, cada mil R$ a mais em publicidade está associado a, em média, 2,2 mil unidades a mais vendidas.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Correlação Linear 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O método dos mínimos quadrados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Precisamos escolher os “melhores” valores de α e β para a reta. Mas “melhor” segundo qual critério?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Ideia: minimizar a soma dos quadrados das distâncias verticais entre os pontos observados e a reta (os resíduos).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Por que ao quadrado? Para que desvios positivos e negativos não se cancelem, e para penalizar mais os erros grandes.</a:t>
            </a:r>
          </a:p>
          <a:p>
            <a:endParaRPr lang="pt-BR" sz="1800" dirty="0"/>
          </a:p>
          <a:p>
            <a:pPr/>
            <a:r>
              <a:rPr lang="pt-BR" sz="1700" i="1" dirty="0"/>
              <a:t>Esse critério tem solução matemática exata, dada pelas fórmulas a seguir.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Correlação Linear 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Os estimadores de mínimos quadrados</a:t>
            </a:r>
          </a:p>
          <a:p>
            <a:pPr/>
            <a:r>
              <a:rPr lang="pt-BR" sz="1700" dirty="0"/>
              <a:t>A inclinação e o intercepto que minimizam a soma dos quadrados dos resíduos são:</a:t>
            </a:r>
          </a:p>
        </p:txBody>
      </p:sp>
      <p:pic>
        <p:nvPicPr>
          <p:cNvPr id="9" name="beta h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000" y="2900000"/>
            <a:ext cx="9400000" cy="1100000"/>
          </a:xfrm>
          <a:prstGeom prst="rect">
            <a:avLst/>
          </a:prstGeom>
        </p:spPr>
      </p:pic>
      <p:pic>
        <p:nvPicPr>
          <p:cNvPr id="11" name="alpha ha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0000" y="4300000"/>
            <a:ext cx="4600000" cy="9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Correlação Linear 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Ajustando a reta ao exemplo da publicidade</a:t>
            </a:r>
          </a:p>
          <a:p>
            <a:endParaRPr lang="pt-BR" sz="1800" dirty="0"/>
          </a:p>
          <a:p>
            <a:pPr/>
            <a:r>
              <a:rPr lang="pt-BR" sz="1700" dirty="0"/>
              <a:t>Já temos Sₓₓ = 42,0 e Sₓᵧ = 93,5 (slide anterior). Calculamos: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β̂ = Sₓᵧ / Sₓₓ = 93,5 / 42,0 = 2,226.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α̂ = Ȳ − β̂·X̄ = 18,875 − 2,226×5,5 = 18,875 − 12,244 = 6,631.</a:t>
            </a:r>
          </a:p>
          <a:p>
            <a:endParaRPr lang="pt-BR" sz="1800" dirty="0"/>
          </a:p>
          <a:p>
            <a:pPr/>
            <a:r>
              <a:rPr lang="pt-BR" sz="1900" b="1" dirty="0"/>
              <a:t>Reta ajustada: Ŷ = 6,631 + 2,226·X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Correlação Linear 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900" b="1" dirty="0"/>
              <a:t>A reta ajustada</a:t>
            </a:r>
          </a:p>
          <a:p>
            <a:pPr/>
            <a:r>
              <a:rPr lang="pt-BR" sz="1700" b="1" dirty="0"/>
              <a:t>Ŷ = 6,631 + 2,226·X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Cada mil R$ investido em publicidade está associado a um aumento médio de 2.226 unidades vendidas.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O intercepto (6,631) seria a venda esperada sem publicidade nenhuma — mas atenção: X=0 está fora da faixa observada (2 a 9), então essa leitura deve ser vista com cautela.</a:t>
            </a:r>
          </a:p>
        </p:txBody>
      </p:sp>
      <p:pic>
        <p:nvPicPr>
          <p:cNvPr id="9" name="Reta ajustad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1400000"/>
            <a:ext cx="4900000" cy="34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Correlação Linear 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Como r e β̂ se relacionam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 e β̂ sempre têm o MESMO SINAL — ambos vêm do mesmo numerador Sₓᵧ.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Mas são coisas diferentes: r não tem unidade (é adimensional); β̂ tem unidade de Y por unidade de X (aqui, mil unidades vendidas por mil R$ investido).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Relação exata: β̂ = r × (Sᵧ/Sₓ), em que Sᵧ e Sₓ são os desvios padrão amostrais de Y e X.</a:t>
            </a:r>
          </a:p>
          <a:p>
            <a:endParaRPr lang="pt-BR" sz="1800" dirty="0"/>
          </a:p>
          <a:p>
            <a:pPr/>
            <a:r>
              <a:rPr lang="pt-BR" sz="1700" i="1" dirty="0"/>
              <a:t>Em resumo: r mede a FORÇA da relação; β̂ mede o IMPACTO prático de X sobre Y, em suas próprias unidades.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Correlação Linear 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Usando o modelo para prever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Com a reta ajustada, podemos prever Y para um novo valor de X, dentro da faixa observada.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Exemplo: quanto esperamos vender com X = 6,5 mil R$ de publicidade?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Ŷ = 6,631 + 2,226×6,5 = 6,631 + 14,469 = 21,10 mil unidades.</a:t>
            </a:r>
          </a:p>
          <a:p>
            <a:endParaRPr lang="pt-BR" sz="1800" dirty="0"/>
          </a:p>
          <a:p>
            <a:pPr/>
            <a:r>
              <a:rPr lang="pt-BR" sz="1700" i="1" dirty="0"/>
              <a:t>Essa previsão é uma estimativa da média de Y para X=6,5 — vendas reais variam em torno desse valor, devido ao erro aleatório eᵢ.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Correlação Linear 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Cuidado com a extrapolação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modelo só foi validado dentro da faixa observada de X (no exemplo, de 2 a 9 mil R$).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Prever fora dessa faixa (ex.: X = 50 mil R$) é arriscado — não temos garantia de que a relação linear continua válida tão longe dos dados observados.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Investimentos muito altos podem ter retornos decrescentes (saturação de mercado) — um padrão que uma reta ajustada a dados pequenos não conseguiria capturar.</a:t>
            </a:r>
          </a:p>
          <a:p>
            <a:endParaRPr lang="pt-BR" sz="1800" dirty="0"/>
          </a:p>
          <a:p>
            <a:pPr/>
            <a:r>
              <a:rPr lang="pt-BR" sz="1700" i="1" dirty="0"/>
              <a:t>Regra prática: use o modelo para interpolar (dentro da faixa), com cautela redobrada ao extrapolar.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Correlação Linear 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 mede a força e direção da associação linear entre X e Y, numa amostra.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modelo Y = α + βX + e propõe uma relação linear entre as duas variáveis, com erro aleatório.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método dos mínimos quadrados fornece as fórmulas de α̂ e β̂ que melhor ajustam a reta aos dados.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reta ajustada permite interpolar previsões de Y, com cautela ao extrapolar.</a:t>
            </a:r>
          </a:p>
          <a:p>
            <a:endParaRPr lang="pt-BR" sz="1800" dirty="0"/>
          </a:p>
          <a:p>
            <a:pPr/>
            <a:r>
              <a:rPr lang="pt-BR" sz="1700" i="1" dirty="0"/>
              <a:t>Próxima aula: como avaliar se o modelo ajustado é realmente bom, usando resíduos e o coeficiente de determinação R².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Correlação Linear e Regressão Simples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pPr/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16: 16.1, 16.2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11: 11.2, 11.3, 11.8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9: 9.5</a:t>
            </a:r>
          </a:p>
          <a:p>
            <a:endParaRPr lang="pt-BR" sz="1800" dirty="0"/>
          </a:p>
          <a:p>
            <a:pPr/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Usando os mesmos dados do exemplo, calcule a previsão de vendas para X = 4,5 mil R$.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Colete (ou invente) 6 pares de dados de duas variáveis do seu cotidiano e ajuste uma reta de mínimos quadrados.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6164</TotalTime>
  <Words>1586</Words>
  <Application>Microsoft Office PowerPoint</Application>
  <PresentationFormat>Widescreen</PresentationFormat>
  <Paragraphs>193</Paragraphs>
  <Slides>23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229</cp:revision>
  <dcterms:created xsi:type="dcterms:W3CDTF">2020-07-20T19:35:15Z</dcterms:created>
  <dcterms:modified xsi:type="dcterms:W3CDTF">2024-09-19T22:01:46Z</dcterms:modified>
</cp:coreProperties>
</file>