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900" r:id="rId44"/>
    <p:sldId id="966" r:id="rId16"/>
    <p:sldId id="967" r:id="rId17"/>
    <p:sldId id="968" r:id="rId18"/>
    <p:sldId id="969" r:id="rId19"/>
    <p:sldId id="970" r:id="rId20"/>
    <p:sldId id="971" r:id="rId21"/>
    <p:sldId id="972" r:id="rId22"/>
    <p:sldId id="973" r:id="rId23"/>
    <p:sldId id="974" r:id="rId24"/>
    <p:sldId id="975" r:id="rId25"/>
    <p:sldId id="976" r:id="rId26"/>
    <p:sldId id="901" r:id="rId45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40" Type="http://schemas.openxmlformats.org/officeDocument/2006/relationships/presProps" Target="presProps.xml"/><Relationship Id="rId23" Type="http://schemas.openxmlformats.org/officeDocument/2006/relationships/slide" Target="slides/slide22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43" Type="http://schemas.openxmlformats.org/officeDocument/2006/relationships/tableStyles" Target="tableStyles.xml"/><Relationship Id="rId44" Type="http://schemas.openxmlformats.org/officeDocument/2006/relationships/slide" Target="slides/slide51.xml"/><Relationship Id="rId45" Type="http://schemas.openxmlformats.org/officeDocument/2006/relationships/slide" Target="slides/slide5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54831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Distribuição Hipergeométrica</a:t>
            </a:r>
          </a:p>
          <a:p>
            <a:endParaRPr lang="pt-BR" sz="2800" dirty="0"/>
          </a:p>
          <a:p>
            <a:r>
              <a:rPr lang="pt-BR" sz="2800" dirty="0"/>
              <a:t>Essa distribuição é adequada quando consideramos extrações casuais feitas sem reposição de uma população dividida segundo dois atributos.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41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548313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Hipergeométrica</a:t>
                </a:r>
              </a:p>
              <a:p>
                <a:r>
                  <a:rPr lang="pt-BR" sz="2800" dirty="0"/>
                  <a:t>Para ilustrar, considere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 uma população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 xml:space="preserve"> objetos,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 r dos quais têm o atributo A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N – r têm o atributo B.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Um grupo de n elementos é escolhido ao acaso, sem reposição.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dirty="0"/>
                  <a:t xml:space="preserve"> Estamos interessados em calcular a probabilidade de que esse grupo contenha k elementos com o atributo A.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548313" cy="3970318"/>
              </a:xfrm>
              <a:prstGeom prst="rect">
                <a:avLst/>
              </a:prstGeom>
              <a:blipFill>
                <a:blip r:embed="rId2"/>
                <a:stretch>
                  <a:fillRect l="-1214" t="-1382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59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548313" cy="4601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Hipergeométrica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Pode-se verificar, utilizando o princípio multiplicativo, que a probabilidade dessa distribuição de probabilidade é dada por</a:t>
                </a: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b="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onde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80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func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80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548313" cy="4601709"/>
              </a:xfrm>
              <a:prstGeom prst="rect">
                <a:avLst/>
              </a:prstGeom>
              <a:blipFill>
                <a:blip r:embed="rId2"/>
                <a:stretch>
                  <a:fillRect l="-1214" t="-1192" b="-27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89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4774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Hipergeométrica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sz="2800" dirty="0"/>
                        <m:t>np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𝑉𝐴𝑅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b="0" dirty="0"/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 xml:space="preserve">Notação: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h𝑖𝑝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4774127"/>
              </a:xfrm>
              <a:prstGeom prst="rect">
                <a:avLst/>
              </a:prstGeom>
              <a:blipFill>
                <a:blip r:embed="rId2"/>
                <a:stretch>
                  <a:fillRect l="-1272" t="-1149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2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743529" y="1334768"/>
                <a:ext cx="10966944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Binomial</a:t>
                </a:r>
              </a:p>
              <a:p>
                <a:endParaRPr lang="pt-BR" sz="2800" b="1" dirty="0"/>
              </a:p>
              <a:p>
                <a:r>
                  <a:rPr lang="pt-BR" sz="2800" b="1" dirty="0"/>
                  <a:t xml:space="preserve">Definição: </a:t>
                </a:r>
                <a:r>
                  <a:rPr lang="pt-BR" sz="2800" dirty="0"/>
                  <a:t>chama-se de experimento binomial ao experimento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 xml:space="preserve">Que consiste em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 xml:space="preserve"> ensaios de Bernoulli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Cujos ensaios são independentes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 xml:space="preserve">Para o qual a probabilidade de sucesso em cada ensaio é sempre igual 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 xml:space="preserve">, com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&lt;1.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29" y="1334768"/>
                <a:ext cx="10966944" cy="5693866"/>
              </a:xfrm>
              <a:prstGeom prst="rect">
                <a:avLst/>
              </a:prstGeom>
              <a:blipFill>
                <a:blip r:embed="rId3"/>
                <a:stretch>
                  <a:fillRect l="-1167" t="-1071" r="-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65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743529" y="1334768"/>
                <a:ext cx="10966944" cy="3324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Binomial</a:t>
                </a:r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A variável aleatória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, correspondente ao número de sucessos num experimento binomial, tem distribuição binomial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com função de probabilidade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err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=0, 1, …,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29" y="1334768"/>
                <a:ext cx="10966944" cy="3324628"/>
              </a:xfrm>
              <a:prstGeom prst="rect">
                <a:avLst/>
              </a:prstGeom>
              <a:blipFill>
                <a:blip r:embed="rId3"/>
                <a:stretch>
                  <a:fillRect l="-1167" t="-18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685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Binomial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3539430"/>
              </a:xfrm>
              <a:prstGeom prst="rect">
                <a:avLst/>
              </a:prstGeom>
              <a:blipFill>
                <a:blip r:embed="rId2"/>
                <a:stretch>
                  <a:fillRect l="-1272" t="-15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60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</a:t>
            </a:r>
            <a:r>
              <a:rPr lang="pt-BR" sz="2800" dirty="0"/>
              <a:t xml:space="preserve">Considere o lançamento de uma moeda 20 vezes. Qual a probabilidade de que caia a face cara exatamente 8 vezes?  </a:t>
            </a:r>
          </a:p>
          <a:p>
            <a:r>
              <a:rPr lang="pt-BR" sz="2800" dirty="0"/>
              <a:t>Em média, o número esperado de caras em 20 lançamentos?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1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</a:t>
            </a:r>
            <a:r>
              <a:rPr lang="pt-BR" sz="2800" dirty="0"/>
              <a:t>Numa criação de coelhos, 40% são machos. Qual a probabilidade de que nasçam pelo menos 2 coelhos machos num dia em que nasceram 20 coelhos?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91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</a:t>
            </a:r>
            <a:r>
              <a:rPr lang="pt-BR" sz="2800" dirty="0"/>
              <a:t>Uma prova tipo teste tem 50 questões independentes. Cada questão tem 5 alternativas. Apenas uma das alternativas é a correta. Se um aluno resolve a prova respondendo a esmo as questões, qual a probabilidade de tirar nota 5?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36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Exemplo: </a:t>
                </a:r>
                <a:r>
                  <a:rPr lang="pt-BR" sz="2800" dirty="0"/>
                  <a:t xml:space="preserve"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5;0,4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 xml:space="preserve"> Calcule a distribuição de probabilidade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954107"/>
              </a:xfrm>
              <a:prstGeom prst="rect">
                <a:avLst/>
              </a:prstGeom>
              <a:blipFill>
                <a:blip r:embed="rId2"/>
                <a:stretch>
                  <a:fillRect l="-1272" t="-5732" b="-171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41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Discretos II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binomial e calcular suas probabilidades.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hipergeométrica e reconhecer quando aplicá-la.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6 (6.6.3, 6.6.4)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3 (3.5, 3.7)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3 (3.2, 3.3)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4 (4.4, 4.5)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Discretos II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6: 6.6.3, 6.6.4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3: 3.5, 3.7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3: 3.2, 3.3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4: 4.4, 4.5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6: exercícios sobre distribuição binomial e hipergeométrica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4150</TotalTime>
  <Words>1951</Words>
  <Application>Microsoft Office PowerPoint</Application>
  <PresentationFormat>Widescreen</PresentationFormat>
  <Paragraphs>262</Paragraphs>
  <Slides>36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2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147</cp:revision>
  <dcterms:created xsi:type="dcterms:W3CDTF">2020-07-20T19:35:15Z</dcterms:created>
  <dcterms:modified xsi:type="dcterms:W3CDTF">2024-08-29T15:45:59Z</dcterms:modified>
</cp:coreProperties>
</file>