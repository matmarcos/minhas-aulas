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900" r:id="rId2"/>
    <p:sldId id="966" r:id="rId3"/>
    <p:sldId id="967" r:id="rId4"/>
    <p:sldId id="968" r:id="rId5"/>
    <p:sldId id="969" r:id="rId6"/>
    <p:sldId id="977" r:id="rId7"/>
    <p:sldId id="978" r:id="rId8"/>
    <p:sldId id="979" r:id="rId9"/>
    <p:sldId id="980" r:id="rId10"/>
    <p:sldId id="970" r:id="rId11"/>
    <p:sldId id="971" r:id="rId12"/>
    <p:sldId id="972" r:id="rId13"/>
    <p:sldId id="973" r:id="rId14"/>
    <p:sldId id="981" r:id="rId15"/>
    <p:sldId id="975" r:id="rId16"/>
    <p:sldId id="982" r:id="rId17"/>
    <p:sldId id="976" r:id="rId18"/>
    <p:sldId id="983" r:id="rId19"/>
    <p:sldId id="985" r:id="rId20"/>
    <p:sldId id="901" r:id="rId21"/>
    <p:sldId id="986" r:id="rId22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61" d="100"/>
          <a:sy n="61" d="100"/>
        </p:scale>
        <p:origin x="1968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Discretos II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610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b="1" dirty="0"/>
              <a:t>Objetivos da aula: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/>
              <a:t>Conhecer a distribuição hipergeométrica e reconhecer quando aplicá-la.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/>
              <a:t>Conhecer </a:t>
            </a:r>
            <a:r>
              <a:rPr lang="pt-BR" sz="2200" dirty="0"/>
              <a:t>a distribuição binomial e calcular suas probabilidades.</a:t>
            </a:r>
          </a:p>
          <a:p>
            <a:pPr>
              <a:lnSpc>
                <a:spcPct val="150000"/>
              </a:lnSpc>
            </a:pPr>
            <a:r>
              <a:rPr lang="pt-BR" sz="2200" b="1" dirty="0"/>
              <a:t>Referências: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Bussab, Morettin. </a:t>
            </a:r>
            <a:r>
              <a:rPr lang="pt-BR" sz="2200" b="1" dirty="0"/>
              <a:t>Estatística Básica</a:t>
            </a:r>
            <a:r>
              <a:rPr lang="pt-BR" sz="2200" dirty="0"/>
              <a:t>, 9ed — Cap. 6 (6.6.3, 6.6.4)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Montgomery, Runger</a:t>
            </a:r>
            <a:r>
              <a:rPr lang="pt-BR" sz="2200"/>
              <a:t>. </a:t>
            </a:r>
            <a:r>
              <a:rPr lang="pt-BR" sz="2200" b="1"/>
              <a:t>Estatística Aplicada e Probabilidade para Engenheiros</a:t>
            </a:r>
            <a:r>
              <a:rPr lang="pt-BR" sz="2200"/>
              <a:t>, 7ª ed. — </a:t>
            </a:r>
            <a:r>
              <a:rPr lang="pt-BR" sz="2200" dirty="0"/>
              <a:t>Cap. 3 (3.5, 3.7)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Magalhães, Lima. </a:t>
            </a:r>
            <a:r>
              <a:rPr lang="pt-BR" sz="2200" b="1" dirty="0"/>
              <a:t>Noções de Probabilidade e Estatística</a:t>
            </a:r>
            <a:r>
              <a:rPr lang="pt-BR" sz="2200" dirty="0"/>
              <a:t>, 5ed — Cap. 3 (3.2, 3.3)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Morettin. </a:t>
            </a:r>
            <a:r>
              <a:rPr lang="pt-BR" sz="2200" b="1" dirty="0"/>
              <a:t>Estatística Básica: Probabilidade e Inferência</a:t>
            </a:r>
            <a:r>
              <a:rPr lang="pt-BR" sz="2200" dirty="0"/>
              <a:t> — Cap. 4 (4.4, 4.5)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76279" y="689696"/>
            <a:ext cx="10548313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b="1" dirty="0"/>
              <a:t>Distribuição Hipergeométrica</a:t>
            </a:r>
          </a:p>
          <a:p>
            <a:pPr>
              <a:lnSpc>
                <a:spcPct val="150000"/>
              </a:lnSpc>
            </a:pPr>
            <a:endParaRPr lang="pt-BR" sz="2800" dirty="0"/>
          </a:p>
          <a:p>
            <a:pPr>
              <a:lnSpc>
                <a:spcPct val="150000"/>
              </a:lnSpc>
            </a:pPr>
            <a:r>
              <a:rPr lang="pt-BR" sz="2800" dirty="0"/>
              <a:t>Essa distribuição é adequada quando consideramos </a:t>
            </a:r>
            <a:r>
              <a:rPr lang="pt-BR" sz="2800" b="1" dirty="0"/>
              <a:t>extrações casuais feitas sem reposição</a:t>
            </a:r>
            <a:r>
              <a:rPr lang="pt-BR" sz="2800" dirty="0"/>
              <a:t> de uma população dividida segundo dois atributos.</a:t>
            </a:r>
          </a:p>
          <a:p>
            <a:endParaRPr lang="pt-BR" sz="2800" dirty="0"/>
          </a:p>
          <a:p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/>
              <a:t>CEA055 - Estatística e Probabilidade - Professor: Marcos Goulart Lima</a:t>
            </a:r>
            <a:endParaRPr lang="pt-BR" sz="1351" dirty="0"/>
          </a:p>
        </p:txBody>
      </p:sp>
    </p:spTree>
    <p:extLst>
      <p:ext uri="{BB962C8B-B14F-4D97-AF65-F5344CB8AC3E}">
        <p14:creationId xmlns:p14="http://schemas.microsoft.com/office/powerpoint/2010/main" val="3733541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76278" y="371644"/>
                <a:ext cx="10548313" cy="58424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Distribuição Hipergeométrica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Para ilustrar, considere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 uma população 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pt-BR" sz="2800" dirty="0"/>
                  <a:t> objetos,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 r dos quais têm o atributo A 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N – r têm o atributo B. 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Um grupo de n elementos é escolhido ao acaso, sem reposição.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 Estamos interessados em calcular a probabilidade de que esse grupo contenha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sz="2800" dirty="0"/>
                  <a:t> elementos com o atributo A. 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278" y="371644"/>
                <a:ext cx="10548313" cy="5842497"/>
              </a:xfrm>
              <a:prstGeom prst="rect">
                <a:avLst/>
              </a:prstGeom>
              <a:blipFill>
                <a:blip r:embed="rId2"/>
                <a:stretch>
                  <a:fillRect l="-1214" b="-208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/>
              <a:t>CEA055 - Estatística e Probabilidade - Professor: Marcos Goulart Lima</a:t>
            </a:r>
            <a:endParaRPr lang="pt-BR" sz="1351" dirty="0"/>
          </a:p>
        </p:txBody>
      </p:sp>
    </p:spTree>
    <p:extLst>
      <p:ext uri="{BB962C8B-B14F-4D97-AF65-F5344CB8AC3E}">
        <p14:creationId xmlns:p14="http://schemas.microsoft.com/office/powerpoint/2010/main" val="3326859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02783" y="590305"/>
                <a:ext cx="10548313" cy="4849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dirty="0"/>
                  <a:t>Pode-se verificar, utilizando o princípio multiplicativo, que a função de probabilidade dessa distribuição é dada por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mr>
                              </m:m>
                            </m:e>
                          </m:d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b="0" dirty="0"/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onde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800" i="0" dirty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pt-BR" sz="28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800" i="1" dirty="0" smtClean="0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pt-BR" sz="280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sz="2800" i="1" dirty="0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pt-BR" sz="2800" i="1" dirty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pt-BR" sz="2800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pt-BR" sz="2800" b="0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e>
                    </m:func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800" i="0" dirty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pt-BR" sz="28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800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pt-BR" sz="2800" i="1" dirty="0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pt-BR" sz="280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783" y="590305"/>
                <a:ext cx="10548313" cy="4849533"/>
              </a:xfrm>
              <a:prstGeom prst="rect">
                <a:avLst/>
              </a:prstGeom>
              <a:blipFill>
                <a:blip r:embed="rId2"/>
                <a:stretch>
                  <a:fillRect l="-1155" b="-27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/>
              <a:t>CEA055 - Estatística e Probabilidade - Professor: Marcos Goulart Lima</a:t>
            </a:r>
            <a:endParaRPr lang="pt-BR" sz="1351" dirty="0"/>
          </a:p>
        </p:txBody>
      </p:sp>
    </p:spTree>
    <p:extLst>
      <p:ext uri="{BB962C8B-B14F-4D97-AF65-F5344CB8AC3E}">
        <p14:creationId xmlns:p14="http://schemas.microsoft.com/office/powerpoint/2010/main" val="1083489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29287" y="577052"/>
                <a:ext cx="10067277" cy="4486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Esperança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pt-BR" sz="2800" i="1" dirty="0">
                        <a:latin typeface="Cambria Math" panose="02040503050406030204" pitchFamily="18" charset="0"/>
                      </a:rPr>
                      <m:t>np</m:t>
                    </m:r>
                    <m:r>
                      <m:rPr>
                        <m:nor/>
                      </m:rPr>
                      <a:rPr lang="pt-BR" sz="2800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sz="2800" i="1" dirty="0">
                    <a:latin typeface="Cambria Math" panose="02040503050406030204" pitchFamily="18" charset="0"/>
                  </a:rPr>
                  <a:t>   </a:t>
                </a:r>
                <a:r>
                  <a:rPr lang="pt-BR" sz="2800" dirty="0">
                    <a:latin typeface="Cambria Math" panose="02040503050406030204" pitchFamily="18" charset="0"/>
                  </a:rPr>
                  <a:t>onde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800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pt-BR" sz="2800" dirty="0"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Variância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𝑛𝑝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b="0" dirty="0"/>
              </a:p>
              <a:p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b="1" dirty="0"/>
                  <a:t>Notação: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h𝑖𝑝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577052"/>
                <a:ext cx="10067277" cy="4486549"/>
              </a:xfrm>
              <a:prstGeom prst="rect">
                <a:avLst/>
              </a:prstGeom>
              <a:blipFill>
                <a:blip r:embed="rId2"/>
                <a:stretch>
                  <a:fillRect l="-1090" b="-29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/>
              <a:t>CEA055 - Estatística e Probabilidade - Professor: Marcos Goulart Lima</a:t>
            </a:r>
            <a:endParaRPr lang="pt-BR" sz="1351" dirty="0"/>
          </a:p>
        </p:txBody>
      </p:sp>
    </p:spTree>
    <p:extLst>
      <p:ext uri="{BB962C8B-B14F-4D97-AF65-F5344CB8AC3E}">
        <p14:creationId xmlns:p14="http://schemas.microsoft.com/office/powerpoint/2010/main" val="280892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29287" y="577052"/>
            <a:ext cx="10844404" cy="5575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Exemplo. </a:t>
            </a:r>
            <a:r>
              <a:rPr lang="pt-BR" sz="2400" dirty="0"/>
              <a:t>Em uma equipe de software, cada programador faz alterações no código do sistema: corrige erros, cria funções novas, melhora o desempenho.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Cada alteração é enviada como um pedido de atualização, chamado de </a:t>
            </a:r>
            <a:r>
              <a:rPr lang="pt-BR" sz="2400" dirty="0" err="1"/>
              <a:t>pull</a:t>
            </a:r>
            <a:r>
              <a:rPr lang="pt-BR" sz="2400" dirty="0"/>
              <a:t> </a:t>
            </a:r>
            <a:r>
              <a:rPr lang="pt-BR" sz="2400" dirty="0" err="1"/>
              <a:t>request</a:t>
            </a:r>
            <a:r>
              <a:rPr lang="pt-BR" sz="2400" dirty="0"/>
              <a:t> (PR).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Antes de entrar no sistema oficial, o PR deve ser revisado por outro membro da equipe (revisão de código).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Um bug é um erro no código que faz o sistema se comportar de forma incorreta.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Quando há muitos </a:t>
            </a:r>
            <a:r>
              <a:rPr lang="pt-BR" sz="2400" dirty="0" err="1"/>
              <a:t>PRs</a:t>
            </a:r>
            <a:r>
              <a:rPr lang="pt-BR" sz="2400" dirty="0"/>
              <a:t> e pouco tempo, o revisor não consegue analisar todos: escolhe alguns ao acaso.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Como um PR já revisado não é escolhido de novo, a escolha é feita sem reposição.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/>
              <a:t>CEA055 - Estatística e Probabilidade - Professor: Marcos Goulart Lima</a:t>
            </a:r>
            <a:endParaRPr lang="pt-BR" sz="1351" dirty="0"/>
          </a:p>
        </p:txBody>
      </p:sp>
    </p:spTree>
    <p:extLst>
      <p:ext uri="{BB962C8B-B14F-4D97-AF65-F5344CB8AC3E}">
        <p14:creationId xmlns:p14="http://schemas.microsoft.com/office/powerpoint/2010/main" val="1853940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29287" y="577052"/>
                <a:ext cx="10844404" cy="5021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dirty="0"/>
                  <a:t>Uma equipe tem 20 </a:t>
                </a:r>
                <a:r>
                  <a:rPr lang="pt-BR" sz="2400" dirty="0" err="1"/>
                  <a:t>PRs</a:t>
                </a:r>
                <a:r>
                  <a:rPr lang="pt-BR" sz="2400" dirty="0"/>
                  <a:t> aguardando revisão. Sem que a equipe saiba, 4 deles contêm um bug. O revisor vai analisar 5 </a:t>
                </a:r>
                <a:r>
                  <a:rPr lang="pt-BR" sz="2400" dirty="0" err="1"/>
                  <a:t>PRs</a:t>
                </a:r>
                <a:r>
                  <a:rPr lang="pt-BR" sz="2400" dirty="0"/>
                  <a:t>, escolhidos ao acaso e sem reposição.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Seja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400" dirty="0"/>
                  <a:t> = número de </a:t>
                </a:r>
                <a:r>
                  <a:rPr lang="pt-BR" sz="2400" dirty="0" err="1"/>
                  <a:t>PRs</a:t>
                </a:r>
                <a:r>
                  <a:rPr lang="pt-BR" sz="2400" dirty="0"/>
                  <a:t> com bug entre os 5 revisados.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a) Qual a probabilidade de o revisor não encontrar nenhum PR com bug?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b) Qual a probabilidade de encontrar exatamente 1 PR com bug?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c) Qual a probabilidade de encontrar pelo menos 1 PR com bug?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d) Quantos </a:t>
                </a:r>
                <a:r>
                  <a:rPr lang="pt-BR" sz="2400" dirty="0" err="1"/>
                  <a:t>PRs</a:t>
                </a:r>
                <a:r>
                  <a:rPr lang="pt-BR" sz="2400" dirty="0"/>
                  <a:t> com bug o revisor espera encontrar, em média?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577052"/>
                <a:ext cx="10844404" cy="5021055"/>
              </a:xfrm>
              <a:prstGeom prst="rect">
                <a:avLst/>
              </a:prstGeom>
              <a:blipFill>
                <a:blip r:embed="rId2"/>
                <a:stretch>
                  <a:fillRect l="-899" r="-506" b="-19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/>
              <a:t>CEA055 - Estatística e Probabilidade - Professor: Marcos Goulart Lima</a:t>
            </a:r>
            <a:endParaRPr lang="pt-BR" sz="1351" dirty="0"/>
          </a:p>
        </p:txBody>
      </p:sp>
    </p:spTree>
    <p:extLst>
      <p:ext uri="{BB962C8B-B14F-4D97-AF65-F5344CB8AC3E}">
        <p14:creationId xmlns:p14="http://schemas.microsoft.com/office/powerpoint/2010/main" val="968166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29287" y="577052"/>
                <a:ext cx="10844404" cy="5897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dirty="0"/>
                  <a:t>Resolução: X tem distribuição hipergeométrica, porque a amostra é retirada sem reposição de uma população finita com dois tipos de elemento.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Os parâmetros são: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N = 20: total de </a:t>
                </a:r>
                <a:r>
                  <a:rPr lang="pt-BR" sz="2400" dirty="0" err="1"/>
                  <a:t>PRs</a:t>
                </a:r>
                <a:r>
                  <a:rPr lang="pt-BR" sz="2400" dirty="0"/>
                  <a:t> </a:t>
                </a:r>
                <a:r>
                  <a:rPr lang="pt-BR" sz="2400" dirty="0">
                    <a:solidFill>
                      <a:srgbClr val="FF0000"/>
                    </a:solidFill>
                  </a:rPr>
                  <a:t>(População)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r = 4: </a:t>
                </a:r>
                <a:r>
                  <a:rPr lang="pt-BR" sz="2400" dirty="0" err="1"/>
                  <a:t>PRs</a:t>
                </a:r>
                <a:r>
                  <a:rPr lang="pt-BR" sz="2400" dirty="0"/>
                  <a:t> com bug </a:t>
                </a:r>
                <a:r>
                  <a:rPr lang="pt-BR" sz="2400" dirty="0">
                    <a:solidFill>
                      <a:srgbClr val="FF0000"/>
                    </a:solidFill>
                  </a:rPr>
                  <a:t>(elementos com característica A na população)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n = 5: </a:t>
                </a:r>
                <a:r>
                  <a:rPr lang="pt-BR" sz="2400" dirty="0" err="1"/>
                  <a:t>PRs</a:t>
                </a:r>
                <a:r>
                  <a:rPr lang="pt-BR" sz="2400" dirty="0"/>
                  <a:t> revisados </a:t>
                </a:r>
                <a:r>
                  <a:rPr lang="pt-BR" sz="2400" dirty="0">
                    <a:solidFill>
                      <a:srgbClr val="FF0000"/>
                    </a:solidFill>
                  </a:rPr>
                  <a:t>(tamanho da amostra retirada)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pt-BR" sz="2400" dirty="0">
                    <a:solidFill>
                      <a:srgbClr val="FF0000"/>
                    </a:solidFill>
                  </a:rPr>
                  <a:t> número de elementos com a característica entre os sorteados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mr>
                              </m:m>
                            </m:e>
                          </m:d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mr>
                              </m:m>
                            </m:e>
                          </m:d>
                        </m:den>
                      </m:f>
                      <m:r>
                        <a:rPr lang="pt-BR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5−</m:t>
                                    </m:r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mr>
                              </m:m>
                            </m:e>
                          </m:d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577052"/>
                <a:ext cx="10844404" cy="5897320"/>
              </a:xfrm>
              <a:prstGeom prst="rect">
                <a:avLst/>
              </a:prstGeom>
              <a:blipFill>
                <a:blip r:embed="rId2"/>
                <a:stretch>
                  <a:fillRect l="-89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/>
              <a:t>CEA055 - Estatística e Probabilidade - Professor: Marcos Goulart Lima</a:t>
            </a:r>
            <a:endParaRPr lang="pt-BR" sz="1351" dirty="0"/>
          </a:p>
        </p:txBody>
      </p:sp>
    </p:spTree>
    <p:extLst>
      <p:ext uri="{BB962C8B-B14F-4D97-AF65-F5344CB8AC3E}">
        <p14:creationId xmlns:p14="http://schemas.microsoft.com/office/powerpoint/2010/main" val="116775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29287" y="577052"/>
                <a:ext cx="10844404" cy="48008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4,0</m:t>
                        </m:r>
                      </m:e>
                    </m:d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·</m:t>
                    </m:r>
                    <m:f>
                      <m:f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16,5</m:t>
                            </m:r>
                          </m:e>
                        </m:d>
                      </m:num>
                      <m:den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pt-BR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400" i="1" dirty="0">
                                <a:latin typeface="Cambria Math" panose="02040503050406030204" pitchFamily="18" charset="0"/>
                              </a:rPr>
                              <m:t>20,5</m:t>
                            </m:r>
                          </m:e>
                        </m:d>
                      </m:den>
                    </m:f>
                    <m:r>
                      <a:rPr lang="pt-BR" sz="2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4.368</m:t>
                        </m:r>
                      </m:num>
                      <m:den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15.504</m:t>
                        </m:r>
                      </m:den>
                    </m:f>
                    <m:r>
                      <a:rPr lang="pt-BR" sz="2400" i="1" dirty="0">
                        <a:latin typeface="Cambria Math" panose="02040503050406030204" pitchFamily="18" charset="0"/>
                      </a:rPr>
                      <m:t>≈0,2817</m:t>
                    </m:r>
                  </m:oMath>
                </a14:m>
                <a:endParaRPr lang="pt-BR" sz="2400" i="1" dirty="0">
                  <a:latin typeface="Cambria Math" panose="020405030504060302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pt-BR" sz="2400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pt-BR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4,1</m:t>
                        </m:r>
                      </m:e>
                    </m:d>
                    <m:r>
                      <a:rPr lang="pt-BR" sz="2400" i="1" dirty="0">
                        <a:latin typeface="Cambria Math" panose="02040503050406030204" pitchFamily="18" charset="0"/>
                      </a:rPr>
                      <m:t>·</m:t>
                    </m:r>
                    <m:f>
                      <m:f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pt-BR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400" i="1" dirty="0">
                                <a:latin typeface="Cambria Math" panose="02040503050406030204" pitchFamily="18" charset="0"/>
                              </a:rPr>
                              <m:t>16,4</m:t>
                            </m:r>
                          </m:e>
                        </m:d>
                      </m:num>
                      <m:den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pt-BR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400" i="1" dirty="0">
                                <a:latin typeface="Cambria Math" panose="02040503050406030204" pitchFamily="18" charset="0"/>
                              </a:rPr>
                              <m:t>20,5</m:t>
                            </m:r>
                          </m:e>
                        </m:d>
                      </m:den>
                    </m:f>
                    <m:r>
                      <a:rPr lang="pt-BR" sz="2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7.280</m:t>
                        </m:r>
                      </m:num>
                      <m:den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15.504</m:t>
                        </m:r>
                      </m:den>
                    </m:f>
                    <m:r>
                      <a:rPr lang="pt-BR" sz="2400" i="1" dirty="0">
                        <a:latin typeface="Cambria Math" panose="02040503050406030204" pitchFamily="18" charset="0"/>
                      </a:rPr>
                      <m:t>≈0,4696</m:t>
                    </m:r>
                  </m:oMath>
                </a14:m>
                <a:endParaRPr lang="pt-BR" sz="2400" i="1" dirty="0">
                  <a:latin typeface="Cambria Math" panose="020405030504060302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pt-BR" sz="2400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≥1</m:t>
                        </m:r>
                      </m:e>
                    </m:d>
                    <m:r>
                      <a:rPr lang="pt-BR" sz="2400" i="1" dirty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pt-BR" sz="2400" i="1" dirty="0">
                        <a:latin typeface="Cambria Math" panose="02040503050406030204" pitchFamily="18" charset="0"/>
                      </a:rPr>
                      <m:t>≈0,7183</m:t>
                    </m:r>
                  </m:oMath>
                </a14:m>
                <a:endParaRPr lang="pt-BR" sz="2400" i="1" dirty="0">
                  <a:latin typeface="Cambria Math" panose="020405030504060302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pt-BR" sz="24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·</m:t>
                    </m:r>
                    <m:f>
                      <m:f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pt-BR" sz="2400" i="1" dirty="0">
                        <a:latin typeface="Cambria Math" panose="02040503050406030204" pitchFamily="18" charset="0"/>
                      </a:rPr>
                      <m:t>=5·</m:t>
                    </m:r>
                    <m:f>
                      <m:f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a:rPr lang="pt-BR" sz="2400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pt-BR" sz="2400" dirty="0"/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lphaLcParenR"/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Mesmo revisando um quarto dos </a:t>
                </a:r>
                <a:r>
                  <a:rPr lang="pt-BR" sz="2400" dirty="0" err="1"/>
                  <a:t>PRs</a:t>
                </a:r>
                <a:r>
                  <a:rPr lang="pt-BR" sz="2400" dirty="0"/>
                  <a:t>, há cerca de 28% de chance de nenhum bug ser encontrado.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577052"/>
                <a:ext cx="10844404" cy="4800801"/>
              </a:xfrm>
              <a:prstGeom prst="rect">
                <a:avLst/>
              </a:prstGeom>
              <a:blipFill>
                <a:blip r:embed="rId2"/>
                <a:stretch>
                  <a:fillRect l="-899" r="-337" b="-20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/>
              <a:t>CEA055 - Estatística e Probabilidade - Professor: Marcos Goulart Lima</a:t>
            </a:r>
            <a:endParaRPr lang="pt-BR" sz="1351" dirty="0"/>
          </a:p>
        </p:txBody>
      </p:sp>
    </p:spTree>
    <p:extLst>
      <p:ext uri="{BB962C8B-B14F-4D97-AF65-F5344CB8AC3E}">
        <p14:creationId xmlns:p14="http://schemas.microsoft.com/office/powerpoint/2010/main" val="1040972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17957"/>
            <a:ext cx="100672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800" b="1" dirty="0"/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/>
              <a:t>CEA055 - Estatística e Probabilidade - Professor: Marcos Goulart Lima</a:t>
            </a:r>
            <a:endParaRPr lang="pt-BR" sz="135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DF8CC13-1F17-4EC3-90EF-982BD09392E0}"/>
                  </a:ext>
                </a:extLst>
              </p:cNvPr>
              <p:cNvSpPr txBox="1"/>
              <p:nvPr/>
            </p:nvSpPr>
            <p:spPr>
              <a:xfrm>
                <a:off x="612528" y="794802"/>
                <a:ext cx="10966944" cy="4548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Distribuição Binomial</a:t>
                </a:r>
              </a:p>
              <a:p>
                <a:pPr>
                  <a:lnSpc>
                    <a:spcPct val="150000"/>
                  </a:lnSpc>
                </a:pPr>
                <a:endParaRPr lang="pt-BR" sz="2800" b="1" dirty="0"/>
              </a:p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Definição: </a:t>
                </a:r>
                <a:r>
                  <a:rPr lang="pt-BR" sz="2800" dirty="0"/>
                  <a:t>chama-se de experimento binomial ao experimento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pt-BR" sz="2800" dirty="0"/>
                  <a:t>Que consiste em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800" dirty="0"/>
                  <a:t> ensaios de Bernoulli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pt-BR" sz="2800" dirty="0"/>
                  <a:t>Cujos ensaios são independentes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pt-BR" sz="2800" dirty="0"/>
                  <a:t>Para o qual a probabilidade de sucesso em cada ensaio é sempre igual 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800" dirty="0"/>
                  <a:t>, com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&lt;1.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DF8CC13-1F17-4EC3-90EF-982BD0939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528" y="794802"/>
                <a:ext cx="10966944" cy="4548746"/>
              </a:xfrm>
              <a:prstGeom prst="rect">
                <a:avLst/>
              </a:prstGeom>
              <a:blipFill>
                <a:blip r:embed="rId2"/>
                <a:stretch>
                  <a:fillRect l="-1167" r="-222" b="-28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265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17957"/>
            <a:ext cx="100672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800" b="1" dirty="0"/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/>
              <a:t>CEA055 - Estatística e Probabilidade - Professor: Marcos Goulart Lima</a:t>
            </a:r>
            <a:endParaRPr lang="pt-BR" sz="135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DF8CC13-1F17-4EC3-90EF-982BD09392E0}"/>
                  </a:ext>
                </a:extLst>
              </p:cNvPr>
              <p:cNvSpPr txBox="1"/>
              <p:nvPr/>
            </p:nvSpPr>
            <p:spPr>
              <a:xfrm>
                <a:off x="612528" y="699042"/>
                <a:ext cx="10966944" cy="49407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dirty="0"/>
                  <a:t>A variável aleatória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, correspondente ao número de sucessos num experimento binomial, tem distribuição binomial </a:t>
                </a: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, com função de probabilidade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Notação: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pt-BR" sz="28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Função de probabilidade: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i="1" dirty="0" err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pt-BR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=0, 1, …,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DF8CC13-1F17-4EC3-90EF-982BD0939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528" y="699042"/>
                <a:ext cx="10966944" cy="4940776"/>
              </a:xfrm>
              <a:prstGeom prst="rect">
                <a:avLst/>
              </a:prstGeom>
              <a:blipFill>
                <a:blip r:embed="rId2"/>
                <a:stretch>
                  <a:fillRect l="-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0685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77184" y="751344"/>
                <a:ext cx="10067277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Esperança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𝑛𝑝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Variância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𝑛𝑝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184" y="751344"/>
                <a:ext cx="10067277" cy="3970318"/>
              </a:xfrm>
              <a:prstGeom prst="rect">
                <a:avLst/>
              </a:prstGeom>
              <a:blipFill>
                <a:blip r:embed="rId2"/>
                <a:stretch>
                  <a:fillRect l="-10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/>
              <a:t>CEA055 - Estatística e Probabilidade - Professor: Marcos Goulart Lima</a:t>
            </a:r>
            <a:endParaRPr lang="pt-BR" sz="1351" dirty="0"/>
          </a:p>
        </p:txBody>
      </p:sp>
    </p:spTree>
    <p:extLst>
      <p:ext uri="{BB962C8B-B14F-4D97-AF65-F5344CB8AC3E}">
        <p14:creationId xmlns:p14="http://schemas.microsoft.com/office/powerpoint/2010/main" val="932760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24933" y="734186"/>
            <a:ext cx="10067277" cy="1964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b="1" dirty="0"/>
              <a:t>Exemplo: </a:t>
            </a:r>
            <a:r>
              <a:rPr lang="pt-BR" sz="2800" dirty="0"/>
              <a:t>Considere o lançamento de uma moeda 20 vezes. Qual a probabilidade de que caia a face cara exatamente 8 vezes?  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Qual o número esperado de caras em 20 lançamentos?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/>
              <a:t>CEA055 - Estatística e Probabilidade - Professor: Marcos Goulart Lima</a:t>
            </a:r>
            <a:endParaRPr lang="pt-BR" sz="1351" dirty="0"/>
          </a:p>
        </p:txBody>
      </p:sp>
    </p:spTree>
    <p:extLst>
      <p:ext uri="{BB962C8B-B14F-4D97-AF65-F5344CB8AC3E}">
        <p14:creationId xmlns:p14="http://schemas.microsoft.com/office/powerpoint/2010/main" val="146261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24933" y="734186"/>
                <a:ext cx="10067277" cy="52745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Resolução.</a:t>
                </a:r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sz="2800" dirty="0"/>
                  <a:t>número de caras em 20 lançamentos,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(20;0,5)</m:t>
                      </m:r>
                    </m:oMath>
                  </m:oMathPara>
                </a14:m>
                <a:endParaRPr lang="pt-BR" sz="2800" dirty="0"/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(20,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)·</m:t>
                      </m:r>
                      <m:sSup>
                        <m:sSup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0,5</m:t>
                          </m:r>
                        </m:e>
                        <m:sup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·</m:t>
                      </m:r>
                      <m:sSup>
                        <m:sSup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0,5</m:t>
                          </m:r>
                        </m:e>
                        <m:sup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20−</m:t>
                          </m:r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=0,1,…,20</m:t>
                      </m:r>
                    </m:oMath>
                  </m:oMathPara>
                </a14:m>
                <a:endParaRPr lang="pt-BR" sz="2800" dirty="0"/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=8)=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(20,8)·</m:t>
                      </m:r>
                      <m:sSup>
                        <m:sSup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0,5</m:t>
                          </m:r>
                        </m:e>
                        <m:sup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·</m:t>
                      </m:r>
                      <m:sSup>
                        <m:sSup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0,5</m:t>
                          </m:r>
                        </m:e>
                        <m:sup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p>
                      </m:sSup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=125.970·</m:t>
                      </m:r>
                      <m:sSup>
                        <m:sSup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0,5</m:t>
                          </m:r>
                        </m:e>
                        <m:sup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p>
                      </m:sSup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≈0,1201</m:t>
                      </m:r>
                    </m:oMath>
                  </m:oMathPara>
                </a14:m>
                <a:endParaRPr lang="pt-BR" sz="2800" dirty="0"/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sz="2800" i="1" dirty="0" err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800" i="1" dirty="0" err="1" smtClean="0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pt-BR" sz="2800" i="1" dirty="0" err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=20·0,5=10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933" y="734186"/>
                <a:ext cx="10067277" cy="5274521"/>
              </a:xfrm>
              <a:prstGeom prst="rect">
                <a:avLst/>
              </a:prstGeom>
              <a:blipFill>
                <a:blip r:embed="rId2"/>
                <a:stretch>
                  <a:fillRect l="-127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/>
              <a:t>CEA055 - Estatística e Probabilidade - Professor: Marcos Goulart Lima</a:t>
            </a:r>
            <a:endParaRPr lang="pt-BR" sz="1351" dirty="0"/>
          </a:p>
        </p:txBody>
      </p:sp>
    </p:spTree>
    <p:extLst>
      <p:ext uri="{BB962C8B-B14F-4D97-AF65-F5344CB8AC3E}">
        <p14:creationId xmlns:p14="http://schemas.microsoft.com/office/powerpoint/2010/main" val="2289116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59767" y="708060"/>
            <a:ext cx="10067277" cy="261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b="1" dirty="0"/>
              <a:t>Exemplo: </a:t>
            </a:r>
            <a:r>
              <a:rPr lang="pt-BR" sz="2800" dirty="0"/>
              <a:t>Em um aplicativo, 40% dos usuários que recebem uma notificação clicam nela. Qual a probabilidade de que pelo menos 2 usuários cliquem, num momento em que a notificação foi enviada para 20 usuários?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/>
              <a:t>CEA055 - Estatística e Probabilidade - Professor: Marcos Goulart Lima</a:t>
            </a:r>
            <a:endParaRPr lang="pt-BR" sz="1351" dirty="0"/>
          </a:p>
        </p:txBody>
      </p:sp>
    </p:spTree>
    <p:extLst>
      <p:ext uri="{BB962C8B-B14F-4D97-AF65-F5344CB8AC3E}">
        <p14:creationId xmlns:p14="http://schemas.microsoft.com/office/powerpoint/2010/main" val="1956336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59767" y="708060"/>
                <a:ext cx="10067277" cy="5195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Resolução: </a:t>
                </a:r>
                <a:r>
                  <a:rPr lang="pt-BR" sz="2800" dirty="0"/>
                  <a:t>X=número de usuários que clicam, entre 20,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(20;0,4)</m:t>
                      </m:r>
                    </m:oMath>
                  </m:oMathPara>
                </a14:m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Pelo menos 2 significa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pt-BR" sz="2800" dirty="0"/>
                  <a:t>. Logo,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≥2)=1−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=0)−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=1)</m:t>
                      </m:r>
                    </m:oMath>
                  </m:oMathPara>
                </a14:m>
                <a:endParaRPr lang="pt-BR" sz="280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=0)=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(20,0)·</m:t>
                    </m:r>
                    <m:sSup>
                      <m:sSup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0,4</m:t>
                        </m:r>
                      </m:e>
                      <m:sup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·</m:t>
                    </m:r>
                    <m:sSup>
                      <m:sSup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0,6</m:t>
                        </m:r>
                      </m:e>
                      <m:sup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0,6</m:t>
                        </m:r>
                      </m:e>
                      <m:sup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≈0,00004</m:t>
                    </m:r>
                  </m:oMath>
                </a14:m>
                <a:endParaRPr lang="pt-BR" sz="280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=1)=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(20,1)·</m:t>
                    </m:r>
                    <m:sSup>
                      <m:sSup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0,4</m:t>
                        </m:r>
                      </m:e>
                      <m:sup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·</m:t>
                    </m:r>
                    <m:sSup>
                      <m:sSup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0,6</m:t>
                        </m:r>
                      </m:e>
                      <m:sup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=20·0,4·</m:t>
                    </m:r>
                    <m:sSup>
                      <m:sSup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0,6</m:t>
                        </m:r>
                      </m:e>
                      <m:sup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≈0,00049</m:t>
                    </m:r>
                  </m:oMath>
                </a14:m>
                <a:endParaRPr lang="pt-BR" sz="2800" dirty="0"/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Portanto,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≥2)≈1−0,00004−0,00049=0,99947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767" y="708060"/>
                <a:ext cx="10067277" cy="5195077"/>
              </a:xfrm>
              <a:prstGeom prst="rect">
                <a:avLst/>
              </a:prstGeom>
              <a:blipFill>
                <a:blip r:embed="rId2"/>
                <a:stretch>
                  <a:fillRect l="-1272" b="-246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/>
              <a:t>CEA055 - Estatística e Probabilidade - Professor: Marcos Goulart Lima</a:t>
            </a:r>
            <a:endParaRPr lang="pt-BR" sz="1351" dirty="0"/>
          </a:p>
        </p:txBody>
      </p:sp>
    </p:spTree>
    <p:extLst>
      <p:ext uri="{BB962C8B-B14F-4D97-AF65-F5344CB8AC3E}">
        <p14:creationId xmlns:p14="http://schemas.microsoft.com/office/powerpoint/2010/main" val="1441880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20727" y="873522"/>
                <a:ext cx="10387204" cy="51961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Exemplo: </a:t>
                </a:r>
                <a:r>
                  <a:rPr lang="pt-BR" sz="2800" dirty="0"/>
                  <a:t>Seja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5;0,4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pt-BR" sz="2800" dirty="0"/>
                  <a:t> Calcule a distribuição de probabilidade 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Observação: A distribuição de probabilidade 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 lista todos os valores que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 pode assumir e a probabilidade de cada um. Aqui, X conta os sucessos em 5 ensaios, então os valores possíveis são 0, 1, 2, 3, 4 e 5. Cada probabilidade vem da fórmula da binomial, e a soma de todas elas é 1, porque X sempre assume um desses valores.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727" y="873522"/>
                <a:ext cx="10387204" cy="5196166"/>
              </a:xfrm>
              <a:prstGeom prst="rect">
                <a:avLst/>
              </a:prstGeom>
              <a:blipFill>
                <a:blip r:embed="rId2"/>
                <a:stretch>
                  <a:fillRect l="-1232" r="-469" b="-23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/>
              <a:t>CEA055 - Estatística e Probabilidade - Professor: Marcos Goulart Lima</a:t>
            </a:r>
            <a:endParaRPr lang="pt-BR" sz="1351" dirty="0"/>
          </a:p>
        </p:txBody>
      </p:sp>
    </p:spTree>
    <p:extLst>
      <p:ext uri="{BB962C8B-B14F-4D97-AF65-F5344CB8AC3E}">
        <p14:creationId xmlns:p14="http://schemas.microsoft.com/office/powerpoint/2010/main" val="26508411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20727" y="873522"/>
                <a:ext cx="10387204" cy="5583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dirty="0"/>
                  <a:t>Fórmula geral da distribuição de probabilidade: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5,</m:t>
                          </m:r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·</m:t>
                      </m:r>
                      <m:sSup>
                        <m:sSup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0,4</m:t>
                          </m:r>
                        </m:e>
                        <m:sup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·</m:t>
                      </m:r>
                      <m:sSup>
                        <m:sSup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0,6</m:t>
                          </m:r>
                        </m:e>
                        <m:sup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5−</m:t>
                          </m:r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=0,1,2,3,4,5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Cálculo de cada caso: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=0)=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(5,0)·</m:t>
                    </m:r>
                    <m:sSup>
                      <m:sSup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0,4</m:t>
                        </m:r>
                      </m:e>
                      <m:sup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·</m:t>
                    </m:r>
                    <m:sSup>
                      <m:sSup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0,6</m:t>
                        </m:r>
                      </m:e>
                      <m:sup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=1·1·0,07776=0,07776</m:t>
                    </m:r>
                  </m:oMath>
                </a14:m>
                <a:endParaRPr lang="pt-BR" sz="240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=1)=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(5,1)·</m:t>
                    </m:r>
                    <m:sSup>
                      <m:sSup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0,4</m:t>
                        </m:r>
                      </m:e>
                      <m:sup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·</m:t>
                    </m:r>
                    <m:sSup>
                      <m:sSup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0,6</m:t>
                        </m:r>
                      </m:e>
                      <m:sup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=5·0,4·0,1296=0,2592</m:t>
                    </m:r>
                  </m:oMath>
                </a14:m>
                <a:endParaRPr lang="pt-BR" sz="240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=2)=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(5,2)·</m:t>
                    </m:r>
                    <m:sSup>
                      <m:sSup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0,4</m:t>
                        </m:r>
                      </m:e>
                      <m:sup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·</m:t>
                    </m:r>
                    <m:sSup>
                      <m:sSup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0,6</m:t>
                        </m:r>
                      </m:e>
                      <m:sup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=10·0,16·0,216=0,3456</m:t>
                    </m:r>
                  </m:oMath>
                </a14:m>
                <a:endParaRPr lang="pt-BR" sz="240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=3)=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(5,3)·</m:t>
                    </m:r>
                    <m:sSup>
                      <m:sSup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0,4</m:t>
                        </m:r>
                      </m:e>
                      <m:sup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·</m:t>
                    </m:r>
                    <m:sSup>
                      <m:sSup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0,6</m:t>
                        </m:r>
                      </m:e>
                      <m:sup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=10·0,064·0,36=0,2304</m:t>
                    </m:r>
                  </m:oMath>
                </a14:m>
                <a:endParaRPr lang="pt-BR" sz="240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=4)=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(5,4)·</m:t>
                    </m:r>
                    <m:sSup>
                      <m:sSup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0,4</m:t>
                        </m:r>
                      </m:e>
                      <m:sup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·</m:t>
                    </m:r>
                    <m:sSup>
                      <m:sSup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0,6</m:t>
                        </m:r>
                      </m:e>
                      <m:sup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=5·0,0256·0,6=0,0768</m:t>
                    </m:r>
                  </m:oMath>
                </a14:m>
                <a:endParaRPr lang="pt-BR" sz="240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=5)=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(5,5)·</m:t>
                    </m:r>
                    <m:sSup>
                      <m:sSup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0,4</m:t>
                        </m:r>
                      </m:e>
                      <m:sup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·</m:t>
                    </m:r>
                    <m:sSup>
                      <m:sSup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0,6</m:t>
                        </m:r>
                      </m:e>
                      <m:sup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=1·0,01024·1=0,01024</m:t>
                    </m:r>
                  </m:oMath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727" y="873522"/>
                <a:ext cx="10387204" cy="5583901"/>
              </a:xfrm>
              <a:prstGeom prst="rect">
                <a:avLst/>
              </a:prstGeom>
              <a:blipFill>
                <a:blip r:embed="rId2"/>
                <a:stretch>
                  <a:fillRect l="-939" b="-131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/>
              <a:t>CEA055 - Estatística e Probabilidade - Professor: Marcos Goulart Lima</a:t>
            </a:r>
            <a:endParaRPr lang="pt-BR" sz="1351" dirty="0"/>
          </a:p>
        </p:txBody>
      </p:sp>
    </p:spTree>
    <p:extLst>
      <p:ext uri="{BB962C8B-B14F-4D97-AF65-F5344CB8AC3E}">
        <p14:creationId xmlns:p14="http://schemas.microsoft.com/office/powerpoint/2010/main" val="5718840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20727" y="873522"/>
            <a:ext cx="10387204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dirty="0"/>
              <a:t>Tabela da distribuição:</a:t>
            </a:r>
          </a:p>
          <a:p>
            <a:pPr>
              <a:lnSpc>
                <a:spcPct val="150000"/>
              </a:lnSpc>
            </a:pPr>
            <a:r>
              <a:rPr lang="pt-BR" sz="2400"/>
              <a:t> </a:t>
            </a:r>
            <a:endParaRPr lang="pt-BR" sz="2400" dirty="0"/>
          </a:p>
          <a:p>
            <a:pPr>
              <a:lnSpc>
                <a:spcPct val="150000"/>
              </a:lnSpc>
            </a:pPr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/>
              <a:t>CEA055 - Estatística e Probabilidade - Professor: Marcos Goulart Lima</a:t>
            </a:r>
            <a:endParaRPr lang="pt-BR" sz="1351" dirty="0"/>
          </a:p>
        </p:txBody>
      </p:sp>
      <p:graphicFrame>
        <p:nvGraphicFramePr>
          <p:cNvPr id="20" name="Tabela Distribuição"/>
          <p:cNvGraphicFramePr>
            <a:graphicFrameLocks noGrp="1"/>
          </p:cNvGraphicFramePr>
          <p:nvPr/>
        </p:nvGraphicFramePr>
        <p:xfrm>
          <a:off x="914400" y="1651000"/>
          <a:ext cx="10363200" cy="10160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pt-BR" sz="2000" b="1" dirty="0"/>
                        <a:t>x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A6A6A6"/>
                      </a:solidFill>
                    </a:lnT>
                    <a:lnB w="12700">
                      <a:solidFill>
                        <a:srgbClr val="A6A6A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A6A6A6"/>
                      </a:solidFill>
                    </a:lnT>
                    <a:lnB w="12700">
                      <a:solidFill>
                        <a:srgbClr val="A6A6A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A6A6A6"/>
                      </a:solidFill>
                    </a:lnT>
                    <a:lnB w="12700">
                      <a:solidFill>
                        <a:srgbClr val="A6A6A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A6A6A6"/>
                      </a:solidFill>
                    </a:lnT>
                    <a:lnB w="12700">
                      <a:solidFill>
                        <a:srgbClr val="A6A6A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A6A6A6"/>
                      </a:solidFill>
                    </a:lnT>
                    <a:lnB w="12700">
                      <a:solidFill>
                        <a:srgbClr val="A6A6A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4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A6A6A6"/>
                      </a:solidFill>
                    </a:lnT>
                    <a:lnB w="12700">
                      <a:solidFill>
                        <a:srgbClr val="A6A6A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5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A6A6A6"/>
                      </a:solidFill>
                    </a:lnT>
                    <a:lnB w="12700">
                      <a:solidFill>
                        <a:srgbClr val="A6A6A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pt-BR" sz="2000" b="1" dirty="0"/>
                        <a:t>P(X=x)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A6A6A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0,07776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A6A6A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0,2592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A6A6A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0,3456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A6A6A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0,2304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A6A6A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0,0768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A6A6A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0,01024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A6A6A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88893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102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b="1" dirty="0"/>
              <a:t>Atividades referentes à aula</a:t>
            </a:r>
          </a:p>
          <a:p>
            <a:pPr>
              <a:lnSpc>
                <a:spcPct val="150000"/>
              </a:lnSpc>
            </a:pPr>
            <a:r>
              <a:rPr lang="pt-BR" sz="2200" dirty="0"/>
              <a:t>Leitura recomendada: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Bussab &amp; Morettin — Cap. 6: 6.6.3, 6.6.4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Montgomery &amp; Runger — Cap. 3: 3.5, 3.7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Magalhães &amp; Lima — Cap. 3: 3.2, 3.3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Morettin — Cap. 4: 4.4, 4.5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/>
              <a:t>CEA055 - Estatística e Probabilidade - Professor: Marcos Goulart Lima</a:t>
            </a:r>
            <a:endParaRPr lang="pt-BR" sz="1351" dirty="0"/>
          </a:p>
        </p:txBody>
      </p:sp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102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b="1" dirty="0"/>
              <a:t>Atividades referentes à aula (continuação)</a:t>
            </a:r>
          </a:p>
          <a:p>
            <a:pPr>
              <a:lnSpc>
                <a:spcPct val="150000"/>
              </a:lnSpc>
            </a:pPr>
            <a:r>
              <a:rPr lang="pt-BR" sz="2200" dirty="0"/>
              <a:t>Exercícios recomendados: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Bussab &amp; Morettin — Cap. 6: Problemas 20, 21, 24, 25, 26, 27 e 28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Magalhães &amp; Lima — Cap. 3 (3.4 Exercícios): 16, 17, 18, 19, 26 e 27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Montgomery &amp; Runger — Cap. 3: 3.5.1, 3.5.2, 3.5.3, 3.5.4, 3.7.1, 3.7.2, 3.7.3, 3.7.4 e 3.7.6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Morettin — Cap. 4: Exercícios 3, 4, 5, 7 e 8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/>
              <a:t>CEA055 - Estatística e Probabilidade - Professor: Marcos Goulart Lima</a:t>
            </a:r>
            <a:endParaRPr lang="pt-BR" sz="135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D078A86-F85A-404F-8A83-8A8A89E03575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91fb686b-f958-423f-b3c3-a0901c1e5cc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4289</TotalTime>
  <Words>1584</Words>
  <Application>Microsoft Office PowerPoint</Application>
  <PresentationFormat>Widescreen</PresentationFormat>
  <Paragraphs>158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Modelos Discretos II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153</cp:revision>
  <dcterms:created xsi:type="dcterms:W3CDTF">2020-07-20T19:35:15Z</dcterms:created>
  <dcterms:modified xsi:type="dcterms:W3CDTF">2026-10-22T11:30:28Z</dcterms:modified>
</cp:coreProperties>
</file>